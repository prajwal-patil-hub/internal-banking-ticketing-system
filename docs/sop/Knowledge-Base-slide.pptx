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5B2E"/>
                </a:solidFill>
                <a:latin typeface="Calibri"/>
              </a:rPr>
              <a:t>THE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Asking it a question, and keeping it stocked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9775" y="32004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3ECE0"/>
                </a:solidFill>
                <a:latin typeface="Calibri"/>
              </a:rPr>
              <a:t>ASK: AGENT &amp; ABOVE  ·  UPLOAD: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4" y="1095452"/>
            <a:ext cx="6212433" cy="2678014"/>
          </a:xfrm>
          <a:prstGeom prst="rect">
            <a:avLst/>
          </a:prstGeom>
          <a:solidFill>
            <a:srgbClr val="D6C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15568"/>
            <a:ext cx="6172200" cy="26380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1404" y="3852105"/>
            <a:ext cx="6212433" cy="2550295"/>
          </a:xfrm>
          <a:prstGeom prst="rect">
            <a:avLst/>
          </a:prstGeom>
          <a:solidFill>
            <a:srgbClr val="D6C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72221"/>
            <a:ext cx="6172200" cy="251002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20624" y="1525659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20624" y="1810539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" y="2116522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" y="2364473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420624" y="3234941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4924044" y="3962580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3689604" y="4514794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Oval 17"/>
          <p:cNvSpPr/>
          <p:nvPr/>
        </p:nvSpPr>
        <p:spPr>
          <a:xfrm>
            <a:off x="420624" y="4557465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420624" y="6020831"/>
            <a:ext cx="256032" cy="25603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115568"/>
            <a:ext cx="45994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25B2E"/>
                </a:solidFill>
                <a:latin typeface="Calibri"/>
              </a:rPr>
              <a:t>ON THIS SCREEN</a:t>
            </a:r>
          </a:p>
        </p:txBody>
      </p:sp>
      <p:sp>
        <p:nvSpPr>
          <p:cNvPr id="21" name="Oval 20"/>
          <p:cNvSpPr/>
          <p:nvPr/>
        </p:nvSpPr>
        <p:spPr>
          <a:xfrm>
            <a:off x="7178040" y="137434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1389888"/>
            <a:ext cx="4297680" cy="160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Ask in plain words — no query syntax</a:t>
            </a:r>
          </a:p>
        </p:txBody>
      </p:sp>
      <p:sp>
        <p:nvSpPr>
          <p:cNvPr id="23" name="Oval 22"/>
          <p:cNvSpPr/>
          <p:nvPr/>
        </p:nvSpPr>
        <p:spPr>
          <a:xfrm>
            <a:off x="7178040" y="160294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161848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Confidence band, computed from the evidence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rather than claimed by the model</a:t>
            </a:r>
          </a:p>
        </p:txBody>
      </p:sp>
      <p:sp>
        <p:nvSpPr>
          <p:cNvPr id="25" name="Oval 24"/>
          <p:cNvSpPr/>
          <p:nvPr/>
        </p:nvSpPr>
        <p:spPr>
          <a:xfrm>
            <a:off x="7178040" y="199156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007108"/>
            <a:ext cx="4297680" cy="160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Every factual sentence carries its source [n]</a:t>
            </a:r>
          </a:p>
        </p:txBody>
      </p:sp>
      <p:sp>
        <p:nvSpPr>
          <p:cNvPr id="27" name="Oval 26"/>
          <p:cNvSpPr/>
          <p:nvPr/>
        </p:nvSpPr>
        <p:spPr>
          <a:xfrm>
            <a:off x="7178040" y="222016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235708"/>
            <a:ext cx="4297680" cy="160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Cited sources: document, section and page</a:t>
            </a:r>
          </a:p>
        </p:txBody>
      </p:sp>
      <p:sp>
        <p:nvSpPr>
          <p:cNvPr id="29" name="Oval 28"/>
          <p:cNvSpPr/>
          <p:nvPr/>
        </p:nvSpPr>
        <p:spPr>
          <a:xfrm>
            <a:off x="7178040" y="244876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246430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Also retrieved but not cited — shown so you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can see what was weighed</a:t>
            </a:r>
          </a:p>
        </p:txBody>
      </p:sp>
      <p:sp>
        <p:nvSpPr>
          <p:cNvPr id="31" name="Oval 30"/>
          <p:cNvSpPr/>
          <p:nvPr/>
        </p:nvSpPr>
        <p:spPr>
          <a:xfrm>
            <a:off x="7178040" y="283738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2852928"/>
            <a:ext cx="4297680" cy="160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Admins upload PDF, Word, Markdown, text or CSV</a:t>
            </a:r>
          </a:p>
        </p:txBody>
      </p:sp>
      <p:sp>
        <p:nvSpPr>
          <p:cNvPr id="33" name="Oval 32"/>
          <p:cNvSpPr/>
          <p:nvPr/>
        </p:nvSpPr>
        <p:spPr>
          <a:xfrm>
            <a:off x="7178040" y="306598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081528"/>
            <a:ext cx="4297680" cy="160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Which roles may search this collection</a:t>
            </a:r>
          </a:p>
        </p:txBody>
      </p:sp>
      <p:sp>
        <p:nvSpPr>
          <p:cNvPr id="35" name="Oval 34"/>
          <p:cNvSpPr/>
          <p:nvPr/>
        </p:nvSpPr>
        <p:spPr>
          <a:xfrm>
            <a:off x="7178040" y="329458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331012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A collection nobody can read is flagged,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not left to fail silently</a:t>
            </a:r>
          </a:p>
        </p:txBody>
      </p:sp>
      <p:sp>
        <p:nvSpPr>
          <p:cNvPr id="37" name="Oval 36"/>
          <p:cNvSpPr/>
          <p:nvPr/>
        </p:nvSpPr>
        <p:spPr>
          <a:xfrm>
            <a:off x="7178040" y="3683203"/>
            <a:ext cx="192024" cy="192024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3698748"/>
            <a:ext cx="4297680" cy="160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A document that failed to index says why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055364"/>
            <a:ext cx="41148" cy="1188720"/>
          </a:xfrm>
          <a:prstGeom prst="rect">
            <a:avLst/>
          </a:prstGeom>
          <a:solidFill>
            <a:srgbClr val="1E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4055364"/>
            <a:ext cx="44439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1E7A53"/>
                </a:solidFill>
                <a:latin typeface="Calibri"/>
              </a:rPr>
              <a:t>WHY YOU CAN TRUST THE ANSWER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4256532"/>
            <a:ext cx="44439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Retrieval is filtered by your role before the model sees anything, so it cannot quote a document you could not open yourself. Every citation is checked against what was actually retrieved — an invented one is removed along with the sentence it supported.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5390388"/>
            <a:ext cx="41148" cy="749808"/>
          </a:xfrm>
          <a:prstGeom prst="rect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33488" y="5390388"/>
            <a:ext cx="44439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C25B2E"/>
                </a:solidFill>
                <a:latin typeface="Calibri"/>
              </a:rPr>
              <a:t>WHEN IT HAS NOTHING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5591556"/>
            <a:ext cx="444398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It says so and stops, rather than guessing. That is the correct answer, not a failure.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B75"/>
                </a:solidFill>
                <a:latin typeface="Calibri"/>
              </a:rPr>
              <a:t>SUCCESS Bank — Internal Ticketing · Standard Operating Procedure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97135" y="654710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6B75"/>
                </a:solidFill>
                <a:latin typeface="Calibri"/>
              </a:rPr>
              <a:t>Knowledge 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