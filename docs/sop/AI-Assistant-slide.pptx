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25B2E"/>
                </a:solidFill>
                <a:latin typeface="Calibri"/>
              </a:rPr>
              <a:t>THE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Asking it a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4175" y="32004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F3ECE0"/>
                </a:solidFill>
                <a:latin typeface="Calibri"/>
              </a:rPr>
              <a:t>EVERY 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" y="1165860"/>
            <a:ext cx="7818120" cy="4903470"/>
          </a:xfrm>
          <a:prstGeom prst="rect">
            <a:avLst/>
          </a:prstGeom>
          <a:solidFill>
            <a:srgbClr val="D6C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772400" cy="4855464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652728" y="2970371"/>
            <a:ext cx="274320" cy="274320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304363" y="2699308"/>
            <a:ext cx="274320" cy="274320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5652728" y="4323740"/>
            <a:ext cx="274320" cy="274320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5652728" y="5488143"/>
            <a:ext cx="274320" cy="274320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188720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25B2E"/>
                </a:solidFill>
                <a:latin typeface="Calibri"/>
              </a:rPr>
              <a:t>ON THIS SCREEN</a:t>
            </a:r>
          </a:p>
        </p:txBody>
      </p:sp>
      <p:sp>
        <p:nvSpPr>
          <p:cNvPr id="14" name="Oval 13"/>
          <p:cNvSpPr/>
          <p:nvPr/>
        </p:nvSpPr>
        <p:spPr>
          <a:xfrm>
            <a:off x="8458200" y="1463040"/>
            <a:ext cx="210312" cy="210312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87384" y="1481328"/>
            <a:ext cx="2962656" cy="169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B2A33"/>
                </a:solidFill>
                <a:latin typeface="Calibri"/>
              </a:rPr>
              <a:t>The context it is working from</a:t>
            </a:r>
          </a:p>
        </p:txBody>
      </p:sp>
      <p:sp>
        <p:nvSpPr>
          <p:cNvPr id="16" name="Oval 15"/>
          <p:cNvSpPr/>
          <p:nvPr/>
        </p:nvSpPr>
        <p:spPr>
          <a:xfrm>
            <a:off x="8458200" y="1723644"/>
            <a:ext cx="210312" cy="210312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7384" y="1741932"/>
            <a:ext cx="2962656" cy="169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B2A33"/>
                </a:solidFill>
                <a:latin typeface="Calibri"/>
              </a:rPr>
              <a:t>Start a fresh conversation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458200" y="1984248"/>
            <a:ext cx="210312" cy="210312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7384" y="2002536"/>
            <a:ext cx="296265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B2A33"/>
                </a:solidFill>
                <a:latin typeface="Calibri"/>
              </a:rPr>
              <a:t>Starter prompts — click one to fill the box</a:t>
            </a:r>
          </a:p>
        </p:txBody>
      </p:sp>
      <p:sp>
        <p:nvSpPr>
          <p:cNvPr id="20" name="Oval 19"/>
          <p:cNvSpPr/>
          <p:nvPr/>
        </p:nvSpPr>
        <p:spPr>
          <a:xfrm>
            <a:off x="8458200" y="2414016"/>
            <a:ext cx="210312" cy="210312"/>
          </a:xfrm>
          <a:prstGeom prst="ellipse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7384" y="2432304"/>
            <a:ext cx="2962656" cy="169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B2A33"/>
                </a:solidFill>
                <a:latin typeface="Calibri"/>
              </a:rPr>
              <a:t>Ask in plain English; Enter sends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2839212"/>
            <a:ext cx="45720" cy="1481328"/>
          </a:xfrm>
          <a:prstGeom prst="rect">
            <a:avLst/>
          </a:prstGeom>
          <a:solidFill>
            <a:srgbClr val="0E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22792" y="2839212"/>
            <a:ext cx="3127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0E4F4A"/>
                </a:solidFill>
                <a:latin typeface="Calibri"/>
              </a:rPr>
              <a:t>ASK IT LIKE THIS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3049524"/>
            <a:ext cx="312724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B2A33"/>
                </a:solidFill>
                <a:latin typeface="Calibri"/>
              </a:rPr>
              <a:t>“Summarise this ticket for the customer”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B2A33"/>
                </a:solidFill>
                <a:latin typeface="Calibri"/>
              </a:rPr>
              <a:t>“Which category has the most load right now?”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B2A33"/>
                </a:solidFill>
                <a:latin typeface="Calibri"/>
              </a:rPr>
              <a:t>“What is breaching today?”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B2A33"/>
                </a:solidFill>
                <a:latin typeface="Calibri"/>
              </a:rPr>
              <a:t>“What are the SLA policies for critical tickets?”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B2A33"/>
                </a:solidFill>
                <a:latin typeface="Calibri"/>
              </a:rPr>
              <a:t>“Suggest next steps on this one”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58200" y="4485132"/>
            <a:ext cx="45720" cy="841248"/>
          </a:xfrm>
          <a:prstGeom prst="rect">
            <a:avLst/>
          </a:prstGeom>
          <a:solidFill>
            <a:srgbClr val="C25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22792" y="4485132"/>
            <a:ext cx="31272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C25B2E"/>
                </a:solidFill>
                <a:latin typeface="Calibri"/>
              </a:rPr>
              <a:t>IT WILL NOT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22792" y="4695444"/>
            <a:ext cx="312724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B2A33"/>
                </a:solidFill>
                <a:latin typeface="Calibri"/>
              </a:rPr>
              <a:t>Change a status, assign a ticket or post a comment. Everything it produces is for you to act 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6119622"/>
            <a:ext cx="7772400" cy="317754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6183630"/>
            <a:ext cx="7443216" cy="2080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B2A33"/>
                </a:solidFill>
                <a:latin typeface="Calibri"/>
              </a:rPr>
              <a:t>It answers only from what your role can already open — ask about a hidden ticket and it says so.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47104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B75"/>
                </a:solidFill>
                <a:latin typeface="Calibri"/>
              </a:rPr>
              <a:t>SUCCESS Bank — Internal Ticketing · Standard Operating Procedure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7135" y="6547104"/>
            <a:ext cx="1691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6B75"/>
                </a:solidFill>
                <a:latin typeface="Calibri"/>
              </a:rPr>
              <a:t>AI 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