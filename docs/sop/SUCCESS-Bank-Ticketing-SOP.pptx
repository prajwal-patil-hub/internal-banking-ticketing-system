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E4F4A"/>
        </a:solidFill>
        <a:effectLst/>
      </p:bgPr>
    </p:bg>
    <p:spTree>
      <p:nvGrpSpPr>
        <p:cNvPr id="1" name=""/>
        <p:cNvGrpSpPr/>
        <p:nvPr/>
      </p:nvGrpSpPr>
      <p:grpSpPr/>
      <p:sp>
        <p:nvSpPr>
          <p:cNvPr id="2" name="Rectangle 1"/>
          <p:cNvSpPr/>
          <p:nvPr/>
        </p:nvSpPr>
        <p:spPr>
          <a:xfrm>
            <a:off x="0" y="2999232"/>
            <a:ext cx="12191695" cy="54864"/>
          </a:xfrm>
          <a:prstGeom prst="rect">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188720"/>
            <a:ext cx="10058400" cy="457200"/>
          </a:xfrm>
          <a:prstGeom prst="rect">
            <a:avLst/>
          </a:prstGeom>
          <a:noFill/>
        </p:spPr>
        <p:txBody>
          <a:bodyPr wrap="square" anchor="t" lIns="0" rIns="0" tIns="0" bIns="0">
            <a:spAutoFit/>
          </a:bodyPr>
          <a:lstStyle/>
          <a:p>
            <a:pPr algn="l">
              <a:lnSpc>
                <a:spcPct val="115000"/>
              </a:lnSpc>
            </a:pPr>
            <a:r>
              <a:rPr sz="1500" b="1">
                <a:solidFill>
                  <a:srgbClr val="F3ECE0"/>
                </a:solidFill>
                <a:latin typeface="Calibri"/>
              </a:rPr>
              <a:t>STANDARD OPERATING PROCEDURE</a:t>
            </a:r>
          </a:p>
        </p:txBody>
      </p:sp>
      <p:sp>
        <p:nvSpPr>
          <p:cNvPr id="4" name="TextBox 3"/>
          <p:cNvSpPr txBox="1"/>
          <p:nvPr/>
        </p:nvSpPr>
        <p:spPr>
          <a:xfrm>
            <a:off x="914400" y="1554480"/>
            <a:ext cx="10607040" cy="1325880"/>
          </a:xfrm>
          <a:prstGeom prst="rect">
            <a:avLst/>
          </a:prstGeom>
          <a:noFill/>
        </p:spPr>
        <p:txBody>
          <a:bodyPr wrap="square" anchor="t" lIns="0" rIns="0" tIns="0" bIns="0">
            <a:spAutoFit/>
          </a:bodyPr>
          <a:lstStyle/>
          <a:p>
            <a:pPr algn="l">
              <a:lnSpc>
                <a:spcPct val="112000"/>
              </a:lnSpc>
            </a:pPr>
            <a:r>
              <a:rPr sz="3800" b="1">
                <a:solidFill>
                  <a:srgbClr val="FFFFFF"/>
                </a:solidFill>
                <a:latin typeface="Calibri"/>
              </a:rPr>
              <a:t>SUCCESS Bank</a:t>
            </a:r>
          </a:p>
          <a:p>
            <a:pPr algn="l">
              <a:lnSpc>
                <a:spcPct val="112000"/>
              </a:lnSpc>
            </a:pPr>
            <a:r>
              <a:rPr sz="3800" b="1">
                <a:solidFill>
                  <a:srgbClr val="FFFFFF"/>
                </a:solidFill>
                <a:latin typeface="Calibri"/>
              </a:rPr>
              <a:t>Internal Ticketing</a:t>
            </a:r>
          </a:p>
        </p:txBody>
      </p:sp>
      <p:sp>
        <p:nvSpPr>
          <p:cNvPr id="5" name="TextBox 4"/>
          <p:cNvSpPr txBox="1"/>
          <p:nvPr/>
        </p:nvSpPr>
        <p:spPr>
          <a:xfrm>
            <a:off x="914400" y="3246120"/>
            <a:ext cx="9144000" cy="1005840"/>
          </a:xfrm>
          <a:prstGeom prst="rect">
            <a:avLst/>
          </a:prstGeom>
          <a:noFill/>
        </p:spPr>
        <p:txBody>
          <a:bodyPr wrap="square" anchor="t" lIns="0" rIns="0" tIns="0" bIns="0">
            <a:spAutoFit/>
          </a:bodyPr>
          <a:lstStyle/>
          <a:p>
            <a:pPr algn="l">
              <a:lnSpc>
                <a:spcPct val="135000"/>
              </a:lnSpc>
            </a:pPr>
            <a:r>
              <a:rPr sz="1700" b="0">
                <a:solidFill>
                  <a:srgbClr val="F3ECE0"/>
                </a:solidFill>
                <a:latin typeface="Calibri"/>
              </a:rPr>
              <a:t>A role-by-role operational guide.</a:t>
            </a:r>
          </a:p>
          <a:p>
            <a:pPr algn="l">
              <a:lnSpc>
                <a:spcPct val="135000"/>
              </a:lnSpc>
            </a:pPr>
            <a:r>
              <a:rPr sz="1700" b="0">
                <a:solidFill>
                  <a:srgbClr val="F3ECE0"/>
                </a:solidFill>
                <a:latin typeface="Calibri"/>
              </a:rPr>
              <a:t>Every screen in this deck was captured from the running application.</a:t>
            </a:r>
          </a:p>
        </p:txBody>
      </p:sp>
      <p:sp>
        <p:nvSpPr>
          <p:cNvPr id="6" name="Rectangle 5"/>
          <p:cNvSpPr/>
          <p:nvPr/>
        </p:nvSpPr>
        <p:spPr>
          <a:xfrm>
            <a:off x="914400" y="4343400"/>
            <a:ext cx="1874519" cy="1051560"/>
          </a:xfrm>
          <a:prstGeom prst="rect">
            <a:avLst/>
          </a:prstGeom>
          <a:solidFill>
            <a:srgbClr val="093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78992" y="4526280"/>
            <a:ext cx="1554480" cy="274320"/>
          </a:xfrm>
          <a:prstGeom prst="rect">
            <a:avLst/>
          </a:prstGeom>
          <a:noFill/>
        </p:spPr>
        <p:txBody>
          <a:bodyPr wrap="square" anchor="t" lIns="0" rIns="0" tIns="0" bIns="0">
            <a:spAutoFit/>
          </a:bodyPr>
          <a:lstStyle/>
          <a:p>
            <a:pPr algn="l">
              <a:lnSpc>
                <a:spcPct val="115000"/>
              </a:lnSpc>
            </a:pPr>
            <a:r>
              <a:rPr sz="1250" b="1">
                <a:solidFill>
                  <a:srgbClr val="FFFFFF"/>
                </a:solidFill>
                <a:latin typeface="Calibri"/>
              </a:rPr>
              <a:t>Branch User</a:t>
            </a:r>
          </a:p>
        </p:txBody>
      </p:sp>
      <p:sp>
        <p:nvSpPr>
          <p:cNvPr id="8" name="TextBox 7"/>
          <p:cNvSpPr txBox="1"/>
          <p:nvPr/>
        </p:nvSpPr>
        <p:spPr>
          <a:xfrm>
            <a:off x="1078992" y="4828032"/>
            <a:ext cx="1572768" cy="502920"/>
          </a:xfrm>
          <a:prstGeom prst="rect">
            <a:avLst/>
          </a:prstGeom>
          <a:noFill/>
        </p:spPr>
        <p:txBody>
          <a:bodyPr wrap="square" anchor="t" lIns="0" rIns="0" tIns="0" bIns="0">
            <a:spAutoFit/>
          </a:bodyPr>
          <a:lstStyle/>
          <a:p>
            <a:pPr algn="l">
              <a:lnSpc>
                <a:spcPct val="110000"/>
              </a:lnSpc>
            </a:pPr>
            <a:r>
              <a:rPr sz="950" b="0">
                <a:solidFill>
                  <a:srgbClr val="F3ECE0"/>
                </a:solidFill>
                <a:latin typeface="Calibri"/>
              </a:rPr>
              <a:t>raises the ticket</a:t>
            </a:r>
          </a:p>
        </p:txBody>
      </p:sp>
      <p:sp>
        <p:nvSpPr>
          <p:cNvPr id="9" name="Rectangle 8"/>
          <p:cNvSpPr/>
          <p:nvPr/>
        </p:nvSpPr>
        <p:spPr>
          <a:xfrm>
            <a:off x="2999231" y="4343400"/>
            <a:ext cx="1874519" cy="1051560"/>
          </a:xfrm>
          <a:prstGeom prst="rect">
            <a:avLst/>
          </a:prstGeom>
          <a:solidFill>
            <a:srgbClr val="093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163823" y="4526280"/>
            <a:ext cx="1554480" cy="274320"/>
          </a:xfrm>
          <a:prstGeom prst="rect">
            <a:avLst/>
          </a:prstGeom>
          <a:noFill/>
        </p:spPr>
        <p:txBody>
          <a:bodyPr wrap="square" anchor="t" lIns="0" rIns="0" tIns="0" bIns="0">
            <a:spAutoFit/>
          </a:bodyPr>
          <a:lstStyle/>
          <a:p>
            <a:pPr algn="l">
              <a:lnSpc>
                <a:spcPct val="115000"/>
              </a:lnSpc>
            </a:pPr>
            <a:r>
              <a:rPr sz="1250" b="1">
                <a:solidFill>
                  <a:srgbClr val="FFFFFF"/>
                </a:solidFill>
                <a:latin typeface="Calibri"/>
              </a:rPr>
              <a:t>Agent</a:t>
            </a:r>
          </a:p>
        </p:txBody>
      </p:sp>
      <p:sp>
        <p:nvSpPr>
          <p:cNvPr id="11" name="TextBox 10"/>
          <p:cNvSpPr txBox="1"/>
          <p:nvPr/>
        </p:nvSpPr>
        <p:spPr>
          <a:xfrm>
            <a:off x="3163823" y="4828032"/>
            <a:ext cx="1572768" cy="502920"/>
          </a:xfrm>
          <a:prstGeom prst="rect">
            <a:avLst/>
          </a:prstGeom>
          <a:noFill/>
        </p:spPr>
        <p:txBody>
          <a:bodyPr wrap="square" anchor="t" lIns="0" rIns="0" tIns="0" bIns="0">
            <a:spAutoFit/>
          </a:bodyPr>
          <a:lstStyle/>
          <a:p>
            <a:pPr algn="l">
              <a:lnSpc>
                <a:spcPct val="110000"/>
              </a:lnSpc>
            </a:pPr>
            <a:r>
              <a:rPr sz="950" b="0">
                <a:solidFill>
                  <a:srgbClr val="F3ECE0"/>
                </a:solidFill>
                <a:latin typeface="Calibri"/>
              </a:rPr>
              <a:t>works and resolves it</a:t>
            </a:r>
          </a:p>
        </p:txBody>
      </p:sp>
      <p:sp>
        <p:nvSpPr>
          <p:cNvPr id="12" name="Rectangle 11"/>
          <p:cNvSpPr/>
          <p:nvPr/>
        </p:nvSpPr>
        <p:spPr>
          <a:xfrm>
            <a:off x="5084062" y="4343400"/>
            <a:ext cx="1874519" cy="1051560"/>
          </a:xfrm>
          <a:prstGeom prst="rect">
            <a:avLst/>
          </a:prstGeom>
          <a:solidFill>
            <a:srgbClr val="093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48654" y="4526280"/>
            <a:ext cx="1554480" cy="274320"/>
          </a:xfrm>
          <a:prstGeom prst="rect">
            <a:avLst/>
          </a:prstGeom>
          <a:noFill/>
        </p:spPr>
        <p:txBody>
          <a:bodyPr wrap="square" anchor="t" lIns="0" rIns="0" tIns="0" bIns="0">
            <a:spAutoFit/>
          </a:bodyPr>
          <a:lstStyle/>
          <a:p>
            <a:pPr algn="l">
              <a:lnSpc>
                <a:spcPct val="115000"/>
              </a:lnSpc>
            </a:pPr>
            <a:r>
              <a:rPr sz="1250" b="1">
                <a:solidFill>
                  <a:srgbClr val="FFFFFF"/>
                </a:solidFill>
                <a:latin typeface="Calibri"/>
              </a:rPr>
              <a:t>Supervisor</a:t>
            </a:r>
          </a:p>
        </p:txBody>
      </p:sp>
      <p:sp>
        <p:nvSpPr>
          <p:cNvPr id="14" name="TextBox 13"/>
          <p:cNvSpPr txBox="1"/>
          <p:nvPr/>
        </p:nvSpPr>
        <p:spPr>
          <a:xfrm>
            <a:off x="5248654" y="4828032"/>
            <a:ext cx="1572768" cy="502920"/>
          </a:xfrm>
          <a:prstGeom prst="rect">
            <a:avLst/>
          </a:prstGeom>
          <a:noFill/>
        </p:spPr>
        <p:txBody>
          <a:bodyPr wrap="square" anchor="t" lIns="0" rIns="0" tIns="0" bIns="0">
            <a:spAutoFit/>
          </a:bodyPr>
          <a:lstStyle/>
          <a:p>
            <a:pPr algn="l">
              <a:lnSpc>
                <a:spcPct val="110000"/>
              </a:lnSpc>
            </a:pPr>
            <a:r>
              <a:rPr sz="950" b="0">
                <a:solidFill>
                  <a:srgbClr val="F3ECE0"/>
                </a:solidFill>
                <a:latin typeface="Calibri"/>
              </a:rPr>
              <a:t>watches SLA and escalations</a:t>
            </a:r>
          </a:p>
        </p:txBody>
      </p:sp>
      <p:sp>
        <p:nvSpPr>
          <p:cNvPr id="15" name="Rectangle 14"/>
          <p:cNvSpPr/>
          <p:nvPr/>
        </p:nvSpPr>
        <p:spPr>
          <a:xfrm>
            <a:off x="7168893" y="4343400"/>
            <a:ext cx="1874519" cy="1051560"/>
          </a:xfrm>
          <a:prstGeom prst="rect">
            <a:avLst/>
          </a:prstGeom>
          <a:solidFill>
            <a:srgbClr val="093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33485" y="4526280"/>
            <a:ext cx="1554480" cy="274320"/>
          </a:xfrm>
          <a:prstGeom prst="rect">
            <a:avLst/>
          </a:prstGeom>
          <a:noFill/>
        </p:spPr>
        <p:txBody>
          <a:bodyPr wrap="square" anchor="t" lIns="0" rIns="0" tIns="0" bIns="0">
            <a:spAutoFit/>
          </a:bodyPr>
          <a:lstStyle/>
          <a:p>
            <a:pPr algn="l">
              <a:lnSpc>
                <a:spcPct val="115000"/>
              </a:lnSpc>
            </a:pPr>
            <a:r>
              <a:rPr sz="1250" b="1">
                <a:solidFill>
                  <a:srgbClr val="FFFFFF"/>
                </a:solidFill>
                <a:latin typeface="Calibri"/>
              </a:rPr>
              <a:t>Admin</a:t>
            </a:r>
          </a:p>
        </p:txBody>
      </p:sp>
      <p:sp>
        <p:nvSpPr>
          <p:cNvPr id="17" name="TextBox 16"/>
          <p:cNvSpPr txBox="1"/>
          <p:nvPr/>
        </p:nvSpPr>
        <p:spPr>
          <a:xfrm>
            <a:off x="7333485" y="4828032"/>
            <a:ext cx="1572768" cy="502920"/>
          </a:xfrm>
          <a:prstGeom prst="rect">
            <a:avLst/>
          </a:prstGeom>
          <a:noFill/>
        </p:spPr>
        <p:txBody>
          <a:bodyPr wrap="square" anchor="t" lIns="0" rIns="0" tIns="0" bIns="0">
            <a:spAutoFit/>
          </a:bodyPr>
          <a:lstStyle/>
          <a:p>
            <a:pPr algn="l">
              <a:lnSpc>
                <a:spcPct val="110000"/>
              </a:lnSpc>
            </a:pPr>
            <a:r>
              <a:rPr sz="950" b="0">
                <a:solidFill>
                  <a:srgbClr val="F3ECE0"/>
                </a:solidFill>
                <a:latin typeface="Calibri"/>
              </a:rPr>
              <a:t>configures the system</a:t>
            </a:r>
          </a:p>
        </p:txBody>
      </p:sp>
      <p:sp>
        <p:nvSpPr>
          <p:cNvPr id="18" name="Rectangle 17"/>
          <p:cNvSpPr/>
          <p:nvPr/>
        </p:nvSpPr>
        <p:spPr>
          <a:xfrm>
            <a:off x="9253724" y="4343400"/>
            <a:ext cx="1874519" cy="1051560"/>
          </a:xfrm>
          <a:prstGeom prst="rect">
            <a:avLst/>
          </a:prstGeom>
          <a:solidFill>
            <a:srgbClr val="093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18316" y="4526280"/>
            <a:ext cx="1554480" cy="274320"/>
          </a:xfrm>
          <a:prstGeom prst="rect">
            <a:avLst/>
          </a:prstGeom>
          <a:noFill/>
        </p:spPr>
        <p:txBody>
          <a:bodyPr wrap="square" anchor="t" lIns="0" rIns="0" tIns="0" bIns="0">
            <a:spAutoFit/>
          </a:bodyPr>
          <a:lstStyle/>
          <a:p>
            <a:pPr algn="l">
              <a:lnSpc>
                <a:spcPct val="115000"/>
              </a:lnSpc>
            </a:pPr>
            <a:r>
              <a:rPr sz="1250" b="1">
                <a:solidFill>
                  <a:srgbClr val="FFFFFF"/>
                </a:solidFill>
                <a:latin typeface="Calibri"/>
              </a:rPr>
              <a:t>Auditor</a:t>
            </a:r>
          </a:p>
        </p:txBody>
      </p:sp>
      <p:sp>
        <p:nvSpPr>
          <p:cNvPr id="20" name="TextBox 19"/>
          <p:cNvSpPr txBox="1"/>
          <p:nvPr/>
        </p:nvSpPr>
        <p:spPr>
          <a:xfrm>
            <a:off x="9418316" y="4828032"/>
            <a:ext cx="1572768" cy="502920"/>
          </a:xfrm>
          <a:prstGeom prst="rect">
            <a:avLst/>
          </a:prstGeom>
          <a:noFill/>
        </p:spPr>
        <p:txBody>
          <a:bodyPr wrap="square" anchor="t" lIns="0" rIns="0" tIns="0" bIns="0">
            <a:spAutoFit/>
          </a:bodyPr>
          <a:lstStyle/>
          <a:p>
            <a:pPr algn="l">
              <a:lnSpc>
                <a:spcPct val="110000"/>
              </a:lnSpc>
            </a:pPr>
            <a:r>
              <a:rPr sz="950" b="0">
                <a:solidFill>
                  <a:srgbClr val="F3ECE0"/>
                </a:solidFill>
                <a:latin typeface="Calibri"/>
              </a:rPr>
              <a:t>reads everything, changes nothing</a:t>
            </a:r>
          </a:p>
        </p:txBody>
      </p:sp>
      <p:sp>
        <p:nvSpPr>
          <p:cNvPr id="21" name="TextBox 20"/>
          <p:cNvSpPr txBox="1"/>
          <p:nvPr/>
        </p:nvSpPr>
        <p:spPr>
          <a:xfrm>
            <a:off x="914400" y="5806440"/>
            <a:ext cx="10058400" cy="274320"/>
          </a:xfrm>
          <a:prstGeom prst="rect">
            <a:avLst/>
          </a:prstGeom>
          <a:noFill/>
        </p:spPr>
        <p:txBody>
          <a:bodyPr wrap="square" anchor="t" lIns="0" rIns="0" tIns="0" bIns="0">
            <a:spAutoFit/>
          </a:bodyPr>
          <a:lstStyle/>
          <a:p>
            <a:pPr algn="l">
              <a:lnSpc>
                <a:spcPct val="115000"/>
              </a:lnSpc>
            </a:pPr>
            <a:r>
              <a:rPr sz="1000" b="0">
                <a:solidFill>
                  <a:srgbClr val="F3ECE0"/>
                </a:solidFill>
                <a:latin typeface="Calibri"/>
              </a:rPr>
              <a:t>Version 1.0  ·  Built at commit 59ff422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0E4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82880"/>
            <a:ext cx="10515600" cy="320040"/>
          </a:xfrm>
          <a:prstGeom prst="rect">
            <a:avLst/>
          </a:prstGeom>
          <a:noFill/>
        </p:spPr>
        <p:txBody>
          <a:bodyPr wrap="square" anchor="t" lIns="0" rIns="0" tIns="0" bIns="0">
            <a:spAutoFit/>
          </a:bodyPr>
          <a:lstStyle/>
          <a:p>
            <a:pPr algn="l">
              <a:lnSpc>
                <a:spcPct val="115000"/>
              </a:lnSpc>
            </a:pPr>
            <a:r>
              <a:rPr sz="2300" b="1">
                <a:solidFill>
                  <a:srgbClr val="FFFFFF"/>
                </a:solidFill>
                <a:latin typeface="Calibri"/>
              </a:rPr>
              <a:t>How to use this deck</a:t>
            </a:r>
          </a:p>
        </p:txBody>
      </p:sp>
      <p:sp>
        <p:nvSpPr>
          <p:cNvPr id="4" name="TextBox 3"/>
          <p:cNvSpPr txBox="1"/>
          <p:nvPr/>
        </p:nvSpPr>
        <p:spPr>
          <a:xfrm>
            <a:off x="502920" y="548640"/>
            <a:ext cx="10515600" cy="256032"/>
          </a:xfrm>
          <a:prstGeom prst="rect">
            <a:avLst/>
          </a:prstGeom>
          <a:noFill/>
        </p:spPr>
        <p:txBody>
          <a:bodyPr wrap="square" anchor="t" lIns="0" rIns="0" tIns="0" bIns="0">
            <a:spAutoFit/>
          </a:bodyPr>
          <a:lstStyle/>
          <a:p>
            <a:pPr algn="l">
              <a:lnSpc>
                <a:spcPct val="115000"/>
              </a:lnSpc>
            </a:pPr>
            <a:r>
              <a:rPr sz="1150" b="0">
                <a:solidFill>
                  <a:srgbClr val="F3ECE0"/>
                </a:solidFill>
                <a:latin typeface="Calibri"/>
              </a:rPr>
              <a:t>Read it in order the first time; use Section 14 as a desk reference after that</a:t>
            </a:r>
          </a:p>
        </p:txBody>
      </p:sp>
      <p:sp>
        <p:nvSpPr>
          <p:cNvPr id="5" name="TextBox 4"/>
          <p:cNvSpPr txBox="1"/>
          <p:nvPr/>
        </p:nvSpPr>
        <p:spPr>
          <a:xfrm>
            <a:off x="548640" y="1280160"/>
            <a:ext cx="5120640" cy="274320"/>
          </a:xfrm>
          <a:prstGeom prst="rect">
            <a:avLst/>
          </a:prstGeom>
          <a:noFill/>
        </p:spPr>
        <p:txBody>
          <a:bodyPr wrap="square" anchor="t" lIns="0" rIns="0" tIns="0" bIns="0">
            <a:spAutoFit/>
          </a:bodyPr>
          <a:lstStyle/>
          <a:p>
            <a:pPr algn="l">
              <a:lnSpc>
                <a:spcPct val="115000"/>
              </a:lnSpc>
            </a:pPr>
            <a:r>
              <a:rPr sz="1100" b="1">
                <a:solidFill>
                  <a:srgbClr val="C25B2E"/>
                </a:solidFill>
                <a:latin typeface="Calibri"/>
              </a:rPr>
              <a:t>WHAT THIS IS</a:t>
            </a:r>
          </a:p>
        </p:txBody>
      </p:sp>
      <p:sp>
        <p:nvSpPr>
          <p:cNvPr id="6" name="TextBox 5"/>
          <p:cNvSpPr txBox="1"/>
          <p:nvPr/>
        </p:nvSpPr>
        <p:spPr>
          <a:xfrm>
            <a:off x="548640" y="1600200"/>
            <a:ext cx="5120640" cy="2011680"/>
          </a:xfrm>
          <a:prstGeom prst="rect">
            <a:avLst/>
          </a:prstGeom>
          <a:noFill/>
        </p:spPr>
        <p:txBody>
          <a:bodyPr wrap="square" anchor="t" lIns="0" rIns="0" tIns="0" bIns="0">
            <a:spAutoFit/>
          </a:bodyPr>
          <a:lstStyle/>
          <a:p>
            <a:pPr algn="l">
              <a:lnSpc>
                <a:spcPct val="130000"/>
              </a:lnSpc>
            </a:pPr>
            <a:r>
              <a:rPr sz="1300" b="0">
                <a:solidFill>
                  <a:srgbClr val="1B2A33"/>
                </a:solidFill>
                <a:latin typeface="Calibri"/>
              </a:rPr>
              <a:t>A step-by-step operational guide. Each role is taken from signing in to a finished ticket, using screens captured from the running application.</a:t>
            </a:r>
          </a:p>
          <a:p>
            <a:pPr algn="l">
              <a:lnSpc>
                <a:spcPct val="130000"/>
              </a:lnSpc>
            </a:pPr>
          </a:p>
          <a:p>
            <a:pPr algn="l">
              <a:lnSpc>
                <a:spcPct val="130000"/>
              </a:lnSpc>
            </a:pPr>
            <a:r>
              <a:rPr sz="1300" b="0">
                <a:solidFill>
                  <a:srgbClr val="1B2A33"/>
                </a:solidFill>
                <a:latin typeface="Calibri"/>
              </a:rPr>
              <a:t>Every workflow slide follows the same shape: what you do, what the system does back, and who picks it up next.</a:t>
            </a:r>
          </a:p>
        </p:txBody>
      </p:sp>
      <p:sp>
        <p:nvSpPr>
          <p:cNvPr id="7" name="TextBox 6"/>
          <p:cNvSpPr txBox="1"/>
          <p:nvPr/>
        </p:nvSpPr>
        <p:spPr>
          <a:xfrm>
            <a:off x="548640" y="3657600"/>
            <a:ext cx="5120640" cy="274320"/>
          </a:xfrm>
          <a:prstGeom prst="rect">
            <a:avLst/>
          </a:prstGeom>
          <a:noFill/>
        </p:spPr>
        <p:txBody>
          <a:bodyPr wrap="square" anchor="t" lIns="0" rIns="0" tIns="0" bIns="0">
            <a:spAutoFit/>
          </a:bodyPr>
          <a:lstStyle/>
          <a:p>
            <a:pPr algn="l">
              <a:lnSpc>
                <a:spcPct val="115000"/>
              </a:lnSpc>
            </a:pPr>
            <a:r>
              <a:rPr sz="1100" b="1">
                <a:solidFill>
                  <a:srgbClr val="C25B2E"/>
                </a:solidFill>
                <a:latin typeface="Calibri"/>
              </a:rPr>
              <a:t>WHAT IT IS NOT</a:t>
            </a:r>
          </a:p>
        </p:txBody>
      </p:sp>
      <p:sp>
        <p:nvSpPr>
          <p:cNvPr id="8" name="TextBox 7"/>
          <p:cNvSpPr txBox="1"/>
          <p:nvPr/>
        </p:nvSpPr>
        <p:spPr>
          <a:xfrm>
            <a:off x="548640" y="3977639"/>
            <a:ext cx="5120640" cy="1463040"/>
          </a:xfrm>
          <a:prstGeom prst="rect">
            <a:avLst/>
          </a:prstGeom>
          <a:noFill/>
        </p:spPr>
        <p:txBody>
          <a:bodyPr wrap="square" anchor="t" lIns="0" rIns="0" tIns="0" bIns="0">
            <a:spAutoFit/>
          </a:bodyPr>
          <a:lstStyle/>
          <a:p>
            <a:pPr algn="l">
              <a:lnSpc>
                <a:spcPct val="130000"/>
              </a:lnSpc>
            </a:pPr>
            <a:r>
              <a:rPr sz="1300" b="0">
                <a:solidFill>
                  <a:srgbClr val="1B2A33"/>
                </a:solidFill>
                <a:latin typeface="Calibri"/>
              </a:rPr>
              <a:t>Not a feature tour, and not a specification. Where the system does not do something people often expect — approvals, in-app notifications, ticket merging — this deck says so rather than staying silent.</a:t>
            </a:r>
          </a:p>
        </p:txBody>
      </p:sp>
      <p:sp>
        <p:nvSpPr>
          <p:cNvPr id="9" name="Rectangle 8"/>
          <p:cNvSpPr/>
          <p:nvPr/>
        </p:nvSpPr>
        <p:spPr>
          <a:xfrm>
            <a:off x="6309360" y="1280160"/>
            <a:ext cx="5349240" cy="4206240"/>
          </a:xfrm>
          <a:prstGeom prst="rect">
            <a:avLst/>
          </a:prstGeom>
          <a:solidFill>
            <a:srgbClr val="F3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29400" y="1554480"/>
            <a:ext cx="4754880" cy="274320"/>
          </a:xfrm>
          <a:prstGeom prst="rect">
            <a:avLst/>
          </a:prstGeom>
          <a:noFill/>
        </p:spPr>
        <p:txBody>
          <a:bodyPr wrap="square" anchor="t" lIns="0" rIns="0" tIns="0" bIns="0">
            <a:spAutoFit/>
          </a:bodyPr>
          <a:lstStyle/>
          <a:p>
            <a:pPr algn="l">
              <a:lnSpc>
                <a:spcPct val="115000"/>
              </a:lnSpc>
            </a:pPr>
            <a:r>
              <a:rPr sz="1100" b="1">
                <a:solidFill>
                  <a:srgbClr val="C25B2E"/>
                </a:solidFill>
                <a:latin typeface="Calibri"/>
              </a:rPr>
              <a:t>FIND YOUR ROLE</a:t>
            </a:r>
          </a:p>
        </p:txBody>
      </p:sp>
      <p:sp>
        <p:nvSpPr>
          <p:cNvPr id="11" name="Rectangle 10"/>
          <p:cNvSpPr/>
          <p:nvPr/>
        </p:nvSpPr>
        <p:spPr>
          <a:xfrm>
            <a:off x="6629400" y="1965960"/>
            <a:ext cx="45720" cy="502920"/>
          </a:xfrm>
          <a:prstGeom prst="rect">
            <a:avLst/>
          </a:prstGeom>
          <a:solidFill>
            <a:srgbClr val="0E4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2280" y="1965960"/>
            <a:ext cx="2011680" cy="256032"/>
          </a:xfrm>
          <a:prstGeom prst="rect">
            <a:avLst/>
          </a:prstGeom>
          <a:noFill/>
        </p:spPr>
        <p:txBody>
          <a:bodyPr wrap="square" anchor="t" lIns="0" rIns="0" tIns="0" bIns="0">
            <a:spAutoFit/>
          </a:bodyPr>
          <a:lstStyle/>
          <a:p>
            <a:pPr algn="l">
              <a:lnSpc>
                <a:spcPct val="115000"/>
              </a:lnSpc>
            </a:pPr>
            <a:r>
              <a:rPr sz="1300" b="1">
                <a:solidFill>
                  <a:srgbClr val="0E4F4A"/>
                </a:solidFill>
                <a:latin typeface="Calibri"/>
              </a:rPr>
              <a:t>Branch User</a:t>
            </a:r>
          </a:p>
        </p:txBody>
      </p:sp>
      <p:sp>
        <p:nvSpPr>
          <p:cNvPr id="13" name="TextBox 12"/>
          <p:cNvSpPr txBox="1"/>
          <p:nvPr/>
        </p:nvSpPr>
        <p:spPr>
          <a:xfrm>
            <a:off x="6812280" y="2203704"/>
            <a:ext cx="4206240" cy="256032"/>
          </a:xfrm>
          <a:prstGeom prst="rect">
            <a:avLst/>
          </a:prstGeom>
          <a:noFill/>
        </p:spPr>
        <p:txBody>
          <a:bodyPr wrap="square" anchor="t" lIns="0" rIns="0" tIns="0" bIns="0">
            <a:spAutoFit/>
          </a:bodyPr>
          <a:lstStyle/>
          <a:p>
            <a:pPr algn="l">
              <a:lnSpc>
                <a:spcPct val="115000"/>
              </a:lnSpc>
            </a:pPr>
            <a:r>
              <a:rPr sz="1050" b="0">
                <a:solidFill>
                  <a:srgbClr val="5B6B75"/>
                </a:solidFill>
                <a:latin typeface="Calibri"/>
              </a:rPr>
              <a:t>You raise tickets and follow them</a:t>
            </a:r>
          </a:p>
        </p:txBody>
      </p:sp>
      <p:sp>
        <p:nvSpPr>
          <p:cNvPr id="14" name="TextBox 13"/>
          <p:cNvSpPr txBox="1"/>
          <p:nvPr/>
        </p:nvSpPr>
        <p:spPr>
          <a:xfrm>
            <a:off x="10332720" y="1984248"/>
            <a:ext cx="1097280" cy="256032"/>
          </a:xfrm>
          <a:prstGeom prst="rect">
            <a:avLst/>
          </a:prstGeom>
          <a:noFill/>
        </p:spPr>
        <p:txBody>
          <a:bodyPr wrap="square" anchor="t" lIns="0" rIns="0" tIns="0" bIns="0">
            <a:spAutoFit/>
          </a:bodyPr>
          <a:lstStyle/>
          <a:p>
            <a:pPr algn="r">
              <a:lnSpc>
                <a:spcPct val="115000"/>
              </a:lnSpc>
            </a:pPr>
            <a:r>
              <a:rPr sz="1050" b="1">
                <a:solidFill>
                  <a:srgbClr val="C25B2E"/>
                </a:solidFill>
                <a:latin typeface="Calibri"/>
              </a:rPr>
              <a:t>Section 6</a:t>
            </a:r>
          </a:p>
        </p:txBody>
      </p:sp>
      <p:sp>
        <p:nvSpPr>
          <p:cNvPr id="15" name="Rectangle 14"/>
          <p:cNvSpPr/>
          <p:nvPr/>
        </p:nvSpPr>
        <p:spPr>
          <a:xfrm>
            <a:off x="6629400" y="2624328"/>
            <a:ext cx="45720" cy="502920"/>
          </a:xfrm>
          <a:prstGeom prst="rect">
            <a:avLst/>
          </a:prstGeom>
          <a:solidFill>
            <a:srgbClr val="0E4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12280" y="2624328"/>
            <a:ext cx="2011680" cy="256032"/>
          </a:xfrm>
          <a:prstGeom prst="rect">
            <a:avLst/>
          </a:prstGeom>
          <a:noFill/>
        </p:spPr>
        <p:txBody>
          <a:bodyPr wrap="square" anchor="t" lIns="0" rIns="0" tIns="0" bIns="0">
            <a:spAutoFit/>
          </a:bodyPr>
          <a:lstStyle/>
          <a:p>
            <a:pPr algn="l">
              <a:lnSpc>
                <a:spcPct val="115000"/>
              </a:lnSpc>
            </a:pPr>
            <a:r>
              <a:rPr sz="1300" b="1">
                <a:solidFill>
                  <a:srgbClr val="0E4F4A"/>
                </a:solidFill>
                <a:latin typeface="Calibri"/>
              </a:rPr>
              <a:t>Agent</a:t>
            </a:r>
          </a:p>
        </p:txBody>
      </p:sp>
      <p:sp>
        <p:nvSpPr>
          <p:cNvPr id="17" name="TextBox 16"/>
          <p:cNvSpPr txBox="1"/>
          <p:nvPr/>
        </p:nvSpPr>
        <p:spPr>
          <a:xfrm>
            <a:off x="6812280" y="2862072"/>
            <a:ext cx="4206240" cy="256032"/>
          </a:xfrm>
          <a:prstGeom prst="rect">
            <a:avLst/>
          </a:prstGeom>
          <a:noFill/>
        </p:spPr>
        <p:txBody>
          <a:bodyPr wrap="square" anchor="t" lIns="0" rIns="0" tIns="0" bIns="0">
            <a:spAutoFit/>
          </a:bodyPr>
          <a:lstStyle/>
          <a:p>
            <a:pPr algn="l">
              <a:lnSpc>
                <a:spcPct val="115000"/>
              </a:lnSpc>
            </a:pPr>
            <a:r>
              <a:rPr sz="1050" b="0">
                <a:solidFill>
                  <a:srgbClr val="5B6B75"/>
                </a:solidFill>
                <a:latin typeface="Calibri"/>
              </a:rPr>
              <a:t>You work and resolve them</a:t>
            </a:r>
          </a:p>
        </p:txBody>
      </p:sp>
      <p:sp>
        <p:nvSpPr>
          <p:cNvPr id="18" name="TextBox 17"/>
          <p:cNvSpPr txBox="1"/>
          <p:nvPr/>
        </p:nvSpPr>
        <p:spPr>
          <a:xfrm>
            <a:off x="10332720" y="2642616"/>
            <a:ext cx="1097280" cy="256032"/>
          </a:xfrm>
          <a:prstGeom prst="rect">
            <a:avLst/>
          </a:prstGeom>
          <a:noFill/>
        </p:spPr>
        <p:txBody>
          <a:bodyPr wrap="square" anchor="t" lIns="0" rIns="0" tIns="0" bIns="0">
            <a:spAutoFit/>
          </a:bodyPr>
          <a:lstStyle/>
          <a:p>
            <a:pPr algn="r">
              <a:lnSpc>
                <a:spcPct val="115000"/>
              </a:lnSpc>
            </a:pPr>
            <a:r>
              <a:rPr sz="1050" b="1">
                <a:solidFill>
                  <a:srgbClr val="C25B2E"/>
                </a:solidFill>
                <a:latin typeface="Calibri"/>
              </a:rPr>
              <a:t>Section 7</a:t>
            </a:r>
          </a:p>
        </p:txBody>
      </p:sp>
      <p:sp>
        <p:nvSpPr>
          <p:cNvPr id="19" name="Rectangle 18"/>
          <p:cNvSpPr/>
          <p:nvPr/>
        </p:nvSpPr>
        <p:spPr>
          <a:xfrm>
            <a:off x="6629400" y="3282696"/>
            <a:ext cx="45720" cy="502920"/>
          </a:xfrm>
          <a:prstGeom prst="rect">
            <a:avLst/>
          </a:prstGeom>
          <a:solidFill>
            <a:srgbClr val="0E4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12280" y="3282696"/>
            <a:ext cx="2011680" cy="256032"/>
          </a:xfrm>
          <a:prstGeom prst="rect">
            <a:avLst/>
          </a:prstGeom>
          <a:noFill/>
        </p:spPr>
        <p:txBody>
          <a:bodyPr wrap="square" anchor="t" lIns="0" rIns="0" tIns="0" bIns="0">
            <a:spAutoFit/>
          </a:bodyPr>
          <a:lstStyle/>
          <a:p>
            <a:pPr algn="l">
              <a:lnSpc>
                <a:spcPct val="115000"/>
              </a:lnSpc>
            </a:pPr>
            <a:r>
              <a:rPr sz="1300" b="1">
                <a:solidFill>
                  <a:srgbClr val="0E4F4A"/>
                </a:solidFill>
                <a:latin typeface="Calibri"/>
              </a:rPr>
              <a:t>Supervisor</a:t>
            </a:r>
          </a:p>
        </p:txBody>
      </p:sp>
      <p:sp>
        <p:nvSpPr>
          <p:cNvPr id="21" name="TextBox 20"/>
          <p:cNvSpPr txBox="1"/>
          <p:nvPr/>
        </p:nvSpPr>
        <p:spPr>
          <a:xfrm>
            <a:off x="6812280" y="3520440"/>
            <a:ext cx="4206240" cy="256032"/>
          </a:xfrm>
          <a:prstGeom prst="rect">
            <a:avLst/>
          </a:prstGeom>
          <a:noFill/>
        </p:spPr>
        <p:txBody>
          <a:bodyPr wrap="square" anchor="t" lIns="0" rIns="0" tIns="0" bIns="0">
            <a:spAutoFit/>
          </a:bodyPr>
          <a:lstStyle/>
          <a:p>
            <a:pPr algn="l">
              <a:lnSpc>
                <a:spcPct val="115000"/>
              </a:lnSpc>
            </a:pPr>
            <a:r>
              <a:rPr sz="1050" b="0">
                <a:solidFill>
                  <a:srgbClr val="5B6B75"/>
                </a:solidFill>
                <a:latin typeface="Calibri"/>
              </a:rPr>
              <a:t>You watch SLA and escalations</a:t>
            </a:r>
          </a:p>
        </p:txBody>
      </p:sp>
      <p:sp>
        <p:nvSpPr>
          <p:cNvPr id="22" name="TextBox 21"/>
          <p:cNvSpPr txBox="1"/>
          <p:nvPr/>
        </p:nvSpPr>
        <p:spPr>
          <a:xfrm>
            <a:off x="10332720" y="3300984"/>
            <a:ext cx="1097280" cy="256032"/>
          </a:xfrm>
          <a:prstGeom prst="rect">
            <a:avLst/>
          </a:prstGeom>
          <a:noFill/>
        </p:spPr>
        <p:txBody>
          <a:bodyPr wrap="square" anchor="t" lIns="0" rIns="0" tIns="0" bIns="0">
            <a:spAutoFit/>
          </a:bodyPr>
          <a:lstStyle/>
          <a:p>
            <a:pPr algn="r">
              <a:lnSpc>
                <a:spcPct val="115000"/>
              </a:lnSpc>
            </a:pPr>
            <a:r>
              <a:rPr sz="1050" b="1">
                <a:solidFill>
                  <a:srgbClr val="C25B2E"/>
                </a:solidFill>
                <a:latin typeface="Calibri"/>
              </a:rPr>
              <a:t>Section 8</a:t>
            </a:r>
          </a:p>
        </p:txBody>
      </p:sp>
      <p:sp>
        <p:nvSpPr>
          <p:cNvPr id="23" name="Rectangle 22"/>
          <p:cNvSpPr/>
          <p:nvPr/>
        </p:nvSpPr>
        <p:spPr>
          <a:xfrm>
            <a:off x="6629400" y="3941064"/>
            <a:ext cx="45720" cy="502920"/>
          </a:xfrm>
          <a:prstGeom prst="rect">
            <a:avLst/>
          </a:prstGeom>
          <a:solidFill>
            <a:srgbClr val="0E4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12280" y="3941064"/>
            <a:ext cx="2011680" cy="256032"/>
          </a:xfrm>
          <a:prstGeom prst="rect">
            <a:avLst/>
          </a:prstGeom>
          <a:noFill/>
        </p:spPr>
        <p:txBody>
          <a:bodyPr wrap="square" anchor="t" lIns="0" rIns="0" tIns="0" bIns="0">
            <a:spAutoFit/>
          </a:bodyPr>
          <a:lstStyle/>
          <a:p>
            <a:pPr algn="l">
              <a:lnSpc>
                <a:spcPct val="115000"/>
              </a:lnSpc>
            </a:pPr>
            <a:r>
              <a:rPr sz="1300" b="1">
                <a:solidFill>
                  <a:srgbClr val="0E4F4A"/>
                </a:solidFill>
                <a:latin typeface="Calibri"/>
              </a:rPr>
              <a:t>Admin</a:t>
            </a:r>
          </a:p>
        </p:txBody>
      </p:sp>
      <p:sp>
        <p:nvSpPr>
          <p:cNvPr id="25" name="TextBox 24"/>
          <p:cNvSpPr txBox="1"/>
          <p:nvPr/>
        </p:nvSpPr>
        <p:spPr>
          <a:xfrm>
            <a:off x="6812280" y="4178808"/>
            <a:ext cx="4206240" cy="256032"/>
          </a:xfrm>
          <a:prstGeom prst="rect">
            <a:avLst/>
          </a:prstGeom>
          <a:noFill/>
        </p:spPr>
        <p:txBody>
          <a:bodyPr wrap="square" anchor="t" lIns="0" rIns="0" tIns="0" bIns="0">
            <a:spAutoFit/>
          </a:bodyPr>
          <a:lstStyle/>
          <a:p>
            <a:pPr algn="l">
              <a:lnSpc>
                <a:spcPct val="115000"/>
              </a:lnSpc>
            </a:pPr>
            <a:r>
              <a:rPr sz="1050" b="0">
                <a:solidFill>
                  <a:srgbClr val="5B6B75"/>
                </a:solidFill>
                <a:latin typeface="Calibri"/>
              </a:rPr>
              <a:t>You configure the system</a:t>
            </a:r>
          </a:p>
        </p:txBody>
      </p:sp>
      <p:sp>
        <p:nvSpPr>
          <p:cNvPr id="26" name="TextBox 25"/>
          <p:cNvSpPr txBox="1"/>
          <p:nvPr/>
        </p:nvSpPr>
        <p:spPr>
          <a:xfrm>
            <a:off x="10332720" y="3959352"/>
            <a:ext cx="1097280" cy="256032"/>
          </a:xfrm>
          <a:prstGeom prst="rect">
            <a:avLst/>
          </a:prstGeom>
          <a:noFill/>
        </p:spPr>
        <p:txBody>
          <a:bodyPr wrap="square" anchor="t" lIns="0" rIns="0" tIns="0" bIns="0">
            <a:spAutoFit/>
          </a:bodyPr>
          <a:lstStyle/>
          <a:p>
            <a:pPr algn="r">
              <a:lnSpc>
                <a:spcPct val="115000"/>
              </a:lnSpc>
            </a:pPr>
            <a:r>
              <a:rPr sz="1050" b="1">
                <a:solidFill>
                  <a:srgbClr val="C25B2E"/>
                </a:solidFill>
                <a:latin typeface="Calibri"/>
              </a:rPr>
              <a:t>Section 9</a:t>
            </a:r>
          </a:p>
        </p:txBody>
      </p:sp>
      <p:sp>
        <p:nvSpPr>
          <p:cNvPr id="27" name="Rectangle 26"/>
          <p:cNvSpPr/>
          <p:nvPr/>
        </p:nvSpPr>
        <p:spPr>
          <a:xfrm>
            <a:off x="6629400" y="4599432"/>
            <a:ext cx="45720" cy="502920"/>
          </a:xfrm>
          <a:prstGeom prst="rect">
            <a:avLst/>
          </a:prstGeom>
          <a:solidFill>
            <a:srgbClr val="0E4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12280" y="4599432"/>
            <a:ext cx="2011680" cy="256032"/>
          </a:xfrm>
          <a:prstGeom prst="rect">
            <a:avLst/>
          </a:prstGeom>
          <a:noFill/>
        </p:spPr>
        <p:txBody>
          <a:bodyPr wrap="square" anchor="t" lIns="0" rIns="0" tIns="0" bIns="0">
            <a:spAutoFit/>
          </a:bodyPr>
          <a:lstStyle/>
          <a:p>
            <a:pPr algn="l">
              <a:lnSpc>
                <a:spcPct val="115000"/>
              </a:lnSpc>
            </a:pPr>
            <a:r>
              <a:rPr sz="1300" b="1">
                <a:solidFill>
                  <a:srgbClr val="0E4F4A"/>
                </a:solidFill>
                <a:latin typeface="Calibri"/>
              </a:rPr>
              <a:t>Auditor</a:t>
            </a:r>
          </a:p>
        </p:txBody>
      </p:sp>
      <p:sp>
        <p:nvSpPr>
          <p:cNvPr id="29" name="TextBox 28"/>
          <p:cNvSpPr txBox="1"/>
          <p:nvPr/>
        </p:nvSpPr>
        <p:spPr>
          <a:xfrm>
            <a:off x="6812280" y="4837176"/>
            <a:ext cx="4206240" cy="256032"/>
          </a:xfrm>
          <a:prstGeom prst="rect">
            <a:avLst/>
          </a:prstGeom>
          <a:noFill/>
        </p:spPr>
        <p:txBody>
          <a:bodyPr wrap="square" anchor="t" lIns="0" rIns="0" tIns="0" bIns="0">
            <a:spAutoFit/>
          </a:bodyPr>
          <a:lstStyle/>
          <a:p>
            <a:pPr algn="l">
              <a:lnSpc>
                <a:spcPct val="115000"/>
              </a:lnSpc>
            </a:pPr>
            <a:r>
              <a:rPr sz="1050" b="0">
                <a:solidFill>
                  <a:srgbClr val="5B6B75"/>
                </a:solidFill>
                <a:latin typeface="Calibri"/>
              </a:rPr>
              <a:t>You review; you change nothing</a:t>
            </a:r>
          </a:p>
        </p:txBody>
      </p:sp>
      <p:sp>
        <p:nvSpPr>
          <p:cNvPr id="30" name="TextBox 29"/>
          <p:cNvSpPr txBox="1"/>
          <p:nvPr/>
        </p:nvSpPr>
        <p:spPr>
          <a:xfrm>
            <a:off x="10332720" y="4617720"/>
            <a:ext cx="1097280" cy="256032"/>
          </a:xfrm>
          <a:prstGeom prst="rect">
            <a:avLst/>
          </a:prstGeom>
          <a:noFill/>
        </p:spPr>
        <p:txBody>
          <a:bodyPr wrap="square" anchor="t" lIns="0" rIns="0" tIns="0" bIns="0">
            <a:spAutoFit/>
          </a:bodyPr>
          <a:lstStyle/>
          <a:p>
            <a:pPr algn="r">
              <a:lnSpc>
                <a:spcPct val="115000"/>
              </a:lnSpc>
            </a:pPr>
            <a:r>
              <a:rPr sz="1050" b="1">
                <a:solidFill>
                  <a:srgbClr val="C25B2E"/>
                </a:solidFill>
                <a:latin typeface="Calibri"/>
              </a:rPr>
              <a:t>Section 10</a:t>
            </a:r>
          </a:p>
        </p:txBody>
      </p:sp>
      <p:sp>
        <p:nvSpPr>
          <p:cNvPr id="31" name="Rectangle 30"/>
          <p:cNvSpPr/>
          <p:nvPr/>
        </p:nvSpPr>
        <p:spPr>
          <a:xfrm>
            <a:off x="0" y="6473952"/>
            <a:ext cx="12191695" cy="384048"/>
          </a:xfrm>
          <a:prstGeom prst="rect">
            <a:avLst/>
          </a:prstGeom>
          <a:solidFill>
            <a:srgbClr val="F3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2920" y="6547104"/>
            <a:ext cx="8229600" cy="228600"/>
          </a:xfrm>
          <a:prstGeom prst="rect">
            <a:avLst/>
          </a:prstGeom>
          <a:noFill/>
        </p:spPr>
        <p:txBody>
          <a:bodyPr wrap="square" anchor="t" lIns="0" rIns="0" tIns="0" bIns="0">
            <a:spAutoFit/>
          </a:bodyPr>
          <a:lstStyle/>
          <a:p>
            <a:pPr algn="l">
              <a:lnSpc>
                <a:spcPct val="115000"/>
              </a:lnSpc>
            </a:pPr>
            <a:r>
              <a:rPr sz="900" b="0">
                <a:solidFill>
                  <a:srgbClr val="5B6B75"/>
                </a:solidFill>
                <a:latin typeface="Calibri"/>
              </a:rPr>
              <a:t>SUCCESS Bank — Internal Ticketing · Standard Operating Procedure</a:t>
            </a:r>
          </a:p>
        </p:txBody>
      </p:sp>
      <p:sp>
        <p:nvSpPr>
          <p:cNvPr id="33" name="TextBox 32"/>
          <p:cNvSpPr txBox="1"/>
          <p:nvPr/>
        </p:nvSpPr>
        <p:spPr>
          <a:xfrm>
            <a:off x="9997135" y="6547104"/>
            <a:ext cx="1691640" cy="228600"/>
          </a:xfrm>
          <a:prstGeom prst="rect">
            <a:avLst/>
          </a:prstGeom>
          <a:noFill/>
        </p:spPr>
        <p:txBody>
          <a:bodyPr wrap="square" anchor="t" lIns="0" rIns="0" tIns="0" bIns="0">
            <a:spAutoFit/>
          </a:bodyPr>
          <a:lstStyle/>
          <a:p>
            <a:pPr algn="r">
              <a:lnSpc>
                <a:spcPct val="115000"/>
              </a:lnSpc>
            </a:pPr>
            <a:r>
              <a:rPr sz="900" b="0">
                <a:solidFill>
                  <a:srgbClr val="5B6B75"/>
                </a:solidFill>
                <a:latin typeface="Calibri"/>
              </a:rPr>
              <a:t>Overview</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3ECE0"/>
        </a:solidFill>
        <a:effectLst/>
      </p:bgPr>
    </p:bg>
    <p:spTree>
      <p:nvGrpSpPr>
        <p:cNvPr id="1" name=""/>
        <p:cNvGrpSpPr/>
        <p:nvPr/>
      </p:nvGrpSpPr>
      <p:grpSpPr/>
      <p:sp>
        <p:nvSpPr>
          <p:cNvPr id="2" name="Rectangle 1"/>
          <p:cNvSpPr/>
          <p:nvPr/>
        </p:nvSpPr>
        <p:spPr>
          <a:xfrm>
            <a:off x="0" y="0"/>
            <a:ext cx="256032" cy="6858000"/>
          </a:xfrm>
          <a:prstGeom prst="rect">
            <a:avLst/>
          </a:prstGeom>
          <a:solidFill>
            <a:srgbClr val="0E4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2377440"/>
            <a:ext cx="1828800" cy="548640"/>
          </a:xfrm>
          <a:prstGeom prst="rect">
            <a:avLst/>
          </a:prstGeom>
          <a:noFill/>
        </p:spPr>
        <p:txBody>
          <a:bodyPr wrap="square" anchor="t" lIns="0" rIns="0" tIns="0" bIns="0">
            <a:spAutoFit/>
          </a:bodyPr>
          <a:lstStyle/>
          <a:p>
            <a:pPr algn="l">
              <a:lnSpc>
                <a:spcPct val="115000"/>
              </a:lnSpc>
            </a:pPr>
            <a:r>
              <a:rPr sz="1300" b="1">
                <a:solidFill>
                  <a:srgbClr val="C25B2E"/>
                </a:solidFill>
                <a:latin typeface="Calibri"/>
              </a:rPr>
              <a:t>SECTION 02</a:t>
            </a:r>
          </a:p>
        </p:txBody>
      </p:sp>
      <p:sp>
        <p:nvSpPr>
          <p:cNvPr id="4" name="TextBox 3"/>
          <p:cNvSpPr txBox="1"/>
          <p:nvPr/>
        </p:nvSpPr>
        <p:spPr>
          <a:xfrm>
            <a:off x="1005840" y="2788920"/>
            <a:ext cx="9601200" cy="822960"/>
          </a:xfrm>
          <a:prstGeom prst="rect">
            <a:avLst/>
          </a:prstGeom>
          <a:noFill/>
        </p:spPr>
        <p:txBody>
          <a:bodyPr wrap="square" anchor="t" lIns="0" rIns="0" tIns="0" bIns="0">
            <a:spAutoFit/>
          </a:bodyPr>
          <a:lstStyle/>
          <a:p>
            <a:pPr algn="l">
              <a:lnSpc>
                <a:spcPct val="115000"/>
              </a:lnSpc>
            </a:pPr>
            <a:r>
              <a:rPr sz="3400" b="1">
                <a:solidFill>
                  <a:srgbClr val="0E4F4A"/>
                </a:solidFill>
                <a:latin typeface="Calibri"/>
              </a:rPr>
              <a:t>What the system is for</a:t>
            </a:r>
          </a:p>
        </p:txBody>
      </p:sp>
      <p:sp>
        <p:nvSpPr>
          <p:cNvPr id="5" name="TextBox 4"/>
          <p:cNvSpPr txBox="1"/>
          <p:nvPr/>
        </p:nvSpPr>
        <p:spPr>
          <a:xfrm>
            <a:off x="1005840" y="3794760"/>
            <a:ext cx="8686800" cy="914400"/>
          </a:xfrm>
          <a:prstGeom prst="rect">
            <a:avLst/>
          </a:prstGeom>
          <a:noFill/>
        </p:spPr>
        <p:txBody>
          <a:bodyPr wrap="square" anchor="t" lIns="0" rIns="0" tIns="0" bIns="0">
            <a:spAutoFit/>
          </a:bodyPr>
          <a:lstStyle/>
          <a:p>
            <a:pPr algn="l">
              <a:lnSpc>
                <a:spcPct val="130000"/>
              </a:lnSpc>
            </a:pPr>
            <a:r>
              <a:rPr sz="1500" b="0">
                <a:solidFill>
                  <a:srgbClr val="5B6B75"/>
                </a:solidFill>
                <a:latin typeface="Calibri"/>
              </a:rPr>
              <a:t>One record for every operational problem, from the moment it is raised to the moment it is closed.</a:t>
            </a:r>
          </a:p>
        </p:txBody>
      </p:sp>
      <p:sp>
        <p:nvSpPr>
          <p:cNvPr id="6" name="Rectangle 5"/>
          <p:cNvSpPr/>
          <p:nvPr/>
        </p:nvSpPr>
        <p:spPr>
          <a:xfrm>
            <a:off x="0" y="6473952"/>
            <a:ext cx="12191695" cy="384048"/>
          </a:xfrm>
          <a:prstGeom prst="rect">
            <a:avLst/>
          </a:prstGeom>
          <a:solidFill>
            <a:srgbClr val="F3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47104"/>
            <a:ext cx="8229600" cy="228600"/>
          </a:xfrm>
          <a:prstGeom prst="rect">
            <a:avLst/>
          </a:prstGeom>
          <a:noFill/>
        </p:spPr>
        <p:txBody>
          <a:bodyPr wrap="square" anchor="t" lIns="0" rIns="0" tIns="0" bIns="0">
            <a:spAutoFit/>
          </a:bodyPr>
          <a:lstStyle/>
          <a:p>
            <a:pPr algn="l">
              <a:lnSpc>
                <a:spcPct val="115000"/>
              </a:lnSpc>
            </a:pPr>
            <a:r>
              <a:rPr sz="900" b="0">
                <a:solidFill>
                  <a:srgbClr val="5B6B75"/>
                </a:solidFill>
                <a:latin typeface="Calibri"/>
              </a:rPr>
              <a:t>SUCCESS Bank — Internal Ticketing · Standard Operating Procedure</a:t>
            </a:r>
          </a:p>
        </p:txBody>
      </p:sp>
      <p:sp>
        <p:nvSpPr>
          <p:cNvPr id="8" name="TextBox 7"/>
          <p:cNvSpPr txBox="1"/>
          <p:nvPr/>
        </p:nvSpPr>
        <p:spPr>
          <a:xfrm>
            <a:off x="9997135" y="6547104"/>
            <a:ext cx="1691640" cy="228600"/>
          </a:xfrm>
          <a:prstGeom prst="rect">
            <a:avLst/>
          </a:prstGeom>
          <a:noFill/>
        </p:spPr>
        <p:txBody>
          <a:bodyPr wrap="square" anchor="t" lIns="0" rIns="0" tIns="0" bIns="0">
            <a:spAutoFit/>
          </a:bodyPr>
          <a:lstStyle/>
          <a:p>
            <a:pPr algn="r">
              <a:lnSpc>
                <a:spcPct val="115000"/>
              </a:lnSpc>
            </a:pPr>
            <a:r>
              <a:rPr sz="900" b="0">
                <a:solidFill>
                  <a:srgbClr val="5B6B75"/>
                </a:solidFill>
                <a:latin typeface="Calibri"/>
              </a:rPr>
              <a:t>Section 02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0E4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82880"/>
            <a:ext cx="10515600" cy="320040"/>
          </a:xfrm>
          <a:prstGeom prst="rect">
            <a:avLst/>
          </a:prstGeom>
          <a:noFill/>
        </p:spPr>
        <p:txBody>
          <a:bodyPr wrap="square" anchor="t" lIns="0" rIns="0" tIns="0" bIns="0">
            <a:spAutoFit/>
          </a:bodyPr>
          <a:lstStyle/>
          <a:p>
            <a:pPr algn="l">
              <a:lnSpc>
                <a:spcPct val="115000"/>
              </a:lnSpc>
            </a:pPr>
            <a:r>
              <a:rPr sz="2300" b="1">
                <a:solidFill>
                  <a:srgbClr val="FFFFFF"/>
                </a:solidFill>
                <a:latin typeface="Calibri"/>
              </a:rPr>
              <a:t>The problem it replaces</a:t>
            </a:r>
          </a:p>
        </p:txBody>
      </p:sp>
      <p:sp>
        <p:nvSpPr>
          <p:cNvPr id="4" name="TextBox 3"/>
          <p:cNvSpPr txBox="1"/>
          <p:nvPr/>
        </p:nvSpPr>
        <p:spPr>
          <a:xfrm>
            <a:off x="502920" y="548640"/>
            <a:ext cx="10515600" cy="256032"/>
          </a:xfrm>
          <a:prstGeom prst="rect">
            <a:avLst/>
          </a:prstGeom>
          <a:noFill/>
        </p:spPr>
        <p:txBody>
          <a:bodyPr wrap="square" anchor="t" lIns="0" rIns="0" tIns="0" bIns="0">
            <a:spAutoFit/>
          </a:bodyPr>
          <a:lstStyle/>
          <a:p>
            <a:pPr algn="l">
              <a:lnSpc>
                <a:spcPct val="115000"/>
              </a:lnSpc>
            </a:pPr>
            <a:r>
              <a:rPr sz="1150" b="0">
                <a:solidFill>
                  <a:srgbClr val="F3ECE0"/>
                </a:solidFill>
                <a:latin typeface="Calibri"/>
              </a:rPr>
              <a:t>Why a shared record beats a shared inbox</a:t>
            </a:r>
          </a:p>
        </p:txBody>
      </p:sp>
      <p:sp>
        <p:nvSpPr>
          <p:cNvPr id="5" name="Rectangle 4"/>
          <p:cNvSpPr/>
          <p:nvPr/>
        </p:nvSpPr>
        <p:spPr>
          <a:xfrm>
            <a:off x="548640" y="1280160"/>
            <a:ext cx="5394960" cy="1920240"/>
          </a:xfrm>
          <a:prstGeom prst="rect">
            <a:avLst/>
          </a:prstGeom>
          <a:solidFill>
            <a:srgbClr val="F3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280160"/>
            <a:ext cx="54864" cy="1920240"/>
          </a:xfrm>
          <a:prstGeom prst="rect">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508760"/>
            <a:ext cx="4846320" cy="274320"/>
          </a:xfrm>
          <a:prstGeom prst="rect">
            <a:avLst/>
          </a:prstGeom>
          <a:noFill/>
        </p:spPr>
        <p:txBody>
          <a:bodyPr wrap="square" anchor="t" lIns="0" rIns="0" tIns="0" bIns="0">
            <a:spAutoFit/>
          </a:bodyPr>
          <a:lstStyle/>
          <a:p>
            <a:pPr algn="l">
              <a:lnSpc>
                <a:spcPct val="115000"/>
              </a:lnSpc>
            </a:pPr>
            <a:r>
              <a:rPr sz="1500" b="1">
                <a:solidFill>
                  <a:srgbClr val="C25B2E"/>
                </a:solidFill>
                <a:latin typeface="Calibri"/>
              </a:rPr>
              <a:t>Without it</a:t>
            </a:r>
          </a:p>
        </p:txBody>
      </p:sp>
      <p:sp>
        <p:nvSpPr>
          <p:cNvPr id="8" name="TextBox 7"/>
          <p:cNvSpPr txBox="1"/>
          <p:nvPr/>
        </p:nvSpPr>
        <p:spPr>
          <a:xfrm>
            <a:off x="822960" y="1874519"/>
            <a:ext cx="4846320" cy="1188720"/>
          </a:xfrm>
          <a:prstGeom prst="rect">
            <a:avLst/>
          </a:prstGeom>
          <a:noFill/>
        </p:spPr>
        <p:txBody>
          <a:bodyPr wrap="square" anchor="t" lIns="0" rIns="0" tIns="0" bIns="0">
            <a:spAutoFit/>
          </a:bodyPr>
          <a:lstStyle/>
          <a:p>
            <a:pPr algn="l">
              <a:lnSpc>
                <a:spcPct val="130000"/>
              </a:lnSpc>
            </a:pPr>
            <a:r>
              <a:rPr sz="1250" b="0">
                <a:solidFill>
                  <a:srgbClr val="1B2A33"/>
                </a:solidFill>
                <a:latin typeface="Calibri"/>
              </a:rPr>
              <a:t>A blocked card is reported by phone. A duplicated debit goes to somebody's inbox. Nobody can say how long either has been open, who owns it, or what was decided.</a:t>
            </a:r>
          </a:p>
        </p:txBody>
      </p:sp>
      <p:sp>
        <p:nvSpPr>
          <p:cNvPr id="9" name="Rectangle 8"/>
          <p:cNvSpPr/>
          <p:nvPr/>
        </p:nvSpPr>
        <p:spPr>
          <a:xfrm>
            <a:off x="6309360" y="1280160"/>
            <a:ext cx="5394960" cy="1920240"/>
          </a:xfrm>
          <a:prstGeom prst="rect">
            <a:avLst/>
          </a:prstGeom>
          <a:solidFill>
            <a:srgbClr val="F3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280160"/>
            <a:ext cx="54864" cy="1920240"/>
          </a:xfrm>
          <a:prstGeom prst="rect">
            <a:avLst/>
          </a:prstGeom>
          <a:solidFill>
            <a:srgbClr val="1E7A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0" y="1508760"/>
            <a:ext cx="4846320" cy="274320"/>
          </a:xfrm>
          <a:prstGeom prst="rect">
            <a:avLst/>
          </a:prstGeom>
          <a:noFill/>
        </p:spPr>
        <p:txBody>
          <a:bodyPr wrap="square" anchor="t" lIns="0" rIns="0" tIns="0" bIns="0">
            <a:spAutoFit/>
          </a:bodyPr>
          <a:lstStyle/>
          <a:p>
            <a:pPr algn="l">
              <a:lnSpc>
                <a:spcPct val="115000"/>
              </a:lnSpc>
            </a:pPr>
            <a:r>
              <a:rPr sz="1500" b="1">
                <a:solidFill>
                  <a:srgbClr val="1E7A53"/>
                </a:solidFill>
                <a:latin typeface="Calibri"/>
              </a:rPr>
              <a:t>With it</a:t>
            </a:r>
          </a:p>
        </p:txBody>
      </p:sp>
      <p:sp>
        <p:nvSpPr>
          <p:cNvPr id="12" name="TextBox 11"/>
          <p:cNvSpPr txBox="1"/>
          <p:nvPr/>
        </p:nvSpPr>
        <p:spPr>
          <a:xfrm>
            <a:off x="6583680" y="1874519"/>
            <a:ext cx="4846320" cy="1188720"/>
          </a:xfrm>
          <a:prstGeom prst="rect">
            <a:avLst/>
          </a:prstGeom>
          <a:noFill/>
        </p:spPr>
        <p:txBody>
          <a:bodyPr wrap="square" anchor="t" lIns="0" rIns="0" tIns="0" bIns="0">
            <a:spAutoFit/>
          </a:bodyPr>
          <a:lstStyle/>
          <a:p>
            <a:pPr algn="l">
              <a:lnSpc>
                <a:spcPct val="130000"/>
              </a:lnSpc>
            </a:pPr>
            <a:r>
              <a:rPr sz="1250" b="0">
                <a:solidFill>
                  <a:srgbClr val="1B2A33"/>
                </a:solidFill>
                <a:latin typeface="Calibri"/>
              </a:rPr>
              <a:t>Every problem gets a number, an owner, a deadline and a history. Months later an auditor can answer who changed what, and when.</a:t>
            </a:r>
          </a:p>
        </p:txBody>
      </p:sp>
      <p:sp>
        <p:nvSpPr>
          <p:cNvPr id="13" name="TextBox 12"/>
          <p:cNvSpPr txBox="1"/>
          <p:nvPr/>
        </p:nvSpPr>
        <p:spPr>
          <a:xfrm>
            <a:off x="548640" y="3520440"/>
            <a:ext cx="10972800" cy="274320"/>
          </a:xfrm>
          <a:prstGeom prst="rect">
            <a:avLst/>
          </a:prstGeom>
          <a:noFill/>
        </p:spPr>
        <p:txBody>
          <a:bodyPr wrap="square" anchor="t" lIns="0" rIns="0" tIns="0" bIns="0">
            <a:spAutoFit/>
          </a:bodyPr>
          <a:lstStyle/>
          <a:p>
            <a:pPr algn="l">
              <a:lnSpc>
                <a:spcPct val="115000"/>
              </a:lnSpc>
            </a:pPr>
            <a:r>
              <a:rPr sz="1100" b="1">
                <a:solidFill>
                  <a:srgbClr val="C25B2E"/>
                </a:solidFill>
                <a:latin typeface="Calibri"/>
              </a:rPr>
              <a:t>HOW A TICKET ARRIVES</a:t>
            </a:r>
          </a:p>
        </p:txBody>
      </p:sp>
      <p:sp>
        <p:nvSpPr>
          <p:cNvPr id="14" name="Rectangle 13"/>
          <p:cNvSpPr/>
          <p:nvPr/>
        </p:nvSpPr>
        <p:spPr>
          <a:xfrm>
            <a:off x="548640" y="3886200"/>
            <a:ext cx="5394960" cy="914400"/>
          </a:xfrm>
          <a:prstGeom prst="rect">
            <a:avLst/>
          </a:prstGeom>
          <a:solidFill>
            <a:srgbClr val="FFFFFF"/>
          </a:solidFill>
          <a:ln w="12700">
            <a:solidFill>
              <a:srgbClr val="D6CE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4069080"/>
            <a:ext cx="1828800" cy="274320"/>
          </a:xfrm>
          <a:prstGeom prst="rect">
            <a:avLst/>
          </a:prstGeom>
          <a:noFill/>
        </p:spPr>
        <p:txBody>
          <a:bodyPr wrap="square" anchor="t" lIns="0" rIns="0" tIns="0" bIns="0">
            <a:spAutoFit/>
          </a:bodyPr>
          <a:lstStyle/>
          <a:p>
            <a:pPr algn="l">
              <a:lnSpc>
                <a:spcPct val="115000"/>
              </a:lnSpc>
            </a:pPr>
            <a:r>
              <a:rPr sz="1300" b="1">
                <a:solidFill>
                  <a:srgbClr val="0E4F4A"/>
                </a:solidFill>
                <a:latin typeface="Calibri"/>
              </a:rPr>
              <a:t>Portal</a:t>
            </a:r>
          </a:p>
        </p:txBody>
      </p:sp>
      <p:sp>
        <p:nvSpPr>
          <p:cNvPr id="16" name="TextBox 15"/>
          <p:cNvSpPr txBox="1"/>
          <p:nvPr/>
        </p:nvSpPr>
        <p:spPr>
          <a:xfrm>
            <a:off x="822960" y="4343400"/>
            <a:ext cx="4846320" cy="365760"/>
          </a:xfrm>
          <a:prstGeom prst="rect">
            <a:avLst/>
          </a:prstGeom>
          <a:noFill/>
        </p:spPr>
        <p:txBody>
          <a:bodyPr wrap="square" anchor="t" lIns="0" rIns="0" tIns="0" bIns="0">
            <a:spAutoFit/>
          </a:bodyPr>
          <a:lstStyle/>
          <a:p>
            <a:pPr algn="l">
              <a:lnSpc>
                <a:spcPct val="115000"/>
              </a:lnSpc>
            </a:pPr>
            <a:r>
              <a:rPr sz="1100" b="0">
                <a:solidFill>
                  <a:srgbClr val="5B6B75"/>
                </a:solidFill>
                <a:latin typeface="Calibri"/>
              </a:rPr>
              <a:t>A branch user fills in the form and attaches evidence</a:t>
            </a:r>
          </a:p>
        </p:txBody>
      </p:sp>
      <p:sp>
        <p:nvSpPr>
          <p:cNvPr id="17" name="Rectangle 16"/>
          <p:cNvSpPr/>
          <p:nvPr/>
        </p:nvSpPr>
        <p:spPr>
          <a:xfrm>
            <a:off x="6309360" y="3886200"/>
            <a:ext cx="5394960" cy="914400"/>
          </a:xfrm>
          <a:prstGeom prst="rect">
            <a:avLst/>
          </a:prstGeom>
          <a:solidFill>
            <a:srgbClr val="FFFFFF"/>
          </a:solidFill>
          <a:ln w="12700">
            <a:solidFill>
              <a:srgbClr val="D6CE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0" y="4069080"/>
            <a:ext cx="1828800" cy="274320"/>
          </a:xfrm>
          <a:prstGeom prst="rect">
            <a:avLst/>
          </a:prstGeom>
          <a:noFill/>
        </p:spPr>
        <p:txBody>
          <a:bodyPr wrap="square" anchor="t" lIns="0" rIns="0" tIns="0" bIns="0">
            <a:spAutoFit/>
          </a:bodyPr>
          <a:lstStyle/>
          <a:p>
            <a:pPr algn="l">
              <a:lnSpc>
                <a:spcPct val="115000"/>
              </a:lnSpc>
            </a:pPr>
            <a:r>
              <a:rPr sz="1300" b="1">
                <a:solidFill>
                  <a:srgbClr val="0E4F4A"/>
                </a:solidFill>
                <a:latin typeface="Calibri"/>
              </a:rPr>
              <a:t>Email</a:t>
            </a:r>
          </a:p>
        </p:txBody>
      </p:sp>
      <p:sp>
        <p:nvSpPr>
          <p:cNvPr id="19" name="TextBox 18"/>
          <p:cNvSpPr txBox="1"/>
          <p:nvPr/>
        </p:nvSpPr>
        <p:spPr>
          <a:xfrm>
            <a:off x="6583680" y="4343400"/>
            <a:ext cx="4846320" cy="365760"/>
          </a:xfrm>
          <a:prstGeom prst="rect">
            <a:avLst/>
          </a:prstGeom>
          <a:noFill/>
        </p:spPr>
        <p:txBody>
          <a:bodyPr wrap="square" anchor="t" lIns="0" rIns="0" tIns="0" bIns="0">
            <a:spAutoFit/>
          </a:bodyPr>
          <a:lstStyle/>
          <a:p>
            <a:pPr algn="l">
              <a:lnSpc>
                <a:spcPct val="115000"/>
              </a:lnSpc>
            </a:pPr>
            <a:r>
              <a:rPr sz="1100" b="0">
                <a:solidFill>
                  <a:srgbClr val="5B6B75"/>
                </a:solidFill>
                <a:latin typeface="Calibri"/>
              </a:rPr>
              <a:t>A message to the support mailbox becomes a ticket automatically</a:t>
            </a:r>
          </a:p>
        </p:txBody>
      </p:sp>
      <p:sp>
        <p:nvSpPr>
          <p:cNvPr id="20" name="TextBox 19"/>
          <p:cNvSpPr txBox="1"/>
          <p:nvPr/>
        </p:nvSpPr>
        <p:spPr>
          <a:xfrm>
            <a:off x="548640" y="5029200"/>
            <a:ext cx="10972800" cy="822960"/>
          </a:xfrm>
          <a:prstGeom prst="rect">
            <a:avLst/>
          </a:prstGeom>
          <a:noFill/>
        </p:spPr>
        <p:txBody>
          <a:bodyPr wrap="square" anchor="t" lIns="0" rIns="0" tIns="0" bIns="0">
            <a:spAutoFit/>
          </a:bodyPr>
          <a:lstStyle/>
          <a:p>
            <a:pPr algn="l">
              <a:lnSpc>
                <a:spcPct val="125000"/>
              </a:lnSpc>
            </a:pPr>
            <a:r>
              <a:rPr sz="1100" b="0">
                <a:solidFill>
                  <a:srgbClr val="5B6B75"/>
                </a:solidFill>
                <a:latin typeface="Calibri"/>
              </a:rPr>
              <a:t>Email intake is implemented but off by default (IMAP_ENABLED=false) and needs a real mailbox. Everything else in this deck works out of the box.</a:t>
            </a:r>
          </a:p>
        </p:txBody>
      </p:sp>
      <p:sp>
        <p:nvSpPr>
          <p:cNvPr id="21" name="Rectangle 20"/>
          <p:cNvSpPr/>
          <p:nvPr/>
        </p:nvSpPr>
        <p:spPr>
          <a:xfrm>
            <a:off x="0" y="6473952"/>
            <a:ext cx="12191695" cy="384048"/>
          </a:xfrm>
          <a:prstGeom prst="rect">
            <a:avLst/>
          </a:prstGeom>
          <a:solidFill>
            <a:srgbClr val="F3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2920" y="6547104"/>
            <a:ext cx="8229600" cy="228600"/>
          </a:xfrm>
          <a:prstGeom prst="rect">
            <a:avLst/>
          </a:prstGeom>
          <a:noFill/>
        </p:spPr>
        <p:txBody>
          <a:bodyPr wrap="square" anchor="t" lIns="0" rIns="0" tIns="0" bIns="0">
            <a:spAutoFit/>
          </a:bodyPr>
          <a:lstStyle/>
          <a:p>
            <a:pPr algn="l">
              <a:lnSpc>
                <a:spcPct val="115000"/>
              </a:lnSpc>
            </a:pPr>
            <a:r>
              <a:rPr sz="900" b="0">
                <a:solidFill>
                  <a:srgbClr val="5B6B75"/>
                </a:solidFill>
                <a:latin typeface="Calibri"/>
              </a:rPr>
              <a:t>SUCCESS Bank — Internal Ticketing · Standard Operating Procedure</a:t>
            </a:r>
          </a:p>
        </p:txBody>
      </p:sp>
      <p:sp>
        <p:nvSpPr>
          <p:cNvPr id="23" name="TextBox 22"/>
          <p:cNvSpPr txBox="1"/>
          <p:nvPr/>
        </p:nvSpPr>
        <p:spPr>
          <a:xfrm>
            <a:off x="9997135" y="6547104"/>
            <a:ext cx="1691640" cy="228600"/>
          </a:xfrm>
          <a:prstGeom prst="rect">
            <a:avLst/>
          </a:prstGeom>
          <a:noFill/>
        </p:spPr>
        <p:txBody>
          <a:bodyPr wrap="square" anchor="t" lIns="0" rIns="0" tIns="0" bIns="0">
            <a:spAutoFit/>
          </a:bodyPr>
          <a:lstStyle/>
          <a:p>
            <a:pPr algn="r">
              <a:lnSpc>
                <a:spcPct val="115000"/>
              </a:lnSpc>
            </a:pPr>
            <a:r>
              <a:rPr sz="900" b="0">
                <a:solidFill>
                  <a:srgbClr val="5B6B75"/>
                </a:solidFill>
                <a:latin typeface="Calibri"/>
              </a:rPr>
              <a:t>Overview</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3ECE0"/>
        </a:solidFill>
        <a:effectLst/>
      </p:bgPr>
    </p:bg>
    <p:spTree>
      <p:nvGrpSpPr>
        <p:cNvPr id="1" name=""/>
        <p:cNvGrpSpPr/>
        <p:nvPr/>
      </p:nvGrpSpPr>
      <p:grpSpPr/>
      <p:sp>
        <p:nvSpPr>
          <p:cNvPr id="2" name="Rectangle 1"/>
          <p:cNvSpPr/>
          <p:nvPr/>
        </p:nvSpPr>
        <p:spPr>
          <a:xfrm>
            <a:off x="0" y="0"/>
            <a:ext cx="256032" cy="6858000"/>
          </a:xfrm>
          <a:prstGeom prst="rect">
            <a:avLst/>
          </a:prstGeom>
          <a:solidFill>
            <a:srgbClr val="0E4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2377440"/>
            <a:ext cx="1828800" cy="548640"/>
          </a:xfrm>
          <a:prstGeom prst="rect">
            <a:avLst/>
          </a:prstGeom>
          <a:noFill/>
        </p:spPr>
        <p:txBody>
          <a:bodyPr wrap="square" anchor="t" lIns="0" rIns="0" tIns="0" bIns="0">
            <a:spAutoFit/>
          </a:bodyPr>
          <a:lstStyle/>
          <a:p>
            <a:pPr algn="l">
              <a:lnSpc>
                <a:spcPct val="115000"/>
              </a:lnSpc>
            </a:pPr>
            <a:r>
              <a:rPr sz="1300" b="1">
                <a:solidFill>
                  <a:srgbClr val="C25B2E"/>
                </a:solidFill>
                <a:latin typeface="Calibri"/>
              </a:rPr>
              <a:t>SECTION 03</a:t>
            </a:r>
          </a:p>
        </p:txBody>
      </p:sp>
      <p:sp>
        <p:nvSpPr>
          <p:cNvPr id="4" name="TextBox 3"/>
          <p:cNvSpPr txBox="1"/>
          <p:nvPr/>
        </p:nvSpPr>
        <p:spPr>
          <a:xfrm>
            <a:off x="1005840" y="2788920"/>
            <a:ext cx="9601200" cy="822960"/>
          </a:xfrm>
          <a:prstGeom prst="rect">
            <a:avLst/>
          </a:prstGeom>
          <a:noFill/>
        </p:spPr>
        <p:txBody>
          <a:bodyPr wrap="square" anchor="t" lIns="0" rIns="0" tIns="0" bIns="0">
            <a:spAutoFit/>
          </a:bodyPr>
          <a:lstStyle/>
          <a:p>
            <a:pPr algn="l">
              <a:lnSpc>
                <a:spcPct val="115000"/>
              </a:lnSpc>
            </a:pPr>
            <a:r>
              <a:rPr sz="3400" b="1">
                <a:solidFill>
                  <a:srgbClr val="0E4F4A"/>
                </a:solidFill>
                <a:latin typeface="Calibri"/>
              </a:rPr>
              <a:t>Roles and permissions</a:t>
            </a:r>
          </a:p>
        </p:txBody>
      </p:sp>
      <p:sp>
        <p:nvSpPr>
          <p:cNvPr id="5" name="TextBox 4"/>
          <p:cNvSpPr txBox="1"/>
          <p:nvPr/>
        </p:nvSpPr>
        <p:spPr>
          <a:xfrm>
            <a:off x="1005840" y="3794760"/>
            <a:ext cx="8686800" cy="914400"/>
          </a:xfrm>
          <a:prstGeom prst="rect">
            <a:avLst/>
          </a:prstGeom>
          <a:noFill/>
        </p:spPr>
        <p:txBody>
          <a:bodyPr wrap="square" anchor="t" lIns="0" rIns="0" tIns="0" bIns="0">
            <a:spAutoFit/>
          </a:bodyPr>
          <a:lstStyle/>
          <a:p>
            <a:pPr algn="l">
              <a:lnSpc>
                <a:spcPct val="130000"/>
              </a:lnSpc>
            </a:pPr>
            <a:r>
              <a:rPr sz="1500" b="0">
                <a:solidFill>
                  <a:srgbClr val="5B6B75"/>
                </a:solidFill>
                <a:latin typeface="Calibri"/>
              </a:rPr>
              <a:t>Five roles, one per user. This is the whole model — there are no per-user overrides.</a:t>
            </a:r>
          </a:p>
        </p:txBody>
      </p:sp>
      <p:sp>
        <p:nvSpPr>
          <p:cNvPr id="6" name="Rectangle 5"/>
          <p:cNvSpPr/>
          <p:nvPr/>
        </p:nvSpPr>
        <p:spPr>
          <a:xfrm>
            <a:off x="0" y="6473952"/>
            <a:ext cx="12191695" cy="384048"/>
          </a:xfrm>
          <a:prstGeom prst="rect">
            <a:avLst/>
          </a:prstGeom>
          <a:solidFill>
            <a:srgbClr val="F3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47104"/>
            <a:ext cx="8229600" cy="228600"/>
          </a:xfrm>
          <a:prstGeom prst="rect">
            <a:avLst/>
          </a:prstGeom>
          <a:noFill/>
        </p:spPr>
        <p:txBody>
          <a:bodyPr wrap="square" anchor="t" lIns="0" rIns="0" tIns="0" bIns="0">
            <a:spAutoFit/>
          </a:bodyPr>
          <a:lstStyle/>
          <a:p>
            <a:pPr algn="l">
              <a:lnSpc>
                <a:spcPct val="115000"/>
              </a:lnSpc>
            </a:pPr>
            <a:r>
              <a:rPr sz="900" b="0">
                <a:solidFill>
                  <a:srgbClr val="5B6B75"/>
                </a:solidFill>
                <a:latin typeface="Calibri"/>
              </a:rPr>
              <a:t>SUCCESS Bank — Internal Ticketing · Standard Operating Procedure</a:t>
            </a:r>
          </a:p>
        </p:txBody>
      </p:sp>
      <p:sp>
        <p:nvSpPr>
          <p:cNvPr id="8" name="TextBox 7"/>
          <p:cNvSpPr txBox="1"/>
          <p:nvPr/>
        </p:nvSpPr>
        <p:spPr>
          <a:xfrm>
            <a:off x="9997135" y="6547104"/>
            <a:ext cx="1691640" cy="228600"/>
          </a:xfrm>
          <a:prstGeom prst="rect">
            <a:avLst/>
          </a:prstGeom>
          <a:noFill/>
        </p:spPr>
        <p:txBody>
          <a:bodyPr wrap="square" anchor="t" lIns="0" rIns="0" tIns="0" bIns="0">
            <a:spAutoFit/>
          </a:bodyPr>
          <a:lstStyle/>
          <a:p>
            <a:pPr algn="r">
              <a:lnSpc>
                <a:spcPct val="115000"/>
              </a:lnSpc>
            </a:pPr>
            <a:r>
              <a:rPr sz="900" b="0">
                <a:solidFill>
                  <a:srgbClr val="5B6B75"/>
                </a:solidFill>
                <a:latin typeface="Calibri"/>
              </a:rPr>
              <a:t>Section 03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0E4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82880"/>
            <a:ext cx="10515600" cy="320040"/>
          </a:xfrm>
          <a:prstGeom prst="rect">
            <a:avLst/>
          </a:prstGeom>
          <a:noFill/>
        </p:spPr>
        <p:txBody>
          <a:bodyPr wrap="square" anchor="t" lIns="0" rIns="0" tIns="0" bIns="0">
            <a:spAutoFit/>
          </a:bodyPr>
          <a:lstStyle/>
          <a:p>
            <a:pPr algn="l">
              <a:lnSpc>
                <a:spcPct val="115000"/>
              </a:lnSpc>
            </a:pPr>
            <a:r>
              <a:rPr sz="2300" b="1">
                <a:solidFill>
                  <a:srgbClr val="FFFFFF"/>
                </a:solidFill>
                <a:latin typeface="Calibri"/>
              </a:rPr>
              <a:t>Who can do what</a:t>
            </a:r>
          </a:p>
        </p:txBody>
      </p:sp>
      <p:sp>
        <p:nvSpPr>
          <p:cNvPr id="4" name="TextBox 3"/>
          <p:cNvSpPr txBox="1"/>
          <p:nvPr/>
        </p:nvSpPr>
        <p:spPr>
          <a:xfrm>
            <a:off x="502920" y="548640"/>
            <a:ext cx="10515600" cy="256032"/>
          </a:xfrm>
          <a:prstGeom prst="rect">
            <a:avLst/>
          </a:prstGeom>
          <a:noFill/>
        </p:spPr>
        <p:txBody>
          <a:bodyPr wrap="square" anchor="t" lIns="0" rIns="0" tIns="0" bIns="0">
            <a:spAutoFit/>
          </a:bodyPr>
          <a:lstStyle/>
          <a:p>
            <a:pPr algn="l">
              <a:lnSpc>
                <a:spcPct val="115000"/>
              </a:lnSpc>
            </a:pPr>
            <a:r>
              <a:rPr sz="1150" b="0">
                <a:solidFill>
                  <a:srgbClr val="F3ECE0"/>
                </a:solidFill>
                <a:latin typeface="Calibri"/>
              </a:rPr>
              <a:t>Enforced server-side in core/authz.py — the interface only hides what the API would refuse anyway</a:t>
            </a:r>
          </a:p>
        </p:txBody>
      </p:sp>
      <p:graphicFrame>
        <p:nvGraphicFramePr>
          <p:cNvPr id="5" name="Table 4"/>
          <p:cNvGraphicFramePr>
            <a:graphicFrameLocks noGrp="1"/>
          </p:cNvGraphicFramePr>
          <p:nvPr/>
        </p:nvGraphicFramePr>
        <p:xfrm>
          <a:off x="457200" y="1188720"/>
          <a:ext cx="11247120" cy="2194560"/>
        </p:xfrm>
        <a:graphic>
          <a:graphicData uri="http://schemas.openxmlformats.org/drawingml/2006/table">
            <a:tbl>
              <a:tblPr firstRow="1" bandRow="1">
                <a:tableStyleId>{5C22544A-7EE6-4342-B048-85BDC9FD1C3A}</a:tableStyleId>
              </a:tblPr>
              <a:tblGrid>
                <a:gridCol w="1600200"/>
                <a:gridCol w="3063240"/>
                <a:gridCol w="2606040"/>
                <a:gridCol w="1783080"/>
                <a:gridCol w="960120"/>
                <a:gridCol w="1234440"/>
              </a:tblGrid>
              <a:tr h="365760">
                <a:tc>
                  <a:txBody>
                    <a:bodyPr/>
                    <a:lstStyle/>
                    <a:p>
                      <a:r>
                        <a:rPr sz="1050" b="1">
                          <a:solidFill>
                            <a:srgbClr val="FFFFFF"/>
                          </a:solidFill>
                        </a:rPr>
                        <a:t>Role</a:t>
                      </a:r>
                    </a:p>
                  </a:txBody>
                  <a:tcPr>
                    <a:solidFill>
                      <a:srgbClr val="0E4F4A"/>
                    </a:solidFill>
                  </a:tcPr>
                </a:tc>
                <a:tc>
                  <a:txBody>
                    <a:bodyPr/>
                    <a:lstStyle/>
                    <a:p>
                      <a:r>
                        <a:rPr sz="1050" b="1">
                          <a:solidFill>
                            <a:srgbClr val="FFFFFF"/>
                          </a:solidFill>
                        </a:rPr>
                        <a:t>Tickets</a:t>
                      </a:r>
                    </a:p>
                  </a:txBody>
                  <a:tcPr>
                    <a:solidFill>
                      <a:srgbClr val="0E4F4A"/>
                    </a:solidFill>
                  </a:tcPr>
                </a:tc>
                <a:tc>
                  <a:txBody>
                    <a:bodyPr/>
                    <a:lstStyle/>
                    <a:p>
                      <a:r>
                        <a:rPr sz="1050" b="1">
                          <a:solidFill>
                            <a:srgbClr val="FFFFFF"/>
                          </a:solidFill>
                        </a:rPr>
                        <a:t>Assignment</a:t>
                      </a:r>
                    </a:p>
                  </a:txBody>
                  <a:tcPr>
                    <a:solidFill>
                      <a:srgbClr val="0E4F4A"/>
                    </a:solidFill>
                  </a:tcPr>
                </a:tc>
                <a:tc>
                  <a:txBody>
                    <a:bodyPr/>
                    <a:lstStyle/>
                    <a:p>
                      <a:r>
                        <a:rPr sz="1050" b="1">
                          <a:solidFill>
                            <a:srgbClr val="FFFFFF"/>
                          </a:solidFill>
                        </a:rPr>
                        <a:t>Users &amp; org</a:t>
                      </a:r>
                    </a:p>
                  </a:txBody>
                  <a:tcPr>
                    <a:solidFill>
                      <a:srgbClr val="0E4F4A"/>
                    </a:solidFill>
                  </a:tcPr>
                </a:tc>
                <a:tc>
                  <a:txBody>
                    <a:bodyPr/>
                    <a:lstStyle/>
                    <a:p>
                      <a:r>
                        <a:rPr sz="1050" b="1">
                          <a:solidFill>
                            <a:srgbClr val="FFFFFF"/>
                          </a:solidFill>
                        </a:rPr>
                        <a:t>Audit</a:t>
                      </a:r>
                    </a:p>
                  </a:txBody>
                  <a:tcPr>
                    <a:solidFill>
                      <a:srgbClr val="0E4F4A"/>
                    </a:solidFill>
                  </a:tcPr>
                </a:tc>
                <a:tc>
                  <a:txBody>
                    <a:bodyPr/>
                    <a:lstStyle/>
                    <a:p>
                      <a:r>
                        <a:rPr sz="1050" b="1">
                          <a:solidFill>
                            <a:srgbClr val="FFFFFF"/>
                          </a:solidFill>
                        </a:rPr>
                        <a:t>Escalations</a:t>
                      </a:r>
                    </a:p>
                  </a:txBody>
                  <a:tcPr>
                    <a:solidFill>
                      <a:srgbClr val="0E4F4A"/>
                    </a:solidFill>
                  </a:tcPr>
                </a:tc>
              </a:tr>
              <a:tr h="365760">
                <a:tc>
                  <a:txBody>
                    <a:bodyPr/>
                    <a:lstStyle/>
                    <a:p>
                      <a:r>
                        <a:rPr sz="1000">
                          <a:solidFill>
                            <a:srgbClr val="1B2A33"/>
                          </a:solidFill>
                        </a:rPr>
                        <a:t>Branch User</a:t>
                      </a:r>
                    </a:p>
                  </a:txBody>
                  <a:tcPr>
                    <a:solidFill>
                      <a:srgbClr val="FFFFFF"/>
                    </a:solidFill>
                  </a:tcPr>
                </a:tc>
                <a:tc>
                  <a:txBody>
                    <a:bodyPr/>
                    <a:lstStyle/>
                    <a:p>
                      <a:r>
                        <a:rPr sz="1000">
                          <a:solidFill>
                            <a:srgbClr val="1B2A33"/>
                          </a:solidFill>
                        </a:rPr>
                        <a:t>Own only — raise, comment, attach</a:t>
                      </a:r>
                    </a:p>
                  </a:txBody>
                  <a:tcPr>
                    <a:solidFill>
                      <a:srgbClr val="FFFFFF"/>
                    </a:solidFill>
                  </a:tcPr>
                </a:tc>
                <a:tc>
                  <a:txBody>
                    <a:bodyPr/>
                    <a:lstStyle/>
                    <a:p>
                      <a:r>
                        <a:rPr sz="1000">
                          <a:solidFill>
                            <a:srgbClr val="1B2A33"/>
                          </a:solidFill>
                        </a:rPr>
                        <a:t>—</a:t>
                      </a:r>
                    </a:p>
                  </a:txBody>
                  <a:tcPr>
                    <a:solidFill>
                      <a:srgbClr val="FFFFFF"/>
                    </a:solidFill>
                  </a:tcPr>
                </a:tc>
                <a:tc>
                  <a:txBody>
                    <a:bodyPr/>
                    <a:lstStyle/>
                    <a:p>
                      <a:r>
                        <a:rPr sz="1000">
                          <a:solidFill>
                            <a:srgbClr val="1B2A33"/>
                          </a:solidFill>
                        </a:rPr>
                        <a:t>—</a:t>
                      </a:r>
                    </a:p>
                  </a:txBody>
                  <a:tcPr>
                    <a:solidFill>
                      <a:srgbClr val="FFFFFF"/>
                    </a:solidFill>
                  </a:tcPr>
                </a:tc>
                <a:tc>
                  <a:txBody>
                    <a:bodyPr/>
                    <a:lstStyle/>
                    <a:p>
                      <a:r>
                        <a:rPr sz="1000">
                          <a:solidFill>
                            <a:srgbClr val="1B2A33"/>
                          </a:solidFill>
                        </a:rPr>
                        <a:t>—</a:t>
                      </a:r>
                    </a:p>
                  </a:txBody>
                  <a:tcPr>
                    <a:solidFill>
                      <a:srgbClr val="FFFFFF"/>
                    </a:solidFill>
                  </a:tcPr>
                </a:tc>
                <a:tc>
                  <a:txBody>
                    <a:bodyPr/>
                    <a:lstStyle/>
                    <a:p>
                      <a:r>
                        <a:rPr sz="1000">
                          <a:solidFill>
                            <a:srgbClr val="1B2A33"/>
                          </a:solidFill>
                        </a:rPr>
                        <a:t>—</a:t>
                      </a:r>
                    </a:p>
                  </a:txBody>
                  <a:tcPr>
                    <a:solidFill>
                      <a:srgbClr val="FFFFFF"/>
                    </a:solidFill>
                  </a:tcPr>
                </a:tc>
              </a:tr>
              <a:tr h="365760">
                <a:tc>
                  <a:txBody>
                    <a:bodyPr/>
                    <a:lstStyle/>
                    <a:p>
                      <a:r>
                        <a:rPr sz="1000">
                          <a:solidFill>
                            <a:srgbClr val="1B2A33"/>
                          </a:solidFill>
                        </a:rPr>
                        <a:t>Agent</a:t>
                      </a:r>
                    </a:p>
                  </a:txBody>
                  <a:tcPr>
                    <a:solidFill>
                      <a:srgbClr val="F3ECE0"/>
                    </a:solidFill>
                  </a:tcPr>
                </a:tc>
                <a:tc>
                  <a:txBody>
                    <a:bodyPr/>
                    <a:lstStyle/>
                    <a:p>
                      <a:r>
                        <a:rPr sz="1000">
                          <a:solidFill>
                            <a:srgbClr val="1B2A33"/>
                          </a:solidFill>
                        </a:rPr>
                        <a:t>Any in scope — progress, resolve</a:t>
                      </a:r>
                    </a:p>
                  </a:txBody>
                  <a:tcPr>
                    <a:solidFill>
                      <a:srgbClr val="F3ECE0"/>
                    </a:solidFill>
                  </a:tcPr>
                </a:tc>
                <a:tc>
                  <a:txBody>
                    <a:bodyPr/>
                    <a:lstStyle/>
                    <a:p>
                      <a:r>
                        <a:rPr sz="1000">
                          <a:solidFill>
                            <a:srgbClr val="1B2A33"/>
                          </a:solidFill>
                        </a:rPr>
                        <a:t>Assign to a person</a:t>
                      </a:r>
                    </a:p>
                  </a:txBody>
                  <a:tcPr>
                    <a:solidFill>
                      <a:srgbClr val="F3ECE0"/>
                    </a:solidFill>
                  </a:tcPr>
                </a:tc>
                <a:tc>
                  <a:txBody>
                    <a:bodyPr/>
                    <a:lstStyle/>
                    <a:p>
                      <a:r>
                        <a:rPr sz="1000">
                          <a:solidFill>
                            <a:srgbClr val="1B2A33"/>
                          </a:solidFill>
                        </a:rPr>
                        <a:t>—</a:t>
                      </a:r>
                    </a:p>
                  </a:txBody>
                  <a:tcPr>
                    <a:solidFill>
                      <a:srgbClr val="F3ECE0"/>
                    </a:solidFill>
                  </a:tcPr>
                </a:tc>
                <a:tc>
                  <a:txBody>
                    <a:bodyPr/>
                    <a:lstStyle/>
                    <a:p>
                      <a:r>
                        <a:rPr sz="1000">
                          <a:solidFill>
                            <a:srgbClr val="1B2A33"/>
                          </a:solidFill>
                        </a:rPr>
                        <a:t>—</a:t>
                      </a:r>
                    </a:p>
                  </a:txBody>
                  <a:tcPr>
                    <a:solidFill>
                      <a:srgbClr val="F3ECE0"/>
                    </a:solidFill>
                  </a:tcPr>
                </a:tc>
                <a:tc>
                  <a:txBody>
                    <a:bodyPr/>
                    <a:lstStyle/>
                    <a:p>
                      <a:r>
                        <a:rPr sz="1000">
                          <a:solidFill>
                            <a:srgbClr val="1B2A33"/>
                          </a:solidFill>
                        </a:rPr>
                        <a:t>—</a:t>
                      </a:r>
                    </a:p>
                  </a:txBody>
                  <a:tcPr>
                    <a:solidFill>
                      <a:srgbClr val="F3ECE0"/>
                    </a:solidFill>
                  </a:tcPr>
                </a:tc>
              </a:tr>
              <a:tr h="365760">
                <a:tc>
                  <a:txBody>
                    <a:bodyPr/>
                    <a:lstStyle/>
                    <a:p>
                      <a:r>
                        <a:rPr sz="1000">
                          <a:solidFill>
                            <a:srgbClr val="1B2A33"/>
                          </a:solidFill>
                        </a:rPr>
                        <a:t>Supervisor</a:t>
                      </a:r>
                    </a:p>
                  </a:txBody>
                  <a:tcPr>
                    <a:solidFill>
                      <a:srgbClr val="FFFFFF"/>
                    </a:solidFill>
                  </a:tcPr>
                </a:tc>
                <a:tc>
                  <a:txBody>
                    <a:bodyPr/>
                    <a:lstStyle/>
                    <a:p>
                      <a:r>
                        <a:rPr sz="1000">
                          <a:solidFill>
                            <a:srgbClr val="1B2A33"/>
                          </a:solidFill>
                        </a:rPr>
                        <a:t>As agent</a:t>
                      </a:r>
                    </a:p>
                  </a:txBody>
                  <a:tcPr>
                    <a:solidFill>
                      <a:srgbClr val="FFFFFF"/>
                    </a:solidFill>
                  </a:tcPr>
                </a:tc>
                <a:tc>
                  <a:txBody>
                    <a:bodyPr/>
                    <a:lstStyle/>
                    <a:p>
                      <a:r>
                        <a:rPr sz="1000">
                          <a:solidFill>
                            <a:srgbClr val="1B2A33"/>
                          </a:solidFill>
                        </a:rPr>
                        <a:t>Also auto-assign, rules, leave</a:t>
                      </a:r>
                    </a:p>
                  </a:txBody>
                  <a:tcPr>
                    <a:solidFill>
                      <a:srgbClr val="FFFFFF"/>
                    </a:solidFill>
                  </a:tcPr>
                </a:tc>
                <a:tc>
                  <a:txBody>
                    <a:bodyPr/>
                    <a:lstStyle/>
                    <a:p>
                      <a:r>
                        <a:rPr sz="1000">
                          <a:solidFill>
                            <a:srgbClr val="1B2A33"/>
                          </a:solidFill>
                        </a:rPr>
                        <a:t>Read directory</a:t>
                      </a:r>
                    </a:p>
                  </a:txBody>
                  <a:tcPr>
                    <a:solidFill>
                      <a:srgbClr val="FFFFFF"/>
                    </a:solidFill>
                  </a:tcPr>
                </a:tc>
                <a:tc>
                  <a:txBody>
                    <a:bodyPr/>
                    <a:lstStyle/>
                    <a:p>
                      <a:r>
                        <a:rPr sz="1000">
                          <a:solidFill>
                            <a:srgbClr val="1B2A33"/>
                          </a:solidFill>
                        </a:rPr>
                        <a:t>—</a:t>
                      </a:r>
                    </a:p>
                  </a:txBody>
                  <a:tcPr>
                    <a:solidFill>
                      <a:srgbClr val="FFFFFF"/>
                    </a:solidFill>
                  </a:tcPr>
                </a:tc>
                <a:tc>
                  <a:txBody>
                    <a:bodyPr/>
                    <a:lstStyle/>
                    <a:p>
                      <a:r>
                        <a:rPr sz="1000">
                          <a:solidFill>
                            <a:srgbClr val="1B2A33"/>
                          </a:solidFill>
                        </a:rPr>
                        <a:t>Yes</a:t>
                      </a:r>
                    </a:p>
                  </a:txBody>
                  <a:tcPr>
                    <a:solidFill>
                      <a:srgbClr val="FFFFFF"/>
                    </a:solidFill>
                  </a:tcPr>
                </a:tc>
              </a:tr>
              <a:tr h="365760">
                <a:tc>
                  <a:txBody>
                    <a:bodyPr/>
                    <a:lstStyle/>
                    <a:p>
                      <a:r>
                        <a:rPr sz="1000">
                          <a:solidFill>
                            <a:srgbClr val="1B2A33"/>
                          </a:solidFill>
                        </a:rPr>
                        <a:t>Admin</a:t>
                      </a:r>
                    </a:p>
                  </a:txBody>
                  <a:tcPr>
                    <a:solidFill>
                      <a:srgbClr val="F3ECE0"/>
                    </a:solidFill>
                  </a:tcPr>
                </a:tc>
                <a:tc>
                  <a:txBody>
                    <a:bodyPr/>
                    <a:lstStyle/>
                    <a:p>
                      <a:r>
                        <a:rPr sz="1000">
                          <a:solidFill>
                            <a:srgbClr val="1B2A33"/>
                          </a:solidFill>
                        </a:rPr>
                        <a:t>As agent</a:t>
                      </a:r>
                    </a:p>
                  </a:txBody>
                  <a:tcPr>
                    <a:solidFill>
                      <a:srgbClr val="F3ECE0"/>
                    </a:solidFill>
                  </a:tcPr>
                </a:tc>
                <a:tc>
                  <a:txBody>
                    <a:bodyPr/>
                    <a:lstStyle/>
                    <a:p>
                      <a:r>
                        <a:rPr sz="1000">
                          <a:solidFill>
                            <a:srgbClr val="1B2A33"/>
                          </a:solidFill>
                        </a:rPr>
                        <a:t>As supervisor, plus the delay</a:t>
                      </a:r>
                    </a:p>
                  </a:txBody>
                  <a:tcPr>
                    <a:solidFill>
                      <a:srgbClr val="F3ECE0"/>
                    </a:solidFill>
                  </a:tcPr>
                </a:tc>
                <a:tc>
                  <a:txBody>
                    <a:bodyPr/>
                    <a:lstStyle/>
                    <a:p>
                      <a:r>
                        <a:rPr sz="1000">
                          <a:solidFill>
                            <a:srgbClr val="1B2A33"/>
                          </a:solidFill>
                        </a:rPr>
                        <a:t>Full control</a:t>
                      </a:r>
                    </a:p>
                  </a:txBody>
                  <a:tcPr>
                    <a:solidFill>
                      <a:srgbClr val="F3ECE0"/>
                    </a:solidFill>
                  </a:tcPr>
                </a:tc>
                <a:tc>
                  <a:txBody>
                    <a:bodyPr/>
                    <a:lstStyle/>
                    <a:p>
                      <a:r>
                        <a:rPr sz="1000">
                          <a:solidFill>
                            <a:srgbClr val="1B2A33"/>
                          </a:solidFill>
                        </a:rPr>
                        <a:t>Yes</a:t>
                      </a:r>
                    </a:p>
                  </a:txBody>
                  <a:tcPr>
                    <a:solidFill>
                      <a:srgbClr val="F3ECE0"/>
                    </a:solidFill>
                  </a:tcPr>
                </a:tc>
                <a:tc>
                  <a:txBody>
                    <a:bodyPr/>
                    <a:lstStyle/>
                    <a:p>
                      <a:r>
                        <a:rPr sz="1000">
                          <a:solidFill>
                            <a:srgbClr val="1B2A33"/>
                          </a:solidFill>
                        </a:rPr>
                        <a:t>Yes</a:t>
                      </a:r>
                    </a:p>
                  </a:txBody>
                  <a:tcPr>
                    <a:solidFill>
                      <a:srgbClr val="F3ECE0"/>
                    </a:solidFill>
                  </a:tcPr>
                </a:tc>
              </a:tr>
              <a:tr h="365760">
                <a:tc>
                  <a:txBody>
                    <a:bodyPr/>
                    <a:lstStyle/>
                    <a:p>
                      <a:r>
                        <a:rPr sz="1000">
                          <a:solidFill>
                            <a:srgbClr val="1B2A33"/>
                          </a:solidFill>
                        </a:rPr>
                        <a:t>Auditor</a:t>
                      </a:r>
                    </a:p>
                  </a:txBody>
                  <a:tcPr>
                    <a:solidFill>
                      <a:srgbClr val="FFFFFF"/>
                    </a:solidFill>
                  </a:tcPr>
                </a:tc>
                <a:tc>
                  <a:txBody>
                    <a:bodyPr/>
                    <a:lstStyle/>
                    <a:p>
                      <a:r>
                        <a:rPr sz="1000">
                          <a:solidFill>
                            <a:srgbClr val="1B2A33"/>
                          </a:solidFill>
                        </a:rPr>
                        <a:t>Read only — no writes at all</a:t>
                      </a:r>
                    </a:p>
                  </a:txBody>
                  <a:tcPr>
                    <a:solidFill>
                      <a:srgbClr val="FFFFFF"/>
                    </a:solidFill>
                  </a:tcPr>
                </a:tc>
                <a:tc>
                  <a:txBody>
                    <a:bodyPr/>
                    <a:lstStyle/>
                    <a:p>
                      <a:r>
                        <a:rPr sz="1000">
                          <a:solidFill>
                            <a:srgbClr val="1B2A33"/>
                          </a:solidFill>
                        </a:rPr>
                        <a:t>—</a:t>
                      </a:r>
                    </a:p>
                  </a:txBody>
                  <a:tcPr>
                    <a:solidFill>
                      <a:srgbClr val="FFFFFF"/>
                    </a:solidFill>
                  </a:tcPr>
                </a:tc>
                <a:tc>
                  <a:txBody>
                    <a:bodyPr/>
                    <a:lstStyle/>
                    <a:p>
                      <a:r>
                        <a:rPr sz="1000">
                          <a:solidFill>
                            <a:srgbClr val="1B2A33"/>
                          </a:solidFill>
                        </a:rPr>
                        <a:t>—</a:t>
                      </a:r>
                    </a:p>
                  </a:txBody>
                  <a:tcPr>
                    <a:solidFill>
                      <a:srgbClr val="FFFFFF"/>
                    </a:solidFill>
                  </a:tcPr>
                </a:tc>
                <a:tc>
                  <a:txBody>
                    <a:bodyPr/>
                    <a:lstStyle/>
                    <a:p>
                      <a:r>
                        <a:rPr sz="1000">
                          <a:solidFill>
                            <a:srgbClr val="1B2A33"/>
                          </a:solidFill>
                        </a:rPr>
                        <a:t>Yes</a:t>
                      </a:r>
                    </a:p>
                  </a:txBody>
                  <a:tcPr>
                    <a:solidFill>
                      <a:srgbClr val="FFFFFF"/>
                    </a:solidFill>
                  </a:tcPr>
                </a:tc>
                <a:tc>
                  <a:txBody>
                    <a:bodyPr/>
                    <a:lstStyle/>
                    <a:p>
                      <a:r>
                        <a:rPr sz="1000">
                          <a:solidFill>
                            <a:srgbClr val="1B2A33"/>
                          </a:solidFill>
                        </a:rPr>
                        <a:t>—</a:t>
                      </a:r>
                    </a:p>
                  </a:txBody>
                  <a:tcPr>
                    <a:solidFill>
                      <a:srgbClr val="FFFFFF"/>
                    </a:solidFill>
                  </a:tcPr>
                </a:tc>
              </a:tr>
            </a:tbl>
          </a:graphicData>
        </a:graphic>
      </p:graphicFrame>
      <p:sp>
        <p:nvSpPr>
          <p:cNvPr id="6" name="Rectangle 5"/>
          <p:cNvSpPr/>
          <p:nvPr/>
        </p:nvSpPr>
        <p:spPr>
          <a:xfrm>
            <a:off x="457200" y="3886200"/>
            <a:ext cx="11247120" cy="1051560"/>
          </a:xfrm>
          <a:prstGeom prst="rect">
            <a:avLst/>
          </a:prstGeom>
          <a:solidFill>
            <a:srgbClr val="F3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3886200"/>
            <a:ext cx="54864" cy="1051560"/>
          </a:xfrm>
          <a:prstGeom prst="rect">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4069080"/>
            <a:ext cx="10789920" cy="731520"/>
          </a:xfrm>
          <a:prstGeom prst="rect">
            <a:avLst/>
          </a:prstGeom>
          <a:noFill/>
        </p:spPr>
        <p:txBody>
          <a:bodyPr wrap="square" anchor="t" lIns="0" rIns="0" tIns="0" bIns="0">
            <a:spAutoFit/>
          </a:bodyPr>
          <a:lstStyle/>
          <a:p>
            <a:pPr algn="l">
              <a:lnSpc>
                <a:spcPct val="125000"/>
              </a:lnSpc>
            </a:pPr>
            <a:r>
              <a:rPr sz="1200" b="0">
                <a:solidFill>
                  <a:srgbClr val="1B2A33"/>
                </a:solidFill>
                <a:latin typeface="Calibri"/>
              </a:rPr>
              <a:t>Super admin is a second tier on top of Admin, not a sixth role. Only a super admin can create another super admin or change one's password — otherwise any admin could take over the account.</a:t>
            </a:r>
          </a:p>
        </p:txBody>
      </p:sp>
      <p:sp>
        <p:nvSpPr>
          <p:cNvPr id="9" name="TextBox 8"/>
          <p:cNvSpPr txBox="1"/>
          <p:nvPr/>
        </p:nvSpPr>
        <p:spPr>
          <a:xfrm>
            <a:off x="457200" y="5120640"/>
            <a:ext cx="11247120" cy="731520"/>
          </a:xfrm>
          <a:prstGeom prst="rect">
            <a:avLst/>
          </a:prstGeom>
          <a:noFill/>
        </p:spPr>
        <p:txBody>
          <a:bodyPr wrap="square" anchor="t" lIns="0" rIns="0" tIns="0" bIns="0">
            <a:spAutoFit/>
          </a:bodyPr>
          <a:lstStyle/>
          <a:p>
            <a:pPr algn="l">
              <a:lnSpc>
                <a:spcPct val="125000"/>
              </a:lnSpc>
            </a:pPr>
            <a:r>
              <a:rPr sz="1200" b="0">
                <a:solidFill>
                  <a:srgbClr val="5B6B75"/>
                </a:solidFill>
                <a:latin typeface="Calibri"/>
              </a:rPr>
              <a:t>The auditor is read-only everywhere. It can open any ticket, dashboard and report, and every attempt to write is refused with a 403 — including comments and attachments.</a:t>
            </a:r>
          </a:p>
        </p:txBody>
      </p:sp>
      <p:sp>
        <p:nvSpPr>
          <p:cNvPr id="10" name="Rectangle 9"/>
          <p:cNvSpPr/>
          <p:nvPr/>
        </p:nvSpPr>
        <p:spPr>
          <a:xfrm>
            <a:off x="0" y="6473952"/>
            <a:ext cx="12191695" cy="384048"/>
          </a:xfrm>
          <a:prstGeom prst="rect">
            <a:avLst/>
          </a:prstGeom>
          <a:solidFill>
            <a:srgbClr val="F3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6547104"/>
            <a:ext cx="8229600" cy="228600"/>
          </a:xfrm>
          <a:prstGeom prst="rect">
            <a:avLst/>
          </a:prstGeom>
          <a:noFill/>
        </p:spPr>
        <p:txBody>
          <a:bodyPr wrap="square" anchor="t" lIns="0" rIns="0" tIns="0" bIns="0">
            <a:spAutoFit/>
          </a:bodyPr>
          <a:lstStyle/>
          <a:p>
            <a:pPr algn="l">
              <a:lnSpc>
                <a:spcPct val="115000"/>
              </a:lnSpc>
            </a:pPr>
            <a:r>
              <a:rPr sz="900" b="0">
                <a:solidFill>
                  <a:srgbClr val="5B6B75"/>
                </a:solidFill>
                <a:latin typeface="Calibri"/>
              </a:rPr>
              <a:t>SUCCESS Bank — Internal Ticketing · Standard Operating Procedure</a:t>
            </a:r>
          </a:p>
        </p:txBody>
      </p:sp>
      <p:sp>
        <p:nvSpPr>
          <p:cNvPr id="12" name="TextBox 11"/>
          <p:cNvSpPr txBox="1"/>
          <p:nvPr/>
        </p:nvSpPr>
        <p:spPr>
          <a:xfrm>
            <a:off x="9997135" y="6547104"/>
            <a:ext cx="1691640" cy="228600"/>
          </a:xfrm>
          <a:prstGeom prst="rect">
            <a:avLst/>
          </a:prstGeom>
          <a:noFill/>
        </p:spPr>
        <p:txBody>
          <a:bodyPr wrap="square" anchor="t" lIns="0" rIns="0" tIns="0" bIns="0">
            <a:spAutoFit/>
          </a:bodyPr>
          <a:lstStyle/>
          <a:p>
            <a:pPr algn="r">
              <a:lnSpc>
                <a:spcPct val="115000"/>
              </a:lnSpc>
            </a:pPr>
            <a:r>
              <a:rPr sz="900" b="0">
                <a:solidFill>
                  <a:srgbClr val="5B6B75"/>
                </a:solidFill>
                <a:latin typeface="Calibri"/>
              </a:rPr>
              <a:t>Roles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3ECE0"/>
        </a:solidFill>
        <a:effectLst/>
      </p:bgPr>
    </p:bg>
    <p:spTree>
      <p:nvGrpSpPr>
        <p:cNvPr id="1" name=""/>
        <p:cNvGrpSpPr/>
        <p:nvPr/>
      </p:nvGrpSpPr>
      <p:grpSpPr/>
      <p:sp>
        <p:nvSpPr>
          <p:cNvPr id="2" name="Rectangle 1"/>
          <p:cNvSpPr/>
          <p:nvPr/>
        </p:nvSpPr>
        <p:spPr>
          <a:xfrm>
            <a:off x="0" y="0"/>
            <a:ext cx="256032" cy="6858000"/>
          </a:xfrm>
          <a:prstGeom prst="rect">
            <a:avLst/>
          </a:prstGeom>
          <a:solidFill>
            <a:srgbClr val="0E4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2377440"/>
            <a:ext cx="1828800" cy="548640"/>
          </a:xfrm>
          <a:prstGeom prst="rect">
            <a:avLst/>
          </a:prstGeom>
          <a:noFill/>
        </p:spPr>
        <p:txBody>
          <a:bodyPr wrap="square" anchor="t" lIns="0" rIns="0" tIns="0" bIns="0">
            <a:spAutoFit/>
          </a:bodyPr>
          <a:lstStyle/>
          <a:p>
            <a:pPr algn="l">
              <a:lnSpc>
                <a:spcPct val="115000"/>
              </a:lnSpc>
            </a:pPr>
            <a:r>
              <a:rPr sz="1300" b="1">
                <a:solidFill>
                  <a:srgbClr val="C25B2E"/>
                </a:solidFill>
                <a:latin typeface="Calibri"/>
              </a:rPr>
              <a:t>SECTION 04</a:t>
            </a:r>
          </a:p>
        </p:txBody>
      </p:sp>
      <p:sp>
        <p:nvSpPr>
          <p:cNvPr id="4" name="TextBox 3"/>
          <p:cNvSpPr txBox="1"/>
          <p:nvPr/>
        </p:nvSpPr>
        <p:spPr>
          <a:xfrm>
            <a:off x="1005840" y="2788920"/>
            <a:ext cx="9601200" cy="822960"/>
          </a:xfrm>
          <a:prstGeom prst="rect">
            <a:avLst/>
          </a:prstGeom>
          <a:noFill/>
        </p:spPr>
        <p:txBody>
          <a:bodyPr wrap="square" anchor="t" lIns="0" rIns="0" tIns="0" bIns="0">
            <a:spAutoFit/>
          </a:bodyPr>
          <a:lstStyle/>
          <a:p>
            <a:pPr algn="l">
              <a:lnSpc>
                <a:spcPct val="115000"/>
              </a:lnSpc>
            </a:pPr>
            <a:r>
              <a:rPr sz="3400" b="1">
                <a:solidFill>
                  <a:srgbClr val="0E4F4A"/>
                </a:solidFill>
                <a:latin typeface="Calibri"/>
              </a:rPr>
              <a:t>The ticket lifecycle</a:t>
            </a:r>
          </a:p>
        </p:txBody>
      </p:sp>
      <p:sp>
        <p:nvSpPr>
          <p:cNvPr id="5" name="TextBox 4"/>
          <p:cNvSpPr txBox="1"/>
          <p:nvPr/>
        </p:nvSpPr>
        <p:spPr>
          <a:xfrm>
            <a:off x="1005840" y="3794760"/>
            <a:ext cx="8686800" cy="914400"/>
          </a:xfrm>
          <a:prstGeom prst="rect">
            <a:avLst/>
          </a:prstGeom>
          <a:noFill/>
        </p:spPr>
        <p:txBody>
          <a:bodyPr wrap="square" anchor="t" lIns="0" rIns="0" tIns="0" bIns="0">
            <a:spAutoFit/>
          </a:bodyPr>
          <a:lstStyle/>
          <a:p>
            <a:pPr algn="l">
              <a:lnSpc>
                <a:spcPct val="130000"/>
              </a:lnSpc>
            </a:pPr>
            <a:r>
              <a:rPr sz="1500" b="0">
                <a:solidFill>
                  <a:srgbClr val="5B6B75"/>
                </a:solidFill>
                <a:latin typeface="Calibri"/>
              </a:rPr>
              <a:t>Nine statuses. The API enforces which moves are legal — an illegal jump is refused, not merely discouraged.</a:t>
            </a:r>
          </a:p>
        </p:txBody>
      </p:sp>
      <p:sp>
        <p:nvSpPr>
          <p:cNvPr id="6" name="Rectangle 5"/>
          <p:cNvSpPr/>
          <p:nvPr/>
        </p:nvSpPr>
        <p:spPr>
          <a:xfrm>
            <a:off x="0" y="6473952"/>
            <a:ext cx="12191695" cy="384048"/>
          </a:xfrm>
          <a:prstGeom prst="rect">
            <a:avLst/>
          </a:prstGeom>
          <a:solidFill>
            <a:srgbClr val="F3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47104"/>
            <a:ext cx="8229600" cy="228600"/>
          </a:xfrm>
          <a:prstGeom prst="rect">
            <a:avLst/>
          </a:prstGeom>
          <a:noFill/>
        </p:spPr>
        <p:txBody>
          <a:bodyPr wrap="square" anchor="t" lIns="0" rIns="0" tIns="0" bIns="0">
            <a:spAutoFit/>
          </a:bodyPr>
          <a:lstStyle/>
          <a:p>
            <a:pPr algn="l">
              <a:lnSpc>
                <a:spcPct val="115000"/>
              </a:lnSpc>
            </a:pPr>
            <a:r>
              <a:rPr sz="900" b="0">
                <a:solidFill>
                  <a:srgbClr val="5B6B75"/>
                </a:solidFill>
                <a:latin typeface="Calibri"/>
              </a:rPr>
              <a:t>SUCCESS Bank — Internal Ticketing · Standard Operating Procedure</a:t>
            </a:r>
          </a:p>
        </p:txBody>
      </p:sp>
      <p:sp>
        <p:nvSpPr>
          <p:cNvPr id="8" name="TextBox 7"/>
          <p:cNvSpPr txBox="1"/>
          <p:nvPr/>
        </p:nvSpPr>
        <p:spPr>
          <a:xfrm>
            <a:off x="9997135" y="6547104"/>
            <a:ext cx="1691640" cy="228600"/>
          </a:xfrm>
          <a:prstGeom prst="rect">
            <a:avLst/>
          </a:prstGeom>
          <a:noFill/>
        </p:spPr>
        <p:txBody>
          <a:bodyPr wrap="square" anchor="t" lIns="0" rIns="0" tIns="0" bIns="0">
            <a:spAutoFit/>
          </a:bodyPr>
          <a:lstStyle/>
          <a:p>
            <a:pPr algn="r">
              <a:lnSpc>
                <a:spcPct val="115000"/>
              </a:lnSpc>
            </a:pPr>
            <a:r>
              <a:rPr sz="900" b="0">
                <a:solidFill>
                  <a:srgbClr val="5B6B75"/>
                </a:solidFill>
                <a:latin typeface="Calibri"/>
              </a:rPr>
              <a:t>Section 04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0E4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82880"/>
            <a:ext cx="10515600" cy="320040"/>
          </a:xfrm>
          <a:prstGeom prst="rect">
            <a:avLst/>
          </a:prstGeom>
          <a:noFill/>
        </p:spPr>
        <p:txBody>
          <a:bodyPr wrap="square" anchor="t" lIns="0" rIns="0" tIns="0" bIns="0">
            <a:spAutoFit/>
          </a:bodyPr>
          <a:lstStyle/>
          <a:p>
            <a:pPr algn="l">
              <a:lnSpc>
                <a:spcPct val="115000"/>
              </a:lnSpc>
            </a:pPr>
            <a:r>
              <a:rPr sz="2300" b="1">
                <a:solidFill>
                  <a:srgbClr val="FFFFFF"/>
                </a:solidFill>
                <a:latin typeface="Calibri"/>
              </a:rPr>
              <a:t>Status flow</a:t>
            </a:r>
          </a:p>
        </p:txBody>
      </p:sp>
      <p:sp>
        <p:nvSpPr>
          <p:cNvPr id="4" name="TextBox 3"/>
          <p:cNvSpPr txBox="1"/>
          <p:nvPr/>
        </p:nvSpPr>
        <p:spPr>
          <a:xfrm>
            <a:off x="502920" y="548640"/>
            <a:ext cx="10515600" cy="256032"/>
          </a:xfrm>
          <a:prstGeom prst="rect">
            <a:avLst/>
          </a:prstGeom>
          <a:noFill/>
        </p:spPr>
        <p:txBody>
          <a:bodyPr wrap="square" anchor="t" lIns="0" rIns="0" tIns="0" bIns="0">
            <a:spAutoFit/>
          </a:bodyPr>
          <a:lstStyle/>
          <a:p>
            <a:pPr algn="l">
              <a:lnSpc>
                <a:spcPct val="115000"/>
              </a:lnSpc>
            </a:pPr>
            <a:r>
              <a:rPr sz="1150" b="0">
                <a:solidFill>
                  <a:srgbClr val="F3ECE0"/>
                </a:solidFill>
                <a:latin typeface="Calibri"/>
              </a:rPr>
              <a:t>Reproduced from VALID_TRANSITIONS in ticket_service.py — these are the only legal moves</a:t>
            </a:r>
          </a:p>
        </p:txBody>
      </p:sp>
      <p:sp>
        <p:nvSpPr>
          <p:cNvPr id="5" name="Rounded Rectangle 4"/>
          <p:cNvSpPr/>
          <p:nvPr/>
        </p:nvSpPr>
        <p:spPr>
          <a:xfrm>
            <a:off x="566928" y="1371600"/>
            <a:ext cx="1572768" cy="548640"/>
          </a:xfrm>
          <a:prstGeom prst="roundRect">
            <a:avLst/>
          </a:prstGeom>
          <a:solidFill>
            <a:srgbClr val="0E4F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lnSpc>
                <a:spcPct val="110000"/>
              </a:lnSpc>
            </a:pPr>
            <a:r>
              <a:rPr sz="1100" b="1">
                <a:solidFill>
                  <a:srgbClr val="FFFFFF"/>
                </a:solidFill>
              </a:rPr>
              <a:t>new</a:t>
            </a:r>
          </a:p>
        </p:txBody>
      </p:sp>
      <p:sp>
        <p:nvSpPr>
          <p:cNvPr id="6" name="Right Arrow 5"/>
          <p:cNvSpPr/>
          <p:nvPr/>
        </p:nvSpPr>
        <p:spPr>
          <a:xfrm>
            <a:off x="2167128" y="1572768"/>
            <a:ext cx="237744" cy="146304"/>
          </a:xfrm>
          <a:prstGeom prst="rightArrow">
            <a:avLst/>
          </a:prstGeom>
          <a:solidFill>
            <a:srgbClr val="5B6B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432304" y="1371600"/>
            <a:ext cx="1572768" cy="548640"/>
          </a:xfrm>
          <a:prstGeom prst="roundRect">
            <a:avLst/>
          </a:prstGeom>
          <a:solidFill>
            <a:srgbClr val="0E4F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lnSpc>
                <a:spcPct val="110000"/>
              </a:lnSpc>
            </a:pPr>
            <a:r>
              <a:rPr sz="1100" b="1">
                <a:solidFill>
                  <a:srgbClr val="FFFFFF"/>
                </a:solidFill>
              </a:rPr>
              <a:t>acknowledged</a:t>
            </a:r>
          </a:p>
        </p:txBody>
      </p:sp>
      <p:sp>
        <p:nvSpPr>
          <p:cNvPr id="8" name="Right Arrow 7"/>
          <p:cNvSpPr/>
          <p:nvPr/>
        </p:nvSpPr>
        <p:spPr>
          <a:xfrm>
            <a:off x="4032504" y="1572768"/>
            <a:ext cx="237744" cy="146304"/>
          </a:xfrm>
          <a:prstGeom prst="rightArrow">
            <a:avLst/>
          </a:prstGeom>
          <a:solidFill>
            <a:srgbClr val="5B6B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297680" y="1371600"/>
            <a:ext cx="1572768" cy="548640"/>
          </a:xfrm>
          <a:prstGeom prst="roundRect">
            <a:avLst/>
          </a:prstGeom>
          <a:solidFill>
            <a:srgbClr val="0E4F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lnSpc>
                <a:spcPct val="110000"/>
              </a:lnSpc>
            </a:pPr>
            <a:r>
              <a:rPr sz="1100" b="1">
                <a:solidFill>
                  <a:srgbClr val="FFFFFF"/>
                </a:solidFill>
              </a:rPr>
              <a:t>assigned</a:t>
            </a:r>
          </a:p>
        </p:txBody>
      </p:sp>
      <p:sp>
        <p:nvSpPr>
          <p:cNvPr id="10" name="Right Arrow 9"/>
          <p:cNvSpPr/>
          <p:nvPr/>
        </p:nvSpPr>
        <p:spPr>
          <a:xfrm>
            <a:off x="5897880" y="1572768"/>
            <a:ext cx="237744" cy="146304"/>
          </a:xfrm>
          <a:prstGeom prst="rightArrow">
            <a:avLst/>
          </a:prstGeom>
          <a:solidFill>
            <a:srgbClr val="5B6B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163056" y="1371600"/>
            <a:ext cx="1572768" cy="548640"/>
          </a:xfrm>
          <a:prstGeom prst="roundRect">
            <a:avLst/>
          </a:prstGeom>
          <a:solidFill>
            <a:srgbClr val="0E4F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lnSpc>
                <a:spcPct val="110000"/>
              </a:lnSpc>
            </a:pPr>
            <a:r>
              <a:rPr sz="1100" b="1">
                <a:solidFill>
                  <a:srgbClr val="FFFFFF"/>
                </a:solidFill>
              </a:rPr>
              <a:t>in_progress</a:t>
            </a:r>
          </a:p>
        </p:txBody>
      </p:sp>
      <p:sp>
        <p:nvSpPr>
          <p:cNvPr id="12" name="Right Arrow 11"/>
          <p:cNvSpPr/>
          <p:nvPr/>
        </p:nvSpPr>
        <p:spPr>
          <a:xfrm>
            <a:off x="7763256" y="1572768"/>
            <a:ext cx="237744" cy="146304"/>
          </a:xfrm>
          <a:prstGeom prst="rightArrow">
            <a:avLst/>
          </a:prstGeom>
          <a:solidFill>
            <a:srgbClr val="5B6B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028432" y="1371600"/>
            <a:ext cx="1572768" cy="548640"/>
          </a:xfrm>
          <a:prstGeom prst="roundRect">
            <a:avLst/>
          </a:prstGeom>
          <a:solidFill>
            <a:srgbClr val="1E7A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lnSpc>
                <a:spcPct val="110000"/>
              </a:lnSpc>
            </a:pPr>
            <a:r>
              <a:rPr sz="1100" b="1">
                <a:solidFill>
                  <a:srgbClr val="FFFFFF"/>
                </a:solidFill>
              </a:rPr>
              <a:t>resolved</a:t>
            </a:r>
          </a:p>
        </p:txBody>
      </p:sp>
      <p:sp>
        <p:nvSpPr>
          <p:cNvPr id="14" name="Right Arrow 13"/>
          <p:cNvSpPr/>
          <p:nvPr/>
        </p:nvSpPr>
        <p:spPr>
          <a:xfrm>
            <a:off x="9628632" y="1572768"/>
            <a:ext cx="237744" cy="146304"/>
          </a:xfrm>
          <a:prstGeom prst="rightArrow">
            <a:avLst/>
          </a:prstGeom>
          <a:solidFill>
            <a:srgbClr val="5B6B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893808" y="1371600"/>
            <a:ext cx="1572768" cy="548640"/>
          </a:xfrm>
          <a:prstGeom prst="roundRect">
            <a:avLst/>
          </a:prstGeom>
          <a:solidFill>
            <a:srgbClr val="5B6B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lnSpc>
                <a:spcPct val="110000"/>
              </a:lnSpc>
            </a:pPr>
            <a:r>
              <a:rPr sz="1100" b="1">
                <a:solidFill>
                  <a:srgbClr val="FFFFFF"/>
                </a:solidFill>
              </a:rPr>
              <a:t>closed</a:t>
            </a:r>
          </a:p>
        </p:txBody>
      </p:sp>
      <p:sp>
        <p:nvSpPr>
          <p:cNvPr id="16" name="Rectangle 15"/>
          <p:cNvSpPr/>
          <p:nvPr/>
        </p:nvSpPr>
        <p:spPr>
          <a:xfrm>
            <a:off x="6931152" y="1920240"/>
            <a:ext cx="36576" cy="201168"/>
          </a:xfrm>
          <a:prstGeom prst="rect">
            <a:avLst/>
          </a:prstGeom>
          <a:solidFill>
            <a:srgbClr val="D6CE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016752" y="2084832"/>
            <a:ext cx="1865376" cy="36576"/>
          </a:xfrm>
          <a:prstGeom prst="rect">
            <a:avLst/>
          </a:prstGeom>
          <a:solidFill>
            <a:srgbClr val="D6CE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998464" y="2084832"/>
            <a:ext cx="36576" cy="310896"/>
          </a:xfrm>
          <a:prstGeom prst="rect">
            <a:avLst/>
          </a:prstGeom>
          <a:solidFill>
            <a:srgbClr val="D6CE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230368" y="2395728"/>
            <a:ext cx="1572768" cy="475488"/>
          </a:xfrm>
          <a:prstGeom prst="roundRect">
            <a:avLst/>
          </a:prstGeom>
          <a:solidFill>
            <a:srgbClr val="B4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lnSpc>
                <a:spcPct val="110000"/>
              </a:lnSpc>
            </a:pPr>
            <a:r>
              <a:rPr sz="1050" b="1">
                <a:solidFill>
                  <a:srgbClr val="FFFFFF"/>
                </a:solidFill>
              </a:rPr>
              <a:t>on_hold</a:t>
            </a:r>
          </a:p>
        </p:txBody>
      </p:sp>
      <p:sp>
        <p:nvSpPr>
          <p:cNvPr id="20" name="Rectangle 19"/>
          <p:cNvSpPr/>
          <p:nvPr/>
        </p:nvSpPr>
        <p:spPr>
          <a:xfrm>
            <a:off x="7863840" y="2084832"/>
            <a:ext cx="36576" cy="310896"/>
          </a:xfrm>
          <a:prstGeom prst="rect">
            <a:avLst/>
          </a:prstGeom>
          <a:solidFill>
            <a:srgbClr val="D6CE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095744" y="2395728"/>
            <a:ext cx="1572768" cy="475488"/>
          </a:xfrm>
          <a:prstGeom prst="roundRect">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lnSpc>
                <a:spcPct val="110000"/>
              </a:lnSpc>
            </a:pPr>
            <a:r>
              <a:rPr sz="1050" b="1">
                <a:solidFill>
                  <a:srgbClr val="FFFFFF"/>
                </a:solidFill>
              </a:rPr>
              <a:t>escalated</a:t>
            </a:r>
          </a:p>
        </p:txBody>
      </p:sp>
      <p:sp>
        <p:nvSpPr>
          <p:cNvPr id="22" name="TextBox 21"/>
          <p:cNvSpPr txBox="1"/>
          <p:nvPr/>
        </p:nvSpPr>
        <p:spPr>
          <a:xfrm>
            <a:off x="566928" y="2468880"/>
            <a:ext cx="3108960" cy="457200"/>
          </a:xfrm>
          <a:prstGeom prst="rect">
            <a:avLst/>
          </a:prstGeom>
          <a:noFill/>
        </p:spPr>
        <p:txBody>
          <a:bodyPr wrap="square" anchor="t" lIns="0" rIns="0" tIns="0" bIns="0">
            <a:spAutoFit/>
          </a:bodyPr>
          <a:lstStyle/>
          <a:p>
            <a:pPr algn="l">
              <a:lnSpc>
                <a:spcPct val="115000"/>
              </a:lnSpc>
            </a:pPr>
            <a:r>
              <a:rPr sz="950" b="0">
                <a:solidFill>
                  <a:srgbClr val="5B6B75"/>
                </a:solidFill>
                <a:latin typeface="Calibri"/>
              </a:rPr>
              <a:t>Both pause the ticket and</a:t>
            </a:r>
          </a:p>
          <a:p>
            <a:pPr algn="l">
              <a:lnSpc>
                <a:spcPct val="115000"/>
              </a:lnSpc>
            </a:pPr>
            <a:r>
              <a:rPr sz="950" b="0">
                <a:solidFill>
                  <a:srgbClr val="5B6B75"/>
                </a:solidFill>
                <a:latin typeface="Calibri"/>
              </a:rPr>
              <a:t>both return to in_progress.</a:t>
            </a:r>
          </a:p>
        </p:txBody>
      </p:sp>
      <p:sp>
        <p:nvSpPr>
          <p:cNvPr id="23" name="Rounded Rectangle 22"/>
          <p:cNvSpPr/>
          <p:nvPr/>
        </p:nvSpPr>
        <p:spPr>
          <a:xfrm>
            <a:off x="4297680" y="3401568"/>
            <a:ext cx="1572768" cy="475488"/>
          </a:xfrm>
          <a:prstGeom prst="roundRect">
            <a:avLst/>
          </a:prstGeom>
          <a:solidFill>
            <a:srgbClr val="B4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lnSpc>
                <a:spcPct val="110000"/>
              </a:lnSpc>
            </a:pPr>
            <a:r>
              <a:rPr sz="1050" b="1">
                <a:solidFill>
                  <a:srgbClr val="FFFFFF"/>
                </a:solidFill>
              </a:rPr>
              <a:t>reopened</a:t>
            </a:r>
          </a:p>
        </p:txBody>
      </p:sp>
      <p:sp>
        <p:nvSpPr>
          <p:cNvPr id="24" name="Rectangle 23"/>
          <p:cNvSpPr/>
          <p:nvPr/>
        </p:nvSpPr>
        <p:spPr>
          <a:xfrm>
            <a:off x="10661904" y="1920240"/>
            <a:ext cx="36576" cy="1719072"/>
          </a:xfrm>
          <a:prstGeom prst="rect">
            <a:avLst/>
          </a:prstGeom>
          <a:solidFill>
            <a:srgbClr val="D6CE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44768" y="3621024"/>
            <a:ext cx="4553712" cy="36576"/>
          </a:xfrm>
          <a:prstGeom prst="rect">
            <a:avLst/>
          </a:prstGeom>
          <a:solidFill>
            <a:srgbClr val="D6CE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Left Arrow 25"/>
          <p:cNvSpPr/>
          <p:nvPr/>
        </p:nvSpPr>
        <p:spPr>
          <a:xfrm>
            <a:off x="5907024" y="3566160"/>
            <a:ext cx="237744" cy="146304"/>
          </a:xfrm>
          <a:prstGeom prst="leftArrow">
            <a:avLst/>
          </a:prstGeom>
          <a:solidFill>
            <a:srgbClr val="D6CE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065776" y="2121408"/>
            <a:ext cx="36576" cy="1280160"/>
          </a:xfrm>
          <a:prstGeom prst="rect">
            <a:avLst/>
          </a:prstGeom>
          <a:solidFill>
            <a:srgbClr val="D6CE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Up Arrow 27"/>
          <p:cNvSpPr/>
          <p:nvPr/>
        </p:nvSpPr>
        <p:spPr>
          <a:xfrm>
            <a:off x="5001768" y="1920240"/>
            <a:ext cx="164592" cy="219456"/>
          </a:xfrm>
          <a:prstGeom prst="upArrow">
            <a:avLst/>
          </a:prstGeom>
          <a:solidFill>
            <a:srgbClr val="D6CE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66928" y="3456432"/>
            <a:ext cx="3108960" cy="457200"/>
          </a:xfrm>
          <a:prstGeom prst="rect">
            <a:avLst/>
          </a:prstGeom>
          <a:noFill/>
        </p:spPr>
        <p:txBody>
          <a:bodyPr wrap="square" anchor="t" lIns="0" rIns="0" tIns="0" bIns="0">
            <a:spAutoFit/>
          </a:bodyPr>
          <a:lstStyle/>
          <a:p>
            <a:pPr algn="l">
              <a:lnSpc>
                <a:spcPct val="115000"/>
              </a:lnSpc>
            </a:pPr>
            <a:r>
              <a:rPr sz="950" b="0">
                <a:solidFill>
                  <a:srgbClr val="5B6B75"/>
                </a:solidFill>
                <a:latin typeface="Calibri"/>
              </a:rPr>
              <a:t>closed can be reopened; it</a:t>
            </a:r>
          </a:p>
          <a:p>
            <a:pPr algn="l">
              <a:lnSpc>
                <a:spcPct val="115000"/>
              </a:lnSpc>
            </a:pPr>
            <a:r>
              <a:rPr sz="950" b="0">
                <a:solidFill>
                  <a:srgbClr val="5B6B75"/>
                </a:solidFill>
                <a:latin typeface="Calibri"/>
              </a:rPr>
              <a:t>returns to assigned.</a:t>
            </a:r>
          </a:p>
        </p:txBody>
      </p:sp>
      <p:sp>
        <p:nvSpPr>
          <p:cNvPr id="30" name="TextBox 29"/>
          <p:cNvSpPr txBox="1"/>
          <p:nvPr/>
        </p:nvSpPr>
        <p:spPr>
          <a:xfrm>
            <a:off x="566928" y="4206240"/>
            <a:ext cx="11064240" cy="237744"/>
          </a:xfrm>
          <a:prstGeom prst="rect">
            <a:avLst/>
          </a:prstGeom>
          <a:noFill/>
        </p:spPr>
        <p:txBody>
          <a:bodyPr wrap="square" anchor="t" lIns="0" rIns="0" tIns="0" bIns="0">
            <a:spAutoFit/>
          </a:bodyPr>
          <a:lstStyle/>
          <a:p>
            <a:pPr algn="l">
              <a:lnSpc>
                <a:spcPct val="115000"/>
              </a:lnSpc>
            </a:pPr>
            <a:r>
              <a:rPr sz="1050" b="1">
                <a:solidFill>
                  <a:srgbClr val="C25B2E"/>
                </a:solidFill>
                <a:latin typeface="Calibri"/>
              </a:rPr>
              <a:t>TWO RULES PEOPLE GET WRONG</a:t>
            </a:r>
          </a:p>
        </p:txBody>
      </p:sp>
      <p:sp>
        <p:nvSpPr>
          <p:cNvPr id="31" name="Rectangle 30"/>
          <p:cNvSpPr/>
          <p:nvPr/>
        </p:nvSpPr>
        <p:spPr>
          <a:xfrm>
            <a:off x="566928" y="4526280"/>
            <a:ext cx="11064240" cy="603504"/>
          </a:xfrm>
          <a:prstGeom prst="rect">
            <a:avLst/>
          </a:prstGeom>
          <a:solidFill>
            <a:srgbClr val="F3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960" y="4608576"/>
            <a:ext cx="10607040" cy="219456"/>
          </a:xfrm>
          <a:prstGeom prst="rect">
            <a:avLst/>
          </a:prstGeom>
          <a:noFill/>
        </p:spPr>
        <p:txBody>
          <a:bodyPr wrap="square" anchor="t" lIns="0" rIns="0" tIns="0" bIns="0">
            <a:spAutoFit/>
          </a:bodyPr>
          <a:lstStyle/>
          <a:p>
            <a:pPr algn="l">
              <a:lnSpc>
                <a:spcPct val="115000"/>
              </a:lnSpc>
            </a:pPr>
            <a:r>
              <a:rPr sz="1200" b="1">
                <a:solidFill>
                  <a:srgbClr val="0E4F4A"/>
                </a:solidFill>
                <a:latin typeface="Calibri"/>
              </a:rPr>
              <a:t>closed is reachable from any open state</a:t>
            </a:r>
          </a:p>
        </p:txBody>
      </p:sp>
      <p:sp>
        <p:nvSpPr>
          <p:cNvPr id="33" name="TextBox 32"/>
          <p:cNvSpPr txBox="1"/>
          <p:nvPr/>
        </p:nvSpPr>
        <p:spPr>
          <a:xfrm>
            <a:off x="822960" y="4846320"/>
            <a:ext cx="10607040" cy="237744"/>
          </a:xfrm>
          <a:prstGeom prst="rect">
            <a:avLst/>
          </a:prstGeom>
          <a:noFill/>
        </p:spPr>
        <p:txBody>
          <a:bodyPr wrap="square" anchor="t" lIns="0" rIns="0" tIns="0" bIns="0">
            <a:spAutoFit/>
          </a:bodyPr>
          <a:lstStyle/>
          <a:p>
            <a:pPr algn="l">
              <a:lnSpc>
                <a:spcPct val="115000"/>
              </a:lnSpc>
            </a:pPr>
            <a:r>
              <a:rPr sz="1050" b="0">
                <a:solidFill>
                  <a:srgbClr val="5B6B75"/>
                </a:solidFill>
                <a:latin typeface="Calibri"/>
              </a:rPr>
              <a:t>Closing early is a withdrawal — the problem went away, or it was raised in error.</a:t>
            </a:r>
          </a:p>
        </p:txBody>
      </p:sp>
      <p:sp>
        <p:nvSpPr>
          <p:cNvPr id="34" name="Rectangle 33"/>
          <p:cNvSpPr/>
          <p:nvPr/>
        </p:nvSpPr>
        <p:spPr>
          <a:xfrm>
            <a:off x="566928" y="5239512"/>
            <a:ext cx="11064240" cy="603504"/>
          </a:xfrm>
          <a:prstGeom prst="rect">
            <a:avLst/>
          </a:prstGeom>
          <a:solidFill>
            <a:srgbClr val="F3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22960" y="5321808"/>
            <a:ext cx="10607040" cy="219456"/>
          </a:xfrm>
          <a:prstGeom prst="rect">
            <a:avLst/>
          </a:prstGeom>
          <a:noFill/>
        </p:spPr>
        <p:txBody>
          <a:bodyPr wrap="square" anchor="t" lIns="0" rIns="0" tIns="0" bIns="0">
            <a:spAutoFit/>
          </a:bodyPr>
          <a:lstStyle/>
          <a:p>
            <a:pPr algn="l">
              <a:lnSpc>
                <a:spcPct val="115000"/>
              </a:lnSpc>
            </a:pPr>
            <a:r>
              <a:rPr sz="1200" b="1">
                <a:solidFill>
                  <a:srgbClr val="0E4F4A"/>
                </a:solidFill>
                <a:latin typeface="Calibri"/>
              </a:rPr>
              <a:t>resolved is NOT reachable from assigned</a:t>
            </a:r>
          </a:p>
        </p:txBody>
      </p:sp>
      <p:sp>
        <p:nvSpPr>
          <p:cNvPr id="36" name="TextBox 35"/>
          <p:cNvSpPr txBox="1"/>
          <p:nvPr/>
        </p:nvSpPr>
        <p:spPr>
          <a:xfrm>
            <a:off x="822960" y="5559552"/>
            <a:ext cx="10607040" cy="237744"/>
          </a:xfrm>
          <a:prstGeom prst="rect">
            <a:avLst/>
          </a:prstGeom>
          <a:noFill/>
        </p:spPr>
        <p:txBody>
          <a:bodyPr wrap="square" anchor="t" lIns="0" rIns="0" tIns="0" bIns="0">
            <a:spAutoFit/>
          </a:bodyPr>
          <a:lstStyle/>
          <a:p>
            <a:pPr algn="l">
              <a:lnSpc>
                <a:spcPct val="115000"/>
              </a:lnSpc>
            </a:pPr>
            <a:r>
              <a:rPr sz="1050" b="0">
                <a:solidFill>
                  <a:srgbClr val="5B6B75"/>
                </a:solidFill>
                <a:latin typeface="Calibri"/>
              </a:rPr>
              <a:t>The ticket must have been worked first, so 'resolved' means something.</a:t>
            </a:r>
          </a:p>
        </p:txBody>
      </p:sp>
      <p:sp>
        <p:nvSpPr>
          <p:cNvPr id="37" name="Rectangle 36"/>
          <p:cNvSpPr/>
          <p:nvPr/>
        </p:nvSpPr>
        <p:spPr>
          <a:xfrm>
            <a:off x="0" y="6473952"/>
            <a:ext cx="12191695" cy="384048"/>
          </a:xfrm>
          <a:prstGeom prst="rect">
            <a:avLst/>
          </a:prstGeom>
          <a:solidFill>
            <a:srgbClr val="F3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02920" y="6547104"/>
            <a:ext cx="8229600" cy="228600"/>
          </a:xfrm>
          <a:prstGeom prst="rect">
            <a:avLst/>
          </a:prstGeom>
          <a:noFill/>
        </p:spPr>
        <p:txBody>
          <a:bodyPr wrap="square" anchor="t" lIns="0" rIns="0" tIns="0" bIns="0">
            <a:spAutoFit/>
          </a:bodyPr>
          <a:lstStyle/>
          <a:p>
            <a:pPr algn="l">
              <a:lnSpc>
                <a:spcPct val="115000"/>
              </a:lnSpc>
            </a:pPr>
            <a:r>
              <a:rPr sz="900" b="0">
                <a:solidFill>
                  <a:srgbClr val="5B6B75"/>
                </a:solidFill>
                <a:latin typeface="Calibri"/>
              </a:rPr>
              <a:t>SUCCESS Bank — Internal Ticketing · Standard Operating Procedure</a:t>
            </a:r>
          </a:p>
        </p:txBody>
      </p:sp>
      <p:sp>
        <p:nvSpPr>
          <p:cNvPr id="39" name="TextBox 38"/>
          <p:cNvSpPr txBox="1"/>
          <p:nvPr/>
        </p:nvSpPr>
        <p:spPr>
          <a:xfrm>
            <a:off x="9997135" y="6547104"/>
            <a:ext cx="1691640" cy="228600"/>
          </a:xfrm>
          <a:prstGeom prst="rect">
            <a:avLst/>
          </a:prstGeom>
          <a:noFill/>
        </p:spPr>
        <p:txBody>
          <a:bodyPr wrap="square" anchor="t" lIns="0" rIns="0" tIns="0" bIns="0">
            <a:spAutoFit/>
          </a:bodyPr>
          <a:lstStyle/>
          <a:p>
            <a:pPr algn="r">
              <a:lnSpc>
                <a:spcPct val="115000"/>
              </a:lnSpc>
            </a:pPr>
            <a:r>
              <a:rPr sz="900" b="0">
                <a:solidFill>
                  <a:srgbClr val="5B6B75"/>
                </a:solidFill>
                <a:latin typeface="Calibri"/>
              </a:rPr>
              <a:t>Lifecycle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3ECE0"/>
        </a:solidFill>
        <a:effectLst/>
      </p:bgPr>
    </p:bg>
    <p:spTree>
      <p:nvGrpSpPr>
        <p:cNvPr id="1" name=""/>
        <p:cNvGrpSpPr/>
        <p:nvPr/>
      </p:nvGrpSpPr>
      <p:grpSpPr/>
      <p:sp>
        <p:nvSpPr>
          <p:cNvPr id="2" name="Rectangle 1"/>
          <p:cNvSpPr/>
          <p:nvPr/>
        </p:nvSpPr>
        <p:spPr>
          <a:xfrm>
            <a:off x="0" y="0"/>
            <a:ext cx="256032" cy="6858000"/>
          </a:xfrm>
          <a:prstGeom prst="rect">
            <a:avLst/>
          </a:prstGeom>
          <a:solidFill>
            <a:srgbClr val="0E4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2377440"/>
            <a:ext cx="1828800" cy="548640"/>
          </a:xfrm>
          <a:prstGeom prst="rect">
            <a:avLst/>
          </a:prstGeom>
          <a:noFill/>
        </p:spPr>
        <p:txBody>
          <a:bodyPr wrap="square" anchor="t" lIns="0" rIns="0" tIns="0" bIns="0">
            <a:spAutoFit/>
          </a:bodyPr>
          <a:lstStyle/>
          <a:p>
            <a:pPr algn="l">
              <a:lnSpc>
                <a:spcPct val="115000"/>
              </a:lnSpc>
            </a:pPr>
            <a:r>
              <a:rPr sz="1300" b="1">
                <a:solidFill>
                  <a:srgbClr val="C25B2E"/>
                </a:solidFill>
                <a:latin typeface="Calibri"/>
              </a:rPr>
              <a:t>SECTION 05</a:t>
            </a:r>
          </a:p>
        </p:txBody>
      </p:sp>
      <p:sp>
        <p:nvSpPr>
          <p:cNvPr id="4" name="TextBox 3"/>
          <p:cNvSpPr txBox="1"/>
          <p:nvPr/>
        </p:nvSpPr>
        <p:spPr>
          <a:xfrm>
            <a:off x="1005840" y="2788920"/>
            <a:ext cx="9601200" cy="822960"/>
          </a:xfrm>
          <a:prstGeom prst="rect">
            <a:avLst/>
          </a:prstGeom>
          <a:noFill/>
        </p:spPr>
        <p:txBody>
          <a:bodyPr wrap="square" anchor="t" lIns="0" rIns="0" tIns="0" bIns="0">
            <a:spAutoFit/>
          </a:bodyPr>
          <a:lstStyle/>
          <a:p>
            <a:pPr algn="l">
              <a:lnSpc>
                <a:spcPct val="115000"/>
              </a:lnSpc>
            </a:pPr>
            <a:r>
              <a:rPr sz="3400" b="1">
                <a:solidFill>
                  <a:srgbClr val="0E4F4A"/>
                </a:solidFill>
                <a:latin typeface="Calibri"/>
              </a:rPr>
              <a:t>End to end, across the roles</a:t>
            </a:r>
          </a:p>
        </p:txBody>
      </p:sp>
      <p:sp>
        <p:nvSpPr>
          <p:cNvPr id="5" name="TextBox 4"/>
          <p:cNvSpPr txBox="1"/>
          <p:nvPr/>
        </p:nvSpPr>
        <p:spPr>
          <a:xfrm>
            <a:off x="1005840" y="3794760"/>
            <a:ext cx="8686800" cy="914400"/>
          </a:xfrm>
          <a:prstGeom prst="rect">
            <a:avLst/>
          </a:prstGeom>
          <a:noFill/>
        </p:spPr>
        <p:txBody>
          <a:bodyPr wrap="square" anchor="t" lIns="0" rIns="0" tIns="0" bIns="0">
            <a:spAutoFit/>
          </a:bodyPr>
          <a:lstStyle/>
          <a:p>
            <a:pPr algn="l">
              <a:lnSpc>
                <a:spcPct val="130000"/>
              </a:lnSpc>
            </a:pPr>
            <a:r>
              <a:rPr sz="1500" b="0">
                <a:solidFill>
                  <a:srgbClr val="5B6B75"/>
                </a:solidFill>
                <a:latin typeface="Calibri"/>
              </a:rPr>
              <a:t>The seams matter more than the steps. This is where a ticket changes hands.</a:t>
            </a:r>
          </a:p>
        </p:txBody>
      </p:sp>
      <p:sp>
        <p:nvSpPr>
          <p:cNvPr id="6" name="Rectangle 5"/>
          <p:cNvSpPr/>
          <p:nvPr/>
        </p:nvSpPr>
        <p:spPr>
          <a:xfrm>
            <a:off x="0" y="6473952"/>
            <a:ext cx="12191695" cy="384048"/>
          </a:xfrm>
          <a:prstGeom prst="rect">
            <a:avLst/>
          </a:prstGeom>
          <a:solidFill>
            <a:srgbClr val="F3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47104"/>
            <a:ext cx="8229600" cy="228600"/>
          </a:xfrm>
          <a:prstGeom prst="rect">
            <a:avLst/>
          </a:prstGeom>
          <a:noFill/>
        </p:spPr>
        <p:txBody>
          <a:bodyPr wrap="square" anchor="t" lIns="0" rIns="0" tIns="0" bIns="0">
            <a:spAutoFit/>
          </a:bodyPr>
          <a:lstStyle/>
          <a:p>
            <a:pPr algn="l">
              <a:lnSpc>
                <a:spcPct val="115000"/>
              </a:lnSpc>
            </a:pPr>
            <a:r>
              <a:rPr sz="900" b="0">
                <a:solidFill>
                  <a:srgbClr val="5B6B75"/>
                </a:solidFill>
                <a:latin typeface="Calibri"/>
              </a:rPr>
              <a:t>SUCCESS Bank — Internal Ticketing · Standard Operating Procedure</a:t>
            </a:r>
          </a:p>
        </p:txBody>
      </p:sp>
      <p:sp>
        <p:nvSpPr>
          <p:cNvPr id="8" name="TextBox 7"/>
          <p:cNvSpPr txBox="1"/>
          <p:nvPr/>
        </p:nvSpPr>
        <p:spPr>
          <a:xfrm>
            <a:off x="9997135" y="6547104"/>
            <a:ext cx="1691640" cy="228600"/>
          </a:xfrm>
          <a:prstGeom prst="rect">
            <a:avLst/>
          </a:prstGeom>
          <a:noFill/>
        </p:spPr>
        <p:txBody>
          <a:bodyPr wrap="square" anchor="t" lIns="0" rIns="0" tIns="0" bIns="0">
            <a:spAutoFit/>
          </a:bodyPr>
          <a:lstStyle/>
          <a:p>
            <a:pPr algn="r">
              <a:lnSpc>
                <a:spcPct val="115000"/>
              </a:lnSpc>
            </a:pPr>
            <a:r>
              <a:rPr sz="900" b="0">
                <a:solidFill>
                  <a:srgbClr val="5B6B75"/>
                </a:solidFill>
                <a:latin typeface="Calibri"/>
              </a:rPr>
              <a:t>Section 05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0E4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82880"/>
            <a:ext cx="10515600" cy="320040"/>
          </a:xfrm>
          <a:prstGeom prst="rect">
            <a:avLst/>
          </a:prstGeom>
          <a:noFill/>
        </p:spPr>
        <p:txBody>
          <a:bodyPr wrap="square" anchor="t" lIns="0" rIns="0" tIns="0" bIns="0">
            <a:spAutoFit/>
          </a:bodyPr>
          <a:lstStyle/>
          <a:p>
            <a:pPr algn="l">
              <a:lnSpc>
                <a:spcPct val="115000"/>
              </a:lnSpc>
            </a:pPr>
            <a:r>
              <a:rPr sz="2300" b="1">
                <a:solidFill>
                  <a:srgbClr val="FFFFFF"/>
                </a:solidFill>
                <a:latin typeface="Calibri"/>
              </a:rPr>
              <a:t>Who holds the ticket, and when</a:t>
            </a:r>
          </a:p>
        </p:txBody>
      </p:sp>
      <p:sp>
        <p:nvSpPr>
          <p:cNvPr id="4" name="TextBox 3"/>
          <p:cNvSpPr txBox="1"/>
          <p:nvPr/>
        </p:nvSpPr>
        <p:spPr>
          <a:xfrm>
            <a:off x="502920" y="548640"/>
            <a:ext cx="10515600" cy="256032"/>
          </a:xfrm>
          <a:prstGeom prst="rect">
            <a:avLst/>
          </a:prstGeom>
          <a:noFill/>
        </p:spPr>
        <p:txBody>
          <a:bodyPr wrap="square" anchor="t" lIns="0" rIns="0" tIns="0" bIns="0">
            <a:spAutoFit/>
          </a:bodyPr>
          <a:lstStyle/>
          <a:p>
            <a:pPr algn="l">
              <a:lnSpc>
                <a:spcPct val="115000"/>
              </a:lnSpc>
            </a:pPr>
            <a:r>
              <a:rPr sz="1150" b="0">
                <a:solidFill>
                  <a:srgbClr val="F3ECE0"/>
                </a:solidFill>
                <a:latin typeface="Calibri"/>
              </a:rPr>
              <a:t>Left to right in time; each band is one role</a:t>
            </a:r>
          </a:p>
        </p:txBody>
      </p:sp>
      <p:sp>
        <p:nvSpPr>
          <p:cNvPr id="5" name="Rectangle 4"/>
          <p:cNvSpPr/>
          <p:nvPr/>
        </p:nvSpPr>
        <p:spPr>
          <a:xfrm>
            <a:off x="457200" y="1234440"/>
            <a:ext cx="1691640" cy="969264"/>
          </a:xfrm>
          <a:prstGeom prst="rect">
            <a:avLst/>
          </a:prstGeom>
          <a:solidFill>
            <a:srgbClr val="0E4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563624"/>
            <a:ext cx="1508760" cy="274320"/>
          </a:xfrm>
          <a:prstGeom prst="rect">
            <a:avLst/>
          </a:prstGeom>
          <a:noFill/>
        </p:spPr>
        <p:txBody>
          <a:bodyPr wrap="square" anchor="t" lIns="0" rIns="0" tIns="0" bIns="0">
            <a:spAutoFit/>
          </a:bodyPr>
          <a:lstStyle/>
          <a:p>
            <a:pPr algn="l">
              <a:lnSpc>
                <a:spcPct val="115000"/>
              </a:lnSpc>
            </a:pPr>
            <a:r>
              <a:rPr sz="1050" b="1">
                <a:solidFill>
                  <a:srgbClr val="FFFFFF"/>
                </a:solidFill>
                <a:latin typeface="Calibri"/>
              </a:rPr>
              <a:t>BRANCH USER</a:t>
            </a:r>
          </a:p>
        </p:txBody>
      </p:sp>
      <p:sp>
        <p:nvSpPr>
          <p:cNvPr id="7" name="Rectangle 6"/>
          <p:cNvSpPr/>
          <p:nvPr/>
        </p:nvSpPr>
        <p:spPr>
          <a:xfrm>
            <a:off x="2194560" y="1234440"/>
            <a:ext cx="9509760" cy="969264"/>
          </a:xfrm>
          <a:prstGeom prst="rect">
            <a:avLst/>
          </a:prstGeom>
          <a:solidFill>
            <a:srgbClr val="F3ECE0"/>
          </a:solidFill>
          <a:ln w="12700">
            <a:solidFill>
              <a:srgbClr val="D6CE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2258568"/>
            <a:ext cx="1691640" cy="969264"/>
          </a:xfrm>
          <a:prstGeom prst="rect">
            <a:avLst/>
          </a:prstGeom>
          <a:solidFill>
            <a:srgbClr val="093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2587752"/>
            <a:ext cx="1508760" cy="274320"/>
          </a:xfrm>
          <a:prstGeom prst="rect">
            <a:avLst/>
          </a:prstGeom>
          <a:noFill/>
        </p:spPr>
        <p:txBody>
          <a:bodyPr wrap="square" anchor="t" lIns="0" rIns="0" tIns="0" bIns="0">
            <a:spAutoFit/>
          </a:bodyPr>
          <a:lstStyle/>
          <a:p>
            <a:pPr algn="l">
              <a:lnSpc>
                <a:spcPct val="115000"/>
              </a:lnSpc>
            </a:pPr>
            <a:r>
              <a:rPr sz="1050" b="1">
                <a:solidFill>
                  <a:srgbClr val="FFFFFF"/>
                </a:solidFill>
                <a:latin typeface="Calibri"/>
              </a:rPr>
              <a:t>AGENT</a:t>
            </a:r>
          </a:p>
        </p:txBody>
      </p:sp>
      <p:sp>
        <p:nvSpPr>
          <p:cNvPr id="10" name="Rectangle 9"/>
          <p:cNvSpPr/>
          <p:nvPr/>
        </p:nvSpPr>
        <p:spPr>
          <a:xfrm>
            <a:off x="2194560" y="2258568"/>
            <a:ext cx="9509760" cy="969264"/>
          </a:xfrm>
          <a:prstGeom prst="rect">
            <a:avLst/>
          </a:prstGeom>
          <a:solidFill>
            <a:srgbClr val="FFFFFF"/>
          </a:solidFill>
          <a:ln w="12700">
            <a:solidFill>
              <a:srgbClr val="D6CE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3282696"/>
            <a:ext cx="1691640" cy="969264"/>
          </a:xfrm>
          <a:prstGeom prst="rect">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3611880"/>
            <a:ext cx="1508760" cy="274320"/>
          </a:xfrm>
          <a:prstGeom prst="rect">
            <a:avLst/>
          </a:prstGeom>
          <a:noFill/>
        </p:spPr>
        <p:txBody>
          <a:bodyPr wrap="square" anchor="t" lIns="0" rIns="0" tIns="0" bIns="0">
            <a:spAutoFit/>
          </a:bodyPr>
          <a:lstStyle/>
          <a:p>
            <a:pPr algn="l">
              <a:lnSpc>
                <a:spcPct val="115000"/>
              </a:lnSpc>
            </a:pPr>
            <a:r>
              <a:rPr sz="1050" b="1">
                <a:solidFill>
                  <a:srgbClr val="FFFFFF"/>
                </a:solidFill>
                <a:latin typeface="Calibri"/>
              </a:rPr>
              <a:t>SUPERVISOR</a:t>
            </a:r>
          </a:p>
        </p:txBody>
      </p:sp>
      <p:sp>
        <p:nvSpPr>
          <p:cNvPr id="13" name="Rectangle 12"/>
          <p:cNvSpPr/>
          <p:nvPr/>
        </p:nvSpPr>
        <p:spPr>
          <a:xfrm>
            <a:off x="2194560" y="3282696"/>
            <a:ext cx="9509760" cy="969264"/>
          </a:xfrm>
          <a:prstGeom prst="rect">
            <a:avLst/>
          </a:prstGeom>
          <a:solidFill>
            <a:srgbClr val="F3ECE0"/>
          </a:solidFill>
          <a:ln w="12700">
            <a:solidFill>
              <a:srgbClr val="D6CE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4306824"/>
            <a:ext cx="1691640" cy="969264"/>
          </a:xfrm>
          <a:prstGeom prst="rect">
            <a:avLst/>
          </a:prstGeom>
          <a:solidFill>
            <a:srgbClr val="5B6B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4636008"/>
            <a:ext cx="1508760" cy="274320"/>
          </a:xfrm>
          <a:prstGeom prst="rect">
            <a:avLst/>
          </a:prstGeom>
          <a:noFill/>
        </p:spPr>
        <p:txBody>
          <a:bodyPr wrap="square" anchor="t" lIns="0" rIns="0" tIns="0" bIns="0">
            <a:spAutoFit/>
          </a:bodyPr>
          <a:lstStyle/>
          <a:p>
            <a:pPr algn="l">
              <a:lnSpc>
                <a:spcPct val="115000"/>
              </a:lnSpc>
            </a:pPr>
            <a:r>
              <a:rPr sz="1050" b="1">
                <a:solidFill>
                  <a:srgbClr val="FFFFFF"/>
                </a:solidFill>
                <a:latin typeface="Calibri"/>
              </a:rPr>
              <a:t>SYSTEM</a:t>
            </a:r>
          </a:p>
        </p:txBody>
      </p:sp>
      <p:sp>
        <p:nvSpPr>
          <p:cNvPr id="16" name="Rectangle 15"/>
          <p:cNvSpPr/>
          <p:nvPr/>
        </p:nvSpPr>
        <p:spPr>
          <a:xfrm>
            <a:off x="2194560" y="4306824"/>
            <a:ext cx="9509760" cy="969264"/>
          </a:xfrm>
          <a:prstGeom prst="rect">
            <a:avLst/>
          </a:prstGeom>
          <a:solidFill>
            <a:srgbClr val="FFFFFF"/>
          </a:solidFill>
          <a:ln w="12700">
            <a:solidFill>
              <a:srgbClr val="D6CE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200400" y="1714500"/>
            <a:ext cx="75438" cy="27432"/>
          </a:xfrm>
          <a:prstGeom prst="rect">
            <a:avLst/>
          </a:prstGeom>
          <a:solidFill>
            <a:srgbClr val="D6CE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262122" y="1728216"/>
            <a:ext cx="27432" cy="3072384"/>
          </a:xfrm>
          <a:prstGeom prst="rect">
            <a:avLst/>
          </a:prstGeom>
          <a:solidFill>
            <a:srgbClr val="D6CE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275838" y="4786884"/>
            <a:ext cx="-34290" cy="27432"/>
          </a:xfrm>
          <a:prstGeom prst="rect">
            <a:avLst/>
          </a:prstGeom>
          <a:solidFill>
            <a:srgbClr val="D6CE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ight Arrow 19"/>
          <p:cNvSpPr/>
          <p:nvPr/>
        </p:nvSpPr>
        <p:spPr>
          <a:xfrm>
            <a:off x="3223260" y="4745736"/>
            <a:ext cx="128016" cy="109728"/>
          </a:xfrm>
          <a:prstGeom prst="rightArrow">
            <a:avLst/>
          </a:prstGeom>
          <a:solidFill>
            <a:srgbClr val="D6CE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247388" y="4786884"/>
            <a:ext cx="75438" cy="27432"/>
          </a:xfrm>
          <a:prstGeom prst="rect">
            <a:avLst/>
          </a:prstGeom>
          <a:solidFill>
            <a:srgbClr val="D6CE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309110" y="3776472"/>
            <a:ext cx="27432" cy="1024128"/>
          </a:xfrm>
          <a:prstGeom prst="rect">
            <a:avLst/>
          </a:prstGeom>
          <a:solidFill>
            <a:srgbClr val="D6CE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322826" y="3762756"/>
            <a:ext cx="-34290" cy="27432"/>
          </a:xfrm>
          <a:prstGeom prst="rect">
            <a:avLst/>
          </a:prstGeom>
          <a:solidFill>
            <a:srgbClr val="D6CE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ight Arrow 23"/>
          <p:cNvSpPr/>
          <p:nvPr/>
        </p:nvSpPr>
        <p:spPr>
          <a:xfrm>
            <a:off x="4270248" y="3721608"/>
            <a:ext cx="128016" cy="109728"/>
          </a:xfrm>
          <a:prstGeom prst="rightArrow">
            <a:avLst/>
          </a:prstGeom>
          <a:solidFill>
            <a:srgbClr val="D6CE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294376" y="3762756"/>
            <a:ext cx="75438" cy="27432"/>
          </a:xfrm>
          <a:prstGeom prst="rect">
            <a:avLst/>
          </a:prstGeom>
          <a:solidFill>
            <a:srgbClr val="D6CE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356098" y="2752344"/>
            <a:ext cx="27432" cy="1024128"/>
          </a:xfrm>
          <a:prstGeom prst="rect">
            <a:avLst/>
          </a:prstGeom>
          <a:solidFill>
            <a:srgbClr val="D6CE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369814" y="2738628"/>
            <a:ext cx="-34290" cy="27432"/>
          </a:xfrm>
          <a:prstGeom prst="rect">
            <a:avLst/>
          </a:prstGeom>
          <a:solidFill>
            <a:srgbClr val="D6CE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ight Arrow 27"/>
          <p:cNvSpPr/>
          <p:nvPr/>
        </p:nvSpPr>
        <p:spPr>
          <a:xfrm>
            <a:off x="5317236" y="2697480"/>
            <a:ext cx="128016" cy="109728"/>
          </a:xfrm>
          <a:prstGeom prst="rightArrow">
            <a:avLst/>
          </a:prstGeom>
          <a:solidFill>
            <a:srgbClr val="D6CE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341364" y="2738628"/>
            <a:ext cx="75438" cy="27432"/>
          </a:xfrm>
          <a:prstGeom prst="rect">
            <a:avLst/>
          </a:prstGeom>
          <a:solidFill>
            <a:srgbClr val="D6CE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403086" y="2752344"/>
            <a:ext cx="27432" cy="0"/>
          </a:xfrm>
          <a:prstGeom prst="rect">
            <a:avLst/>
          </a:prstGeom>
          <a:solidFill>
            <a:srgbClr val="D6CE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416802" y="2738628"/>
            <a:ext cx="-34290" cy="27432"/>
          </a:xfrm>
          <a:prstGeom prst="rect">
            <a:avLst/>
          </a:prstGeom>
          <a:solidFill>
            <a:srgbClr val="D6CE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ight Arrow 31"/>
          <p:cNvSpPr/>
          <p:nvPr/>
        </p:nvSpPr>
        <p:spPr>
          <a:xfrm>
            <a:off x="6364224" y="2697480"/>
            <a:ext cx="128016" cy="109728"/>
          </a:xfrm>
          <a:prstGeom prst="rightArrow">
            <a:avLst/>
          </a:prstGeom>
          <a:solidFill>
            <a:srgbClr val="D6CE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388352" y="2738628"/>
            <a:ext cx="75438" cy="27432"/>
          </a:xfrm>
          <a:prstGeom prst="rect">
            <a:avLst/>
          </a:prstGeom>
          <a:solidFill>
            <a:srgbClr val="D6CE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450074" y="2752344"/>
            <a:ext cx="27432" cy="2048256"/>
          </a:xfrm>
          <a:prstGeom prst="rect">
            <a:avLst/>
          </a:prstGeom>
          <a:solidFill>
            <a:srgbClr val="D6CE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463790" y="4786884"/>
            <a:ext cx="-34290" cy="27432"/>
          </a:xfrm>
          <a:prstGeom prst="rect">
            <a:avLst/>
          </a:prstGeom>
          <a:solidFill>
            <a:srgbClr val="D6CE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ight Arrow 35"/>
          <p:cNvSpPr/>
          <p:nvPr/>
        </p:nvSpPr>
        <p:spPr>
          <a:xfrm>
            <a:off x="7411212" y="4745736"/>
            <a:ext cx="128016" cy="109728"/>
          </a:xfrm>
          <a:prstGeom prst="rightArrow">
            <a:avLst/>
          </a:prstGeom>
          <a:solidFill>
            <a:srgbClr val="D6CE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435340" y="4786884"/>
            <a:ext cx="75438" cy="27432"/>
          </a:xfrm>
          <a:prstGeom prst="rect">
            <a:avLst/>
          </a:prstGeom>
          <a:solidFill>
            <a:srgbClr val="D6CE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497062" y="3776472"/>
            <a:ext cx="27432" cy="1024128"/>
          </a:xfrm>
          <a:prstGeom prst="rect">
            <a:avLst/>
          </a:prstGeom>
          <a:solidFill>
            <a:srgbClr val="D6CE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510778" y="3762756"/>
            <a:ext cx="-34290" cy="27432"/>
          </a:xfrm>
          <a:prstGeom prst="rect">
            <a:avLst/>
          </a:prstGeom>
          <a:solidFill>
            <a:srgbClr val="D6CE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ight Arrow 39"/>
          <p:cNvSpPr/>
          <p:nvPr/>
        </p:nvSpPr>
        <p:spPr>
          <a:xfrm>
            <a:off x="8458200" y="3721608"/>
            <a:ext cx="128016" cy="109728"/>
          </a:xfrm>
          <a:prstGeom prst="rightArrow">
            <a:avLst/>
          </a:prstGeom>
          <a:solidFill>
            <a:srgbClr val="D6CE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482328" y="3762756"/>
            <a:ext cx="75438" cy="27432"/>
          </a:xfrm>
          <a:prstGeom prst="rect">
            <a:avLst/>
          </a:prstGeom>
          <a:solidFill>
            <a:srgbClr val="D6CE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9544050" y="2752344"/>
            <a:ext cx="27432" cy="1024128"/>
          </a:xfrm>
          <a:prstGeom prst="rect">
            <a:avLst/>
          </a:prstGeom>
          <a:solidFill>
            <a:srgbClr val="D6CE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557766" y="2738628"/>
            <a:ext cx="-34290" cy="27432"/>
          </a:xfrm>
          <a:prstGeom prst="rect">
            <a:avLst/>
          </a:prstGeom>
          <a:solidFill>
            <a:srgbClr val="D6CE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ight Arrow 43"/>
          <p:cNvSpPr/>
          <p:nvPr/>
        </p:nvSpPr>
        <p:spPr>
          <a:xfrm>
            <a:off x="9505188" y="2697480"/>
            <a:ext cx="128016" cy="109728"/>
          </a:xfrm>
          <a:prstGeom prst="rightArrow">
            <a:avLst/>
          </a:prstGeom>
          <a:solidFill>
            <a:srgbClr val="D6CE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10529316" y="2738628"/>
            <a:ext cx="75438" cy="27432"/>
          </a:xfrm>
          <a:prstGeom prst="rect">
            <a:avLst/>
          </a:prstGeom>
          <a:solidFill>
            <a:srgbClr val="D6CE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10591038" y="1728216"/>
            <a:ext cx="27432" cy="1024128"/>
          </a:xfrm>
          <a:prstGeom prst="rect">
            <a:avLst/>
          </a:prstGeom>
          <a:solidFill>
            <a:srgbClr val="D6CE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0604754" y="1714500"/>
            <a:ext cx="-34290" cy="27432"/>
          </a:xfrm>
          <a:prstGeom prst="rect">
            <a:avLst/>
          </a:prstGeom>
          <a:solidFill>
            <a:srgbClr val="D6CE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ight Arrow 47"/>
          <p:cNvSpPr/>
          <p:nvPr/>
        </p:nvSpPr>
        <p:spPr>
          <a:xfrm>
            <a:off x="10552176" y="1673352"/>
            <a:ext cx="128016" cy="109728"/>
          </a:xfrm>
          <a:prstGeom prst="rightArrow">
            <a:avLst/>
          </a:prstGeom>
          <a:solidFill>
            <a:srgbClr val="D6CE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2304288" y="1380744"/>
            <a:ext cx="896112" cy="694944"/>
          </a:xfrm>
          <a:prstGeom prst="roundRect">
            <a:avLst/>
          </a:prstGeom>
          <a:solidFill>
            <a:srgbClr val="0E4F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lnSpc>
                <a:spcPct val="110000"/>
              </a:lnSpc>
            </a:pPr>
            <a:r>
              <a:rPr sz="800" b="1">
                <a:solidFill>
                  <a:srgbClr val="FFFFFF"/>
                </a:solidFill>
              </a:rPr>
              <a:t>Raise ticket</a:t>
            </a:r>
          </a:p>
          <a:p>
            <a:pPr algn="ctr">
              <a:lnSpc>
                <a:spcPct val="110000"/>
              </a:lnSpc>
            </a:pPr>
            <a:r>
              <a:rPr sz="800" b="1">
                <a:solidFill>
                  <a:srgbClr val="FFFFFF"/>
                </a:solidFill>
              </a:rPr>
              <a:t>+ attach evidence</a:t>
            </a:r>
          </a:p>
        </p:txBody>
      </p:sp>
      <p:sp>
        <p:nvSpPr>
          <p:cNvPr id="50" name="Rounded Rectangle 49"/>
          <p:cNvSpPr/>
          <p:nvPr/>
        </p:nvSpPr>
        <p:spPr>
          <a:xfrm>
            <a:off x="3351276" y="4453128"/>
            <a:ext cx="896112" cy="694944"/>
          </a:xfrm>
          <a:prstGeom prst="roundRect">
            <a:avLst/>
          </a:prstGeom>
          <a:solidFill>
            <a:srgbClr val="5B6B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lnSpc>
                <a:spcPct val="110000"/>
              </a:lnSpc>
            </a:pPr>
            <a:r>
              <a:rPr sz="800" b="1">
                <a:solidFill>
                  <a:srgbClr val="FFFFFF"/>
                </a:solidFill>
              </a:rPr>
              <a:t>Number it,</a:t>
            </a:r>
          </a:p>
          <a:p>
            <a:pPr algn="ctr">
              <a:lnSpc>
                <a:spcPct val="110000"/>
              </a:lnSpc>
            </a:pPr>
            <a:r>
              <a:rPr sz="800" b="1">
                <a:solidFill>
                  <a:srgbClr val="FFFFFF"/>
                </a:solidFill>
              </a:rPr>
              <a:t>stamp SLA</a:t>
            </a:r>
          </a:p>
        </p:txBody>
      </p:sp>
      <p:sp>
        <p:nvSpPr>
          <p:cNvPr id="51" name="Rounded Rectangle 50"/>
          <p:cNvSpPr/>
          <p:nvPr/>
        </p:nvSpPr>
        <p:spPr>
          <a:xfrm>
            <a:off x="4398264" y="3429000"/>
            <a:ext cx="896112" cy="694944"/>
          </a:xfrm>
          <a:prstGeom prst="roundRect">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lnSpc>
                <a:spcPct val="110000"/>
              </a:lnSpc>
            </a:pPr>
            <a:r>
              <a:rPr sz="800" b="1">
                <a:solidFill>
                  <a:srgbClr val="FFFFFF"/>
                </a:solidFill>
              </a:rPr>
              <a:t>Assign, or</a:t>
            </a:r>
          </a:p>
          <a:p>
            <a:pPr algn="ctr">
              <a:lnSpc>
                <a:spcPct val="110000"/>
              </a:lnSpc>
            </a:pPr>
            <a:r>
              <a:rPr sz="800" b="1">
                <a:solidFill>
                  <a:srgbClr val="FFFFFF"/>
                </a:solidFill>
              </a:rPr>
              <a:t>auto-assign</a:t>
            </a:r>
          </a:p>
        </p:txBody>
      </p:sp>
      <p:sp>
        <p:nvSpPr>
          <p:cNvPr id="52" name="Rounded Rectangle 51"/>
          <p:cNvSpPr/>
          <p:nvPr/>
        </p:nvSpPr>
        <p:spPr>
          <a:xfrm>
            <a:off x="5445252" y="2404872"/>
            <a:ext cx="896112" cy="694944"/>
          </a:xfrm>
          <a:prstGeom prst="roundRect">
            <a:avLst/>
          </a:prstGeom>
          <a:solidFill>
            <a:srgbClr val="09383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lnSpc>
                <a:spcPct val="110000"/>
              </a:lnSpc>
            </a:pPr>
            <a:r>
              <a:rPr sz="800" b="1">
                <a:solidFill>
                  <a:srgbClr val="FFFFFF"/>
                </a:solidFill>
              </a:rPr>
              <a:t>Take it,</a:t>
            </a:r>
          </a:p>
          <a:p>
            <a:pPr algn="ctr">
              <a:lnSpc>
                <a:spcPct val="110000"/>
              </a:lnSpc>
            </a:pPr>
            <a:r>
              <a:rPr sz="800" b="1">
                <a:solidFill>
                  <a:srgbClr val="FFFFFF"/>
                </a:solidFill>
              </a:rPr>
              <a:t>investigate</a:t>
            </a:r>
          </a:p>
        </p:txBody>
      </p:sp>
      <p:sp>
        <p:nvSpPr>
          <p:cNvPr id="53" name="Rounded Rectangle 52"/>
          <p:cNvSpPr/>
          <p:nvPr/>
        </p:nvSpPr>
        <p:spPr>
          <a:xfrm>
            <a:off x="6492240" y="2404872"/>
            <a:ext cx="896112" cy="694944"/>
          </a:xfrm>
          <a:prstGeom prst="roundRect">
            <a:avLst/>
          </a:prstGeom>
          <a:solidFill>
            <a:srgbClr val="09383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lnSpc>
                <a:spcPct val="110000"/>
              </a:lnSpc>
            </a:pPr>
            <a:r>
              <a:rPr sz="800" b="1">
                <a:solidFill>
                  <a:srgbClr val="FFFFFF"/>
                </a:solidFill>
              </a:rPr>
              <a:t>Reply</a:t>
            </a:r>
          </a:p>
          <a:p>
            <a:pPr algn="ctr">
              <a:lnSpc>
                <a:spcPct val="110000"/>
              </a:lnSpc>
            </a:pPr>
            <a:r>
              <a:rPr sz="800" b="1">
                <a:solidFill>
                  <a:srgbClr val="FFFFFF"/>
                </a:solidFill>
              </a:rPr>
              <a:t>+ attach fix</a:t>
            </a:r>
          </a:p>
        </p:txBody>
      </p:sp>
      <p:sp>
        <p:nvSpPr>
          <p:cNvPr id="54" name="Rounded Rectangle 53"/>
          <p:cNvSpPr/>
          <p:nvPr/>
        </p:nvSpPr>
        <p:spPr>
          <a:xfrm>
            <a:off x="7539228" y="4453128"/>
            <a:ext cx="896112" cy="694944"/>
          </a:xfrm>
          <a:prstGeom prst="roundRect">
            <a:avLst/>
          </a:prstGeom>
          <a:solidFill>
            <a:srgbClr val="5B6B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lnSpc>
                <a:spcPct val="110000"/>
              </a:lnSpc>
            </a:pPr>
            <a:r>
              <a:rPr sz="800" b="1">
                <a:solidFill>
                  <a:srgbClr val="FFFFFF"/>
                </a:solidFill>
              </a:rPr>
              <a:t>SLA breach?</a:t>
            </a:r>
          </a:p>
          <a:p>
            <a:pPr algn="ctr">
              <a:lnSpc>
                <a:spcPct val="110000"/>
              </a:lnSpc>
            </a:pPr>
            <a:r>
              <a:rPr sz="800" b="1">
                <a:solidFill>
                  <a:srgbClr val="FFFFFF"/>
                </a:solidFill>
              </a:rPr>
              <a:t>escalate</a:t>
            </a:r>
          </a:p>
        </p:txBody>
      </p:sp>
      <p:sp>
        <p:nvSpPr>
          <p:cNvPr id="55" name="Rounded Rectangle 54"/>
          <p:cNvSpPr/>
          <p:nvPr/>
        </p:nvSpPr>
        <p:spPr>
          <a:xfrm>
            <a:off x="8586216" y="3429000"/>
            <a:ext cx="896112" cy="694944"/>
          </a:xfrm>
          <a:prstGeom prst="roundRect">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lnSpc>
                <a:spcPct val="110000"/>
              </a:lnSpc>
            </a:pPr>
            <a:r>
              <a:rPr sz="800" b="1">
                <a:solidFill>
                  <a:srgbClr val="FFFFFF"/>
                </a:solidFill>
              </a:rPr>
              <a:t>Review,</a:t>
            </a:r>
          </a:p>
          <a:p>
            <a:pPr algn="ctr">
              <a:lnSpc>
                <a:spcPct val="110000"/>
              </a:lnSpc>
            </a:pPr>
            <a:r>
              <a:rPr sz="800" b="1">
                <a:solidFill>
                  <a:srgbClr val="FFFFFF"/>
                </a:solidFill>
              </a:rPr>
              <a:t>reassign</a:t>
            </a:r>
          </a:p>
        </p:txBody>
      </p:sp>
      <p:sp>
        <p:nvSpPr>
          <p:cNvPr id="56" name="Rounded Rectangle 55"/>
          <p:cNvSpPr/>
          <p:nvPr/>
        </p:nvSpPr>
        <p:spPr>
          <a:xfrm>
            <a:off x="9633204" y="2404872"/>
            <a:ext cx="896112" cy="694944"/>
          </a:xfrm>
          <a:prstGeom prst="roundRect">
            <a:avLst/>
          </a:prstGeom>
          <a:solidFill>
            <a:srgbClr val="09383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lnSpc>
                <a:spcPct val="110000"/>
              </a:lnSpc>
            </a:pPr>
            <a:r>
              <a:rPr sz="800" b="1">
                <a:solidFill>
                  <a:srgbClr val="FFFFFF"/>
                </a:solidFill>
              </a:rPr>
              <a:t>Resolve</a:t>
            </a:r>
          </a:p>
        </p:txBody>
      </p:sp>
      <p:sp>
        <p:nvSpPr>
          <p:cNvPr id="57" name="Rounded Rectangle 56"/>
          <p:cNvSpPr/>
          <p:nvPr/>
        </p:nvSpPr>
        <p:spPr>
          <a:xfrm>
            <a:off x="10680192" y="1380744"/>
            <a:ext cx="896112" cy="694944"/>
          </a:xfrm>
          <a:prstGeom prst="roundRect">
            <a:avLst/>
          </a:prstGeom>
          <a:solidFill>
            <a:srgbClr val="0E4F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lnSpc>
                <a:spcPct val="110000"/>
              </a:lnSpc>
            </a:pPr>
            <a:r>
              <a:rPr sz="800" b="1">
                <a:solidFill>
                  <a:srgbClr val="FFFFFF"/>
                </a:solidFill>
              </a:rPr>
              <a:t>See resolution,</a:t>
            </a:r>
          </a:p>
          <a:p>
            <a:pPr algn="ctr">
              <a:lnSpc>
                <a:spcPct val="110000"/>
              </a:lnSpc>
            </a:pPr>
            <a:r>
              <a:rPr sz="800" b="1">
                <a:solidFill>
                  <a:srgbClr val="FFFFFF"/>
                </a:solidFill>
              </a:rPr>
              <a:t>close or reopen</a:t>
            </a:r>
          </a:p>
        </p:txBody>
      </p:sp>
      <p:sp>
        <p:nvSpPr>
          <p:cNvPr id="58" name="TextBox 57"/>
          <p:cNvSpPr txBox="1"/>
          <p:nvPr/>
        </p:nvSpPr>
        <p:spPr>
          <a:xfrm>
            <a:off x="457200" y="5486400"/>
            <a:ext cx="11247120" cy="822960"/>
          </a:xfrm>
          <a:prstGeom prst="rect">
            <a:avLst/>
          </a:prstGeom>
          <a:noFill/>
        </p:spPr>
        <p:txBody>
          <a:bodyPr wrap="square" anchor="t" lIns="0" rIns="0" tIns="0" bIns="0">
            <a:spAutoFit/>
          </a:bodyPr>
          <a:lstStyle/>
          <a:p>
            <a:pPr algn="l">
              <a:lnSpc>
                <a:spcPct val="130000"/>
              </a:lnSpc>
            </a:pPr>
            <a:r>
              <a:rPr sz="1150" b="0">
                <a:solidFill>
                  <a:srgbClr val="5B6B75"/>
                </a:solidFill>
                <a:latin typeface="Calibri"/>
              </a:rPr>
              <a:t>The connectors are the handoffs. Two of them are a person deciding: the supervisor choosing an owner, and the branch user closing or reopening. The rest happen because the system moved the ticket, or because the next role was already watching. Note what the system does not do — it numbers the ticket and starts the clock, but it does not choose who works it.</a:t>
            </a:r>
          </a:p>
        </p:txBody>
      </p:sp>
      <p:sp>
        <p:nvSpPr>
          <p:cNvPr id="59" name="Rectangle 58"/>
          <p:cNvSpPr/>
          <p:nvPr/>
        </p:nvSpPr>
        <p:spPr>
          <a:xfrm>
            <a:off x="0" y="6473952"/>
            <a:ext cx="12191695" cy="384048"/>
          </a:xfrm>
          <a:prstGeom prst="rect">
            <a:avLst/>
          </a:prstGeom>
          <a:solidFill>
            <a:srgbClr val="F3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502920" y="6547104"/>
            <a:ext cx="8229600" cy="228600"/>
          </a:xfrm>
          <a:prstGeom prst="rect">
            <a:avLst/>
          </a:prstGeom>
          <a:noFill/>
        </p:spPr>
        <p:txBody>
          <a:bodyPr wrap="square" anchor="t" lIns="0" rIns="0" tIns="0" bIns="0">
            <a:spAutoFit/>
          </a:bodyPr>
          <a:lstStyle/>
          <a:p>
            <a:pPr algn="l">
              <a:lnSpc>
                <a:spcPct val="115000"/>
              </a:lnSpc>
            </a:pPr>
            <a:r>
              <a:rPr sz="900" b="0">
                <a:solidFill>
                  <a:srgbClr val="5B6B75"/>
                </a:solidFill>
                <a:latin typeface="Calibri"/>
              </a:rPr>
              <a:t>SUCCESS Bank — Internal Ticketing · Standard Operating Procedure</a:t>
            </a:r>
          </a:p>
        </p:txBody>
      </p:sp>
      <p:sp>
        <p:nvSpPr>
          <p:cNvPr id="61" name="TextBox 60"/>
          <p:cNvSpPr txBox="1"/>
          <p:nvPr/>
        </p:nvSpPr>
        <p:spPr>
          <a:xfrm>
            <a:off x="9997135" y="6547104"/>
            <a:ext cx="1691640" cy="228600"/>
          </a:xfrm>
          <a:prstGeom prst="rect">
            <a:avLst/>
          </a:prstGeom>
          <a:noFill/>
        </p:spPr>
        <p:txBody>
          <a:bodyPr wrap="square" anchor="t" lIns="0" rIns="0" tIns="0" bIns="0">
            <a:spAutoFit/>
          </a:bodyPr>
          <a:lstStyle/>
          <a:p>
            <a:pPr algn="r">
              <a:lnSpc>
                <a:spcPct val="115000"/>
              </a:lnSpc>
            </a:pPr>
            <a:r>
              <a:rPr sz="900" b="0">
                <a:solidFill>
                  <a:srgbClr val="5B6B75"/>
                </a:solidFill>
                <a:latin typeface="Calibri"/>
              </a:rPr>
              <a:t>End to end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3ECE0"/>
        </a:solidFill>
        <a:effectLst/>
      </p:bgPr>
    </p:bg>
    <p:spTree>
      <p:nvGrpSpPr>
        <p:cNvPr id="1" name=""/>
        <p:cNvGrpSpPr/>
        <p:nvPr/>
      </p:nvGrpSpPr>
      <p:grpSpPr/>
      <p:sp>
        <p:nvSpPr>
          <p:cNvPr id="2" name="Rectangle 1"/>
          <p:cNvSpPr/>
          <p:nvPr/>
        </p:nvSpPr>
        <p:spPr>
          <a:xfrm>
            <a:off x="0" y="0"/>
            <a:ext cx="256032" cy="6858000"/>
          </a:xfrm>
          <a:prstGeom prst="rect">
            <a:avLst/>
          </a:prstGeom>
          <a:solidFill>
            <a:srgbClr val="0E4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2377440"/>
            <a:ext cx="1828800" cy="548640"/>
          </a:xfrm>
          <a:prstGeom prst="rect">
            <a:avLst/>
          </a:prstGeom>
          <a:noFill/>
        </p:spPr>
        <p:txBody>
          <a:bodyPr wrap="square" anchor="t" lIns="0" rIns="0" tIns="0" bIns="0">
            <a:spAutoFit/>
          </a:bodyPr>
          <a:lstStyle/>
          <a:p>
            <a:pPr algn="l">
              <a:lnSpc>
                <a:spcPct val="115000"/>
              </a:lnSpc>
            </a:pPr>
            <a:r>
              <a:rPr sz="1300" b="1">
                <a:solidFill>
                  <a:srgbClr val="C25B2E"/>
                </a:solidFill>
                <a:latin typeface="Calibri"/>
              </a:rPr>
              <a:t>SECTION 06</a:t>
            </a:r>
          </a:p>
        </p:txBody>
      </p:sp>
      <p:sp>
        <p:nvSpPr>
          <p:cNvPr id="4" name="TextBox 3"/>
          <p:cNvSpPr txBox="1"/>
          <p:nvPr/>
        </p:nvSpPr>
        <p:spPr>
          <a:xfrm>
            <a:off x="1005840" y="2788920"/>
            <a:ext cx="9601200" cy="822960"/>
          </a:xfrm>
          <a:prstGeom prst="rect">
            <a:avLst/>
          </a:prstGeom>
          <a:noFill/>
        </p:spPr>
        <p:txBody>
          <a:bodyPr wrap="square" anchor="t" lIns="0" rIns="0" tIns="0" bIns="0">
            <a:spAutoFit/>
          </a:bodyPr>
          <a:lstStyle/>
          <a:p>
            <a:pPr algn="l">
              <a:lnSpc>
                <a:spcPct val="115000"/>
              </a:lnSpc>
            </a:pPr>
            <a:r>
              <a:rPr sz="3400" b="1">
                <a:solidFill>
                  <a:srgbClr val="0E4F4A"/>
                </a:solidFill>
                <a:latin typeface="Calibri"/>
              </a:rPr>
              <a:t>Branch user workflow</a:t>
            </a:r>
          </a:p>
        </p:txBody>
      </p:sp>
      <p:sp>
        <p:nvSpPr>
          <p:cNvPr id="5" name="TextBox 4"/>
          <p:cNvSpPr txBox="1"/>
          <p:nvPr/>
        </p:nvSpPr>
        <p:spPr>
          <a:xfrm>
            <a:off x="1005840" y="3794760"/>
            <a:ext cx="8686800" cy="914400"/>
          </a:xfrm>
          <a:prstGeom prst="rect">
            <a:avLst/>
          </a:prstGeom>
          <a:noFill/>
        </p:spPr>
        <p:txBody>
          <a:bodyPr wrap="square" anchor="t" lIns="0" rIns="0" tIns="0" bIns="0">
            <a:spAutoFit/>
          </a:bodyPr>
          <a:lstStyle/>
          <a:p>
            <a:pPr algn="l">
              <a:lnSpc>
                <a:spcPct val="130000"/>
              </a:lnSpc>
            </a:pPr>
            <a:r>
              <a:rPr sz="1500" b="0">
                <a:solidFill>
                  <a:srgbClr val="5B6B75"/>
                </a:solidFill>
                <a:latin typeface="Calibri"/>
              </a:rPr>
              <a:t>You raise the problem, supply the evidence, answer questions, and see the resolution.</a:t>
            </a:r>
          </a:p>
        </p:txBody>
      </p:sp>
      <p:sp>
        <p:nvSpPr>
          <p:cNvPr id="6" name="Rectangle 5"/>
          <p:cNvSpPr/>
          <p:nvPr/>
        </p:nvSpPr>
        <p:spPr>
          <a:xfrm>
            <a:off x="0" y="6473952"/>
            <a:ext cx="12191695" cy="384048"/>
          </a:xfrm>
          <a:prstGeom prst="rect">
            <a:avLst/>
          </a:prstGeom>
          <a:solidFill>
            <a:srgbClr val="F3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47104"/>
            <a:ext cx="8229600" cy="228600"/>
          </a:xfrm>
          <a:prstGeom prst="rect">
            <a:avLst/>
          </a:prstGeom>
          <a:noFill/>
        </p:spPr>
        <p:txBody>
          <a:bodyPr wrap="square" anchor="t" lIns="0" rIns="0" tIns="0" bIns="0">
            <a:spAutoFit/>
          </a:bodyPr>
          <a:lstStyle/>
          <a:p>
            <a:pPr algn="l">
              <a:lnSpc>
                <a:spcPct val="115000"/>
              </a:lnSpc>
            </a:pPr>
            <a:r>
              <a:rPr sz="900" b="0">
                <a:solidFill>
                  <a:srgbClr val="5B6B75"/>
                </a:solidFill>
                <a:latin typeface="Calibri"/>
              </a:rPr>
              <a:t>SUCCESS Bank — Internal Ticketing · Standard Operating Procedure</a:t>
            </a:r>
          </a:p>
        </p:txBody>
      </p:sp>
      <p:sp>
        <p:nvSpPr>
          <p:cNvPr id="8" name="TextBox 7"/>
          <p:cNvSpPr txBox="1"/>
          <p:nvPr/>
        </p:nvSpPr>
        <p:spPr>
          <a:xfrm>
            <a:off x="9997135" y="6547104"/>
            <a:ext cx="1691640" cy="228600"/>
          </a:xfrm>
          <a:prstGeom prst="rect">
            <a:avLst/>
          </a:prstGeom>
          <a:noFill/>
        </p:spPr>
        <p:txBody>
          <a:bodyPr wrap="square" anchor="t" lIns="0" rIns="0" tIns="0" bIns="0">
            <a:spAutoFit/>
          </a:bodyPr>
          <a:lstStyle/>
          <a:p>
            <a:pPr algn="r">
              <a:lnSpc>
                <a:spcPct val="115000"/>
              </a:lnSpc>
            </a:pPr>
            <a:r>
              <a:rPr sz="900" b="0">
                <a:solidFill>
                  <a:srgbClr val="5B6B75"/>
                </a:solidFill>
                <a:latin typeface="Calibri"/>
              </a:rPr>
              <a:t>Section 06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0E4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36576"/>
          </a:xfrm>
          <a:prstGeom prst="rect">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55448"/>
            <a:ext cx="1371600" cy="274320"/>
          </a:xfrm>
          <a:prstGeom prst="rect">
            <a:avLst/>
          </a:prstGeom>
          <a:noFill/>
        </p:spPr>
        <p:txBody>
          <a:bodyPr wrap="square" anchor="t" lIns="0" rIns="0" tIns="0" bIns="0">
            <a:spAutoFit/>
          </a:bodyPr>
          <a:lstStyle/>
          <a:p>
            <a:pPr algn="l">
              <a:lnSpc>
                <a:spcPct val="115000"/>
              </a:lnSpc>
            </a:pPr>
            <a:r>
              <a:rPr sz="1200" b="1">
                <a:solidFill>
                  <a:srgbClr val="C25B2E"/>
                </a:solidFill>
                <a:latin typeface="Calibri"/>
              </a:rPr>
              <a:t>STEP 01</a:t>
            </a:r>
          </a:p>
        </p:txBody>
      </p:sp>
      <p:sp>
        <p:nvSpPr>
          <p:cNvPr id="5" name="TextBox 4"/>
          <p:cNvSpPr txBox="1"/>
          <p:nvPr/>
        </p:nvSpPr>
        <p:spPr>
          <a:xfrm>
            <a:off x="502920" y="420624"/>
            <a:ext cx="8412480" cy="365760"/>
          </a:xfrm>
          <a:prstGeom prst="rect">
            <a:avLst/>
          </a:prstGeom>
          <a:noFill/>
        </p:spPr>
        <p:txBody>
          <a:bodyPr wrap="square" anchor="t" lIns="0" rIns="0" tIns="0" bIns="0">
            <a:spAutoFit/>
          </a:bodyPr>
          <a:lstStyle/>
          <a:p>
            <a:pPr algn="l">
              <a:lnSpc>
                <a:spcPct val="115000"/>
              </a:lnSpc>
            </a:pPr>
            <a:r>
              <a:rPr sz="2000" b="1">
                <a:solidFill>
                  <a:srgbClr val="FFFFFF"/>
                </a:solidFill>
                <a:latin typeface="Calibri"/>
              </a:rPr>
              <a:t>Sign in</a:t>
            </a:r>
          </a:p>
        </p:txBody>
      </p:sp>
      <p:sp>
        <p:nvSpPr>
          <p:cNvPr id="6" name="TextBox 5"/>
          <p:cNvSpPr txBox="1"/>
          <p:nvPr/>
        </p:nvSpPr>
        <p:spPr>
          <a:xfrm>
            <a:off x="9174175" y="320040"/>
            <a:ext cx="2514600" cy="274320"/>
          </a:xfrm>
          <a:prstGeom prst="rect">
            <a:avLst/>
          </a:prstGeom>
          <a:noFill/>
        </p:spPr>
        <p:txBody>
          <a:bodyPr wrap="square" anchor="t" lIns="0" rIns="0" tIns="0" bIns="0">
            <a:spAutoFit/>
          </a:bodyPr>
          <a:lstStyle/>
          <a:p>
            <a:pPr algn="r">
              <a:lnSpc>
                <a:spcPct val="115000"/>
              </a:lnSpc>
            </a:pPr>
            <a:r>
              <a:rPr sz="1100" b="1">
                <a:solidFill>
                  <a:srgbClr val="F3ECE0"/>
                </a:solidFill>
                <a:latin typeface="Calibri"/>
              </a:rPr>
              <a:t>BRANCH USER</a:t>
            </a:r>
          </a:p>
        </p:txBody>
      </p:sp>
      <p:sp>
        <p:nvSpPr>
          <p:cNvPr id="7" name="Rectangle 6"/>
          <p:cNvSpPr/>
          <p:nvPr/>
        </p:nvSpPr>
        <p:spPr>
          <a:xfrm>
            <a:off x="388620" y="1165860"/>
            <a:ext cx="7818120" cy="4903470"/>
          </a:xfrm>
          <a:prstGeom prst="rect">
            <a:avLst/>
          </a:prstGeom>
          <a:solidFill>
            <a:srgbClr val="D6CE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411480" y="1188720"/>
            <a:ext cx="7772400" cy="4855464"/>
          </a:xfrm>
          <a:prstGeom prst="rect">
            <a:avLst/>
          </a:prstGeom>
        </p:spPr>
      </p:pic>
      <p:sp>
        <p:nvSpPr>
          <p:cNvPr id="9" name="Oval 8"/>
          <p:cNvSpPr/>
          <p:nvPr/>
        </p:nvSpPr>
        <p:spPr>
          <a:xfrm>
            <a:off x="4804759" y="3264750"/>
            <a:ext cx="274320" cy="274320"/>
          </a:xfrm>
          <a:prstGeom prst="ellipse">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noAutofit/>
          </a:bodyPr>
          <a:lstStyle/>
          <a:p>
            <a:pPr algn="ctr">
              <a:lnSpc>
                <a:spcPct val="100000"/>
              </a:lnSpc>
            </a:pPr>
            <a:r>
              <a:rPr sz="1300" b="1">
                <a:solidFill>
                  <a:srgbClr val="FFFFFF"/>
                </a:solidFill>
                <a:latin typeface="Calibri"/>
              </a:rPr>
              <a:t>1</a:t>
            </a:r>
          </a:p>
        </p:txBody>
      </p:sp>
      <p:sp>
        <p:nvSpPr>
          <p:cNvPr id="10" name="Oval 9"/>
          <p:cNvSpPr/>
          <p:nvPr/>
        </p:nvSpPr>
        <p:spPr>
          <a:xfrm>
            <a:off x="4804759" y="3685432"/>
            <a:ext cx="274320" cy="274320"/>
          </a:xfrm>
          <a:prstGeom prst="ellipse">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noAutofit/>
          </a:bodyPr>
          <a:lstStyle/>
          <a:p>
            <a:pPr algn="ctr">
              <a:lnSpc>
                <a:spcPct val="100000"/>
              </a:lnSpc>
            </a:pPr>
            <a:r>
              <a:rPr sz="1300" b="1">
                <a:solidFill>
                  <a:srgbClr val="FFFFFF"/>
                </a:solidFill>
                <a:latin typeface="Calibri"/>
              </a:rPr>
              <a:t>2</a:t>
            </a:r>
          </a:p>
        </p:txBody>
      </p:sp>
      <p:sp>
        <p:nvSpPr>
          <p:cNvPr id="11" name="Oval 10"/>
          <p:cNvSpPr/>
          <p:nvPr/>
        </p:nvSpPr>
        <p:spPr>
          <a:xfrm>
            <a:off x="4804759" y="3976897"/>
            <a:ext cx="274320" cy="274320"/>
          </a:xfrm>
          <a:prstGeom prst="ellipse">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noAutofit/>
          </a:bodyPr>
          <a:lstStyle/>
          <a:p>
            <a:pPr algn="ctr">
              <a:lnSpc>
                <a:spcPct val="100000"/>
              </a:lnSpc>
            </a:pPr>
            <a:r>
              <a:rPr sz="1300" b="1">
                <a:solidFill>
                  <a:srgbClr val="FFFFFF"/>
                </a:solidFill>
                <a:latin typeface="Calibri"/>
              </a:rPr>
              <a:t>3</a:t>
            </a:r>
          </a:p>
        </p:txBody>
      </p:sp>
      <p:sp>
        <p:nvSpPr>
          <p:cNvPr id="12" name="TextBox 11"/>
          <p:cNvSpPr txBox="1"/>
          <p:nvPr/>
        </p:nvSpPr>
        <p:spPr>
          <a:xfrm>
            <a:off x="8458200" y="1188720"/>
            <a:ext cx="3291840" cy="219456"/>
          </a:xfrm>
          <a:prstGeom prst="rect">
            <a:avLst/>
          </a:prstGeom>
          <a:noFill/>
        </p:spPr>
        <p:txBody>
          <a:bodyPr wrap="square" anchor="t" lIns="0" rIns="0" tIns="0" bIns="0">
            <a:spAutoFit/>
          </a:bodyPr>
          <a:lstStyle/>
          <a:p>
            <a:pPr algn="l">
              <a:lnSpc>
                <a:spcPct val="115000"/>
              </a:lnSpc>
            </a:pPr>
            <a:r>
              <a:rPr sz="1000" b="1">
                <a:solidFill>
                  <a:srgbClr val="C25B2E"/>
                </a:solidFill>
                <a:latin typeface="Calibri"/>
              </a:rPr>
              <a:t>ON THIS SCREEN</a:t>
            </a:r>
          </a:p>
        </p:txBody>
      </p:sp>
      <p:sp>
        <p:nvSpPr>
          <p:cNvPr id="13" name="Oval 12"/>
          <p:cNvSpPr/>
          <p:nvPr/>
        </p:nvSpPr>
        <p:spPr>
          <a:xfrm>
            <a:off x="8458200" y="1463040"/>
            <a:ext cx="210312" cy="210312"/>
          </a:xfrm>
          <a:prstGeom prst="ellipse">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noAutofit/>
          </a:bodyPr>
          <a:lstStyle/>
          <a:p>
            <a:pPr algn="ctr">
              <a:lnSpc>
                <a:spcPct val="100000"/>
              </a:lnSpc>
            </a:pPr>
            <a:r>
              <a:rPr sz="1000" b="1">
                <a:solidFill>
                  <a:srgbClr val="FFFFFF"/>
                </a:solidFill>
                <a:latin typeface="Calibri"/>
              </a:rPr>
              <a:t>1</a:t>
            </a:r>
          </a:p>
        </p:txBody>
      </p:sp>
      <p:sp>
        <p:nvSpPr>
          <p:cNvPr id="14" name="TextBox 13"/>
          <p:cNvSpPr txBox="1"/>
          <p:nvPr/>
        </p:nvSpPr>
        <p:spPr>
          <a:xfrm>
            <a:off x="8787384" y="1481328"/>
            <a:ext cx="2962656" cy="169164"/>
          </a:xfrm>
          <a:prstGeom prst="rect">
            <a:avLst/>
          </a:prstGeom>
          <a:noFill/>
        </p:spPr>
        <p:txBody>
          <a:bodyPr wrap="square" anchor="t" lIns="0" rIns="0" tIns="0" bIns="0">
            <a:spAutoFit/>
          </a:bodyPr>
          <a:lstStyle/>
          <a:p>
            <a:pPr algn="l">
              <a:lnSpc>
                <a:spcPct val="105000"/>
              </a:lnSpc>
            </a:pPr>
            <a:r>
              <a:rPr sz="1050" b="0">
                <a:solidFill>
                  <a:srgbClr val="1B2A33"/>
                </a:solidFill>
                <a:latin typeface="Calibri"/>
              </a:rPr>
              <a:t>Your bank email address</a:t>
            </a:r>
          </a:p>
        </p:txBody>
      </p:sp>
      <p:sp>
        <p:nvSpPr>
          <p:cNvPr id="15" name="Oval 14"/>
          <p:cNvSpPr/>
          <p:nvPr/>
        </p:nvSpPr>
        <p:spPr>
          <a:xfrm>
            <a:off x="8458200" y="1723644"/>
            <a:ext cx="210312" cy="210312"/>
          </a:xfrm>
          <a:prstGeom prst="ellipse">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noAutofit/>
          </a:bodyPr>
          <a:lstStyle/>
          <a:p>
            <a:pPr algn="ctr">
              <a:lnSpc>
                <a:spcPct val="100000"/>
              </a:lnSpc>
            </a:pPr>
            <a:r>
              <a:rPr sz="1000" b="1">
                <a:solidFill>
                  <a:srgbClr val="FFFFFF"/>
                </a:solidFill>
                <a:latin typeface="Calibri"/>
              </a:rPr>
              <a:t>2</a:t>
            </a:r>
          </a:p>
        </p:txBody>
      </p:sp>
      <p:sp>
        <p:nvSpPr>
          <p:cNvPr id="16" name="TextBox 15"/>
          <p:cNvSpPr txBox="1"/>
          <p:nvPr/>
        </p:nvSpPr>
        <p:spPr>
          <a:xfrm>
            <a:off x="8787384" y="1741932"/>
            <a:ext cx="2962656" cy="169164"/>
          </a:xfrm>
          <a:prstGeom prst="rect">
            <a:avLst/>
          </a:prstGeom>
          <a:noFill/>
        </p:spPr>
        <p:txBody>
          <a:bodyPr wrap="square" anchor="t" lIns="0" rIns="0" tIns="0" bIns="0">
            <a:spAutoFit/>
          </a:bodyPr>
          <a:lstStyle/>
          <a:p>
            <a:pPr algn="l">
              <a:lnSpc>
                <a:spcPct val="105000"/>
              </a:lnSpc>
            </a:pPr>
            <a:r>
              <a:rPr sz="1050" b="0">
                <a:solidFill>
                  <a:srgbClr val="1B2A33"/>
                </a:solidFill>
                <a:latin typeface="Calibri"/>
              </a:rPr>
              <a:t>Your password</a:t>
            </a:r>
          </a:p>
        </p:txBody>
      </p:sp>
      <p:sp>
        <p:nvSpPr>
          <p:cNvPr id="17" name="Oval 16"/>
          <p:cNvSpPr/>
          <p:nvPr/>
        </p:nvSpPr>
        <p:spPr>
          <a:xfrm>
            <a:off x="8458200" y="1984248"/>
            <a:ext cx="210312" cy="210312"/>
          </a:xfrm>
          <a:prstGeom prst="ellipse">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noAutofit/>
          </a:bodyPr>
          <a:lstStyle/>
          <a:p>
            <a:pPr algn="ctr">
              <a:lnSpc>
                <a:spcPct val="100000"/>
              </a:lnSpc>
            </a:pPr>
            <a:r>
              <a:rPr sz="1000" b="1">
                <a:solidFill>
                  <a:srgbClr val="FFFFFF"/>
                </a:solidFill>
                <a:latin typeface="Calibri"/>
              </a:rPr>
              <a:t>3</a:t>
            </a:r>
          </a:p>
        </p:txBody>
      </p:sp>
      <p:sp>
        <p:nvSpPr>
          <p:cNvPr id="18" name="TextBox 17"/>
          <p:cNvSpPr txBox="1"/>
          <p:nvPr/>
        </p:nvSpPr>
        <p:spPr>
          <a:xfrm>
            <a:off x="8787384" y="2002536"/>
            <a:ext cx="2962656" cy="169164"/>
          </a:xfrm>
          <a:prstGeom prst="rect">
            <a:avLst/>
          </a:prstGeom>
          <a:noFill/>
        </p:spPr>
        <p:txBody>
          <a:bodyPr wrap="square" anchor="t" lIns="0" rIns="0" tIns="0" bIns="0">
            <a:spAutoFit/>
          </a:bodyPr>
          <a:lstStyle/>
          <a:p>
            <a:pPr algn="l">
              <a:lnSpc>
                <a:spcPct val="105000"/>
              </a:lnSpc>
            </a:pPr>
            <a:r>
              <a:rPr sz="1050" b="0">
                <a:solidFill>
                  <a:srgbClr val="1B2A33"/>
                </a:solidFill>
                <a:latin typeface="Calibri"/>
              </a:rPr>
              <a:t>Sign in</a:t>
            </a:r>
          </a:p>
        </p:txBody>
      </p:sp>
      <p:sp>
        <p:nvSpPr>
          <p:cNvPr id="19" name="Rectangle 18"/>
          <p:cNvSpPr/>
          <p:nvPr/>
        </p:nvSpPr>
        <p:spPr>
          <a:xfrm>
            <a:off x="8458200" y="2391156"/>
            <a:ext cx="45720" cy="502920"/>
          </a:xfrm>
          <a:prstGeom prst="rect">
            <a:avLst/>
          </a:prstGeom>
          <a:solidFill>
            <a:srgbClr val="0E4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22792" y="2391156"/>
            <a:ext cx="3127248" cy="164592"/>
          </a:xfrm>
          <a:prstGeom prst="rect">
            <a:avLst/>
          </a:prstGeom>
          <a:noFill/>
        </p:spPr>
        <p:txBody>
          <a:bodyPr wrap="square" anchor="t" lIns="0" rIns="0" tIns="0" bIns="0">
            <a:spAutoFit/>
          </a:bodyPr>
          <a:lstStyle/>
          <a:p>
            <a:pPr algn="l">
              <a:lnSpc>
                <a:spcPct val="115000"/>
              </a:lnSpc>
            </a:pPr>
            <a:r>
              <a:rPr sz="950" b="1">
                <a:solidFill>
                  <a:srgbClr val="0E4F4A"/>
                </a:solidFill>
                <a:latin typeface="Calibri"/>
              </a:rPr>
              <a:t>ACTION</a:t>
            </a:r>
          </a:p>
        </p:txBody>
      </p:sp>
      <p:sp>
        <p:nvSpPr>
          <p:cNvPr id="21" name="TextBox 20"/>
          <p:cNvSpPr txBox="1"/>
          <p:nvPr/>
        </p:nvSpPr>
        <p:spPr>
          <a:xfrm>
            <a:off x="8622792" y="2583180"/>
            <a:ext cx="3127248" cy="320040"/>
          </a:xfrm>
          <a:prstGeom prst="rect">
            <a:avLst/>
          </a:prstGeom>
          <a:noFill/>
        </p:spPr>
        <p:txBody>
          <a:bodyPr wrap="square" anchor="t" lIns="0" rIns="0" tIns="0" bIns="0">
            <a:spAutoFit/>
          </a:bodyPr>
          <a:lstStyle/>
          <a:p>
            <a:pPr algn="l">
              <a:lnSpc>
                <a:spcPct val="108000"/>
              </a:lnSpc>
            </a:pPr>
            <a:r>
              <a:rPr sz="1100" b="0">
                <a:solidFill>
                  <a:srgbClr val="1B2A33"/>
                </a:solidFill>
                <a:latin typeface="Calibri"/>
              </a:rPr>
              <a:t>Enter your bank email and password, then select Sign in.</a:t>
            </a:r>
          </a:p>
        </p:txBody>
      </p:sp>
      <p:sp>
        <p:nvSpPr>
          <p:cNvPr id="22" name="Rectangle 21"/>
          <p:cNvSpPr/>
          <p:nvPr/>
        </p:nvSpPr>
        <p:spPr>
          <a:xfrm>
            <a:off x="8458200" y="3095244"/>
            <a:ext cx="45720" cy="662940"/>
          </a:xfrm>
          <a:prstGeom prst="rect">
            <a:avLst/>
          </a:prstGeom>
          <a:solidFill>
            <a:srgbClr val="1E7A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22792" y="3095244"/>
            <a:ext cx="3127248" cy="164592"/>
          </a:xfrm>
          <a:prstGeom prst="rect">
            <a:avLst/>
          </a:prstGeom>
          <a:noFill/>
        </p:spPr>
        <p:txBody>
          <a:bodyPr wrap="square" anchor="t" lIns="0" rIns="0" tIns="0" bIns="0">
            <a:spAutoFit/>
          </a:bodyPr>
          <a:lstStyle/>
          <a:p>
            <a:pPr algn="l">
              <a:lnSpc>
                <a:spcPct val="115000"/>
              </a:lnSpc>
            </a:pPr>
            <a:r>
              <a:rPr sz="950" b="1">
                <a:solidFill>
                  <a:srgbClr val="1E7A53"/>
                </a:solidFill>
                <a:latin typeface="Calibri"/>
              </a:rPr>
              <a:t>RESULT</a:t>
            </a:r>
          </a:p>
        </p:txBody>
      </p:sp>
      <p:sp>
        <p:nvSpPr>
          <p:cNvPr id="24" name="TextBox 23"/>
          <p:cNvSpPr txBox="1"/>
          <p:nvPr/>
        </p:nvSpPr>
        <p:spPr>
          <a:xfrm>
            <a:off x="8622792" y="3287268"/>
            <a:ext cx="3127248" cy="480060"/>
          </a:xfrm>
          <a:prstGeom prst="rect">
            <a:avLst/>
          </a:prstGeom>
          <a:noFill/>
        </p:spPr>
        <p:txBody>
          <a:bodyPr wrap="square" anchor="t" lIns="0" rIns="0" tIns="0" bIns="0">
            <a:spAutoFit/>
          </a:bodyPr>
          <a:lstStyle/>
          <a:p>
            <a:pPr algn="l">
              <a:lnSpc>
                <a:spcPct val="108000"/>
              </a:lnSpc>
            </a:pPr>
            <a:r>
              <a:rPr sz="1100" b="0">
                <a:solidFill>
                  <a:srgbClr val="1B2A33"/>
                </a:solidFill>
                <a:latin typeface="Calibri"/>
              </a:rPr>
              <a:t>You land on your dashboard. If your account has a second factor enabled, you are asked for a 6-digit code first.</a:t>
            </a:r>
          </a:p>
        </p:txBody>
      </p:sp>
      <p:sp>
        <p:nvSpPr>
          <p:cNvPr id="25" name="Rectangle 24"/>
          <p:cNvSpPr/>
          <p:nvPr/>
        </p:nvSpPr>
        <p:spPr>
          <a:xfrm>
            <a:off x="8458200" y="3959352"/>
            <a:ext cx="45720" cy="342900"/>
          </a:xfrm>
          <a:prstGeom prst="rect">
            <a:avLst/>
          </a:prstGeom>
          <a:solidFill>
            <a:srgbClr val="5B6B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622792" y="3959352"/>
            <a:ext cx="3127248" cy="164592"/>
          </a:xfrm>
          <a:prstGeom prst="rect">
            <a:avLst/>
          </a:prstGeom>
          <a:noFill/>
        </p:spPr>
        <p:txBody>
          <a:bodyPr wrap="square" anchor="t" lIns="0" rIns="0" tIns="0" bIns="0">
            <a:spAutoFit/>
          </a:bodyPr>
          <a:lstStyle/>
          <a:p>
            <a:pPr algn="l">
              <a:lnSpc>
                <a:spcPct val="115000"/>
              </a:lnSpc>
            </a:pPr>
            <a:r>
              <a:rPr sz="950" b="1">
                <a:solidFill>
                  <a:srgbClr val="5B6B75"/>
                </a:solidFill>
                <a:latin typeface="Calibri"/>
              </a:rPr>
              <a:t>NEXT</a:t>
            </a:r>
          </a:p>
        </p:txBody>
      </p:sp>
      <p:sp>
        <p:nvSpPr>
          <p:cNvPr id="27" name="TextBox 26"/>
          <p:cNvSpPr txBox="1"/>
          <p:nvPr/>
        </p:nvSpPr>
        <p:spPr>
          <a:xfrm>
            <a:off x="8622792" y="4151376"/>
            <a:ext cx="3127248" cy="160020"/>
          </a:xfrm>
          <a:prstGeom prst="rect">
            <a:avLst/>
          </a:prstGeom>
          <a:noFill/>
        </p:spPr>
        <p:txBody>
          <a:bodyPr wrap="square" anchor="t" lIns="0" rIns="0" tIns="0" bIns="0">
            <a:spAutoFit/>
          </a:bodyPr>
          <a:lstStyle/>
          <a:p>
            <a:pPr algn="l">
              <a:lnSpc>
                <a:spcPct val="108000"/>
              </a:lnSpc>
            </a:pPr>
            <a:r>
              <a:rPr sz="1100" b="0">
                <a:solidFill>
                  <a:srgbClr val="1B2A33"/>
                </a:solidFill>
                <a:latin typeface="Calibri"/>
              </a:rPr>
              <a:t>Step 02 — read your dashboard.</a:t>
            </a:r>
          </a:p>
        </p:txBody>
      </p:sp>
      <p:sp>
        <p:nvSpPr>
          <p:cNvPr id="28" name="Rectangle 27"/>
          <p:cNvSpPr/>
          <p:nvPr/>
        </p:nvSpPr>
        <p:spPr>
          <a:xfrm>
            <a:off x="0" y="6473952"/>
            <a:ext cx="12191695" cy="384048"/>
          </a:xfrm>
          <a:prstGeom prst="rect">
            <a:avLst/>
          </a:prstGeom>
          <a:solidFill>
            <a:srgbClr val="F3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02920" y="6547104"/>
            <a:ext cx="8229600" cy="228600"/>
          </a:xfrm>
          <a:prstGeom prst="rect">
            <a:avLst/>
          </a:prstGeom>
          <a:noFill/>
        </p:spPr>
        <p:txBody>
          <a:bodyPr wrap="square" anchor="t" lIns="0" rIns="0" tIns="0" bIns="0">
            <a:spAutoFit/>
          </a:bodyPr>
          <a:lstStyle/>
          <a:p>
            <a:pPr algn="l">
              <a:lnSpc>
                <a:spcPct val="115000"/>
              </a:lnSpc>
            </a:pPr>
            <a:r>
              <a:rPr sz="900" b="0">
                <a:solidFill>
                  <a:srgbClr val="5B6B75"/>
                </a:solidFill>
                <a:latin typeface="Calibri"/>
              </a:rPr>
              <a:t>SUCCESS Bank — Internal Ticketing · Standard Operating Procedure</a:t>
            </a:r>
          </a:p>
        </p:txBody>
      </p:sp>
      <p:sp>
        <p:nvSpPr>
          <p:cNvPr id="30" name="TextBox 29"/>
          <p:cNvSpPr txBox="1"/>
          <p:nvPr/>
        </p:nvSpPr>
        <p:spPr>
          <a:xfrm>
            <a:off x="9997135" y="6547104"/>
            <a:ext cx="1691640" cy="228600"/>
          </a:xfrm>
          <a:prstGeom prst="rect">
            <a:avLst/>
          </a:prstGeom>
          <a:noFill/>
        </p:spPr>
        <p:txBody>
          <a:bodyPr wrap="square" anchor="t" lIns="0" rIns="0" tIns="0" bIns="0">
            <a:spAutoFit/>
          </a:bodyPr>
          <a:lstStyle/>
          <a:p>
            <a:pPr algn="r">
              <a:lnSpc>
                <a:spcPct val="115000"/>
              </a:lnSpc>
            </a:pPr>
            <a:r>
              <a:rPr sz="900" b="0">
                <a:solidFill>
                  <a:srgbClr val="5B6B75"/>
                </a:solidFill>
                <a:latin typeface="Calibri"/>
              </a:rPr>
              <a:t>Step 01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0E4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36576"/>
          </a:xfrm>
          <a:prstGeom prst="rect">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55448"/>
            <a:ext cx="1371600" cy="274320"/>
          </a:xfrm>
          <a:prstGeom prst="rect">
            <a:avLst/>
          </a:prstGeom>
          <a:noFill/>
        </p:spPr>
        <p:txBody>
          <a:bodyPr wrap="square" anchor="t" lIns="0" rIns="0" tIns="0" bIns="0">
            <a:spAutoFit/>
          </a:bodyPr>
          <a:lstStyle/>
          <a:p>
            <a:pPr algn="l">
              <a:lnSpc>
                <a:spcPct val="115000"/>
              </a:lnSpc>
            </a:pPr>
            <a:r>
              <a:rPr sz="1200" b="1">
                <a:solidFill>
                  <a:srgbClr val="C25B2E"/>
                </a:solidFill>
                <a:latin typeface="Calibri"/>
              </a:rPr>
              <a:t>STEP 02</a:t>
            </a:r>
          </a:p>
        </p:txBody>
      </p:sp>
      <p:sp>
        <p:nvSpPr>
          <p:cNvPr id="5" name="TextBox 4"/>
          <p:cNvSpPr txBox="1"/>
          <p:nvPr/>
        </p:nvSpPr>
        <p:spPr>
          <a:xfrm>
            <a:off x="502920" y="420624"/>
            <a:ext cx="8412480" cy="365760"/>
          </a:xfrm>
          <a:prstGeom prst="rect">
            <a:avLst/>
          </a:prstGeom>
          <a:noFill/>
        </p:spPr>
        <p:txBody>
          <a:bodyPr wrap="square" anchor="t" lIns="0" rIns="0" tIns="0" bIns="0">
            <a:spAutoFit/>
          </a:bodyPr>
          <a:lstStyle/>
          <a:p>
            <a:pPr algn="l">
              <a:lnSpc>
                <a:spcPct val="115000"/>
              </a:lnSpc>
            </a:pPr>
            <a:r>
              <a:rPr sz="2000" b="1">
                <a:solidFill>
                  <a:srgbClr val="FFFFFF"/>
                </a:solidFill>
                <a:latin typeface="Calibri"/>
              </a:rPr>
              <a:t>Read your dashboard</a:t>
            </a:r>
          </a:p>
        </p:txBody>
      </p:sp>
      <p:sp>
        <p:nvSpPr>
          <p:cNvPr id="6" name="TextBox 5"/>
          <p:cNvSpPr txBox="1"/>
          <p:nvPr/>
        </p:nvSpPr>
        <p:spPr>
          <a:xfrm>
            <a:off x="9174175" y="320040"/>
            <a:ext cx="2514600" cy="274320"/>
          </a:xfrm>
          <a:prstGeom prst="rect">
            <a:avLst/>
          </a:prstGeom>
          <a:noFill/>
        </p:spPr>
        <p:txBody>
          <a:bodyPr wrap="square" anchor="t" lIns="0" rIns="0" tIns="0" bIns="0">
            <a:spAutoFit/>
          </a:bodyPr>
          <a:lstStyle/>
          <a:p>
            <a:pPr algn="r">
              <a:lnSpc>
                <a:spcPct val="115000"/>
              </a:lnSpc>
            </a:pPr>
            <a:r>
              <a:rPr sz="1100" b="1">
                <a:solidFill>
                  <a:srgbClr val="F3ECE0"/>
                </a:solidFill>
                <a:latin typeface="Calibri"/>
              </a:rPr>
              <a:t>BRANCH USER</a:t>
            </a:r>
          </a:p>
        </p:txBody>
      </p:sp>
      <p:sp>
        <p:nvSpPr>
          <p:cNvPr id="7" name="Rectangle 6"/>
          <p:cNvSpPr/>
          <p:nvPr/>
        </p:nvSpPr>
        <p:spPr>
          <a:xfrm>
            <a:off x="388620" y="1165860"/>
            <a:ext cx="7818120" cy="4903470"/>
          </a:xfrm>
          <a:prstGeom prst="rect">
            <a:avLst/>
          </a:prstGeom>
          <a:solidFill>
            <a:srgbClr val="D6CE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411480" y="1188720"/>
            <a:ext cx="7772400" cy="4855464"/>
          </a:xfrm>
          <a:prstGeom prst="rect">
            <a:avLst/>
          </a:prstGeom>
        </p:spPr>
      </p:pic>
      <p:sp>
        <p:nvSpPr>
          <p:cNvPr id="9" name="Oval 8"/>
          <p:cNvSpPr/>
          <p:nvPr/>
        </p:nvSpPr>
        <p:spPr>
          <a:xfrm>
            <a:off x="444398" y="1270158"/>
            <a:ext cx="274320" cy="274320"/>
          </a:xfrm>
          <a:prstGeom prst="ellipse">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noAutofit/>
          </a:bodyPr>
          <a:lstStyle/>
          <a:p>
            <a:pPr algn="ctr">
              <a:lnSpc>
                <a:spcPct val="100000"/>
              </a:lnSpc>
            </a:pPr>
            <a:r>
              <a:rPr sz="1300" b="1">
                <a:solidFill>
                  <a:srgbClr val="FFFFFF"/>
                </a:solidFill>
                <a:latin typeface="Calibri"/>
              </a:rPr>
              <a:t>1</a:t>
            </a:r>
          </a:p>
        </p:txBody>
      </p:sp>
      <p:sp>
        <p:nvSpPr>
          <p:cNvPr id="10" name="TextBox 9"/>
          <p:cNvSpPr txBox="1"/>
          <p:nvPr/>
        </p:nvSpPr>
        <p:spPr>
          <a:xfrm>
            <a:off x="8458200" y="1188720"/>
            <a:ext cx="3291840" cy="219456"/>
          </a:xfrm>
          <a:prstGeom prst="rect">
            <a:avLst/>
          </a:prstGeom>
          <a:noFill/>
        </p:spPr>
        <p:txBody>
          <a:bodyPr wrap="square" anchor="t" lIns="0" rIns="0" tIns="0" bIns="0">
            <a:spAutoFit/>
          </a:bodyPr>
          <a:lstStyle/>
          <a:p>
            <a:pPr algn="l">
              <a:lnSpc>
                <a:spcPct val="115000"/>
              </a:lnSpc>
            </a:pPr>
            <a:r>
              <a:rPr sz="1000" b="1">
                <a:solidFill>
                  <a:srgbClr val="C25B2E"/>
                </a:solidFill>
                <a:latin typeface="Calibri"/>
              </a:rPr>
              <a:t>ON THIS SCREEN</a:t>
            </a:r>
          </a:p>
        </p:txBody>
      </p:sp>
      <p:sp>
        <p:nvSpPr>
          <p:cNvPr id="11" name="Oval 10"/>
          <p:cNvSpPr/>
          <p:nvPr/>
        </p:nvSpPr>
        <p:spPr>
          <a:xfrm>
            <a:off x="8458200" y="1463040"/>
            <a:ext cx="210312" cy="210312"/>
          </a:xfrm>
          <a:prstGeom prst="ellipse">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noAutofit/>
          </a:bodyPr>
          <a:lstStyle/>
          <a:p>
            <a:pPr algn="ctr">
              <a:lnSpc>
                <a:spcPct val="100000"/>
              </a:lnSpc>
            </a:pPr>
            <a:r>
              <a:rPr sz="1000" b="1">
                <a:solidFill>
                  <a:srgbClr val="FFFFFF"/>
                </a:solidFill>
                <a:latin typeface="Calibri"/>
              </a:rPr>
              <a:t>1</a:t>
            </a:r>
          </a:p>
        </p:txBody>
      </p:sp>
      <p:sp>
        <p:nvSpPr>
          <p:cNvPr id="12" name="TextBox 11"/>
          <p:cNvSpPr txBox="1"/>
          <p:nvPr/>
        </p:nvSpPr>
        <p:spPr>
          <a:xfrm>
            <a:off x="8787384" y="1481328"/>
            <a:ext cx="2962656" cy="338328"/>
          </a:xfrm>
          <a:prstGeom prst="rect">
            <a:avLst/>
          </a:prstGeom>
          <a:noFill/>
        </p:spPr>
        <p:txBody>
          <a:bodyPr wrap="square" anchor="t" lIns="0" rIns="0" tIns="0" bIns="0">
            <a:spAutoFit/>
          </a:bodyPr>
          <a:lstStyle/>
          <a:p>
            <a:pPr algn="l">
              <a:lnSpc>
                <a:spcPct val="105000"/>
              </a:lnSpc>
            </a:pPr>
            <a:r>
              <a:rPr sz="1050" b="0">
                <a:solidFill>
                  <a:srgbClr val="1B2A33"/>
                </a:solidFill>
                <a:latin typeface="Calibri"/>
              </a:rPr>
              <a:t>Dashboard, Tickets and Security — the whole menu for this role</a:t>
            </a:r>
          </a:p>
        </p:txBody>
      </p:sp>
      <p:sp>
        <p:nvSpPr>
          <p:cNvPr id="13" name="Rectangle 12"/>
          <p:cNvSpPr/>
          <p:nvPr/>
        </p:nvSpPr>
        <p:spPr>
          <a:xfrm>
            <a:off x="8458200" y="2039112"/>
            <a:ext cx="45720" cy="502920"/>
          </a:xfrm>
          <a:prstGeom prst="rect">
            <a:avLst/>
          </a:prstGeom>
          <a:solidFill>
            <a:srgbClr val="0E4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22792" y="2039112"/>
            <a:ext cx="3127248" cy="164592"/>
          </a:xfrm>
          <a:prstGeom prst="rect">
            <a:avLst/>
          </a:prstGeom>
          <a:noFill/>
        </p:spPr>
        <p:txBody>
          <a:bodyPr wrap="square" anchor="t" lIns="0" rIns="0" tIns="0" bIns="0">
            <a:spAutoFit/>
          </a:bodyPr>
          <a:lstStyle/>
          <a:p>
            <a:pPr algn="l">
              <a:lnSpc>
                <a:spcPct val="115000"/>
              </a:lnSpc>
            </a:pPr>
            <a:r>
              <a:rPr sz="950" b="1">
                <a:solidFill>
                  <a:srgbClr val="0E4F4A"/>
                </a:solidFill>
                <a:latin typeface="Calibri"/>
              </a:rPr>
              <a:t>ACTION</a:t>
            </a:r>
          </a:p>
        </p:txBody>
      </p:sp>
      <p:sp>
        <p:nvSpPr>
          <p:cNvPr id="15" name="TextBox 14"/>
          <p:cNvSpPr txBox="1"/>
          <p:nvPr/>
        </p:nvSpPr>
        <p:spPr>
          <a:xfrm>
            <a:off x="8622792" y="2231136"/>
            <a:ext cx="3127248" cy="320040"/>
          </a:xfrm>
          <a:prstGeom prst="rect">
            <a:avLst/>
          </a:prstGeom>
          <a:noFill/>
        </p:spPr>
        <p:txBody>
          <a:bodyPr wrap="square" anchor="t" lIns="0" rIns="0" tIns="0" bIns="0">
            <a:spAutoFit/>
          </a:bodyPr>
          <a:lstStyle/>
          <a:p>
            <a:pPr algn="l">
              <a:lnSpc>
                <a:spcPct val="108000"/>
              </a:lnSpc>
            </a:pPr>
            <a:r>
              <a:rPr sz="1100" b="0">
                <a:solidFill>
                  <a:srgbClr val="1B2A33"/>
                </a:solidFill>
                <a:latin typeface="Calibri"/>
              </a:rPr>
              <a:t>Check the tiles for anything of yours that is breaching or still open.</a:t>
            </a:r>
          </a:p>
        </p:txBody>
      </p:sp>
      <p:sp>
        <p:nvSpPr>
          <p:cNvPr id="16" name="Rectangle 15"/>
          <p:cNvSpPr/>
          <p:nvPr/>
        </p:nvSpPr>
        <p:spPr>
          <a:xfrm>
            <a:off x="8458200" y="2743200"/>
            <a:ext cx="45720" cy="502920"/>
          </a:xfrm>
          <a:prstGeom prst="rect">
            <a:avLst/>
          </a:prstGeom>
          <a:solidFill>
            <a:srgbClr val="1E7A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22792" y="2743200"/>
            <a:ext cx="3127248" cy="164592"/>
          </a:xfrm>
          <a:prstGeom prst="rect">
            <a:avLst/>
          </a:prstGeom>
          <a:noFill/>
        </p:spPr>
        <p:txBody>
          <a:bodyPr wrap="square" anchor="t" lIns="0" rIns="0" tIns="0" bIns="0">
            <a:spAutoFit/>
          </a:bodyPr>
          <a:lstStyle/>
          <a:p>
            <a:pPr algn="l">
              <a:lnSpc>
                <a:spcPct val="115000"/>
              </a:lnSpc>
            </a:pPr>
            <a:r>
              <a:rPr sz="950" b="1">
                <a:solidFill>
                  <a:srgbClr val="1E7A53"/>
                </a:solidFill>
                <a:latin typeface="Calibri"/>
              </a:rPr>
              <a:t>RESULT</a:t>
            </a:r>
          </a:p>
        </p:txBody>
      </p:sp>
      <p:sp>
        <p:nvSpPr>
          <p:cNvPr id="18" name="TextBox 17"/>
          <p:cNvSpPr txBox="1"/>
          <p:nvPr/>
        </p:nvSpPr>
        <p:spPr>
          <a:xfrm>
            <a:off x="8622792" y="2935224"/>
            <a:ext cx="3127248" cy="320040"/>
          </a:xfrm>
          <a:prstGeom prst="rect">
            <a:avLst/>
          </a:prstGeom>
          <a:noFill/>
        </p:spPr>
        <p:txBody>
          <a:bodyPr wrap="square" anchor="t" lIns="0" rIns="0" tIns="0" bIns="0">
            <a:spAutoFit/>
          </a:bodyPr>
          <a:lstStyle/>
          <a:p>
            <a:pPr algn="l">
              <a:lnSpc>
                <a:spcPct val="108000"/>
              </a:lnSpc>
            </a:pPr>
            <a:r>
              <a:rPr sz="1100" b="0">
                <a:solidFill>
                  <a:srgbClr val="1B2A33"/>
                </a:solidFill>
                <a:latin typeface="Calibri"/>
              </a:rPr>
              <a:t>Each tile opens the exact list it counts — a tile reading 3 opens three tickets.</a:t>
            </a:r>
          </a:p>
        </p:txBody>
      </p:sp>
      <p:sp>
        <p:nvSpPr>
          <p:cNvPr id="19" name="Rectangle 18"/>
          <p:cNvSpPr/>
          <p:nvPr/>
        </p:nvSpPr>
        <p:spPr>
          <a:xfrm>
            <a:off x="8458200" y="3447288"/>
            <a:ext cx="45720" cy="342900"/>
          </a:xfrm>
          <a:prstGeom prst="rect">
            <a:avLst/>
          </a:prstGeom>
          <a:solidFill>
            <a:srgbClr val="5B6B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22792" y="3447288"/>
            <a:ext cx="3127248" cy="164592"/>
          </a:xfrm>
          <a:prstGeom prst="rect">
            <a:avLst/>
          </a:prstGeom>
          <a:noFill/>
        </p:spPr>
        <p:txBody>
          <a:bodyPr wrap="square" anchor="t" lIns="0" rIns="0" tIns="0" bIns="0">
            <a:spAutoFit/>
          </a:bodyPr>
          <a:lstStyle/>
          <a:p>
            <a:pPr algn="l">
              <a:lnSpc>
                <a:spcPct val="115000"/>
              </a:lnSpc>
            </a:pPr>
            <a:r>
              <a:rPr sz="950" b="1">
                <a:solidFill>
                  <a:srgbClr val="5B6B75"/>
                </a:solidFill>
                <a:latin typeface="Calibri"/>
              </a:rPr>
              <a:t>NEXT</a:t>
            </a:r>
          </a:p>
        </p:txBody>
      </p:sp>
      <p:sp>
        <p:nvSpPr>
          <p:cNvPr id="21" name="TextBox 20"/>
          <p:cNvSpPr txBox="1"/>
          <p:nvPr/>
        </p:nvSpPr>
        <p:spPr>
          <a:xfrm>
            <a:off x="8622792" y="3639312"/>
            <a:ext cx="3127248" cy="160020"/>
          </a:xfrm>
          <a:prstGeom prst="rect">
            <a:avLst/>
          </a:prstGeom>
          <a:noFill/>
        </p:spPr>
        <p:txBody>
          <a:bodyPr wrap="square" anchor="t" lIns="0" rIns="0" tIns="0" bIns="0">
            <a:spAutoFit/>
          </a:bodyPr>
          <a:lstStyle/>
          <a:p>
            <a:pPr algn="l">
              <a:lnSpc>
                <a:spcPct val="108000"/>
              </a:lnSpc>
            </a:pPr>
            <a:r>
              <a:rPr sz="1100" b="0">
                <a:solidFill>
                  <a:srgbClr val="1B2A33"/>
                </a:solidFill>
                <a:latin typeface="Calibri"/>
              </a:rPr>
              <a:t>Step 03 — open the ticket list.</a:t>
            </a:r>
          </a:p>
        </p:txBody>
      </p:sp>
      <p:sp>
        <p:nvSpPr>
          <p:cNvPr id="22" name="Rectangle 21"/>
          <p:cNvSpPr/>
          <p:nvPr/>
        </p:nvSpPr>
        <p:spPr>
          <a:xfrm>
            <a:off x="0" y="6473952"/>
            <a:ext cx="12191695" cy="384048"/>
          </a:xfrm>
          <a:prstGeom prst="rect">
            <a:avLst/>
          </a:prstGeom>
          <a:solidFill>
            <a:srgbClr val="F3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2920" y="6547104"/>
            <a:ext cx="8229600" cy="228600"/>
          </a:xfrm>
          <a:prstGeom prst="rect">
            <a:avLst/>
          </a:prstGeom>
          <a:noFill/>
        </p:spPr>
        <p:txBody>
          <a:bodyPr wrap="square" anchor="t" lIns="0" rIns="0" tIns="0" bIns="0">
            <a:spAutoFit/>
          </a:bodyPr>
          <a:lstStyle/>
          <a:p>
            <a:pPr algn="l">
              <a:lnSpc>
                <a:spcPct val="115000"/>
              </a:lnSpc>
            </a:pPr>
            <a:r>
              <a:rPr sz="900" b="0">
                <a:solidFill>
                  <a:srgbClr val="5B6B75"/>
                </a:solidFill>
                <a:latin typeface="Calibri"/>
              </a:rPr>
              <a:t>SUCCESS Bank — Internal Ticketing · Standard Operating Procedure</a:t>
            </a:r>
          </a:p>
        </p:txBody>
      </p:sp>
      <p:sp>
        <p:nvSpPr>
          <p:cNvPr id="24" name="TextBox 23"/>
          <p:cNvSpPr txBox="1"/>
          <p:nvPr/>
        </p:nvSpPr>
        <p:spPr>
          <a:xfrm>
            <a:off x="9997135" y="6547104"/>
            <a:ext cx="1691640" cy="228600"/>
          </a:xfrm>
          <a:prstGeom prst="rect">
            <a:avLst/>
          </a:prstGeom>
          <a:noFill/>
        </p:spPr>
        <p:txBody>
          <a:bodyPr wrap="square" anchor="t" lIns="0" rIns="0" tIns="0" bIns="0">
            <a:spAutoFit/>
          </a:bodyPr>
          <a:lstStyle/>
          <a:p>
            <a:pPr algn="r">
              <a:lnSpc>
                <a:spcPct val="115000"/>
              </a:lnSpc>
            </a:pPr>
            <a:r>
              <a:rPr sz="900" b="0">
                <a:solidFill>
                  <a:srgbClr val="5B6B75"/>
                </a:solidFill>
                <a:latin typeface="Calibri"/>
              </a:rPr>
              <a:t>Step 02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0E4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36576"/>
          </a:xfrm>
          <a:prstGeom prst="rect">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55448"/>
            <a:ext cx="1371600" cy="274320"/>
          </a:xfrm>
          <a:prstGeom prst="rect">
            <a:avLst/>
          </a:prstGeom>
          <a:noFill/>
        </p:spPr>
        <p:txBody>
          <a:bodyPr wrap="square" anchor="t" lIns="0" rIns="0" tIns="0" bIns="0">
            <a:spAutoFit/>
          </a:bodyPr>
          <a:lstStyle/>
          <a:p>
            <a:pPr algn="l">
              <a:lnSpc>
                <a:spcPct val="115000"/>
              </a:lnSpc>
            </a:pPr>
            <a:r>
              <a:rPr sz="1200" b="1">
                <a:solidFill>
                  <a:srgbClr val="C25B2E"/>
                </a:solidFill>
                <a:latin typeface="Calibri"/>
              </a:rPr>
              <a:t>STEP 03</a:t>
            </a:r>
          </a:p>
        </p:txBody>
      </p:sp>
      <p:sp>
        <p:nvSpPr>
          <p:cNvPr id="5" name="TextBox 4"/>
          <p:cNvSpPr txBox="1"/>
          <p:nvPr/>
        </p:nvSpPr>
        <p:spPr>
          <a:xfrm>
            <a:off x="502920" y="420624"/>
            <a:ext cx="8412480" cy="365760"/>
          </a:xfrm>
          <a:prstGeom prst="rect">
            <a:avLst/>
          </a:prstGeom>
          <a:noFill/>
        </p:spPr>
        <p:txBody>
          <a:bodyPr wrap="square" anchor="t" lIns="0" rIns="0" tIns="0" bIns="0">
            <a:spAutoFit/>
          </a:bodyPr>
          <a:lstStyle/>
          <a:p>
            <a:pPr algn="l">
              <a:lnSpc>
                <a:spcPct val="115000"/>
              </a:lnSpc>
            </a:pPr>
            <a:r>
              <a:rPr sz="2000" b="1">
                <a:solidFill>
                  <a:srgbClr val="FFFFFF"/>
                </a:solidFill>
                <a:latin typeface="Calibri"/>
              </a:rPr>
              <a:t>See only your own tickets</a:t>
            </a:r>
          </a:p>
        </p:txBody>
      </p:sp>
      <p:sp>
        <p:nvSpPr>
          <p:cNvPr id="6" name="TextBox 5"/>
          <p:cNvSpPr txBox="1"/>
          <p:nvPr/>
        </p:nvSpPr>
        <p:spPr>
          <a:xfrm>
            <a:off x="9174175" y="320040"/>
            <a:ext cx="2514600" cy="274320"/>
          </a:xfrm>
          <a:prstGeom prst="rect">
            <a:avLst/>
          </a:prstGeom>
          <a:noFill/>
        </p:spPr>
        <p:txBody>
          <a:bodyPr wrap="square" anchor="t" lIns="0" rIns="0" tIns="0" bIns="0">
            <a:spAutoFit/>
          </a:bodyPr>
          <a:lstStyle/>
          <a:p>
            <a:pPr algn="r">
              <a:lnSpc>
                <a:spcPct val="115000"/>
              </a:lnSpc>
            </a:pPr>
            <a:r>
              <a:rPr sz="1100" b="1">
                <a:solidFill>
                  <a:srgbClr val="F3ECE0"/>
                </a:solidFill>
                <a:latin typeface="Calibri"/>
              </a:rPr>
              <a:t>BRANCH USER</a:t>
            </a:r>
          </a:p>
        </p:txBody>
      </p:sp>
      <p:sp>
        <p:nvSpPr>
          <p:cNvPr id="7" name="Rectangle 6"/>
          <p:cNvSpPr/>
          <p:nvPr/>
        </p:nvSpPr>
        <p:spPr>
          <a:xfrm>
            <a:off x="388620" y="1165860"/>
            <a:ext cx="7818120" cy="4903470"/>
          </a:xfrm>
          <a:prstGeom prst="rect">
            <a:avLst/>
          </a:prstGeom>
          <a:solidFill>
            <a:srgbClr val="D6CE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411480" y="1188720"/>
            <a:ext cx="7772400" cy="4855464"/>
          </a:xfrm>
          <a:prstGeom prst="rect">
            <a:avLst/>
          </a:prstGeom>
        </p:spPr>
      </p:pic>
      <p:sp>
        <p:nvSpPr>
          <p:cNvPr id="9" name="Oval 8"/>
          <p:cNvSpPr/>
          <p:nvPr/>
        </p:nvSpPr>
        <p:spPr>
          <a:xfrm>
            <a:off x="1436979" y="1915267"/>
            <a:ext cx="274320" cy="274320"/>
          </a:xfrm>
          <a:prstGeom prst="ellipse">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noAutofit/>
          </a:bodyPr>
          <a:lstStyle/>
          <a:p>
            <a:pPr algn="ctr">
              <a:lnSpc>
                <a:spcPct val="100000"/>
              </a:lnSpc>
            </a:pPr>
            <a:r>
              <a:rPr sz="1300" b="1">
                <a:solidFill>
                  <a:srgbClr val="FFFFFF"/>
                </a:solidFill>
                <a:latin typeface="Calibri"/>
              </a:rPr>
              <a:t>1</a:t>
            </a:r>
          </a:p>
        </p:txBody>
      </p:sp>
      <p:sp>
        <p:nvSpPr>
          <p:cNvPr id="10" name="Oval 9"/>
          <p:cNvSpPr/>
          <p:nvPr/>
        </p:nvSpPr>
        <p:spPr>
          <a:xfrm>
            <a:off x="6927402" y="1607286"/>
            <a:ext cx="274320" cy="274320"/>
          </a:xfrm>
          <a:prstGeom prst="ellipse">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noAutofit/>
          </a:bodyPr>
          <a:lstStyle/>
          <a:p>
            <a:pPr algn="ctr">
              <a:lnSpc>
                <a:spcPct val="100000"/>
              </a:lnSpc>
            </a:pPr>
            <a:r>
              <a:rPr sz="1300" b="1">
                <a:solidFill>
                  <a:srgbClr val="FFFFFF"/>
                </a:solidFill>
                <a:latin typeface="Calibri"/>
              </a:rPr>
              <a:t>2</a:t>
            </a:r>
          </a:p>
        </p:txBody>
      </p:sp>
      <p:sp>
        <p:nvSpPr>
          <p:cNvPr id="11" name="TextBox 10"/>
          <p:cNvSpPr txBox="1"/>
          <p:nvPr/>
        </p:nvSpPr>
        <p:spPr>
          <a:xfrm>
            <a:off x="8458200" y="1188720"/>
            <a:ext cx="3291840" cy="219456"/>
          </a:xfrm>
          <a:prstGeom prst="rect">
            <a:avLst/>
          </a:prstGeom>
          <a:noFill/>
        </p:spPr>
        <p:txBody>
          <a:bodyPr wrap="square" anchor="t" lIns="0" rIns="0" tIns="0" bIns="0">
            <a:spAutoFit/>
          </a:bodyPr>
          <a:lstStyle/>
          <a:p>
            <a:pPr algn="l">
              <a:lnSpc>
                <a:spcPct val="115000"/>
              </a:lnSpc>
            </a:pPr>
            <a:r>
              <a:rPr sz="1000" b="1">
                <a:solidFill>
                  <a:srgbClr val="C25B2E"/>
                </a:solidFill>
                <a:latin typeface="Calibri"/>
              </a:rPr>
              <a:t>ON THIS SCREEN</a:t>
            </a:r>
          </a:p>
        </p:txBody>
      </p:sp>
      <p:sp>
        <p:nvSpPr>
          <p:cNvPr id="12" name="Oval 11"/>
          <p:cNvSpPr/>
          <p:nvPr/>
        </p:nvSpPr>
        <p:spPr>
          <a:xfrm>
            <a:off x="8458200" y="1463040"/>
            <a:ext cx="210312" cy="210312"/>
          </a:xfrm>
          <a:prstGeom prst="ellipse">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noAutofit/>
          </a:bodyPr>
          <a:lstStyle/>
          <a:p>
            <a:pPr algn="ctr">
              <a:lnSpc>
                <a:spcPct val="100000"/>
              </a:lnSpc>
            </a:pPr>
            <a:r>
              <a:rPr sz="1000" b="1">
                <a:solidFill>
                  <a:srgbClr val="FFFFFF"/>
                </a:solidFill>
                <a:latin typeface="Calibri"/>
              </a:rPr>
              <a:t>1</a:t>
            </a:r>
          </a:p>
        </p:txBody>
      </p:sp>
      <p:sp>
        <p:nvSpPr>
          <p:cNvPr id="13" name="TextBox 12"/>
          <p:cNvSpPr txBox="1"/>
          <p:nvPr/>
        </p:nvSpPr>
        <p:spPr>
          <a:xfrm>
            <a:off x="8787384" y="1481328"/>
            <a:ext cx="2962656" cy="169164"/>
          </a:xfrm>
          <a:prstGeom prst="rect">
            <a:avLst/>
          </a:prstGeom>
          <a:noFill/>
        </p:spPr>
        <p:txBody>
          <a:bodyPr wrap="square" anchor="t" lIns="0" rIns="0" tIns="0" bIns="0">
            <a:spAutoFit/>
          </a:bodyPr>
          <a:lstStyle/>
          <a:p>
            <a:pPr algn="l">
              <a:lnSpc>
                <a:spcPct val="105000"/>
              </a:lnSpc>
            </a:pPr>
            <a:r>
              <a:rPr sz="1050" b="0">
                <a:solidFill>
                  <a:srgbClr val="1B2A33"/>
                </a:solidFill>
                <a:latin typeface="Calibri"/>
              </a:rPr>
              <a:t>Search and filters</a:t>
            </a:r>
          </a:p>
        </p:txBody>
      </p:sp>
      <p:sp>
        <p:nvSpPr>
          <p:cNvPr id="14" name="Oval 13"/>
          <p:cNvSpPr/>
          <p:nvPr/>
        </p:nvSpPr>
        <p:spPr>
          <a:xfrm>
            <a:off x="8458200" y="1723644"/>
            <a:ext cx="210312" cy="210312"/>
          </a:xfrm>
          <a:prstGeom prst="ellipse">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noAutofit/>
          </a:bodyPr>
          <a:lstStyle/>
          <a:p>
            <a:pPr algn="ctr">
              <a:lnSpc>
                <a:spcPct val="100000"/>
              </a:lnSpc>
            </a:pPr>
            <a:r>
              <a:rPr sz="1000" b="1">
                <a:solidFill>
                  <a:srgbClr val="FFFFFF"/>
                </a:solidFill>
                <a:latin typeface="Calibri"/>
              </a:rPr>
              <a:t>2</a:t>
            </a:r>
          </a:p>
        </p:txBody>
      </p:sp>
      <p:sp>
        <p:nvSpPr>
          <p:cNvPr id="15" name="TextBox 14"/>
          <p:cNvSpPr txBox="1"/>
          <p:nvPr/>
        </p:nvSpPr>
        <p:spPr>
          <a:xfrm>
            <a:off x="8787384" y="1741932"/>
            <a:ext cx="2962656" cy="169164"/>
          </a:xfrm>
          <a:prstGeom prst="rect">
            <a:avLst/>
          </a:prstGeom>
          <a:noFill/>
        </p:spPr>
        <p:txBody>
          <a:bodyPr wrap="square" anchor="t" lIns="0" rIns="0" tIns="0" bIns="0">
            <a:spAutoFit/>
          </a:bodyPr>
          <a:lstStyle/>
          <a:p>
            <a:pPr algn="l">
              <a:lnSpc>
                <a:spcPct val="105000"/>
              </a:lnSpc>
            </a:pPr>
            <a:r>
              <a:rPr sz="1050" b="0">
                <a:solidFill>
                  <a:srgbClr val="1B2A33"/>
                </a:solidFill>
                <a:latin typeface="Calibri"/>
              </a:rPr>
              <a:t>New Ticket</a:t>
            </a:r>
          </a:p>
        </p:txBody>
      </p:sp>
      <p:sp>
        <p:nvSpPr>
          <p:cNvPr id="16" name="Rectangle 15"/>
          <p:cNvSpPr/>
          <p:nvPr/>
        </p:nvSpPr>
        <p:spPr>
          <a:xfrm>
            <a:off x="8458200" y="2130552"/>
            <a:ext cx="45720" cy="502920"/>
          </a:xfrm>
          <a:prstGeom prst="rect">
            <a:avLst/>
          </a:prstGeom>
          <a:solidFill>
            <a:srgbClr val="0E4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22792" y="2130552"/>
            <a:ext cx="3127248" cy="164592"/>
          </a:xfrm>
          <a:prstGeom prst="rect">
            <a:avLst/>
          </a:prstGeom>
          <a:noFill/>
        </p:spPr>
        <p:txBody>
          <a:bodyPr wrap="square" anchor="t" lIns="0" rIns="0" tIns="0" bIns="0">
            <a:spAutoFit/>
          </a:bodyPr>
          <a:lstStyle/>
          <a:p>
            <a:pPr algn="l">
              <a:lnSpc>
                <a:spcPct val="115000"/>
              </a:lnSpc>
            </a:pPr>
            <a:r>
              <a:rPr sz="950" b="1">
                <a:solidFill>
                  <a:srgbClr val="0E4F4A"/>
                </a:solidFill>
                <a:latin typeface="Calibri"/>
              </a:rPr>
              <a:t>ACTION</a:t>
            </a:r>
          </a:p>
        </p:txBody>
      </p:sp>
      <p:sp>
        <p:nvSpPr>
          <p:cNvPr id="18" name="TextBox 17"/>
          <p:cNvSpPr txBox="1"/>
          <p:nvPr/>
        </p:nvSpPr>
        <p:spPr>
          <a:xfrm>
            <a:off x="8622792" y="2322576"/>
            <a:ext cx="3127248" cy="320040"/>
          </a:xfrm>
          <a:prstGeom prst="rect">
            <a:avLst/>
          </a:prstGeom>
          <a:noFill/>
        </p:spPr>
        <p:txBody>
          <a:bodyPr wrap="square" anchor="t" lIns="0" rIns="0" tIns="0" bIns="0">
            <a:spAutoFit/>
          </a:bodyPr>
          <a:lstStyle/>
          <a:p>
            <a:pPr algn="l">
              <a:lnSpc>
                <a:spcPct val="108000"/>
              </a:lnSpc>
            </a:pPr>
            <a:r>
              <a:rPr sz="1100" b="0">
                <a:solidFill>
                  <a:srgbClr val="1B2A33"/>
                </a:solidFill>
                <a:latin typeface="Calibri"/>
              </a:rPr>
              <a:t>Scan the list, or filter to what you are looking for.</a:t>
            </a:r>
          </a:p>
        </p:txBody>
      </p:sp>
      <p:sp>
        <p:nvSpPr>
          <p:cNvPr id="19" name="Rectangle 18"/>
          <p:cNvSpPr/>
          <p:nvPr/>
        </p:nvSpPr>
        <p:spPr>
          <a:xfrm>
            <a:off x="8458200" y="2834640"/>
            <a:ext cx="45720" cy="662940"/>
          </a:xfrm>
          <a:prstGeom prst="rect">
            <a:avLst/>
          </a:prstGeom>
          <a:solidFill>
            <a:srgbClr val="1E7A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22792" y="2834640"/>
            <a:ext cx="3127248" cy="164592"/>
          </a:xfrm>
          <a:prstGeom prst="rect">
            <a:avLst/>
          </a:prstGeom>
          <a:noFill/>
        </p:spPr>
        <p:txBody>
          <a:bodyPr wrap="square" anchor="t" lIns="0" rIns="0" tIns="0" bIns="0">
            <a:spAutoFit/>
          </a:bodyPr>
          <a:lstStyle/>
          <a:p>
            <a:pPr algn="l">
              <a:lnSpc>
                <a:spcPct val="115000"/>
              </a:lnSpc>
            </a:pPr>
            <a:r>
              <a:rPr sz="950" b="1">
                <a:solidFill>
                  <a:srgbClr val="1E7A53"/>
                </a:solidFill>
                <a:latin typeface="Calibri"/>
              </a:rPr>
              <a:t>RESULT</a:t>
            </a:r>
          </a:p>
        </p:txBody>
      </p:sp>
      <p:sp>
        <p:nvSpPr>
          <p:cNvPr id="21" name="TextBox 20"/>
          <p:cNvSpPr txBox="1"/>
          <p:nvPr/>
        </p:nvSpPr>
        <p:spPr>
          <a:xfrm>
            <a:off x="8622792" y="3026664"/>
            <a:ext cx="3127248" cy="480060"/>
          </a:xfrm>
          <a:prstGeom prst="rect">
            <a:avLst/>
          </a:prstGeom>
          <a:noFill/>
        </p:spPr>
        <p:txBody>
          <a:bodyPr wrap="square" anchor="t" lIns="0" rIns="0" tIns="0" bIns="0">
            <a:spAutoFit/>
          </a:bodyPr>
          <a:lstStyle/>
          <a:p>
            <a:pPr algn="l">
              <a:lnSpc>
                <a:spcPct val="108000"/>
              </a:lnSpc>
            </a:pPr>
            <a:r>
              <a:rPr sz="1100" b="0">
                <a:solidFill>
                  <a:srgbClr val="1B2A33"/>
                </a:solidFill>
                <a:latin typeface="Calibri"/>
              </a:rPr>
              <a:t>You see only tickets you raised. This is enforced by the server, not hidden by the page.</a:t>
            </a:r>
          </a:p>
        </p:txBody>
      </p:sp>
      <p:sp>
        <p:nvSpPr>
          <p:cNvPr id="22" name="Rectangle 21"/>
          <p:cNvSpPr/>
          <p:nvPr/>
        </p:nvSpPr>
        <p:spPr>
          <a:xfrm>
            <a:off x="8458200" y="3698748"/>
            <a:ext cx="45720" cy="342900"/>
          </a:xfrm>
          <a:prstGeom prst="rect">
            <a:avLst/>
          </a:prstGeom>
          <a:solidFill>
            <a:srgbClr val="5B6B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22792" y="3698748"/>
            <a:ext cx="3127248" cy="164592"/>
          </a:xfrm>
          <a:prstGeom prst="rect">
            <a:avLst/>
          </a:prstGeom>
          <a:noFill/>
        </p:spPr>
        <p:txBody>
          <a:bodyPr wrap="square" anchor="t" lIns="0" rIns="0" tIns="0" bIns="0">
            <a:spAutoFit/>
          </a:bodyPr>
          <a:lstStyle/>
          <a:p>
            <a:pPr algn="l">
              <a:lnSpc>
                <a:spcPct val="115000"/>
              </a:lnSpc>
            </a:pPr>
            <a:r>
              <a:rPr sz="950" b="1">
                <a:solidFill>
                  <a:srgbClr val="5B6B75"/>
                </a:solidFill>
                <a:latin typeface="Calibri"/>
              </a:rPr>
              <a:t>NEXT</a:t>
            </a:r>
          </a:p>
        </p:txBody>
      </p:sp>
      <p:sp>
        <p:nvSpPr>
          <p:cNvPr id="24" name="TextBox 23"/>
          <p:cNvSpPr txBox="1"/>
          <p:nvPr/>
        </p:nvSpPr>
        <p:spPr>
          <a:xfrm>
            <a:off x="8622792" y="3890772"/>
            <a:ext cx="3127248" cy="160020"/>
          </a:xfrm>
          <a:prstGeom prst="rect">
            <a:avLst/>
          </a:prstGeom>
          <a:noFill/>
        </p:spPr>
        <p:txBody>
          <a:bodyPr wrap="square" anchor="t" lIns="0" rIns="0" tIns="0" bIns="0">
            <a:spAutoFit/>
          </a:bodyPr>
          <a:lstStyle/>
          <a:p>
            <a:pPr algn="l">
              <a:lnSpc>
                <a:spcPct val="108000"/>
              </a:lnSpc>
            </a:pPr>
            <a:r>
              <a:rPr sz="1100" b="0">
                <a:solidFill>
                  <a:srgbClr val="1B2A33"/>
                </a:solidFill>
                <a:latin typeface="Calibri"/>
              </a:rPr>
              <a:t>Step 04 — raise a new ticket.</a:t>
            </a:r>
          </a:p>
        </p:txBody>
      </p:sp>
      <p:sp>
        <p:nvSpPr>
          <p:cNvPr id="25" name="Rectangle 24"/>
          <p:cNvSpPr/>
          <p:nvPr/>
        </p:nvSpPr>
        <p:spPr>
          <a:xfrm>
            <a:off x="0" y="6473952"/>
            <a:ext cx="12191695" cy="384048"/>
          </a:xfrm>
          <a:prstGeom prst="rect">
            <a:avLst/>
          </a:prstGeom>
          <a:solidFill>
            <a:srgbClr val="F3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2920" y="6547104"/>
            <a:ext cx="8229600" cy="228600"/>
          </a:xfrm>
          <a:prstGeom prst="rect">
            <a:avLst/>
          </a:prstGeom>
          <a:noFill/>
        </p:spPr>
        <p:txBody>
          <a:bodyPr wrap="square" anchor="t" lIns="0" rIns="0" tIns="0" bIns="0">
            <a:spAutoFit/>
          </a:bodyPr>
          <a:lstStyle/>
          <a:p>
            <a:pPr algn="l">
              <a:lnSpc>
                <a:spcPct val="115000"/>
              </a:lnSpc>
            </a:pPr>
            <a:r>
              <a:rPr sz="900" b="0">
                <a:solidFill>
                  <a:srgbClr val="5B6B75"/>
                </a:solidFill>
                <a:latin typeface="Calibri"/>
              </a:rPr>
              <a:t>SUCCESS Bank — Internal Ticketing · Standard Operating Procedure</a:t>
            </a:r>
          </a:p>
        </p:txBody>
      </p:sp>
      <p:sp>
        <p:nvSpPr>
          <p:cNvPr id="27" name="TextBox 26"/>
          <p:cNvSpPr txBox="1"/>
          <p:nvPr/>
        </p:nvSpPr>
        <p:spPr>
          <a:xfrm>
            <a:off x="9997135" y="6547104"/>
            <a:ext cx="1691640" cy="228600"/>
          </a:xfrm>
          <a:prstGeom prst="rect">
            <a:avLst/>
          </a:prstGeom>
          <a:noFill/>
        </p:spPr>
        <p:txBody>
          <a:bodyPr wrap="square" anchor="t" lIns="0" rIns="0" tIns="0" bIns="0">
            <a:spAutoFit/>
          </a:bodyPr>
          <a:lstStyle/>
          <a:p>
            <a:pPr algn="r">
              <a:lnSpc>
                <a:spcPct val="115000"/>
              </a:lnSpc>
            </a:pPr>
            <a:r>
              <a:rPr sz="900" b="0">
                <a:solidFill>
                  <a:srgbClr val="5B6B75"/>
                </a:solidFill>
                <a:latin typeface="Calibri"/>
              </a:rPr>
              <a:t>Step 03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0E4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36576"/>
          </a:xfrm>
          <a:prstGeom prst="rect">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55448"/>
            <a:ext cx="1371600" cy="274320"/>
          </a:xfrm>
          <a:prstGeom prst="rect">
            <a:avLst/>
          </a:prstGeom>
          <a:noFill/>
        </p:spPr>
        <p:txBody>
          <a:bodyPr wrap="square" anchor="t" lIns="0" rIns="0" tIns="0" bIns="0">
            <a:spAutoFit/>
          </a:bodyPr>
          <a:lstStyle/>
          <a:p>
            <a:pPr algn="l">
              <a:lnSpc>
                <a:spcPct val="115000"/>
              </a:lnSpc>
            </a:pPr>
            <a:r>
              <a:rPr sz="1200" b="1">
                <a:solidFill>
                  <a:srgbClr val="C25B2E"/>
                </a:solidFill>
                <a:latin typeface="Calibri"/>
              </a:rPr>
              <a:t>STEP 04</a:t>
            </a:r>
          </a:p>
        </p:txBody>
      </p:sp>
      <p:sp>
        <p:nvSpPr>
          <p:cNvPr id="5" name="TextBox 4"/>
          <p:cNvSpPr txBox="1"/>
          <p:nvPr/>
        </p:nvSpPr>
        <p:spPr>
          <a:xfrm>
            <a:off x="502920" y="420624"/>
            <a:ext cx="8412480" cy="365760"/>
          </a:xfrm>
          <a:prstGeom prst="rect">
            <a:avLst/>
          </a:prstGeom>
          <a:noFill/>
        </p:spPr>
        <p:txBody>
          <a:bodyPr wrap="square" anchor="t" lIns="0" rIns="0" tIns="0" bIns="0">
            <a:spAutoFit/>
          </a:bodyPr>
          <a:lstStyle/>
          <a:p>
            <a:pPr algn="l">
              <a:lnSpc>
                <a:spcPct val="115000"/>
              </a:lnSpc>
            </a:pPr>
            <a:r>
              <a:rPr sz="2000" b="1">
                <a:solidFill>
                  <a:srgbClr val="FFFFFF"/>
                </a:solidFill>
                <a:latin typeface="Calibri"/>
              </a:rPr>
              <a:t>Open the new ticket form</a:t>
            </a:r>
          </a:p>
        </p:txBody>
      </p:sp>
      <p:sp>
        <p:nvSpPr>
          <p:cNvPr id="6" name="TextBox 5"/>
          <p:cNvSpPr txBox="1"/>
          <p:nvPr/>
        </p:nvSpPr>
        <p:spPr>
          <a:xfrm>
            <a:off x="9174175" y="320040"/>
            <a:ext cx="2514600" cy="274320"/>
          </a:xfrm>
          <a:prstGeom prst="rect">
            <a:avLst/>
          </a:prstGeom>
          <a:noFill/>
        </p:spPr>
        <p:txBody>
          <a:bodyPr wrap="square" anchor="t" lIns="0" rIns="0" tIns="0" bIns="0">
            <a:spAutoFit/>
          </a:bodyPr>
          <a:lstStyle/>
          <a:p>
            <a:pPr algn="r">
              <a:lnSpc>
                <a:spcPct val="115000"/>
              </a:lnSpc>
            </a:pPr>
            <a:r>
              <a:rPr sz="1100" b="1">
                <a:solidFill>
                  <a:srgbClr val="F3ECE0"/>
                </a:solidFill>
                <a:latin typeface="Calibri"/>
              </a:rPr>
              <a:t>BRANCH USER</a:t>
            </a:r>
          </a:p>
        </p:txBody>
      </p:sp>
      <p:sp>
        <p:nvSpPr>
          <p:cNvPr id="7" name="Rectangle 6"/>
          <p:cNvSpPr/>
          <p:nvPr/>
        </p:nvSpPr>
        <p:spPr>
          <a:xfrm>
            <a:off x="388620" y="1165860"/>
            <a:ext cx="7818120" cy="4903470"/>
          </a:xfrm>
          <a:prstGeom prst="rect">
            <a:avLst/>
          </a:prstGeom>
          <a:solidFill>
            <a:srgbClr val="D6CE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411480" y="1188720"/>
            <a:ext cx="7772400" cy="4855464"/>
          </a:xfrm>
          <a:prstGeom prst="rect">
            <a:avLst/>
          </a:prstGeom>
        </p:spPr>
      </p:pic>
      <p:sp>
        <p:nvSpPr>
          <p:cNvPr id="9" name="Oval 8"/>
          <p:cNvSpPr/>
          <p:nvPr/>
        </p:nvSpPr>
        <p:spPr>
          <a:xfrm>
            <a:off x="1545015" y="2182444"/>
            <a:ext cx="274320" cy="274320"/>
          </a:xfrm>
          <a:prstGeom prst="ellipse">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noAutofit/>
          </a:bodyPr>
          <a:lstStyle/>
          <a:p>
            <a:pPr algn="ctr">
              <a:lnSpc>
                <a:spcPct val="100000"/>
              </a:lnSpc>
            </a:pPr>
            <a:r>
              <a:rPr sz="1300" b="1">
                <a:solidFill>
                  <a:srgbClr val="FFFFFF"/>
                </a:solidFill>
                <a:latin typeface="Calibri"/>
              </a:rPr>
              <a:t>1</a:t>
            </a:r>
          </a:p>
        </p:txBody>
      </p:sp>
      <p:sp>
        <p:nvSpPr>
          <p:cNvPr id="10" name="Oval 9"/>
          <p:cNvSpPr/>
          <p:nvPr/>
        </p:nvSpPr>
        <p:spPr>
          <a:xfrm>
            <a:off x="1545015" y="2846012"/>
            <a:ext cx="274320" cy="274320"/>
          </a:xfrm>
          <a:prstGeom prst="ellipse">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noAutofit/>
          </a:bodyPr>
          <a:lstStyle/>
          <a:p>
            <a:pPr algn="ctr">
              <a:lnSpc>
                <a:spcPct val="100000"/>
              </a:lnSpc>
            </a:pPr>
            <a:r>
              <a:rPr sz="1300" b="1">
                <a:solidFill>
                  <a:srgbClr val="FFFFFF"/>
                </a:solidFill>
                <a:latin typeface="Calibri"/>
              </a:rPr>
              <a:t>2</a:t>
            </a:r>
          </a:p>
        </p:txBody>
      </p:sp>
      <p:sp>
        <p:nvSpPr>
          <p:cNvPr id="11" name="Oval 10"/>
          <p:cNvSpPr/>
          <p:nvPr/>
        </p:nvSpPr>
        <p:spPr>
          <a:xfrm>
            <a:off x="1545015" y="4171207"/>
            <a:ext cx="274320" cy="274320"/>
          </a:xfrm>
          <a:prstGeom prst="ellipse">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noAutofit/>
          </a:bodyPr>
          <a:lstStyle/>
          <a:p>
            <a:pPr algn="ctr">
              <a:lnSpc>
                <a:spcPct val="100000"/>
              </a:lnSpc>
            </a:pPr>
            <a:r>
              <a:rPr sz="1300" b="1">
                <a:solidFill>
                  <a:srgbClr val="FFFFFF"/>
                </a:solidFill>
                <a:latin typeface="Calibri"/>
              </a:rPr>
              <a:t>3</a:t>
            </a:r>
          </a:p>
        </p:txBody>
      </p:sp>
      <p:sp>
        <p:nvSpPr>
          <p:cNvPr id="12" name="TextBox 11"/>
          <p:cNvSpPr txBox="1"/>
          <p:nvPr/>
        </p:nvSpPr>
        <p:spPr>
          <a:xfrm>
            <a:off x="8458200" y="1188720"/>
            <a:ext cx="3291840" cy="219456"/>
          </a:xfrm>
          <a:prstGeom prst="rect">
            <a:avLst/>
          </a:prstGeom>
          <a:noFill/>
        </p:spPr>
        <p:txBody>
          <a:bodyPr wrap="square" anchor="t" lIns="0" rIns="0" tIns="0" bIns="0">
            <a:spAutoFit/>
          </a:bodyPr>
          <a:lstStyle/>
          <a:p>
            <a:pPr algn="l">
              <a:lnSpc>
                <a:spcPct val="115000"/>
              </a:lnSpc>
            </a:pPr>
            <a:r>
              <a:rPr sz="1000" b="1">
                <a:solidFill>
                  <a:srgbClr val="C25B2E"/>
                </a:solidFill>
                <a:latin typeface="Calibri"/>
              </a:rPr>
              <a:t>ON THIS SCREEN</a:t>
            </a:r>
          </a:p>
        </p:txBody>
      </p:sp>
      <p:sp>
        <p:nvSpPr>
          <p:cNvPr id="13" name="Oval 12"/>
          <p:cNvSpPr/>
          <p:nvPr/>
        </p:nvSpPr>
        <p:spPr>
          <a:xfrm>
            <a:off x="8458200" y="1463040"/>
            <a:ext cx="210312" cy="210312"/>
          </a:xfrm>
          <a:prstGeom prst="ellipse">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noAutofit/>
          </a:bodyPr>
          <a:lstStyle/>
          <a:p>
            <a:pPr algn="ctr">
              <a:lnSpc>
                <a:spcPct val="100000"/>
              </a:lnSpc>
            </a:pPr>
            <a:r>
              <a:rPr sz="1000" b="1">
                <a:solidFill>
                  <a:srgbClr val="FFFFFF"/>
                </a:solidFill>
                <a:latin typeface="Calibri"/>
              </a:rPr>
              <a:t>1</a:t>
            </a:r>
          </a:p>
        </p:txBody>
      </p:sp>
      <p:sp>
        <p:nvSpPr>
          <p:cNvPr id="14" name="TextBox 13"/>
          <p:cNvSpPr txBox="1"/>
          <p:nvPr/>
        </p:nvSpPr>
        <p:spPr>
          <a:xfrm>
            <a:off x="8787384" y="1481328"/>
            <a:ext cx="2962656" cy="169164"/>
          </a:xfrm>
          <a:prstGeom prst="rect">
            <a:avLst/>
          </a:prstGeom>
          <a:noFill/>
        </p:spPr>
        <p:txBody>
          <a:bodyPr wrap="square" anchor="t" lIns="0" rIns="0" tIns="0" bIns="0">
            <a:spAutoFit/>
          </a:bodyPr>
          <a:lstStyle/>
          <a:p>
            <a:pPr algn="l">
              <a:lnSpc>
                <a:spcPct val="105000"/>
              </a:lnSpc>
            </a:pPr>
            <a:r>
              <a:rPr sz="1050" b="0">
                <a:solidFill>
                  <a:srgbClr val="1B2A33"/>
                </a:solidFill>
                <a:latin typeface="Calibri"/>
              </a:rPr>
              <a:t>Title — one line naming the problem</a:t>
            </a:r>
          </a:p>
        </p:txBody>
      </p:sp>
      <p:sp>
        <p:nvSpPr>
          <p:cNvPr id="15" name="Oval 14"/>
          <p:cNvSpPr/>
          <p:nvPr/>
        </p:nvSpPr>
        <p:spPr>
          <a:xfrm>
            <a:off x="8458200" y="1723644"/>
            <a:ext cx="210312" cy="210312"/>
          </a:xfrm>
          <a:prstGeom prst="ellipse">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noAutofit/>
          </a:bodyPr>
          <a:lstStyle/>
          <a:p>
            <a:pPr algn="ctr">
              <a:lnSpc>
                <a:spcPct val="100000"/>
              </a:lnSpc>
            </a:pPr>
            <a:r>
              <a:rPr sz="1000" b="1">
                <a:solidFill>
                  <a:srgbClr val="FFFFFF"/>
                </a:solidFill>
                <a:latin typeface="Calibri"/>
              </a:rPr>
              <a:t>2</a:t>
            </a:r>
          </a:p>
        </p:txBody>
      </p:sp>
      <p:sp>
        <p:nvSpPr>
          <p:cNvPr id="16" name="TextBox 15"/>
          <p:cNvSpPr txBox="1"/>
          <p:nvPr/>
        </p:nvSpPr>
        <p:spPr>
          <a:xfrm>
            <a:off x="8787384" y="1741932"/>
            <a:ext cx="2962656" cy="338328"/>
          </a:xfrm>
          <a:prstGeom prst="rect">
            <a:avLst/>
          </a:prstGeom>
          <a:noFill/>
        </p:spPr>
        <p:txBody>
          <a:bodyPr wrap="square" anchor="t" lIns="0" rIns="0" tIns="0" bIns="0">
            <a:spAutoFit/>
          </a:bodyPr>
          <a:lstStyle/>
          <a:p>
            <a:pPr algn="l">
              <a:lnSpc>
                <a:spcPct val="105000"/>
              </a:lnSpc>
            </a:pPr>
            <a:r>
              <a:rPr sz="1050" b="0">
                <a:solidFill>
                  <a:srgbClr val="1B2A33"/>
                </a:solidFill>
                <a:latin typeface="Calibri"/>
              </a:rPr>
              <a:t>Description — what happened, and for whom</a:t>
            </a:r>
          </a:p>
        </p:txBody>
      </p:sp>
      <p:sp>
        <p:nvSpPr>
          <p:cNvPr id="17" name="Oval 16"/>
          <p:cNvSpPr/>
          <p:nvPr/>
        </p:nvSpPr>
        <p:spPr>
          <a:xfrm>
            <a:off x="8458200" y="2153412"/>
            <a:ext cx="210312" cy="210312"/>
          </a:xfrm>
          <a:prstGeom prst="ellipse">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noAutofit/>
          </a:bodyPr>
          <a:lstStyle/>
          <a:p>
            <a:pPr algn="ctr">
              <a:lnSpc>
                <a:spcPct val="100000"/>
              </a:lnSpc>
            </a:pPr>
            <a:r>
              <a:rPr sz="1000" b="1">
                <a:solidFill>
                  <a:srgbClr val="FFFFFF"/>
                </a:solidFill>
                <a:latin typeface="Calibri"/>
              </a:rPr>
              <a:t>3</a:t>
            </a:r>
          </a:p>
        </p:txBody>
      </p:sp>
      <p:sp>
        <p:nvSpPr>
          <p:cNvPr id="18" name="TextBox 17"/>
          <p:cNvSpPr txBox="1"/>
          <p:nvPr/>
        </p:nvSpPr>
        <p:spPr>
          <a:xfrm>
            <a:off x="8787384" y="2171700"/>
            <a:ext cx="2962656" cy="169164"/>
          </a:xfrm>
          <a:prstGeom prst="rect">
            <a:avLst/>
          </a:prstGeom>
          <a:noFill/>
        </p:spPr>
        <p:txBody>
          <a:bodyPr wrap="square" anchor="t" lIns="0" rIns="0" tIns="0" bIns="0">
            <a:spAutoFit/>
          </a:bodyPr>
          <a:lstStyle/>
          <a:p>
            <a:pPr algn="l">
              <a:lnSpc>
                <a:spcPct val="105000"/>
              </a:lnSpc>
            </a:pPr>
            <a:r>
              <a:rPr sz="1050" b="0">
                <a:solidFill>
                  <a:srgbClr val="1B2A33"/>
                </a:solidFill>
                <a:latin typeface="Calibri"/>
              </a:rPr>
              <a:t>Priority</a:t>
            </a:r>
          </a:p>
        </p:txBody>
      </p:sp>
      <p:sp>
        <p:nvSpPr>
          <p:cNvPr id="19" name="Rectangle 18"/>
          <p:cNvSpPr/>
          <p:nvPr/>
        </p:nvSpPr>
        <p:spPr>
          <a:xfrm>
            <a:off x="8458200" y="2560320"/>
            <a:ext cx="45720" cy="342900"/>
          </a:xfrm>
          <a:prstGeom prst="rect">
            <a:avLst/>
          </a:prstGeom>
          <a:solidFill>
            <a:srgbClr val="0E4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22792" y="2560320"/>
            <a:ext cx="3127248" cy="164592"/>
          </a:xfrm>
          <a:prstGeom prst="rect">
            <a:avLst/>
          </a:prstGeom>
          <a:noFill/>
        </p:spPr>
        <p:txBody>
          <a:bodyPr wrap="square" anchor="t" lIns="0" rIns="0" tIns="0" bIns="0">
            <a:spAutoFit/>
          </a:bodyPr>
          <a:lstStyle/>
          <a:p>
            <a:pPr algn="l">
              <a:lnSpc>
                <a:spcPct val="115000"/>
              </a:lnSpc>
            </a:pPr>
            <a:r>
              <a:rPr sz="950" b="1">
                <a:solidFill>
                  <a:srgbClr val="0E4F4A"/>
                </a:solidFill>
                <a:latin typeface="Calibri"/>
              </a:rPr>
              <a:t>ACTION</a:t>
            </a:r>
          </a:p>
        </p:txBody>
      </p:sp>
      <p:sp>
        <p:nvSpPr>
          <p:cNvPr id="21" name="TextBox 20"/>
          <p:cNvSpPr txBox="1"/>
          <p:nvPr/>
        </p:nvSpPr>
        <p:spPr>
          <a:xfrm>
            <a:off x="8622792" y="2752344"/>
            <a:ext cx="3127248" cy="160020"/>
          </a:xfrm>
          <a:prstGeom prst="rect">
            <a:avLst/>
          </a:prstGeom>
          <a:noFill/>
        </p:spPr>
        <p:txBody>
          <a:bodyPr wrap="square" anchor="t" lIns="0" rIns="0" tIns="0" bIns="0">
            <a:spAutoFit/>
          </a:bodyPr>
          <a:lstStyle/>
          <a:p>
            <a:pPr algn="l">
              <a:lnSpc>
                <a:spcPct val="108000"/>
              </a:lnSpc>
            </a:pPr>
            <a:r>
              <a:rPr sz="1100" b="0">
                <a:solidFill>
                  <a:srgbClr val="1B2A33"/>
                </a:solidFill>
                <a:latin typeface="Calibri"/>
              </a:rPr>
              <a:t>Select New Ticket from the ticket list.</a:t>
            </a:r>
          </a:p>
        </p:txBody>
      </p:sp>
      <p:sp>
        <p:nvSpPr>
          <p:cNvPr id="22" name="Rectangle 21"/>
          <p:cNvSpPr/>
          <p:nvPr/>
        </p:nvSpPr>
        <p:spPr>
          <a:xfrm>
            <a:off x="8458200" y="3104388"/>
            <a:ext cx="45720" cy="502920"/>
          </a:xfrm>
          <a:prstGeom prst="rect">
            <a:avLst/>
          </a:prstGeom>
          <a:solidFill>
            <a:srgbClr val="1E7A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22792" y="3104388"/>
            <a:ext cx="3127248" cy="164592"/>
          </a:xfrm>
          <a:prstGeom prst="rect">
            <a:avLst/>
          </a:prstGeom>
          <a:noFill/>
        </p:spPr>
        <p:txBody>
          <a:bodyPr wrap="square" anchor="t" lIns="0" rIns="0" tIns="0" bIns="0">
            <a:spAutoFit/>
          </a:bodyPr>
          <a:lstStyle/>
          <a:p>
            <a:pPr algn="l">
              <a:lnSpc>
                <a:spcPct val="115000"/>
              </a:lnSpc>
            </a:pPr>
            <a:r>
              <a:rPr sz="950" b="1">
                <a:solidFill>
                  <a:srgbClr val="1E7A53"/>
                </a:solidFill>
                <a:latin typeface="Calibri"/>
              </a:rPr>
              <a:t>RESULT</a:t>
            </a:r>
          </a:p>
        </p:txBody>
      </p:sp>
      <p:sp>
        <p:nvSpPr>
          <p:cNvPr id="24" name="TextBox 23"/>
          <p:cNvSpPr txBox="1"/>
          <p:nvPr/>
        </p:nvSpPr>
        <p:spPr>
          <a:xfrm>
            <a:off x="8622792" y="3296412"/>
            <a:ext cx="3127248" cy="320040"/>
          </a:xfrm>
          <a:prstGeom prst="rect">
            <a:avLst/>
          </a:prstGeom>
          <a:noFill/>
        </p:spPr>
        <p:txBody>
          <a:bodyPr wrap="square" anchor="t" lIns="0" rIns="0" tIns="0" bIns="0">
            <a:spAutoFit/>
          </a:bodyPr>
          <a:lstStyle/>
          <a:p>
            <a:pPr algn="l">
              <a:lnSpc>
                <a:spcPct val="108000"/>
              </a:lnSpc>
            </a:pPr>
            <a:r>
              <a:rPr sz="1100" b="0">
                <a:solidFill>
                  <a:srgbClr val="1B2A33"/>
                </a:solidFill>
                <a:latin typeface="Calibri"/>
              </a:rPr>
              <a:t>An empty form opens. Nothing is submitted until you choose Create Ticket.</a:t>
            </a:r>
          </a:p>
        </p:txBody>
      </p:sp>
      <p:sp>
        <p:nvSpPr>
          <p:cNvPr id="25" name="Rectangle 24"/>
          <p:cNvSpPr/>
          <p:nvPr/>
        </p:nvSpPr>
        <p:spPr>
          <a:xfrm>
            <a:off x="8458200" y="3808476"/>
            <a:ext cx="45720" cy="342900"/>
          </a:xfrm>
          <a:prstGeom prst="rect">
            <a:avLst/>
          </a:prstGeom>
          <a:solidFill>
            <a:srgbClr val="5B6B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622792" y="3808476"/>
            <a:ext cx="3127248" cy="164592"/>
          </a:xfrm>
          <a:prstGeom prst="rect">
            <a:avLst/>
          </a:prstGeom>
          <a:noFill/>
        </p:spPr>
        <p:txBody>
          <a:bodyPr wrap="square" anchor="t" lIns="0" rIns="0" tIns="0" bIns="0">
            <a:spAutoFit/>
          </a:bodyPr>
          <a:lstStyle/>
          <a:p>
            <a:pPr algn="l">
              <a:lnSpc>
                <a:spcPct val="115000"/>
              </a:lnSpc>
            </a:pPr>
            <a:r>
              <a:rPr sz="950" b="1">
                <a:solidFill>
                  <a:srgbClr val="5B6B75"/>
                </a:solidFill>
                <a:latin typeface="Calibri"/>
              </a:rPr>
              <a:t>NEXT</a:t>
            </a:r>
          </a:p>
        </p:txBody>
      </p:sp>
      <p:sp>
        <p:nvSpPr>
          <p:cNvPr id="27" name="TextBox 26"/>
          <p:cNvSpPr txBox="1"/>
          <p:nvPr/>
        </p:nvSpPr>
        <p:spPr>
          <a:xfrm>
            <a:off x="8622792" y="4000500"/>
            <a:ext cx="3127248" cy="160020"/>
          </a:xfrm>
          <a:prstGeom prst="rect">
            <a:avLst/>
          </a:prstGeom>
          <a:noFill/>
        </p:spPr>
        <p:txBody>
          <a:bodyPr wrap="square" anchor="t" lIns="0" rIns="0" tIns="0" bIns="0">
            <a:spAutoFit/>
          </a:bodyPr>
          <a:lstStyle/>
          <a:p>
            <a:pPr algn="l">
              <a:lnSpc>
                <a:spcPct val="108000"/>
              </a:lnSpc>
            </a:pPr>
            <a:r>
              <a:rPr sz="1100" b="0">
                <a:solidFill>
                  <a:srgbClr val="1B2A33"/>
                </a:solidFill>
                <a:latin typeface="Calibri"/>
              </a:rPr>
              <a:t>Step 05 — fill it in and attach evidence.</a:t>
            </a:r>
          </a:p>
        </p:txBody>
      </p:sp>
      <p:sp>
        <p:nvSpPr>
          <p:cNvPr id="28" name="Rectangle 27"/>
          <p:cNvSpPr/>
          <p:nvPr/>
        </p:nvSpPr>
        <p:spPr>
          <a:xfrm>
            <a:off x="0" y="6473952"/>
            <a:ext cx="12191695" cy="384048"/>
          </a:xfrm>
          <a:prstGeom prst="rect">
            <a:avLst/>
          </a:prstGeom>
          <a:solidFill>
            <a:srgbClr val="F3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02920" y="6547104"/>
            <a:ext cx="8229600" cy="228600"/>
          </a:xfrm>
          <a:prstGeom prst="rect">
            <a:avLst/>
          </a:prstGeom>
          <a:noFill/>
        </p:spPr>
        <p:txBody>
          <a:bodyPr wrap="square" anchor="t" lIns="0" rIns="0" tIns="0" bIns="0">
            <a:spAutoFit/>
          </a:bodyPr>
          <a:lstStyle/>
          <a:p>
            <a:pPr algn="l">
              <a:lnSpc>
                <a:spcPct val="115000"/>
              </a:lnSpc>
            </a:pPr>
            <a:r>
              <a:rPr sz="900" b="0">
                <a:solidFill>
                  <a:srgbClr val="5B6B75"/>
                </a:solidFill>
                <a:latin typeface="Calibri"/>
              </a:rPr>
              <a:t>SUCCESS Bank — Internal Ticketing · Standard Operating Procedure</a:t>
            </a:r>
          </a:p>
        </p:txBody>
      </p:sp>
      <p:sp>
        <p:nvSpPr>
          <p:cNvPr id="30" name="TextBox 29"/>
          <p:cNvSpPr txBox="1"/>
          <p:nvPr/>
        </p:nvSpPr>
        <p:spPr>
          <a:xfrm>
            <a:off x="9997135" y="6547104"/>
            <a:ext cx="1691640" cy="228600"/>
          </a:xfrm>
          <a:prstGeom prst="rect">
            <a:avLst/>
          </a:prstGeom>
          <a:noFill/>
        </p:spPr>
        <p:txBody>
          <a:bodyPr wrap="square" anchor="t" lIns="0" rIns="0" tIns="0" bIns="0">
            <a:spAutoFit/>
          </a:bodyPr>
          <a:lstStyle/>
          <a:p>
            <a:pPr algn="r">
              <a:lnSpc>
                <a:spcPct val="115000"/>
              </a:lnSpc>
            </a:pPr>
            <a:r>
              <a:rPr sz="900" b="0">
                <a:solidFill>
                  <a:srgbClr val="5B6B75"/>
                </a:solidFill>
                <a:latin typeface="Calibri"/>
              </a:rPr>
              <a:t>Step 04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0E4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36576"/>
          </a:xfrm>
          <a:prstGeom prst="rect">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55448"/>
            <a:ext cx="1371600" cy="274320"/>
          </a:xfrm>
          <a:prstGeom prst="rect">
            <a:avLst/>
          </a:prstGeom>
          <a:noFill/>
        </p:spPr>
        <p:txBody>
          <a:bodyPr wrap="square" anchor="t" lIns="0" rIns="0" tIns="0" bIns="0">
            <a:spAutoFit/>
          </a:bodyPr>
          <a:lstStyle/>
          <a:p>
            <a:pPr algn="l">
              <a:lnSpc>
                <a:spcPct val="115000"/>
              </a:lnSpc>
            </a:pPr>
            <a:r>
              <a:rPr sz="1200" b="1">
                <a:solidFill>
                  <a:srgbClr val="C25B2E"/>
                </a:solidFill>
                <a:latin typeface="Calibri"/>
              </a:rPr>
              <a:t>STEP 05</a:t>
            </a:r>
          </a:p>
        </p:txBody>
      </p:sp>
      <p:sp>
        <p:nvSpPr>
          <p:cNvPr id="5" name="TextBox 4"/>
          <p:cNvSpPr txBox="1"/>
          <p:nvPr/>
        </p:nvSpPr>
        <p:spPr>
          <a:xfrm>
            <a:off x="502920" y="420624"/>
            <a:ext cx="8412480" cy="365760"/>
          </a:xfrm>
          <a:prstGeom prst="rect">
            <a:avLst/>
          </a:prstGeom>
          <a:noFill/>
        </p:spPr>
        <p:txBody>
          <a:bodyPr wrap="square" anchor="t" lIns="0" rIns="0" tIns="0" bIns="0">
            <a:spAutoFit/>
          </a:bodyPr>
          <a:lstStyle/>
          <a:p>
            <a:pPr algn="l">
              <a:lnSpc>
                <a:spcPct val="115000"/>
              </a:lnSpc>
            </a:pPr>
            <a:r>
              <a:rPr sz="2000" b="1">
                <a:solidFill>
                  <a:srgbClr val="FFFFFF"/>
                </a:solidFill>
                <a:latin typeface="Calibri"/>
              </a:rPr>
              <a:t>Describe it, and attach the evidence</a:t>
            </a:r>
          </a:p>
        </p:txBody>
      </p:sp>
      <p:sp>
        <p:nvSpPr>
          <p:cNvPr id="6" name="TextBox 5"/>
          <p:cNvSpPr txBox="1"/>
          <p:nvPr/>
        </p:nvSpPr>
        <p:spPr>
          <a:xfrm>
            <a:off x="9174175" y="320040"/>
            <a:ext cx="2514600" cy="274320"/>
          </a:xfrm>
          <a:prstGeom prst="rect">
            <a:avLst/>
          </a:prstGeom>
          <a:noFill/>
        </p:spPr>
        <p:txBody>
          <a:bodyPr wrap="square" anchor="t" lIns="0" rIns="0" tIns="0" bIns="0">
            <a:spAutoFit/>
          </a:bodyPr>
          <a:lstStyle/>
          <a:p>
            <a:pPr algn="r">
              <a:lnSpc>
                <a:spcPct val="115000"/>
              </a:lnSpc>
            </a:pPr>
            <a:r>
              <a:rPr sz="1100" b="1">
                <a:solidFill>
                  <a:srgbClr val="F3ECE0"/>
                </a:solidFill>
                <a:latin typeface="Calibri"/>
              </a:rPr>
              <a:t>BRANCH USER</a:t>
            </a:r>
          </a:p>
        </p:txBody>
      </p:sp>
      <p:sp>
        <p:nvSpPr>
          <p:cNvPr id="7" name="Rectangle 6"/>
          <p:cNvSpPr/>
          <p:nvPr/>
        </p:nvSpPr>
        <p:spPr>
          <a:xfrm>
            <a:off x="388620" y="1165860"/>
            <a:ext cx="7818120" cy="4903470"/>
          </a:xfrm>
          <a:prstGeom prst="rect">
            <a:avLst/>
          </a:prstGeom>
          <a:solidFill>
            <a:srgbClr val="D6CE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411480" y="1188720"/>
            <a:ext cx="7772400" cy="4855464"/>
          </a:xfrm>
          <a:prstGeom prst="rect">
            <a:avLst/>
          </a:prstGeom>
        </p:spPr>
      </p:pic>
      <p:sp>
        <p:nvSpPr>
          <p:cNvPr id="9" name="Oval 8"/>
          <p:cNvSpPr/>
          <p:nvPr/>
        </p:nvSpPr>
        <p:spPr>
          <a:xfrm>
            <a:off x="1545015" y="2182444"/>
            <a:ext cx="274320" cy="274320"/>
          </a:xfrm>
          <a:prstGeom prst="ellipse">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noAutofit/>
          </a:bodyPr>
          <a:lstStyle/>
          <a:p>
            <a:pPr algn="ctr">
              <a:lnSpc>
                <a:spcPct val="100000"/>
              </a:lnSpc>
            </a:pPr>
            <a:r>
              <a:rPr sz="1300" b="1">
                <a:solidFill>
                  <a:srgbClr val="FFFFFF"/>
                </a:solidFill>
                <a:latin typeface="Calibri"/>
              </a:rPr>
              <a:t>1</a:t>
            </a:r>
          </a:p>
        </p:txBody>
      </p:sp>
      <p:sp>
        <p:nvSpPr>
          <p:cNvPr id="10" name="Oval 9"/>
          <p:cNvSpPr/>
          <p:nvPr/>
        </p:nvSpPr>
        <p:spPr>
          <a:xfrm>
            <a:off x="1545015" y="2846012"/>
            <a:ext cx="274320" cy="274320"/>
          </a:xfrm>
          <a:prstGeom prst="ellipse">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noAutofit/>
          </a:bodyPr>
          <a:lstStyle/>
          <a:p>
            <a:pPr algn="ctr">
              <a:lnSpc>
                <a:spcPct val="100000"/>
              </a:lnSpc>
            </a:pPr>
            <a:r>
              <a:rPr sz="1300" b="1">
                <a:solidFill>
                  <a:srgbClr val="FFFFFF"/>
                </a:solidFill>
                <a:latin typeface="Calibri"/>
              </a:rPr>
              <a:t>2</a:t>
            </a:r>
          </a:p>
        </p:txBody>
      </p:sp>
      <p:sp>
        <p:nvSpPr>
          <p:cNvPr id="11" name="Oval 10"/>
          <p:cNvSpPr/>
          <p:nvPr/>
        </p:nvSpPr>
        <p:spPr>
          <a:xfrm>
            <a:off x="1545015" y="4171207"/>
            <a:ext cx="274320" cy="274320"/>
          </a:xfrm>
          <a:prstGeom prst="ellipse">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noAutofit/>
          </a:bodyPr>
          <a:lstStyle/>
          <a:p>
            <a:pPr algn="ctr">
              <a:lnSpc>
                <a:spcPct val="100000"/>
              </a:lnSpc>
            </a:pPr>
            <a:r>
              <a:rPr sz="1300" b="1">
                <a:solidFill>
                  <a:srgbClr val="FFFFFF"/>
                </a:solidFill>
                <a:latin typeface="Calibri"/>
              </a:rPr>
              <a:t>3</a:t>
            </a:r>
          </a:p>
        </p:txBody>
      </p:sp>
      <p:sp>
        <p:nvSpPr>
          <p:cNvPr id="12" name="Oval 11"/>
          <p:cNvSpPr/>
          <p:nvPr/>
        </p:nvSpPr>
        <p:spPr>
          <a:xfrm>
            <a:off x="1545015" y="5148100"/>
            <a:ext cx="274320" cy="274320"/>
          </a:xfrm>
          <a:prstGeom prst="ellipse">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noAutofit/>
          </a:bodyPr>
          <a:lstStyle/>
          <a:p>
            <a:pPr algn="ctr">
              <a:lnSpc>
                <a:spcPct val="100000"/>
              </a:lnSpc>
            </a:pPr>
            <a:r>
              <a:rPr sz="1300" b="1">
                <a:solidFill>
                  <a:srgbClr val="FFFFFF"/>
                </a:solidFill>
                <a:latin typeface="Calibri"/>
              </a:rPr>
              <a:t>4</a:t>
            </a:r>
          </a:p>
        </p:txBody>
      </p:sp>
      <p:sp>
        <p:nvSpPr>
          <p:cNvPr id="13" name="TextBox 12"/>
          <p:cNvSpPr txBox="1"/>
          <p:nvPr/>
        </p:nvSpPr>
        <p:spPr>
          <a:xfrm>
            <a:off x="8458200" y="1188720"/>
            <a:ext cx="3291840" cy="219456"/>
          </a:xfrm>
          <a:prstGeom prst="rect">
            <a:avLst/>
          </a:prstGeom>
          <a:noFill/>
        </p:spPr>
        <p:txBody>
          <a:bodyPr wrap="square" anchor="t" lIns="0" rIns="0" tIns="0" bIns="0">
            <a:spAutoFit/>
          </a:bodyPr>
          <a:lstStyle/>
          <a:p>
            <a:pPr algn="l">
              <a:lnSpc>
                <a:spcPct val="115000"/>
              </a:lnSpc>
            </a:pPr>
            <a:r>
              <a:rPr sz="1000" b="1">
                <a:solidFill>
                  <a:srgbClr val="C25B2E"/>
                </a:solidFill>
                <a:latin typeface="Calibri"/>
              </a:rPr>
              <a:t>ON THIS SCREEN</a:t>
            </a:r>
          </a:p>
        </p:txBody>
      </p:sp>
      <p:sp>
        <p:nvSpPr>
          <p:cNvPr id="14" name="Oval 13"/>
          <p:cNvSpPr/>
          <p:nvPr/>
        </p:nvSpPr>
        <p:spPr>
          <a:xfrm>
            <a:off x="8458200" y="1463040"/>
            <a:ext cx="210312" cy="210312"/>
          </a:xfrm>
          <a:prstGeom prst="ellipse">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noAutofit/>
          </a:bodyPr>
          <a:lstStyle/>
          <a:p>
            <a:pPr algn="ctr">
              <a:lnSpc>
                <a:spcPct val="100000"/>
              </a:lnSpc>
            </a:pPr>
            <a:r>
              <a:rPr sz="1000" b="1">
                <a:solidFill>
                  <a:srgbClr val="FFFFFF"/>
                </a:solidFill>
                <a:latin typeface="Calibri"/>
              </a:rPr>
              <a:t>1</a:t>
            </a:r>
          </a:p>
        </p:txBody>
      </p:sp>
      <p:sp>
        <p:nvSpPr>
          <p:cNvPr id="15" name="TextBox 14"/>
          <p:cNvSpPr txBox="1"/>
          <p:nvPr/>
        </p:nvSpPr>
        <p:spPr>
          <a:xfrm>
            <a:off x="8787384" y="1481328"/>
            <a:ext cx="2962656" cy="169164"/>
          </a:xfrm>
          <a:prstGeom prst="rect">
            <a:avLst/>
          </a:prstGeom>
          <a:noFill/>
        </p:spPr>
        <p:txBody>
          <a:bodyPr wrap="square" anchor="t" lIns="0" rIns="0" tIns="0" bIns="0">
            <a:spAutoFit/>
          </a:bodyPr>
          <a:lstStyle/>
          <a:p>
            <a:pPr algn="l">
              <a:lnSpc>
                <a:spcPct val="105000"/>
              </a:lnSpc>
            </a:pPr>
            <a:r>
              <a:rPr sz="1050" b="0">
                <a:solidFill>
                  <a:srgbClr val="1B2A33"/>
                </a:solidFill>
                <a:latin typeface="Calibri"/>
              </a:rPr>
              <a:t>Be specific: account, amount, date</a:t>
            </a:r>
          </a:p>
        </p:txBody>
      </p:sp>
      <p:sp>
        <p:nvSpPr>
          <p:cNvPr id="16" name="Oval 15"/>
          <p:cNvSpPr/>
          <p:nvPr/>
        </p:nvSpPr>
        <p:spPr>
          <a:xfrm>
            <a:off x="8458200" y="1723644"/>
            <a:ext cx="210312" cy="210312"/>
          </a:xfrm>
          <a:prstGeom prst="ellipse">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noAutofit/>
          </a:bodyPr>
          <a:lstStyle/>
          <a:p>
            <a:pPr algn="ctr">
              <a:lnSpc>
                <a:spcPct val="100000"/>
              </a:lnSpc>
            </a:pPr>
            <a:r>
              <a:rPr sz="1000" b="1">
                <a:solidFill>
                  <a:srgbClr val="FFFFFF"/>
                </a:solidFill>
                <a:latin typeface="Calibri"/>
              </a:rPr>
              <a:t>2</a:t>
            </a:r>
          </a:p>
        </p:txBody>
      </p:sp>
      <p:sp>
        <p:nvSpPr>
          <p:cNvPr id="17" name="TextBox 16"/>
          <p:cNvSpPr txBox="1"/>
          <p:nvPr/>
        </p:nvSpPr>
        <p:spPr>
          <a:xfrm>
            <a:off x="8787384" y="1741932"/>
            <a:ext cx="2962656" cy="338328"/>
          </a:xfrm>
          <a:prstGeom prst="rect">
            <a:avLst/>
          </a:prstGeom>
          <a:noFill/>
        </p:spPr>
        <p:txBody>
          <a:bodyPr wrap="square" anchor="t" lIns="0" rIns="0" tIns="0" bIns="0">
            <a:spAutoFit/>
          </a:bodyPr>
          <a:lstStyle/>
          <a:p>
            <a:pPr algn="l">
              <a:lnSpc>
                <a:spcPct val="105000"/>
              </a:lnSpc>
            </a:pPr>
            <a:r>
              <a:rPr sz="1050" b="0">
                <a:solidFill>
                  <a:srgbClr val="1B2A33"/>
                </a:solidFill>
                <a:latin typeface="Calibri"/>
              </a:rPr>
              <a:t>What happened, and what the customer expects</a:t>
            </a:r>
          </a:p>
        </p:txBody>
      </p:sp>
      <p:sp>
        <p:nvSpPr>
          <p:cNvPr id="18" name="Oval 17"/>
          <p:cNvSpPr/>
          <p:nvPr/>
        </p:nvSpPr>
        <p:spPr>
          <a:xfrm>
            <a:off x="8458200" y="2153412"/>
            <a:ext cx="210312" cy="210312"/>
          </a:xfrm>
          <a:prstGeom prst="ellipse">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noAutofit/>
          </a:bodyPr>
          <a:lstStyle/>
          <a:p>
            <a:pPr algn="ctr">
              <a:lnSpc>
                <a:spcPct val="100000"/>
              </a:lnSpc>
            </a:pPr>
            <a:r>
              <a:rPr sz="1000" b="1">
                <a:solidFill>
                  <a:srgbClr val="FFFFFF"/>
                </a:solidFill>
                <a:latin typeface="Calibri"/>
              </a:rPr>
              <a:t>3</a:t>
            </a:r>
          </a:p>
        </p:txBody>
      </p:sp>
      <p:sp>
        <p:nvSpPr>
          <p:cNvPr id="19" name="TextBox 18"/>
          <p:cNvSpPr txBox="1"/>
          <p:nvPr/>
        </p:nvSpPr>
        <p:spPr>
          <a:xfrm>
            <a:off x="8787384" y="2171700"/>
            <a:ext cx="2962656" cy="169164"/>
          </a:xfrm>
          <a:prstGeom prst="rect">
            <a:avLst/>
          </a:prstGeom>
          <a:noFill/>
        </p:spPr>
        <p:txBody>
          <a:bodyPr wrap="square" anchor="t" lIns="0" rIns="0" tIns="0" bIns="0">
            <a:spAutoFit/>
          </a:bodyPr>
          <a:lstStyle/>
          <a:p>
            <a:pPr algn="l">
              <a:lnSpc>
                <a:spcPct val="105000"/>
              </a:lnSpc>
            </a:pPr>
            <a:r>
              <a:rPr sz="1050" b="0">
                <a:solidFill>
                  <a:srgbClr val="1B2A33"/>
                </a:solidFill>
                <a:latin typeface="Calibri"/>
              </a:rPr>
              <a:t>Priority and category</a:t>
            </a:r>
          </a:p>
        </p:txBody>
      </p:sp>
      <p:sp>
        <p:nvSpPr>
          <p:cNvPr id="20" name="Oval 19"/>
          <p:cNvSpPr/>
          <p:nvPr/>
        </p:nvSpPr>
        <p:spPr>
          <a:xfrm>
            <a:off x="8458200" y="2414016"/>
            <a:ext cx="210312" cy="210312"/>
          </a:xfrm>
          <a:prstGeom prst="ellipse">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noAutofit/>
          </a:bodyPr>
          <a:lstStyle/>
          <a:p>
            <a:pPr algn="ctr">
              <a:lnSpc>
                <a:spcPct val="100000"/>
              </a:lnSpc>
            </a:pPr>
            <a:r>
              <a:rPr sz="1000" b="1">
                <a:solidFill>
                  <a:srgbClr val="FFFFFF"/>
                </a:solidFill>
                <a:latin typeface="Calibri"/>
              </a:rPr>
              <a:t>4</a:t>
            </a:r>
          </a:p>
        </p:txBody>
      </p:sp>
      <p:sp>
        <p:nvSpPr>
          <p:cNvPr id="21" name="TextBox 20"/>
          <p:cNvSpPr txBox="1"/>
          <p:nvPr/>
        </p:nvSpPr>
        <p:spPr>
          <a:xfrm>
            <a:off x="8787384" y="2432304"/>
            <a:ext cx="2962656" cy="338328"/>
          </a:xfrm>
          <a:prstGeom prst="rect">
            <a:avLst/>
          </a:prstGeom>
          <a:noFill/>
        </p:spPr>
        <p:txBody>
          <a:bodyPr wrap="square" anchor="t" lIns="0" rIns="0" tIns="0" bIns="0">
            <a:spAutoFit/>
          </a:bodyPr>
          <a:lstStyle/>
          <a:p>
            <a:pPr algn="l">
              <a:lnSpc>
                <a:spcPct val="105000"/>
              </a:lnSpc>
            </a:pPr>
            <a:r>
              <a:rPr sz="1050" b="0">
                <a:solidFill>
                  <a:srgbClr val="1B2A33"/>
                </a:solidFill>
                <a:latin typeface="Calibri"/>
              </a:rPr>
              <a:t>Attach evidence — drag files here, or choose them</a:t>
            </a:r>
          </a:p>
        </p:txBody>
      </p:sp>
      <p:sp>
        <p:nvSpPr>
          <p:cNvPr id="22" name="Rectangle 21"/>
          <p:cNvSpPr/>
          <p:nvPr/>
        </p:nvSpPr>
        <p:spPr>
          <a:xfrm>
            <a:off x="8458200" y="2990088"/>
            <a:ext cx="45720" cy="822960"/>
          </a:xfrm>
          <a:prstGeom prst="rect">
            <a:avLst/>
          </a:prstGeom>
          <a:solidFill>
            <a:srgbClr val="0E4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22792" y="2990088"/>
            <a:ext cx="3127248" cy="164592"/>
          </a:xfrm>
          <a:prstGeom prst="rect">
            <a:avLst/>
          </a:prstGeom>
          <a:noFill/>
        </p:spPr>
        <p:txBody>
          <a:bodyPr wrap="square" anchor="t" lIns="0" rIns="0" tIns="0" bIns="0">
            <a:spAutoFit/>
          </a:bodyPr>
          <a:lstStyle/>
          <a:p>
            <a:pPr algn="l">
              <a:lnSpc>
                <a:spcPct val="115000"/>
              </a:lnSpc>
            </a:pPr>
            <a:r>
              <a:rPr sz="950" b="1">
                <a:solidFill>
                  <a:srgbClr val="0E4F4A"/>
                </a:solidFill>
                <a:latin typeface="Calibri"/>
              </a:rPr>
              <a:t>ACTION</a:t>
            </a:r>
          </a:p>
        </p:txBody>
      </p:sp>
      <p:sp>
        <p:nvSpPr>
          <p:cNvPr id="24" name="TextBox 23"/>
          <p:cNvSpPr txBox="1"/>
          <p:nvPr/>
        </p:nvSpPr>
        <p:spPr>
          <a:xfrm>
            <a:off x="8622792" y="3182112"/>
            <a:ext cx="3127248" cy="640080"/>
          </a:xfrm>
          <a:prstGeom prst="rect">
            <a:avLst/>
          </a:prstGeom>
          <a:noFill/>
        </p:spPr>
        <p:txBody>
          <a:bodyPr wrap="square" anchor="t" lIns="0" rIns="0" tIns="0" bIns="0">
            <a:spAutoFit/>
          </a:bodyPr>
          <a:lstStyle/>
          <a:p>
            <a:pPr algn="l">
              <a:lnSpc>
                <a:spcPct val="108000"/>
              </a:lnSpc>
            </a:pPr>
            <a:r>
              <a:rPr sz="1100" b="0">
                <a:solidFill>
                  <a:srgbClr val="1B2A33"/>
                </a:solidFill>
                <a:latin typeface="Calibri"/>
              </a:rPr>
              <a:t>Complete the form and attach a screenshot, statement or spreadsheet. Up to 15 MB per file; images, PDF, Word, Excel, text and CSV.</a:t>
            </a:r>
          </a:p>
        </p:txBody>
      </p:sp>
      <p:sp>
        <p:nvSpPr>
          <p:cNvPr id="25" name="Rectangle 24"/>
          <p:cNvSpPr/>
          <p:nvPr/>
        </p:nvSpPr>
        <p:spPr>
          <a:xfrm>
            <a:off x="8458200" y="4014216"/>
            <a:ext cx="45720" cy="822960"/>
          </a:xfrm>
          <a:prstGeom prst="rect">
            <a:avLst/>
          </a:prstGeom>
          <a:solidFill>
            <a:srgbClr val="1E7A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622792" y="4014216"/>
            <a:ext cx="3127248" cy="164592"/>
          </a:xfrm>
          <a:prstGeom prst="rect">
            <a:avLst/>
          </a:prstGeom>
          <a:noFill/>
        </p:spPr>
        <p:txBody>
          <a:bodyPr wrap="square" anchor="t" lIns="0" rIns="0" tIns="0" bIns="0">
            <a:spAutoFit/>
          </a:bodyPr>
          <a:lstStyle/>
          <a:p>
            <a:pPr algn="l">
              <a:lnSpc>
                <a:spcPct val="115000"/>
              </a:lnSpc>
            </a:pPr>
            <a:r>
              <a:rPr sz="950" b="1">
                <a:solidFill>
                  <a:srgbClr val="1E7A53"/>
                </a:solidFill>
                <a:latin typeface="Calibri"/>
              </a:rPr>
              <a:t>RESULT</a:t>
            </a:r>
          </a:p>
        </p:txBody>
      </p:sp>
      <p:sp>
        <p:nvSpPr>
          <p:cNvPr id="27" name="TextBox 26"/>
          <p:cNvSpPr txBox="1"/>
          <p:nvPr/>
        </p:nvSpPr>
        <p:spPr>
          <a:xfrm>
            <a:off x="8622792" y="4206240"/>
            <a:ext cx="3127248" cy="640080"/>
          </a:xfrm>
          <a:prstGeom prst="rect">
            <a:avLst/>
          </a:prstGeom>
          <a:noFill/>
        </p:spPr>
        <p:txBody>
          <a:bodyPr wrap="square" anchor="t" lIns="0" rIns="0" tIns="0" bIns="0">
            <a:spAutoFit/>
          </a:bodyPr>
          <a:lstStyle/>
          <a:p>
            <a:pPr algn="l">
              <a:lnSpc>
                <a:spcPct val="108000"/>
              </a:lnSpc>
            </a:pPr>
            <a:r>
              <a:rPr sz="1100" b="0">
                <a:solidFill>
                  <a:srgbClr val="1B2A33"/>
                </a:solidFill>
                <a:latin typeface="Calibri"/>
              </a:rPr>
              <a:t>Files are held in the browser and uploaded the moment the ticket is created — so evidence arrives with the report, not after it.</a:t>
            </a:r>
          </a:p>
        </p:txBody>
      </p:sp>
      <p:sp>
        <p:nvSpPr>
          <p:cNvPr id="28" name="Rectangle 27"/>
          <p:cNvSpPr/>
          <p:nvPr/>
        </p:nvSpPr>
        <p:spPr>
          <a:xfrm>
            <a:off x="8458200" y="5038344"/>
            <a:ext cx="45720" cy="342900"/>
          </a:xfrm>
          <a:prstGeom prst="rect">
            <a:avLst/>
          </a:prstGeom>
          <a:solidFill>
            <a:srgbClr val="5B6B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622792" y="5038344"/>
            <a:ext cx="3127248" cy="164592"/>
          </a:xfrm>
          <a:prstGeom prst="rect">
            <a:avLst/>
          </a:prstGeom>
          <a:noFill/>
        </p:spPr>
        <p:txBody>
          <a:bodyPr wrap="square" anchor="t" lIns="0" rIns="0" tIns="0" bIns="0">
            <a:spAutoFit/>
          </a:bodyPr>
          <a:lstStyle/>
          <a:p>
            <a:pPr algn="l">
              <a:lnSpc>
                <a:spcPct val="115000"/>
              </a:lnSpc>
            </a:pPr>
            <a:r>
              <a:rPr sz="950" b="1">
                <a:solidFill>
                  <a:srgbClr val="5B6B75"/>
                </a:solidFill>
                <a:latin typeface="Calibri"/>
              </a:rPr>
              <a:t>NEXT</a:t>
            </a:r>
          </a:p>
        </p:txBody>
      </p:sp>
      <p:sp>
        <p:nvSpPr>
          <p:cNvPr id="30" name="TextBox 29"/>
          <p:cNvSpPr txBox="1"/>
          <p:nvPr/>
        </p:nvSpPr>
        <p:spPr>
          <a:xfrm>
            <a:off x="8622792" y="5230368"/>
            <a:ext cx="3127248" cy="160020"/>
          </a:xfrm>
          <a:prstGeom prst="rect">
            <a:avLst/>
          </a:prstGeom>
          <a:noFill/>
        </p:spPr>
        <p:txBody>
          <a:bodyPr wrap="square" anchor="t" lIns="0" rIns="0" tIns="0" bIns="0">
            <a:spAutoFit/>
          </a:bodyPr>
          <a:lstStyle/>
          <a:p>
            <a:pPr algn="l">
              <a:lnSpc>
                <a:spcPct val="108000"/>
              </a:lnSpc>
            </a:pPr>
            <a:r>
              <a:rPr sz="1100" b="0">
                <a:solidFill>
                  <a:srgbClr val="1B2A33"/>
                </a:solidFill>
                <a:latin typeface="Calibri"/>
              </a:rPr>
              <a:t>Step 06 — submit and follow it.</a:t>
            </a:r>
          </a:p>
        </p:txBody>
      </p:sp>
      <p:sp>
        <p:nvSpPr>
          <p:cNvPr id="31" name="Rectangle 30"/>
          <p:cNvSpPr/>
          <p:nvPr/>
        </p:nvSpPr>
        <p:spPr>
          <a:xfrm>
            <a:off x="0" y="6473952"/>
            <a:ext cx="12191695" cy="384048"/>
          </a:xfrm>
          <a:prstGeom prst="rect">
            <a:avLst/>
          </a:prstGeom>
          <a:solidFill>
            <a:srgbClr val="F3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2920" y="6547104"/>
            <a:ext cx="8229600" cy="228600"/>
          </a:xfrm>
          <a:prstGeom prst="rect">
            <a:avLst/>
          </a:prstGeom>
          <a:noFill/>
        </p:spPr>
        <p:txBody>
          <a:bodyPr wrap="square" anchor="t" lIns="0" rIns="0" tIns="0" bIns="0">
            <a:spAutoFit/>
          </a:bodyPr>
          <a:lstStyle/>
          <a:p>
            <a:pPr algn="l">
              <a:lnSpc>
                <a:spcPct val="115000"/>
              </a:lnSpc>
            </a:pPr>
            <a:r>
              <a:rPr sz="900" b="0">
                <a:solidFill>
                  <a:srgbClr val="5B6B75"/>
                </a:solidFill>
                <a:latin typeface="Calibri"/>
              </a:rPr>
              <a:t>SUCCESS Bank — Internal Ticketing · Standard Operating Procedure</a:t>
            </a:r>
          </a:p>
        </p:txBody>
      </p:sp>
      <p:sp>
        <p:nvSpPr>
          <p:cNvPr id="33" name="TextBox 32"/>
          <p:cNvSpPr txBox="1"/>
          <p:nvPr/>
        </p:nvSpPr>
        <p:spPr>
          <a:xfrm>
            <a:off x="9997135" y="6547104"/>
            <a:ext cx="1691640" cy="228600"/>
          </a:xfrm>
          <a:prstGeom prst="rect">
            <a:avLst/>
          </a:prstGeom>
          <a:noFill/>
        </p:spPr>
        <p:txBody>
          <a:bodyPr wrap="square" anchor="t" lIns="0" rIns="0" tIns="0" bIns="0">
            <a:spAutoFit/>
          </a:bodyPr>
          <a:lstStyle/>
          <a:p>
            <a:pPr algn="r">
              <a:lnSpc>
                <a:spcPct val="115000"/>
              </a:lnSpc>
            </a:pPr>
            <a:r>
              <a:rPr sz="900" b="0">
                <a:solidFill>
                  <a:srgbClr val="5B6B75"/>
                </a:solidFill>
                <a:latin typeface="Calibri"/>
              </a:rPr>
              <a:t>Step 05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0E4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36576"/>
          </a:xfrm>
          <a:prstGeom prst="rect">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55448"/>
            <a:ext cx="1371600" cy="274320"/>
          </a:xfrm>
          <a:prstGeom prst="rect">
            <a:avLst/>
          </a:prstGeom>
          <a:noFill/>
        </p:spPr>
        <p:txBody>
          <a:bodyPr wrap="square" anchor="t" lIns="0" rIns="0" tIns="0" bIns="0">
            <a:spAutoFit/>
          </a:bodyPr>
          <a:lstStyle/>
          <a:p>
            <a:pPr algn="l">
              <a:lnSpc>
                <a:spcPct val="115000"/>
              </a:lnSpc>
            </a:pPr>
            <a:r>
              <a:rPr sz="1200" b="1">
                <a:solidFill>
                  <a:srgbClr val="C25B2E"/>
                </a:solidFill>
                <a:latin typeface="Calibri"/>
              </a:rPr>
              <a:t>STEP 06</a:t>
            </a:r>
          </a:p>
        </p:txBody>
      </p:sp>
      <p:sp>
        <p:nvSpPr>
          <p:cNvPr id="5" name="TextBox 4"/>
          <p:cNvSpPr txBox="1"/>
          <p:nvPr/>
        </p:nvSpPr>
        <p:spPr>
          <a:xfrm>
            <a:off x="502920" y="420624"/>
            <a:ext cx="8412480" cy="365760"/>
          </a:xfrm>
          <a:prstGeom prst="rect">
            <a:avLst/>
          </a:prstGeom>
          <a:noFill/>
        </p:spPr>
        <p:txBody>
          <a:bodyPr wrap="square" anchor="t" lIns="0" rIns="0" tIns="0" bIns="0">
            <a:spAutoFit/>
          </a:bodyPr>
          <a:lstStyle/>
          <a:p>
            <a:pPr algn="l">
              <a:lnSpc>
                <a:spcPct val="115000"/>
              </a:lnSpc>
            </a:pPr>
            <a:r>
              <a:rPr sz="2000" b="1">
                <a:solidFill>
                  <a:srgbClr val="FFFFFF"/>
                </a:solidFill>
                <a:latin typeface="Calibri"/>
              </a:rPr>
              <a:t>Follow your ticket</a:t>
            </a:r>
          </a:p>
        </p:txBody>
      </p:sp>
      <p:sp>
        <p:nvSpPr>
          <p:cNvPr id="6" name="TextBox 5"/>
          <p:cNvSpPr txBox="1"/>
          <p:nvPr/>
        </p:nvSpPr>
        <p:spPr>
          <a:xfrm>
            <a:off x="9174175" y="320040"/>
            <a:ext cx="2514600" cy="274320"/>
          </a:xfrm>
          <a:prstGeom prst="rect">
            <a:avLst/>
          </a:prstGeom>
          <a:noFill/>
        </p:spPr>
        <p:txBody>
          <a:bodyPr wrap="square" anchor="t" lIns="0" rIns="0" tIns="0" bIns="0">
            <a:spAutoFit/>
          </a:bodyPr>
          <a:lstStyle/>
          <a:p>
            <a:pPr algn="r">
              <a:lnSpc>
                <a:spcPct val="115000"/>
              </a:lnSpc>
            </a:pPr>
            <a:r>
              <a:rPr sz="1100" b="1">
                <a:solidFill>
                  <a:srgbClr val="F3ECE0"/>
                </a:solidFill>
                <a:latin typeface="Calibri"/>
              </a:rPr>
              <a:t>BRANCH USER</a:t>
            </a:r>
          </a:p>
        </p:txBody>
      </p:sp>
      <p:sp>
        <p:nvSpPr>
          <p:cNvPr id="7" name="Rectangle 6"/>
          <p:cNvSpPr/>
          <p:nvPr/>
        </p:nvSpPr>
        <p:spPr>
          <a:xfrm>
            <a:off x="388620" y="1165860"/>
            <a:ext cx="7818120" cy="4903470"/>
          </a:xfrm>
          <a:prstGeom prst="rect">
            <a:avLst/>
          </a:prstGeom>
          <a:solidFill>
            <a:srgbClr val="D6CE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411480" y="1188720"/>
            <a:ext cx="7772400" cy="4855464"/>
          </a:xfrm>
          <a:prstGeom prst="rect">
            <a:avLst/>
          </a:prstGeom>
        </p:spPr>
      </p:pic>
      <p:sp>
        <p:nvSpPr>
          <p:cNvPr id="9" name="Oval 8"/>
          <p:cNvSpPr/>
          <p:nvPr/>
        </p:nvSpPr>
        <p:spPr>
          <a:xfrm>
            <a:off x="5979946" y="3228803"/>
            <a:ext cx="274320" cy="274320"/>
          </a:xfrm>
          <a:prstGeom prst="ellipse">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noAutofit/>
          </a:bodyPr>
          <a:lstStyle/>
          <a:p>
            <a:pPr algn="ctr">
              <a:lnSpc>
                <a:spcPct val="100000"/>
              </a:lnSpc>
            </a:pPr>
            <a:r>
              <a:rPr sz="1300" b="1">
                <a:solidFill>
                  <a:srgbClr val="FFFFFF"/>
                </a:solidFill>
                <a:latin typeface="Calibri"/>
              </a:rPr>
              <a:t>1</a:t>
            </a:r>
          </a:p>
        </p:txBody>
      </p:sp>
      <p:sp>
        <p:nvSpPr>
          <p:cNvPr id="10" name="Oval 9"/>
          <p:cNvSpPr/>
          <p:nvPr/>
        </p:nvSpPr>
        <p:spPr>
          <a:xfrm>
            <a:off x="5769314" y="3885085"/>
            <a:ext cx="274320" cy="274320"/>
          </a:xfrm>
          <a:prstGeom prst="ellipse">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noAutofit/>
          </a:bodyPr>
          <a:lstStyle/>
          <a:p>
            <a:pPr algn="ctr">
              <a:lnSpc>
                <a:spcPct val="100000"/>
              </a:lnSpc>
            </a:pPr>
            <a:r>
              <a:rPr sz="1300" b="1">
                <a:solidFill>
                  <a:srgbClr val="FFFFFF"/>
                </a:solidFill>
                <a:latin typeface="Calibri"/>
              </a:rPr>
              <a:t>2</a:t>
            </a:r>
          </a:p>
        </p:txBody>
      </p:sp>
      <p:sp>
        <p:nvSpPr>
          <p:cNvPr id="11" name="Oval 10"/>
          <p:cNvSpPr/>
          <p:nvPr/>
        </p:nvSpPr>
        <p:spPr>
          <a:xfrm>
            <a:off x="1523252" y="4754137"/>
            <a:ext cx="274320" cy="274320"/>
          </a:xfrm>
          <a:prstGeom prst="ellipse">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noAutofit/>
          </a:bodyPr>
          <a:lstStyle/>
          <a:p>
            <a:pPr algn="ctr">
              <a:lnSpc>
                <a:spcPct val="100000"/>
              </a:lnSpc>
            </a:pPr>
            <a:r>
              <a:rPr sz="1300" b="1">
                <a:solidFill>
                  <a:srgbClr val="FFFFFF"/>
                </a:solidFill>
                <a:latin typeface="Calibri"/>
              </a:rPr>
              <a:t>3</a:t>
            </a:r>
          </a:p>
        </p:txBody>
      </p:sp>
      <p:sp>
        <p:nvSpPr>
          <p:cNvPr id="12" name="Oval 11"/>
          <p:cNvSpPr/>
          <p:nvPr/>
        </p:nvSpPr>
        <p:spPr>
          <a:xfrm>
            <a:off x="5769314" y="5762120"/>
            <a:ext cx="274320" cy="274320"/>
          </a:xfrm>
          <a:prstGeom prst="ellipse">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noAutofit/>
          </a:bodyPr>
          <a:lstStyle/>
          <a:p>
            <a:pPr algn="ctr">
              <a:lnSpc>
                <a:spcPct val="100000"/>
              </a:lnSpc>
            </a:pPr>
            <a:r>
              <a:rPr sz="1300" b="1">
                <a:solidFill>
                  <a:srgbClr val="FFFFFF"/>
                </a:solidFill>
                <a:latin typeface="Calibri"/>
              </a:rPr>
              <a:t>4</a:t>
            </a:r>
          </a:p>
        </p:txBody>
      </p:sp>
      <p:sp>
        <p:nvSpPr>
          <p:cNvPr id="13" name="TextBox 12"/>
          <p:cNvSpPr txBox="1"/>
          <p:nvPr/>
        </p:nvSpPr>
        <p:spPr>
          <a:xfrm>
            <a:off x="8458200" y="1188720"/>
            <a:ext cx="3291840" cy="219456"/>
          </a:xfrm>
          <a:prstGeom prst="rect">
            <a:avLst/>
          </a:prstGeom>
          <a:noFill/>
        </p:spPr>
        <p:txBody>
          <a:bodyPr wrap="square" anchor="t" lIns="0" rIns="0" tIns="0" bIns="0">
            <a:spAutoFit/>
          </a:bodyPr>
          <a:lstStyle/>
          <a:p>
            <a:pPr algn="l">
              <a:lnSpc>
                <a:spcPct val="115000"/>
              </a:lnSpc>
            </a:pPr>
            <a:r>
              <a:rPr sz="1000" b="1">
                <a:solidFill>
                  <a:srgbClr val="C25B2E"/>
                </a:solidFill>
                <a:latin typeface="Calibri"/>
              </a:rPr>
              <a:t>ON THIS SCREEN</a:t>
            </a:r>
          </a:p>
        </p:txBody>
      </p:sp>
      <p:sp>
        <p:nvSpPr>
          <p:cNvPr id="14" name="Oval 13"/>
          <p:cNvSpPr/>
          <p:nvPr/>
        </p:nvSpPr>
        <p:spPr>
          <a:xfrm>
            <a:off x="8458200" y="1463040"/>
            <a:ext cx="210312" cy="210312"/>
          </a:xfrm>
          <a:prstGeom prst="ellipse">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noAutofit/>
          </a:bodyPr>
          <a:lstStyle/>
          <a:p>
            <a:pPr algn="ctr">
              <a:lnSpc>
                <a:spcPct val="100000"/>
              </a:lnSpc>
            </a:pPr>
            <a:r>
              <a:rPr sz="1000" b="1">
                <a:solidFill>
                  <a:srgbClr val="FFFFFF"/>
                </a:solidFill>
                <a:latin typeface="Calibri"/>
              </a:rPr>
              <a:t>1</a:t>
            </a:r>
          </a:p>
        </p:txBody>
      </p:sp>
      <p:sp>
        <p:nvSpPr>
          <p:cNvPr id="15" name="TextBox 14"/>
          <p:cNvSpPr txBox="1"/>
          <p:nvPr/>
        </p:nvSpPr>
        <p:spPr>
          <a:xfrm>
            <a:off x="8787384" y="1481328"/>
            <a:ext cx="2962656" cy="169164"/>
          </a:xfrm>
          <a:prstGeom prst="rect">
            <a:avLst/>
          </a:prstGeom>
          <a:noFill/>
        </p:spPr>
        <p:txBody>
          <a:bodyPr wrap="square" anchor="t" lIns="0" rIns="0" tIns="0" bIns="0">
            <a:spAutoFit/>
          </a:bodyPr>
          <a:lstStyle/>
          <a:p>
            <a:pPr algn="l">
              <a:lnSpc>
                <a:spcPct val="105000"/>
              </a:lnSpc>
            </a:pPr>
            <a:r>
              <a:rPr sz="1050" b="0">
                <a:solidFill>
                  <a:srgbClr val="1B2A33"/>
                </a:solidFill>
                <a:latin typeface="Calibri"/>
              </a:rPr>
              <a:t>Number, status and SLA countdown</a:t>
            </a:r>
          </a:p>
        </p:txBody>
      </p:sp>
      <p:sp>
        <p:nvSpPr>
          <p:cNvPr id="16" name="Oval 15"/>
          <p:cNvSpPr/>
          <p:nvPr/>
        </p:nvSpPr>
        <p:spPr>
          <a:xfrm>
            <a:off x="8458200" y="1723644"/>
            <a:ext cx="210312" cy="210312"/>
          </a:xfrm>
          <a:prstGeom prst="ellipse">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noAutofit/>
          </a:bodyPr>
          <a:lstStyle/>
          <a:p>
            <a:pPr algn="ctr">
              <a:lnSpc>
                <a:spcPct val="100000"/>
              </a:lnSpc>
            </a:pPr>
            <a:r>
              <a:rPr sz="1000" b="1">
                <a:solidFill>
                  <a:srgbClr val="FFFFFF"/>
                </a:solidFill>
                <a:latin typeface="Calibri"/>
              </a:rPr>
              <a:t>2</a:t>
            </a:r>
          </a:p>
        </p:txBody>
      </p:sp>
      <p:sp>
        <p:nvSpPr>
          <p:cNvPr id="17" name="TextBox 16"/>
          <p:cNvSpPr txBox="1"/>
          <p:nvPr/>
        </p:nvSpPr>
        <p:spPr>
          <a:xfrm>
            <a:off x="8787384" y="1741932"/>
            <a:ext cx="2962656" cy="169164"/>
          </a:xfrm>
          <a:prstGeom prst="rect">
            <a:avLst/>
          </a:prstGeom>
          <a:noFill/>
        </p:spPr>
        <p:txBody>
          <a:bodyPr wrap="square" anchor="t" lIns="0" rIns="0" tIns="0" bIns="0">
            <a:spAutoFit/>
          </a:bodyPr>
          <a:lstStyle/>
          <a:p>
            <a:pPr algn="l">
              <a:lnSpc>
                <a:spcPct val="105000"/>
              </a:lnSpc>
            </a:pPr>
            <a:r>
              <a:rPr sz="1050" b="0">
                <a:solidFill>
                  <a:srgbClr val="1B2A33"/>
                </a:solidFill>
                <a:latin typeface="Calibri"/>
              </a:rPr>
              <a:t>Your attachments</a:t>
            </a:r>
          </a:p>
        </p:txBody>
      </p:sp>
      <p:sp>
        <p:nvSpPr>
          <p:cNvPr id="18" name="Oval 17"/>
          <p:cNvSpPr/>
          <p:nvPr/>
        </p:nvSpPr>
        <p:spPr>
          <a:xfrm>
            <a:off x="8458200" y="1984248"/>
            <a:ext cx="210312" cy="210312"/>
          </a:xfrm>
          <a:prstGeom prst="ellipse">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noAutofit/>
          </a:bodyPr>
          <a:lstStyle/>
          <a:p>
            <a:pPr algn="ctr">
              <a:lnSpc>
                <a:spcPct val="100000"/>
              </a:lnSpc>
            </a:pPr>
            <a:r>
              <a:rPr sz="1000" b="1">
                <a:solidFill>
                  <a:srgbClr val="FFFFFF"/>
                </a:solidFill>
                <a:latin typeface="Calibri"/>
              </a:rPr>
              <a:t>3</a:t>
            </a:r>
          </a:p>
        </p:txBody>
      </p:sp>
      <p:sp>
        <p:nvSpPr>
          <p:cNvPr id="19" name="TextBox 18"/>
          <p:cNvSpPr txBox="1"/>
          <p:nvPr/>
        </p:nvSpPr>
        <p:spPr>
          <a:xfrm>
            <a:off x="8787384" y="2002536"/>
            <a:ext cx="2962656" cy="169164"/>
          </a:xfrm>
          <a:prstGeom prst="rect">
            <a:avLst/>
          </a:prstGeom>
          <a:noFill/>
        </p:spPr>
        <p:txBody>
          <a:bodyPr wrap="square" anchor="t" lIns="0" rIns="0" tIns="0" bIns="0">
            <a:spAutoFit/>
          </a:bodyPr>
          <a:lstStyle/>
          <a:p>
            <a:pPr algn="l">
              <a:lnSpc>
                <a:spcPct val="105000"/>
              </a:lnSpc>
            </a:pPr>
            <a:r>
              <a:rPr sz="1050" b="0">
                <a:solidFill>
                  <a:srgbClr val="1B2A33"/>
                </a:solidFill>
                <a:latin typeface="Calibri"/>
              </a:rPr>
              <a:t>Add more detail for the agent</a:t>
            </a:r>
          </a:p>
        </p:txBody>
      </p:sp>
      <p:sp>
        <p:nvSpPr>
          <p:cNvPr id="20" name="Oval 19"/>
          <p:cNvSpPr/>
          <p:nvPr/>
        </p:nvSpPr>
        <p:spPr>
          <a:xfrm>
            <a:off x="8458200" y="2244852"/>
            <a:ext cx="210312" cy="210312"/>
          </a:xfrm>
          <a:prstGeom prst="ellipse">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noAutofit/>
          </a:bodyPr>
          <a:lstStyle/>
          <a:p>
            <a:pPr algn="ctr">
              <a:lnSpc>
                <a:spcPct val="100000"/>
              </a:lnSpc>
            </a:pPr>
            <a:r>
              <a:rPr sz="1000" b="1">
                <a:solidFill>
                  <a:srgbClr val="FFFFFF"/>
                </a:solidFill>
                <a:latin typeface="Calibri"/>
              </a:rPr>
              <a:t>4</a:t>
            </a:r>
          </a:p>
        </p:txBody>
      </p:sp>
      <p:sp>
        <p:nvSpPr>
          <p:cNvPr id="21" name="TextBox 20"/>
          <p:cNvSpPr txBox="1"/>
          <p:nvPr/>
        </p:nvSpPr>
        <p:spPr>
          <a:xfrm>
            <a:off x="8787384" y="2263140"/>
            <a:ext cx="2962656" cy="169164"/>
          </a:xfrm>
          <a:prstGeom prst="rect">
            <a:avLst/>
          </a:prstGeom>
          <a:noFill/>
        </p:spPr>
        <p:txBody>
          <a:bodyPr wrap="square" anchor="t" lIns="0" rIns="0" tIns="0" bIns="0">
            <a:spAutoFit/>
          </a:bodyPr>
          <a:lstStyle/>
          <a:p>
            <a:pPr algn="l">
              <a:lnSpc>
                <a:spcPct val="105000"/>
              </a:lnSpc>
            </a:pPr>
            <a:r>
              <a:rPr sz="1050" b="0">
                <a:solidFill>
                  <a:srgbClr val="1B2A33"/>
                </a:solidFill>
                <a:latin typeface="Calibri"/>
              </a:rPr>
              <a:t>Who owns it now</a:t>
            </a:r>
          </a:p>
        </p:txBody>
      </p:sp>
      <p:sp>
        <p:nvSpPr>
          <p:cNvPr id="22" name="Rectangle 21"/>
          <p:cNvSpPr/>
          <p:nvPr/>
        </p:nvSpPr>
        <p:spPr>
          <a:xfrm>
            <a:off x="8458200" y="2651760"/>
            <a:ext cx="45720" cy="502920"/>
          </a:xfrm>
          <a:prstGeom prst="rect">
            <a:avLst/>
          </a:prstGeom>
          <a:solidFill>
            <a:srgbClr val="0E4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22792" y="2651760"/>
            <a:ext cx="3127248" cy="164592"/>
          </a:xfrm>
          <a:prstGeom prst="rect">
            <a:avLst/>
          </a:prstGeom>
          <a:noFill/>
        </p:spPr>
        <p:txBody>
          <a:bodyPr wrap="square" anchor="t" lIns="0" rIns="0" tIns="0" bIns="0">
            <a:spAutoFit/>
          </a:bodyPr>
          <a:lstStyle/>
          <a:p>
            <a:pPr algn="l">
              <a:lnSpc>
                <a:spcPct val="115000"/>
              </a:lnSpc>
            </a:pPr>
            <a:r>
              <a:rPr sz="950" b="1">
                <a:solidFill>
                  <a:srgbClr val="0E4F4A"/>
                </a:solidFill>
                <a:latin typeface="Calibri"/>
              </a:rPr>
              <a:t>ACTION</a:t>
            </a:r>
          </a:p>
        </p:txBody>
      </p:sp>
      <p:sp>
        <p:nvSpPr>
          <p:cNvPr id="24" name="TextBox 23"/>
          <p:cNvSpPr txBox="1"/>
          <p:nvPr/>
        </p:nvSpPr>
        <p:spPr>
          <a:xfrm>
            <a:off x="8622792" y="2843784"/>
            <a:ext cx="3127248" cy="320040"/>
          </a:xfrm>
          <a:prstGeom prst="rect">
            <a:avLst/>
          </a:prstGeom>
          <a:noFill/>
        </p:spPr>
        <p:txBody>
          <a:bodyPr wrap="square" anchor="t" lIns="0" rIns="0" tIns="0" bIns="0">
            <a:spAutoFit/>
          </a:bodyPr>
          <a:lstStyle/>
          <a:p>
            <a:pPr algn="l">
              <a:lnSpc>
                <a:spcPct val="108000"/>
              </a:lnSpc>
            </a:pPr>
            <a:r>
              <a:rPr sz="1100" b="0">
                <a:solidFill>
                  <a:srgbClr val="1B2A33"/>
                </a:solidFill>
                <a:latin typeface="Calibri"/>
              </a:rPr>
              <a:t>Open the ticket from your list to see where it stands.</a:t>
            </a:r>
          </a:p>
        </p:txBody>
      </p:sp>
      <p:sp>
        <p:nvSpPr>
          <p:cNvPr id="25" name="Rectangle 24"/>
          <p:cNvSpPr/>
          <p:nvPr/>
        </p:nvSpPr>
        <p:spPr>
          <a:xfrm>
            <a:off x="8458200" y="3355848"/>
            <a:ext cx="45720" cy="662940"/>
          </a:xfrm>
          <a:prstGeom prst="rect">
            <a:avLst/>
          </a:prstGeom>
          <a:solidFill>
            <a:srgbClr val="1E7A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622792" y="3355848"/>
            <a:ext cx="3127248" cy="164592"/>
          </a:xfrm>
          <a:prstGeom prst="rect">
            <a:avLst/>
          </a:prstGeom>
          <a:noFill/>
        </p:spPr>
        <p:txBody>
          <a:bodyPr wrap="square" anchor="t" lIns="0" rIns="0" tIns="0" bIns="0">
            <a:spAutoFit/>
          </a:bodyPr>
          <a:lstStyle/>
          <a:p>
            <a:pPr algn="l">
              <a:lnSpc>
                <a:spcPct val="115000"/>
              </a:lnSpc>
            </a:pPr>
            <a:r>
              <a:rPr sz="950" b="1">
                <a:solidFill>
                  <a:srgbClr val="1E7A53"/>
                </a:solidFill>
                <a:latin typeface="Calibri"/>
              </a:rPr>
              <a:t>RESULT</a:t>
            </a:r>
          </a:p>
        </p:txBody>
      </p:sp>
      <p:sp>
        <p:nvSpPr>
          <p:cNvPr id="27" name="TextBox 26"/>
          <p:cNvSpPr txBox="1"/>
          <p:nvPr/>
        </p:nvSpPr>
        <p:spPr>
          <a:xfrm>
            <a:off x="8622792" y="3547872"/>
            <a:ext cx="3127248" cy="480060"/>
          </a:xfrm>
          <a:prstGeom prst="rect">
            <a:avLst/>
          </a:prstGeom>
          <a:noFill/>
        </p:spPr>
        <p:txBody>
          <a:bodyPr wrap="square" anchor="t" lIns="0" rIns="0" tIns="0" bIns="0">
            <a:spAutoFit/>
          </a:bodyPr>
          <a:lstStyle/>
          <a:p>
            <a:pPr algn="l">
              <a:lnSpc>
                <a:spcPct val="108000"/>
              </a:lnSpc>
            </a:pPr>
            <a:r>
              <a:rPr sz="1100" b="0">
                <a:solidFill>
                  <a:srgbClr val="1B2A33"/>
                </a:solidFill>
                <a:latin typeface="Calibri"/>
              </a:rPr>
              <a:t>The ticket was numbered, given SLA deadlines and assigned automatically — no one had to triage it by hand.</a:t>
            </a:r>
          </a:p>
        </p:txBody>
      </p:sp>
      <p:sp>
        <p:nvSpPr>
          <p:cNvPr id="28" name="Rectangle 27"/>
          <p:cNvSpPr/>
          <p:nvPr/>
        </p:nvSpPr>
        <p:spPr>
          <a:xfrm>
            <a:off x="8458200" y="4219956"/>
            <a:ext cx="45720" cy="502920"/>
          </a:xfrm>
          <a:prstGeom prst="rect">
            <a:avLst/>
          </a:prstGeom>
          <a:solidFill>
            <a:srgbClr val="5B6B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622792" y="4219956"/>
            <a:ext cx="3127248" cy="164592"/>
          </a:xfrm>
          <a:prstGeom prst="rect">
            <a:avLst/>
          </a:prstGeom>
          <a:noFill/>
        </p:spPr>
        <p:txBody>
          <a:bodyPr wrap="square" anchor="t" lIns="0" rIns="0" tIns="0" bIns="0">
            <a:spAutoFit/>
          </a:bodyPr>
          <a:lstStyle/>
          <a:p>
            <a:pPr algn="l">
              <a:lnSpc>
                <a:spcPct val="115000"/>
              </a:lnSpc>
            </a:pPr>
            <a:r>
              <a:rPr sz="950" b="1">
                <a:solidFill>
                  <a:srgbClr val="5B6B75"/>
                </a:solidFill>
                <a:latin typeface="Calibri"/>
              </a:rPr>
              <a:t>NEXT</a:t>
            </a:r>
          </a:p>
        </p:txBody>
      </p:sp>
      <p:sp>
        <p:nvSpPr>
          <p:cNvPr id="30" name="TextBox 29"/>
          <p:cNvSpPr txBox="1"/>
          <p:nvPr/>
        </p:nvSpPr>
        <p:spPr>
          <a:xfrm>
            <a:off x="8622792" y="4411980"/>
            <a:ext cx="3127248" cy="320040"/>
          </a:xfrm>
          <a:prstGeom prst="rect">
            <a:avLst/>
          </a:prstGeom>
          <a:noFill/>
        </p:spPr>
        <p:txBody>
          <a:bodyPr wrap="square" anchor="t" lIns="0" rIns="0" tIns="0" bIns="0">
            <a:spAutoFit/>
          </a:bodyPr>
          <a:lstStyle/>
          <a:p>
            <a:pPr algn="l">
              <a:lnSpc>
                <a:spcPct val="108000"/>
              </a:lnSpc>
            </a:pPr>
            <a:r>
              <a:rPr sz="1100" b="0">
                <a:solidFill>
                  <a:srgbClr val="1B2A33"/>
                </a:solidFill>
                <a:latin typeface="Calibri"/>
              </a:rPr>
              <a:t>Step 07 — answer questions and read the resolution.</a:t>
            </a:r>
          </a:p>
        </p:txBody>
      </p:sp>
      <p:sp>
        <p:nvSpPr>
          <p:cNvPr id="31" name="Rectangle 30"/>
          <p:cNvSpPr/>
          <p:nvPr/>
        </p:nvSpPr>
        <p:spPr>
          <a:xfrm>
            <a:off x="0" y="6473952"/>
            <a:ext cx="12191695" cy="384048"/>
          </a:xfrm>
          <a:prstGeom prst="rect">
            <a:avLst/>
          </a:prstGeom>
          <a:solidFill>
            <a:srgbClr val="F3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2920" y="6547104"/>
            <a:ext cx="8229600" cy="228600"/>
          </a:xfrm>
          <a:prstGeom prst="rect">
            <a:avLst/>
          </a:prstGeom>
          <a:noFill/>
        </p:spPr>
        <p:txBody>
          <a:bodyPr wrap="square" anchor="t" lIns="0" rIns="0" tIns="0" bIns="0">
            <a:spAutoFit/>
          </a:bodyPr>
          <a:lstStyle/>
          <a:p>
            <a:pPr algn="l">
              <a:lnSpc>
                <a:spcPct val="115000"/>
              </a:lnSpc>
            </a:pPr>
            <a:r>
              <a:rPr sz="900" b="0">
                <a:solidFill>
                  <a:srgbClr val="5B6B75"/>
                </a:solidFill>
                <a:latin typeface="Calibri"/>
              </a:rPr>
              <a:t>SUCCESS Bank — Internal Ticketing · Standard Operating Procedure</a:t>
            </a:r>
          </a:p>
        </p:txBody>
      </p:sp>
      <p:sp>
        <p:nvSpPr>
          <p:cNvPr id="33" name="TextBox 32"/>
          <p:cNvSpPr txBox="1"/>
          <p:nvPr/>
        </p:nvSpPr>
        <p:spPr>
          <a:xfrm>
            <a:off x="9997135" y="6547104"/>
            <a:ext cx="1691640" cy="228600"/>
          </a:xfrm>
          <a:prstGeom prst="rect">
            <a:avLst/>
          </a:prstGeom>
          <a:noFill/>
        </p:spPr>
        <p:txBody>
          <a:bodyPr wrap="square" anchor="t" lIns="0" rIns="0" tIns="0" bIns="0">
            <a:spAutoFit/>
          </a:bodyPr>
          <a:lstStyle/>
          <a:p>
            <a:pPr algn="r">
              <a:lnSpc>
                <a:spcPct val="115000"/>
              </a:lnSpc>
            </a:pPr>
            <a:r>
              <a:rPr sz="900" b="0">
                <a:solidFill>
                  <a:srgbClr val="5B6B75"/>
                </a:solidFill>
                <a:latin typeface="Calibri"/>
              </a:rPr>
              <a:t>Step 06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0E4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36576"/>
          </a:xfrm>
          <a:prstGeom prst="rect">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55448"/>
            <a:ext cx="1371600" cy="274320"/>
          </a:xfrm>
          <a:prstGeom prst="rect">
            <a:avLst/>
          </a:prstGeom>
          <a:noFill/>
        </p:spPr>
        <p:txBody>
          <a:bodyPr wrap="square" anchor="t" lIns="0" rIns="0" tIns="0" bIns="0">
            <a:spAutoFit/>
          </a:bodyPr>
          <a:lstStyle/>
          <a:p>
            <a:pPr algn="l">
              <a:lnSpc>
                <a:spcPct val="115000"/>
              </a:lnSpc>
            </a:pPr>
            <a:r>
              <a:rPr sz="1200" b="1">
                <a:solidFill>
                  <a:srgbClr val="C25B2E"/>
                </a:solidFill>
                <a:latin typeface="Calibri"/>
              </a:rPr>
              <a:t>STEP 07</a:t>
            </a:r>
          </a:p>
        </p:txBody>
      </p:sp>
      <p:sp>
        <p:nvSpPr>
          <p:cNvPr id="5" name="TextBox 4"/>
          <p:cNvSpPr txBox="1"/>
          <p:nvPr/>
        </p:nvSpPr>
        <p:spPr>
          <a:xfrm>
            <a:off x="502920" y="420624"/>
            <a:ext cx="8412480" cy="365760"/>
          </a:xfrm>
          <a:prstGeom prst="rect">
            <a:avLst/>
          </a:prstGeom>
          <a:noFill/>
        </p:spPr>
        <p:txBody>
          <a:bodyPr wrap="square" anchor="t" lIns="0" rIns="0" tIns="0" bIns="0">
            <a:spAutoFit/>
          </a:bodyPr>
          <a:lstStyle/>
          <a:p>
            <a:pPr algn="l">
              <a:lnSpc>
                <a:spcPct val="115000"/>
              </a:lnSpc>
            </a:pPr>
            <a:r>
              <a:rPr sz="2000" b="1">
                <a:solidFill>
                  <a:srgbClr val="FFFFFF"/>
                </a:solidFill>
                <a:latin typeface="Calibri"/>
              </a:rPr>
              <a:t>Reply, and read the resolution</a:t>
            </a:r>
          </a:p>
        </p:txBody>
      </p:sp>
      <p:sp>
        <p:nvSpPr>
          <p:cNvPr id="6" name="TextBox 5"/>
          <p:cNvSpPr txBox="1"/>
          <p:nvPr/>
        </p:nvSpPr>
        <p:spPr>
          <a:xfrm>
            <a:off x="9174175" y="320040"/>
            <a:ext cx="2514600" cy="274320"/>
          </a:xfrm>
          <a:prstGeom prst="rect">
            <a:avLst/>
          </a:prstGeom>
          <a:noFill/>
        </p:spPr>
        <p:txBody>
          <a:bodyPr wrap="square" anchor="t" lIns="0" rIns="0" tIns="0" bIns="0">
            <a:spAutoFit/>
          </a:bodyPr>
          <a:lstStyle/>
          <a:p>
            <a:pPr algn="r">
              <a:lnSpc>
                <a:spcPct val="115000"/>
              </a:lnSpc>
            </a:pPr>
            <a:r>
              <a:rPr sz="1100" b="1">
                <a:solidFill>
                  <a:srgbClr val="F3ECE0"/>
                </a:solidFill>
                <a:latin typeface="Calibri"/>
              </a:rPr>
              <a:t>BRANCH USER</a:t>
            </a:r>
          </a:p>
        </p:txBody>
      </p:sp>
      <p:sp>
        <p:nvSpPr>
          <p:cNvPr id="7" name="Rectangle 6"/>
          <p:cNvSpPr/>
          <p:nvPr/>
        </p:nvSpPr>
        <p:spPr>
          <a:xfrm>
            <a:off x="388620" y="1165860"/>
            <a:ext cx="7818120" cy="4903470"/>
          </a:xfrm>
          <a:prstGeom prst="rect">
            <a:avLst/>
          </a:prstGeom>
          <a:solidFill>
            <a:srgbClr val="D6CE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411480" y="1188720"/>
            <a:ext cx="7772400" cy="4855464"/>
          </a:xfrm>
          <a:prstGeom prst="rect">
            <a:avLst/>
          </a:prstGeom>
        </p:spPr>
      </p:pic>
      <p:sp>
        <p:nvSpPr>
          <p:cNvPr id="9" name="Oval 8"/>
          <p:cNvSpPr/>
          <p:nvPr/>
        </p:nvSpPr>
        <p:spPr>
          <a:xfrm>
            <a:off x="1523252" y="1598056"/>
            <a:ext cx="274320" cy="274320"/>
          </a:xfrm>
          <a:prstGeom prst="ellipse">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noAutofit/>
          </a:bodyPr>
          <a:lstStyle/>
          <a:p>
            <a:pPr algn="ctr">
              <a:lnSpc>
                <a:spcPct val="100000"/>
              </a:lnSpc>
            </a:pPr>
            <a:r>
              <a:rPr sz="1300" b="1">
                <a:solidFill>
                  <a:srgbClr val="FFFFFF"/>
                </a:solidFill>
                <a:latin typeface="Calibri"/>
              </a:rPr>
              <a:t>1</a:t>
            </a:r>
          </a:p>
        </p:txBody>
      </p:sp>
      <p:sp>
        <p:nvSpPr>
          <p:cNvPr id="10" name="Oval 9"/>
          <p:cNvSpPr/>
          <p:nvPr/>
        </p:nvSpPr>
        <p:spPr>
          <a:xfrm>
            <a:off x="3015553" y="3075784"/>
            <a:ext cx="274320" cy="274320"/>
          </a:xfrm>
          <a:prstGeom prst="ellipse">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noAutofit/>
          </a:bodyPr>
          <a:lstStyle/>
          <a:p>
            <a:pPr algn="ctr">
              <a:lnSpc>
                <a:spcPct val="100000"/>
              </a:lnSpc>
            </a:pPr>
            <a:r>
              <a:rPr sz="1300" b="1">
                <a:solidFill>
                  <a:srgbClr val="FFFFFF"/>
                </a:solidFill>
                <a:latin typeface="Calibri"/>
              </a:rPr>
              <a:t>2</a:t>
            </a:r>
          </a:p>
        </p:txBody>
      </p:sp>
      <p:sp>
        <p:nvSpPr>
          <p:cNvPr id="11" name="TextBox 10"/>
          <p:cNvSpPr txBox="1"/>
          <p:nvPr/>
        </p:nvSpPr>
        <p:spPr>
          <a:xfrm>
            <a:off x="8458200" y="1188720"/>
            <a:ext cx="3291840" cy="219456"/>
          </a:xfrm>
          <a:prstGeom prst="rect">
            <a:avLst/>
          </a:prstGeom>
          <a:noFill/>
        </p:spPr>
        <p:txBody>
          <a:bodyPr wrap="square" anchor="t" lIns="0" rIns="0" tIns="0" bIns="0">
            <a:spAutoFit/>
          </a:bodyPr>
          <a:lstStyle/>
          <a:p>
            <a:pPr algn="l">
              <a:lnSpc>
                <a:spcPct val="115000"/>
              </a:lnSpc>
            </a:pPr>
            <a:r>
              <a:rPr sz="1000" b="1">
                <a:solidFill>
                  <a:srgbClr val="C25B2E"/>
                </a:solidFill>
                <a:latin typeface="Calibri"/>
              </a:rPr>
              <a:t>ON THIS SCREEN</a:t>
            </a:r>
          </a:p>
        </p:txBody>
      </p:sp>
      <p:sp>
        <p:nvSpPr>
          <p:cNvPr id="12" name="Oval 11"/>
          <p:cNvSpPr/>
          <p:nvPr/>
        </p:nvSpPr>
        <p:spPr>
          <a:xfrm>
            <a:off x="8458200" y="1463040"/>
            <a:ext cx="210312" cy="210312"/>
          </a:xfrm>
          <a:prstGeom prst="ellipse">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noAutofit/>
          </a:bodyPr>
          <a:lstStyle/>
          <a:p>
            <a:pPr algn="ctr">
              <a:lnSpc>
                <a:spcPct val="100000"/>
              </a:lnSpc>
            </a:pPr>
            <a:r>
              <a:rPr sz="1000" b="1">
                <a:solidFill>
                  <a:srgbClr val="FFFFFF"/>
                </a:solidFill>
                <a:latin typeface="Calibri"/>
              </a:rPr>
              <a:t>1</a:t>
            </a:r>
          </a:p>
        </p:txBody>
      </p:sp>
      <p:sp>
        <p:nvSpPr>
          <p:cNvPr id="13" name="TextBox 12"/>
          <p:cNvSpPr txBox="1"/>
          <p:nvPr/>
        </p:nvSpPr>
        <p:spPr>
          <a:xfrm>
            <a:off x="8787384" y="1481328"/>
            <a:ext cx="2962656" cy="169164"/>
          </a:xfrm>
          <a:prstGeom prst="rect">
            <a:avLst/>
          </a:prstGeom>
          <a:noFill/>
        </p:spPr>
        <p:txBody>
          <a:bodyPr wrap="square" anchor="t" lIns="0" rIns="0" tIns="0" bIns="0">
            <a:spAutoFit/>
          </a:bodyPr>
          <a:lstStyle/>
          <a:p>
            <a:pPr algn="l">
              <a:lnSpc>
                <a:spcPct val="105000"/>
              </a:lnSpc>
            </a:pPr>
            <a:r>
              <a:rPr sz="1050" b="0">
                <a:solidFill>
                  <a:srgbClr val="1B2A33"/>
                </a:solidFill>
                <a:latin typeface="Calibri"/>
              </a:rPr>
              <a:t>Replies appear here</a:t>
            </a:r>
          </a:p>
        </p:txBody>
      </p:sp>
      <p:sp>
        <p:nvSpPr>
          <p:cNvPr id="14" name="Oval 13"/>
          <p:cNvSpPr/>
          <p:nvPr/>
        </p:nvSpPr>
        <p:spPr>
          <a:xfrm>
            <a:off x="8458200" y="1723644"/>
            <a:ext cx="210312" cy="210312"/>
          </a:xfrm>
          <a:prstGeom prst="ellipse">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noAutofit/>
          </a:bodyPr>
          <a:lstStyle/>
          <a:p>
            <a:pPr algn="ctr">
              <a:lnSpc>
                <a:spcPct val="100000"/>
              </a:lnSpc>
            </a:pPr>
            <a:r>
              <a:rPr sz="1000" b="1">
                <a:solidFill>
                  <a:srgbClr val="FFFFFF"/>
                </a:solidFill>
                <a:latin typeface="Calibri"/>
              </a:rPr>
              <a:t>2</a:t>
            </a:r>
          </a:p>
        </p:txBody>
      </p:sp>
      <p:sp>
        <p:nvSpPr>
          <p:cNvPr id="15" name="TextBox 14"/>
          <p:cNvSpPr txBox="1"/>
          <p:nvPr/>
        </p:nvSpPr>
        <p:spPr>
          <a:xfrm>
            <a:off x="8787384" y="1741932"/>
            <a:ext cx="2962656" cy="169164"/>
          </a:xfrm>
          <a:prstGeom prst="rect">
            <a:avLst/>
          </a:prstGeom>
          <a:noFill/>
        </p:spPr>
        <p:txBody>
          <a:bodyPr wrap="square" anchor="t" lIns="0" rIns="0" tIns="0" bIns="0">
            <a:spAutoFit/>
          </a:bodyPr>
          <a:lstStyle/>
          <a:p>
            <a:pPr algn="l">
              <a:lnSpc>
                <a:spcPct val="105000"/>
              </a:lnSpc>
            </a:pPr>
            <a:r>
              <a:rPr sz="1050" b="0">
                <a:solidFill>
                  <a:srgbClr val="1B2A33"/>
                </a:solidFill>
                <a:latin typeface="Calibri"/>
              </a:rPr>
              <a:t>Attach a file to your reply</a:t>
            </a:r>
          </a:p>
        </p:txBody>
      </p:sp>
      <p:sp>
        <p:nvSpPr>
          <p:cNvPr id="16" name="Rectangle 15"/>
          <p:cNvSpPr/>
          <p:nvPr/>
        </p:nvSpPr>
        <p:spPr>
          <a:xfrm>
            <a:off x="8458200" y="2130552"/>
            <a:ext cx="45720" cy="502920"/>
          </a:xfrm>
          <a:prstGeom prst="rect">
            <a:avLst/>
          </a:prstGeom>
          <a:solidFill>
            <a:srgbClr val="0E4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22792" y="2130552"/>
            <a:ext cx="3127248" cy="164592"/>
          </a:xfrm>
          <a:prstGeom prst="rect">
            <a:avLst/>
          </a:prstGeom>
          <a:noFill/>
        </p:spPr>
        <p:txBody>
          <a:bodyPr wrap="square" anchor="t" lIns="0" rIns="0" tIns="0" bIns="0">
            <a:spAutoFit/>
          </a:bodyPr>
          <a:lstStyle/>
          <a:p>
            <a:pPr algn="l">
              <a:lnSpc>
                <a:spcPct val="115000"/>
              </a:lnSpc>
            </a:pPr>
            <a:r>
              <a:rPr sz="950" b="1">
                <a:solidFill>
                  <a:srgbClr val="0E4F4A"/>
                </a:solidFill>
                <a:latin typeface="Calibri"/>
              </a:rPr>
              <a:t>ACTION</a:t>
            </a:r>
          </a:p>
        </p:txBody>
      </p:sp>
      <p:sp>
        <p:nvSpPr>
          <p:cNvPr id="18" name="TextBox 17"/>
          <p:cNvSpPr txBox="1"/>
          <p:nvPr/>
        </p:nvSpPr>
        <p:spPr>
          <a:xfrm>
            <a:off x="8622792" y="2322576"/>
            <a:ext cx="3127248" cy="320040"/>
          </a:xfrm>
          <a:prstGeom prst="rect">
            <a:avLst/>
          </a:prstGeom>
          <a:noFill/>
        </p:spPr>
        <p:txBody>
          <a:bodyPr wrap="square" anchor="t" lIns="0" rIns="0" tIns="0" bIns="0">
            <a:spAutoFit/>
          </a:bodyPr>
          <a:lstStyle/>
          <a:p>
            <a:pPr algn="l">
              <a:lnSpc>
                <a:spcPct val="108000"/>
              </a:lnSpc>
            </a:pPr>
            <a:r>
              <a:rPr sz="1100" b="0">
                <a:solidFill>
                  <a:srgbClr val="1B2A33"/>
                </a:solidFill>
                <a:latin typeface="Calibri"/>
              </a:rPr>
              <a:t>Answer any question the agent asks, attaching more evidence if needed.</a:t>
            </a:r>
          </a:p>
        </p:txBody>
      </p:sp>
      <p:sp>
        <p:nvSpPr>
          <p:cNvPr id="19" name="Rectangle 18"/>
          <p:cNvSpPr/>
          <p:nvPr/>
        </p:nvSpPr>
        <p:spPr>
          <a:xfrm>
            <a:off x="8458200" y="2834640"/>
            <a:ext cx="45720" cy="662940"/>
          </a:xfrm>
          <a:prstGeom prst="rect">
            <a:avLst/>
          </a:prstGeom>
          <a:solidFill>
            <a:srgbClr val="1E7A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22792" y="2834640"/>
            <a:ext cx="3127248" cy="164592"/>
          </a:xfrm>
          <a:prstGeom prst="rect">
            <a:avLst/>
          </a:prstGeom>
          <a:noFill/>
        </p:spPr>
        <p:txBody>
          <a:bodyPr wrap="square" anchor="t" lIns="0" rIns="0" tIns="0" bIns="0">
            <a:spAutoFit/>
          </a:bodyPr>
          <a:lstStyle/>
          <a:p>
            <a:pPr algn="l">
              <a:lnSpc>
                <a:spcPct val="115000"/>
              </a:lnSpc>
            </a:pPr>
            <a:r>
              <a:rPr sz="950" b="1">
                <a:solidFill>
                  <a:srgbClr val="1E7A53"/>
                </a:solidFill>
                <a:latin typeface="Calibri"/>
              </a:rPr>
              <a:t>RESULT</a:t>
            </a:r>
          </a:p>
        </p:txBody>
      </p:sp>
      <p:sp>
        <p:nvSpPr>
          <p:cNvPr id="21" name="TextBox 20"/>
          <p:cNvSpPr txBox="1"/>
          <p:nvPr/>
        </p:nvSpPr>
        <p:spPr>
          <a:xfrm>
            <a:off x="8622792" y="3026664"/>
            <a:ext cx="3127248" cy="480060"/>
          </a:xfrm>
          <a:prstGeom prst="rect">
            <a:avLst/>
          </a:prstGeom>
          <a:noFill/>
        </p:spPr>
        <p:txBody>
          <a:bodyPr wrap="square" anchor="t" lIns="0" rIns="0" tIns="0" bIns="0">
            <a:spAutoFit/>
          </a:bodyPr>
          <a:lstStyle/>
          <a:p>
            <a:pPr algn="l">
              <a:lnSpc>
                <a:spcPct val="108000"/>
              </a:lnSpc>
            </a:pPr>
            <a:r>
              <a:rPr sz="1100" b="0">
                <a:solidFill>
                  <a:srgbClr val="1B2A33"/>
                </a:solidFill>
                <a:latin typeface="Calibri"/>
              </a:rPr>
              <a:t>When the agent resolves it, their explanation and any file they attached appear here together.</a:t>
            </a:r>
          </a:p>
        </p:txBody>
      </p:sp>
      <p:sp>
        <p:nvSpPr>
          <p:cNvPr id="22" name="Rectangle 21"/>
          <p:cNvSpPr/>
          <p:nvPr/>
        </p:nvSpPr>
        <p:spPr>
          <a:xfrm>
            <a:off x="8458200" y="3698748"/>
            <a:ext cx="45720" cy="502920"/>
          </a:xfrm>
          <a:prstGeom prst="rect">
            <a:avLst/>
          </a:prstGeom>
          <a:solidFill>
            <a:srgbClr val="5B6B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22792" y="3698748"/>
            <a:ext cx="3127248" cy="164592"/>
          </a:xfrm>
          <a:prstGeom prst="rect">
            <a:avLst/>
          </a:prstGeom>
          <a:noFill/>
        </p:spPr>
        <p:txBody>
          <a:bodyPr wrap="square" anchor="t" lIns="0" rIns="0" tIns="0" bIns="0">
            <a:spAutoFit/>
          </a:bodyPr>
          <a:lstStyle/>
          <a:p>
            <a:pPr algn="l">
              <a:lnSpc>
                <a:spcPct val="115000"/>
              </a:lnSpc>
            </a:pPr>
            <a:r>
              <a:rPr sz="950" b="1">
                <a:solidFill>
                  <a:srgbClr val="5B6B75"/>
                </a:solidFill>
                <a:latin typeface="Calibri"/>
              </a:rPr>
              <a:t>NEXT</a:t>
            </a:r>
          </a:p>
        </p:txBody>
      </p:sp>
      <p:sp>
        <p:nvSpPr>
          <p:cNvPr id="24" name="TextBox 23"/>
          <p:cNvSpPr txBox="1"/>
          <p:nvPr/>
        </p:nvSpPr>
        <p:spPr>
          <a:xfrm>
            <a:off x="8622792" y="3890772"/>
            <a:ext cx="3127248" cy="320040"/>
          </a:xfrm>
          <a:prstGeom prst="rect">
            <a:avLst/>
          </a:prstGeom>
          <a:noFill/>
        </p:spPr>
        <p:txBody>
          <a:bodyPr wrap="square" anchor="t" lIns="0" rIns="0" tIns="0" bIns="0">
            <a:spAutoFit/>
          </a:bodyPr>
          <a:lstStyle/>
          <a:p>
            <a:pPr algn="l">
              <a:lnSpc>
                <a:spcPct val="108000"/>
              </a:lnSpc>
            </a:pPr>
            <a:r>
              <a:rPr sz="1100" b="0">
                <a:solidFill>
                  <a:srgbClr val="1B2A33"/>
                </a:solidFill>
                <a:latin typeface="Calibri"/>
              </a:rPr>
              <a:t>If it is fixed, the ticket is closed. If not, it can be reopened.</a:t>
            </a:r>
          </a:p>
        </p:txBody>
      </p:sp>
      <p:sp>
        <p:nvSpPr>
          <p:cNvPr id="25" name="Rectangle 24"/>
          <p:cNvSpPr/>
          <p:nvPr/>
        </p:nvSpPr>
        <p:spPr>
          <a:xfrm>
            <a:off x="0" y="6473952"/>
            <a:ext cx="12191695" cy="384048"/>
          </a:xfrm>
          <a:prstGeom prst="rect">
            <a:avLst/>
          </a:prstGeom>
          <a:solidFill>
            <a:srgbClr val="F3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2920" y="6547104"/>
            <a:ext cx="8229600" cy="228600"/>
          </a:xfrm>
          <a:prstGeom prst="rect">
            <a:avLst/>
          </a:prstGeom>
          <a:noFill/>
        </p:spPr>
        <p:txBody>
          <a:bodyPr wrap="square" anchor="t" lIns="0" rIns="0" tIns="0" bIns="0">
            <a:spAutoFit/>
          </a:bodyPr>
          <a:lstStyle/>
          <a:p>
            <a:pPr algn="l">
              <a:lnSpc>
                <a:spcPct val="115000"/>
              </a:lnSpc>
            </a:pPr>
            <a:r>
              <a:rPr sz="900" b="0">
                <a:solidFill>
                  <a:srgbClr val="5B6B75"/>
                </a:solidFill>
                <a:latin typeface="Calibri"/>
              </a:rPr>
              <a:t>SUCCESS Bank — Internal Ticketing · Standard Operating Procedure</a:t>
            </a:r>
          </a:p>
        </p:txBody>
      </p:sp>
      <p:sp>
        <p:nvSpPr>
          <p:cNvPr id="27" name="TextBox 26"/>
          <p:cNvSpPr txBox="1"/>
          <p:nvPr/>
        </p:nvSpPr>
        <p:spPr>
          <a:xfrm>
            <a:off x="9997135" y="6547104"/>
            <a:ext cx="1691640" cy="228600"/>
          </a:xfrm>
          <a:prstGeom prst="rect">
            <a:avLst/>
          </a:prstGeom>
          <a:noFill/>
        </p:spPr>
        <p:txBody>
          <a:bodyPr wrap="square" anchor="t" lIns="0" rIns="0" tIns="0" bIns="0">
            <a:spAutoFit/>
          </a:bodyPr>
          <a:lstStyle/>
          <a:p>
            <a:pPr algn="r">
              <a:lnSpc>
                <a:spcPct val="115000"/>
              </a:lnSpc>
            </a:pPr>
            <a:r>
              <a:rPr sz="900" b="0">
                <a:solidFill>
                  <a:srgbClr val="5B6B75"/>
                </a:solidFill>
                <a:latin typeface="Calibri"/>
              </a:rPr>
              <a:t>Step 07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0E4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82880"/>
            <a:ext cx="10515600" cy="320040"/>
          </a:xfrm>
          <a:prstGeom prst="rect">
            <a:avLst/>
          </a:prstGeom>
          <a:noFill/>
        </p:spPr>
        <p:txBody>
          <a:bodyPr wrap="square" anchor="t" lIns="0" rIns="0" tIns="0" bIns="0">
            <a:spAutoFit/>
          </a:bodyPr>
          <a:lstStyle/>
          <a:p>
            <a:pPr algn="l">
              <a:lnSpc>
                <a:spcPct val="115000"/>
              </a:lnSpc>
            </a:pPr>
            <a:r>
              <a:rPr sz="2300" b="1">
                <a:solidFill>
                  <a:srgbClr val="FFFFFF"/>
                </a:solidFill>
                <a:latin typeface="Calibri"/>
              </a:rPr>
              <a:t>What a branch user cannot see</a:t>
            </a:r>
          </a:p>
        </p:txBody>
      </p:sp>
      <p:sp>
        <p:nvSpPr>
          <p:cNvPr id="4" name="TextBox 3"/>
          <p:cNvSpPr txBox="1"/>
          <p:nvPr/>
        </p:nvSpPr>
        <p:spPr>
          <a:xfrm>
            <a:off x="502920" y="548640"/>
            <a:ext cx="10515600" cy="256032"/>
          </a:xfrm>
          <a:prstGeom prst="rect">
            <a:avLst/>
          </a:prstGeom>
          <a:noFill/>
        </p:spPr>
        <p:txBody>
          <a:bodyPr wrap="square" anchor="t" lIns="0" rIns="0" tIns="0" bIns="0">
            <a:spAutoFit/>
          </a:bodyPr>
          <a:lstStyle/>
          <a:p>
            <a:pPr algn="l">
              <a:lnSpc>
                <a:spcPct val="115000"/>
              </a:lnSpc>
            </a:pPr>
            <a:r>
              <a:rPr sz="1150" b="0">
                <a:solidFill>
                  <a:srgbClr val="F3ECE0"/>
                </a:solidFill>
                <a:latin typeface="Calibri"/>
              </a:rPr>
              <a:t>Three rules worth knowing before you ask where something went</a:t>
            </a:r>
          </a:p>
        </p:txBody>
      </p:sp>
      <p:sp>
        <p:nvSpPr>
          <p:cNvPr id="5" name="Rectangle 4"/>
          <p:cNvSpPr/>
          <p:nvPr/>
        </p:nvSpPr>
        <p:spPr>
          <a:xfrm>
            <a:off x="548640" y="1234440"/>
            <a:ext cx="11064240" cy="1133856"/>
          </a:xfrm>
          <a:prstGeom prst="rect">
            <a:avLst/>
          </a:prstGeom>
          <a:solidFill>
            <a:srgbClr val="F3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234440"/>
            <a:ext cx="54864" cy="1133856"/>
          </a:xfrm>
          <a:prstGeom prst="rect">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399032"/>
            <a:ext cx="10515600" cy="292608"/>
          </a:xfrm>
          <a:prstGeom prst="rect">
            <a:avLst/>
          </a:prstGeom>
          <a:noFill/>
        </p:spPr>
        <p:txBody>
          <a:bodyPr wrap="square" anchor="t" lIns="0" rIns="0" tIns="0" bIns="0">
            <a:spAutoFit/>
          </a:bodyPr>
          <a:lstStyle/>
          <a:p>
            <a:pPr algn="l">
              <a:lnSpc>
                <a:spcPct val="115000"/>
              </a:lnSpc>
            </a:pPr>
            <a:r>
              <a:rPr sz="1500" b="1">
                <a:solidFill>
                  <a:srgbClr val="C25B2E"/>
                </a:solidFill>
                <a:latin typeface="Calibri"/>
              </a:rPr>
              <a:t>Internal notes — and their attachments</a:t>
            </a:r>
          </a:p>
        </p:txBody>
      </p:sp>
      <p:sp>
        <p:nvSpPr>
          <p:cNvPr id="8" name="TextBox 7"/>
          <p:cNvSpPr txBox="1"/>
          <p:nvPr/>
        </p:nvSpPr>
        <p:spPr>
          <a:xfrm>
            <a:off x="868680" y="1764792"/>
            <a:ext cx="10515600" cy="685800"/>
          </a:xfrm>
          <a:prstGeom prst="rect">
            <a:avLst/>
          </a:prstGeom>
          <a:noFill/>
        </p:spPr>
        <p:txBody>
          <a:bodyPr wrap="square" anchor="t" lIns="0" rIns="0" tIns="0" bIns="0">
            <a:spAutoFit/>
          </a:bodyPr>
          <a:lstStyle/>
          <a:p>
            <a:pPr algn="l">
              <a:lnSpc>
                <a:spcPct val="130000"/>
              </a:lnSpc>
            </a:pPr>
            <a:r>
              <a:rPr sz="1250" b="0">
                <a:solidFill>
                  <a:srgbClr val="1B2A33"/>
                </a:solidFill>
                <a:latin typeface="Calibri"/>
              </a:rPr>
              <a:t>Agents can mark a note internal. You will not see the note, and you will not see any file attached to it. It is not hidden in the page; the server refuses to send it.</a:t>
            </a:r>
          </a:p>
        </p:txBody>
      </p:sp>
      <p:sp>
        <p:nvSpPr>
          <p:cNvPr id="9" name="Rectangle 8"/>
          <p:cNvSpPr/>
          <p:nvPr/>
        </p:nvSpPr>
        <p:spPr>
          <a:xfrm>
            <a:off x="548640" y="2532888"/>
            <a:ext cx="11064240" cy="1133856"/>
          </a:xfrm>
          <a:prstGeom prst="rect">
            <a:avLst/>
          </a:prstGeom>
          <a:solidFill>
            <a:srgbClr val="F3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532888"/>
            <a:ext cx="54864" cy="1133856"/>
          </a:xfrm>
          <a:prstGeom prst="rect">
            <a:avLst/>
          </a:prstGeom>
          <a:solidFill>
            <a:srgbClr val="0E4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697480"/>
            <a:ext cx="10515600" cy="292608"/>
          </a:xfrm>
          <a:prstGeom prst="rect">
            <a:avLst/>
          </a:prstGeom>
          <a:noFill/>
        </p:spPr>
        <p:txBody>
          <a:bodyPr wrap="square" anchor="t" lIns="0" rIns="0" tIns="0" bIns="0">
            <a:spAutoFit/>
          </a:bodyPr>
          <a:lstStyle/>
          <a:p>
            <a:pPr algn="l">
              <a:lnSpc>
                <a:spcPct val="115000"/>
              </a:lnSpc>
            </a:pPr>
            <a:r>
              <a:rPr sz="1500" b="1">
                <a:solidFill>
                  <a:srgbClr val="0E4F4A"/>
                </a:solidFill>
                <a:latin typeface="Calibri"/>
              </a:rPr>
              <a:t>Other people's tickets</a:t>
            </a:r>
          </a:p>
        </p:txBody>
      </p:sp>
      <p:sp>
        <p:nvSpPr>
          <p:cNvPr id="12" name="TextBox 11"/>
          <p:cNvSpPr txBox="1"/>
          <p:nvPr/>
        </p:nvSpPr>
        <p:spPr>
          <a:xfrm>
            <a:off x="868680" y="3063240"/>
            <a:ext cx="10515600" cy="685800"/>
          </a:xfrm>
          <a:prstGeom prst="rect">
            <a:avLst/>
          </a:prstGeom>
          <a:noFill/>
        </p:spPr>
        <p:txBody>
          <a:bodyPr wrap="square" anchor="t" lIns="0" rIns="0" tIns="0" bIns="0">
            <a:spAutoFit/>
          </a:bodyPr>
          <a:lstStyle/>
          <a:p>
            <a:pPr algn="l">
              <a:lnSpc>
                <a:spcPct val="130000"/>
              </a:lnSpc>
            </a:pPr>
            <a:r>
              <a:rPr sz="1250" b="0">
                <a:solidFill>
                  <a:srgbClr val="1B2A33"/>
                </a:solidFill>
                <a:latin typeface="Calibri"/>
              </a:rPr>
              <a:t>You see only tickets you raised. Opening someone else's by its link returns nothing.</a:t>
            </a:r>
          </a:p>
        </p:txBody>
      </p:sp>
      <p:sp>
        <p:nvSpPr>
          <p:cNvPr id="13" name="Rectangle 12"/>
          <p:cNvSpPr/>
          <p:nvPr/>
        </p:nvSpPr>
        <p:spPr>
          <a:xfrm>
            <a:off x="548640" y="3831336"/>
            <a:ext cx="11064240" cy="1133856"/>
          </a:xfrm>
          <a:prstGeom prst="rect">
            <a:avLst/>
          </a:prstGeom>
          <a:solidFill>
            <a:srgbClr val="F3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3831336"/>
            <a:ext cx="54864" cy="1133856"/>
          </a:xfrm>
          <a:prstGeom prst="rect">
            <a:avLst/>
          </a:prstGeom>
          <a:solidFill>
            <a:srgbClr val="0E4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3995928"/>
            <a:ext cx="10515600" cy="292608"/>
          </a:xfrm>
          <a:prstGeom prst="rect">
            <a:avLst/>
          </a:prstGeom>
          <a:noFill/>
        </p:spPr>
        <p:txBody>
          <a:bodyPr wrap="square" anchor="t" lIns="0" rIns="0" tIns="0" bIns="0">
            <a:spAutoFit/>
          </a:bodyPr>
          <a:lstStyle/>
          <a:p>
            <a:pPr algn="l">
              <a:lnSpc>
                <a:spcPct val="115000"/>
              </a:lnSpc>
            </a:pPr>
            <a:r>
              <a:rPr sz="1500" b="1">
                <a:solidFill>
                  <a:srgbClr val="0E4F4A"/>
                </a:solidFill>
                <a:latin typeface="Calibri"/>
              </a:rPr>
              <a:t>Team-wide numbers</a:t>
            </a:r>
          </a:p>
        </p:txBody>
      </p:sp>
      <p:sp>
        <p:nvSpPr>
          <p:cNvPr id="16" name="TextBox 15"/>
          <p:cNvSpPr txBox="1"/>
          <p:nvPr/>
        </p:nvSpPr>
        <p:spPr>
          <a:xfrm>
            <a:off x="868680" y="4361688"/>
            <a:ext cx="10515600" cy="685800"/>
          </a:xfrm>
          <a:prstGeom prst="rect">
            <a:avLst/>
          </a:prstGeom>
          <a:noFill/>
        </p:spPr>
        <p:txBody>
          <a:bodyPr wrap="square" anchor="t" lIns="0" rIns="0" tIns="0" bIns="0">
            <a:spAutoFit/>
          </a:bodyPr>
          <a:lstStyle/>
          <a:p>
            <a:pPr algn="l">
              <a:lnSpc>
                <a:spcPct val="130000"/>
              </a:lnSpc>
            </a:pPr>
            <a:r>
              <a:rPr sz="1250" b="0">
                <a:solidFill>
                  <a:srgbClr val="1B2A33"/>
                </a:solidFill>
                <a:latin typeface="Calibri"/>
              </a:rPr>
              <a:t>SLA health, category and department breakdowns and AI metrics are for agents and above. Your dashboard shows your own three counts instead.</a:t>
            </a:r>
          </a:p>
        </p:txBody>
      </p:sp>
      <p:sp>
        <p:nvSpPr>
          <p:cNvPr id="17" name="TextBox 16"/>
          <p:cNvSpPr txBox="1"/>
          <p:nvPr/>
        </p:nvSpPr>
        <p:spPr>
          <a:xfrm>
            <a:off x="548640" y="5349240"/>
            <a:ext cx="11064240" cy="1097280"/>
          </a:xfrm>
          <a:prstGeom prst="rect">
            <a:avLst/>
          </a:prstGeom>
          <a:noFill/>
        </p:spPr>
        <p:txBody>
          <a:bodyPr wrap="square" anchor="t" lIns="0" rIns="0" tIns="0" bIns="0">
            <a:spAutoFit/>
          </a:bodyPr>
          <a:lstStyle/>
          <a:p>
            <a:pPr algn="l">
              <a:lnSpc>
                <a:spcPct val="130000"/>
              </a:lnSpc>
            </a:pPr>
            <a:r>
              <a:rPr sz="1250" b="0">
                <a:solidFill>
                  <a:srgbClr val="5B6B75"/>
                </a:solidFill>
                <a:latin typeface="Calibri"/>
              </a:rPr>
              <a:t>If you believe a ticket of yours is missing, it is far more likely that it was raised by a colleague than that it was deleted — tickets are never deleted, and every change is recorded in the audit trail.</a:t>
            </a:r>
          </a:p>
        </p:txBody>
      </p:sp>
      <p:sp>
        <p:nvSpPr>
          <p:cNvPr id="18" name="Rectangle 17"/>
          <p:cNvSpPr/>
          <p:nvPr/>
        </p:nvSpPr>
        <p:spPr>
          <a:xfrm>
            <a:off x="0" y="6473952"/>
            <a:ext cx="12191695" cy="384048"/>
          </a:xfrm>
          <a:prstGeom prst="rect">
            <a:avLst/>
          </a:prstGeom>
          <a:solidFill>
            <a:srgbClr val="F3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6547104"/>
            <a:ext cx="8229600" cy="228600"/>
          </a:xfrm>
          <a:prstGeom prst="rect">
            <a:avLst/>
          </a:prstGeom>
          <a:noFill/>
        </p:spPr>
        <p:txBody>
          <a:bodyPr wrap="square" anchor="t" lIns="0" rIns="0" tIns="0" bIns="0">
            <a:spAutoFit/>
          </a:bodyPr>
          <a:lstStyle/>
          <a:p>
            <a:pPr algn="l">
              <a:lnSpc>
                <a:spcPct val="115000"/>
              </a:lnSpc>
            </a:pPr>
            <a:r>
              <a:rPr sz="900" b="0">
                <a:solidFill>
                  <a:srgbClr val="5B6B75"/>
                </a:solidFill>
                <a:latin typeface="Calibri"/>
              </a:rPr>
              <a:t>SUCCESS Bank — Internal Ticketing · Standard Operating Procedure</a:t>
            </a:r>
          </a:p>
        </p:txBody>
      </p:sp>
      <p:sp>
        <p:nvSpPr>
          <p:cNvPr id="20" name="TextBox 19"/>
          <p:cNvSpPr txBox="1"/>
          <p:nvPr/>
        </p:nvSpPr>
        <p:spPr>
          <a:xfrm>
            <a:off x="9997135" y="6547104"/>
            <a:ext cx="1691640" cy="228600"/>
          </a:xfrm>
          <a:prstGeom prst="rect">
            <a:avLst/>
          </a:prstGeom>
          <a:noFill/>
        </p:spPr>
        <p:txBody>
          <a:bodyPr wrap="square" anchor="t" lIns="0" rIns="0" tIns="0" bIns="0">
            <a:spAutoFit/>
          </a:bodyPr>
          <a:lstStyle/>
          <a:p>
            <a:pPr algn="r">
              <a:lnSpc>
                <a:spcPct val="115000"/>
              </a:lnSpc>
            </a:pPr>
            <a:r>
              <a:rPr sz="900" b="0">
                <a:solidFill>
                  <a:srgbClr val="5B6B75"/>
                </a:solidFill>
                <a:latin typeface="Calibri"/>
              </a:rPr>
              <a:t>Branch User</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3ECE0"/>
        </a:solidFill>
        <a:effectLst/>
      </p:bgPr>
    </p:bg>
    <p:spTree>
      <p:nvGrpSpPr>
        <p:cNvPr id="1" name=""/>
        <p:cNvGrpSpPr/>
        <p:nvPr/>
      </p:nvGrpSpPr>
      <p:grpSpPr/>
      <p:sp>
        <p:nvSpPr>
          <p:cNvPr id="2" name="Rectangle 1"/>
          <p:cNvSpPr/>
          <p:nvPr/>
        </p:nvSpPr>
        <p:spPr>
          <a:xfrm>
            <a:off x="0" y="0"/>
            <a:ext cx="256032" cy="6858000"/>
          </a:xfrm>
          <a:prstGeom prst="rect">
            <a:avLst/>
          </a:prstGeom>
          <a:solidFill>
            <a:srgbClr val="0E4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2377440"/>
            <a:ext cx="1828800" cy="548640"/>
          </a:xfrm>
          <a:prstGeom prst="rect">
            <a:avLst/>
          </a:prstGeom>
          <a:noFill/>
        </p:spPr>
        <p:txBody>
          <a:bodyPr wrap="square" anchor="t" lIns="0" rIns="0" tIns="0" bIns="0">
            <a:spAutoFit/>
          </a:bodyPr>
          <a:lstStyle/>
          <a:p>
            <a:pPr algn="l">
              <a:lnSpc>
                <a:spcPct val="115000"/>
              </a:lnSpc>
            </a:pPr>
            <a:r>
              <a:rPr sz="1300" b="1">
                <a:solidFill>
                  <a:srgbClr val="C25B2E"/>
                </a:solidFill>
                <a:latin typeface="Calibri"/>
              </a:rPr>
              <a:t>SECTION 07</a:t>
            </a:r>
          </a:p>
        </p:txBody>
      </p:sp>
      <p:sp>
        <p:nvSpPr>
          <p:cNvPr id="4" name="TextBox 3"/>
          <p:cNvSpPr txBox="1"/>
          <p:nvPr/>
        </p:nvSpPr>
        <p:spPr>
          <a:xfrm>
            <a:off x="1005840" y="2788920"/>
            <a:ext cx="9601200" cy="822960"/>
          </a:xfrm>
          <a:prstGeom prst="rect">
            <a:avLst/>
          </a:prstGeom>
          <a:noFill/>
        </p:spPr>
        <p:txBody>
          <a:bodyPr wrap="square" anchor="t" lIns="0" rIns="0" tIns="0" bIns="0">
            <a:spAutoFit/>
          </a:bodyPr>
          <a:lstStyle/>
          <a:p>
            <a:pPr algn="l">
              <a:lnSpc>
                <a:spcPct val="115000"/>
              </a:lnSpc>
            </a:pPr>
            <a:r>
              <a:rPr sz="3400" b="1">
                <a:solidFill>
                  <a:srgbClr val="0E4F4A"/>
                </a:solidFill>
                <a:latin typeface="Calibri"/>
              </a:rPr>
              <a:t>Agent workflow</a:t>
            </a:r>
          </a:p>
        </p:txBody>
      </p:sp>
      <p:sp>
        <p:nvSpPr>
          <p:cNvPr id="5" name="TextBox 4"/>
          <p:cNvSpPr txBox="1"/>
          <p:nvPr/>
        </p:nvSpPr>
        <p:spPr>
          <a:xfrm>
            <a:off x="1005840" y="3794760"/>
            <a:ext cx="8686800" cy="914400"/>
          </a:xfrm>
          <a:prstGeom prst="rect">
            <a:avLst/>
          </a:prstGeom>
          <a:noFill/>
        </p:spPr>
        <p:txBody>
          <a:bodyPr wrap="square" anchor="t" lIns="0" rIns="0" tIns="0" bIns="0">
            <a:spAutoFit/>
          </a:bodyPr>
          <a:lstStyle/>
          <a:p>
            <a:pPr algn="l">
              <a:lnSpc>
                <a:spcPct val="130000"/>
              </a:lnSpc>
            </a:pPr>
            <a:r>
              <a:rPr sz="1500" b="0">
                <a:solidFill>
                  <a:srgbClr val="5B6B75"/>
                </a:solidFill>
                <a:latin typeface="Calibri"/>
              </a:rPr>
              <a:t>You pick the ticket up, investigate, keep the requester informed, and resolve it.</a:t>
            </a:r>
          </a:p>
        </p:txBody>
      </p:sp>
      <p:sp>
        <p:nvSpPr>
          <p:cNvPr id="6" name="Rectangle 5"/>
          <p:cNvSpPr/>
          <p:nvPr/>
        </p:nvSpPr>
        <p:spPr>
          <a:xfrm>
            <a:off x="0" y="6473952"/>
            <a:ext cx="12191695" cy="384048"/>
          </a:xfrm>
          <a:prstGeom prst="rect">
            <a:avLst/>
          </a:prstGeom>
          <a:solidFill>
            <a:srgbClr val="F3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47104"/>
            <a:ext cx="8229600" cy="228600"/>
          </a:xfrm>
          <a:prstGeom prst="rect">
            <a:avLst/>
          </a:prstGeom>
          <a:noFill/>
        </p:spPr>
        <p:txBody>
          <a:bodyPr wrap="square" anchor="t" lIns="0" rIns="0" tIns="0" bIns="0">
            <a:spAutoFit/>
          </a:bodyPr>
          <a:lstStyle/>
          <a:p>
            <a:pPr algn="l">
              <a:lnSpc>
                <a:spcPct val="115000"/>
              </a:lnSpc>
            </a:pPr>
            <a:r>
              <a:rPr sz="900" b="0">
                <a:solidFill>
                  <a:srgbClr val="5B6B75"/>
                </a:solidFill>
                <a:latin typeface="Calibri"/>
              </a:rPr>
              <a:t>SUCCESS Bank — Internal Ticketing · Standard Operating Procedure</a:t>
            </a:r>
          </a:p>
        </p:txBody>
      </p:sp>
      <p:sp>
        <p:nvSpPr>
          <p:cNvPr id="8" name="TextBox 7"/>
          <p:cNvSpPr txBox="1"/>
          <p:nvPr/>
        </p:nvSpPr>
        <p:spPr>
          <a:xfrm>
            <a:off x="9997135" y="6547104"/>
            <a:ext cx="1691640" cy="228600"/>
          </a:xfrm>
          <a:prstGeom prst="rect">
            <a:avLst/>
          </a:prstGeom>
          <a:noFill/>
        </p:spPr>
        <p:txBody>
          <a:bodyPr wrap="square" anchor="t" lIns="0" rIns="0" tIns="0" bIns="0">
            <a:spAutoFit/>
          </a:bodyPr>
          <a:lstStyle/>
          <a:p>
            <a:pPr algn="r">
              <a:lnSpc>
                <a:spcPct val="115000"/>
              </a:lnSpc>
            </a:pPr>
            <a:r>
              <a:rPr sz="900" b="0">
                <a:solidFill>
                  <a:srgbClr val="5B6B75"/>
                </a:solidFill>
                <a:latin typeface="Calibri"/>
              </a:rPr>
              <a:t>Section 07</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0E4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36576"/>
          </a:xfrm>
          <a:prstGeom prst="rect">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55448"/>
            <a:ext cx="1371600" cy="274320"/>
          </a:xfrm>
          <a:prstGeom prst="rect">
            <a:avLst/>
          </a:prstGeom>
          <a:noFill/>
        </p:spPr>
        <p:txBody>
          <a:bodyPr wrap="square" anchor="t" lIns="0" rIns="0" tIns="0" bIns="0">
            <a:spAutoFit/>
          </a:bodyPr>
          <a:lstStyle/>
          <a:p>
            <a:pPr algn="l">
              <a:lnSpc>
                <a:spcPct val="115000"/>
              </a:lnSpc>
            </a:pPr>
            <a:r>
              <a:rPr sz="1200" b="1">
                <a:solidFill>
                  <a:srgbClr val="C25B2E"/>
                </a:solidFill>
                <a:latin typeface="Calibri"/>
              </a:rPr>
              <a:t>STEP 08</a:t>
            </a:r>
          </a:p>
        </p:txBody>
      </p:sp>
      <p:sp>
        <p:nvSpPr>
          <p:cNvPr id="5" name="TextBox 4"/>
          <p:cNvSpPr txBox="1"/>
          <p:nvPr/>
        </p:nvSpPr>
        <p:spPr>
          <a:xfrm>
            <a:off x="502920" y="420624"/>
            <a:ext cx="8412480" cy="365760"/>
          </a:xfrm>
          <a:prstGeom prst="rect">
            <a:avLst/>
          </a:prstGeom>
          <a:noFill/>
        </p:spPr>
        <p:txBody>
          <a:bodyPr wrap="square" anchor="t" lIns="0" rIns="0" tIns="0" bIns="0">
            <a:spAutoFit/>
          </a:bodyPr>
          <a:lstStyle/>
          <a:p>
            <a:pPr algn="l">
              <a:lnSpc>
                <a:spcPct val="115000"/>
              </a:lnSpc>
            </a:pPr>
            <a:r>
              <a:rPr sz="2000" b="1">
                <a:solidFill>
                  <a:srgbClr val="FFFFFF"/>
                </a:solidFill>
                <a:latin typeface="Calibri"/>
              </a:rPr>
              <a:t>Start from the dashboard</a:t>
            </a:r>
          </a:p>
        </p:txBody>
      </p:sp>
      <p:sp>
        <p:nvSpPr>
          <p:cNvPr id="6" name="TextBox 5"/>
          <p:cNvSpPr txBox="1"/>
          <p:nvPr/>
        </p:nvSpPr>
        <p:spPr>
          <a:xfrm>
            <a:off x="9174175" y="320040"/>
            <a:ext cx="2514600" cy="274320"/>
          </a:xfrm>
          <a:prstGeom prst="rect">
            <a:avLst/>
          </a:prstGeom>
          <a:noFill/>
        </p:spPr>
        <p:txBody>
          <a:bodyPr wrap="square" anchor="t" lIns="0" rIns="0" tIns="0" bIns="0">
            <a:spAutoFit/>
          </a:bodyPr>
          <a:lstStyle/>
          <a:p>
            <a:pPr algn="r">
              <a:lnSpc>
                <a:spcPct val="115000"/>
              </a:lnSpc>
            </a:pPr>
            <a:r>
              <a:rPr sz="1100" b="1">
                <a:solidFill>
                  <a:srgbClr val="F3ECE0"/>
                </a:solidFill>
                <a:latin typeface="Calibri"/>
              </a:rPr>
              <a:t>AGENT</a:t>
            </a:r>
          </a:p>
        </p:txBody>
      </p:sp>
      <p:sp>
        <p:nvSpPr>
          <p:cNvPr id="7" name="Rectangle 6"/>
          <p:cNvSpPr/>
          <p:nvPr/>
        </p:nvSpPr>
        <p:spPr>
          <a:xfrm>
            <a:off x="388620" y="1165860"/>
            <a:ext cx="7818120" cy="4903470"/>
          </a:xfrm>
          <a:prstGeom prst="rect">
            <a:avLst/>
          </a:prstGeom>
          <a:solidFill>
            <a:srgbClr val="D6CE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411480" y="1188720"/>
            <a:ext cx="7772400" cy="4855464"/>
          </a:xfrm>
          <a:prstGeom prst="rect">
            <a:avLst/>
          </a:prstGeom>
        </p:spPr>
      </p:pic>
      <p:sp>
        <p:nvSpPr>
          <p:cNvPr id="9" name="Oval 8"/>
          <p:cNvSpPr/>
          <p:nvPr/>
        </p:nvSpPr>
        <p:spPr>
          <a:xfrm>
            <a:off x="2316814" y="2001735"/>
            <a:ext cx="274320" cy="274320"/>
          </a:xfrm>
          <a:prstGeom prst="ellipse">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noAutofit/>
          </a:bodyPr>
          <a:lstStyle/>
          <a:p>
            <a:pPr algn="ctr">
              <a:lnSpc>
                <a:spcPct val="100000"/>
              </a:lnSpc>
            </a:pPr>
            <a:r>
              <a:rPr sz="1300" b="1">
                <a:solidFill>
                  <a:srgbClr val="FFFFFF"/>
                </a:solidFill>
                <a:latin typeface="Calibri"/>
              </a:rPr>
              <a:t>1</a:t>
            </a:r>
          </a:p>
        </p:txBody>
      </p:sp>
      <p:sp>
        <p:nvSpPr>
          <p:cNvPr id="10" name="Oval 9"/>
          <p:cNvSpPr/>
          <p:nvPr/>
        </p:nvSpPr>
        <p:spPr>
          <a:xfrm>
            <a:off x="3903938" y="2001735"/>
            <a:ext cx="274320" cy="274320"/>
          </a:xfrm>
          <a:prstGeom prst="ellipse">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noAutofit/>
          </a:bodyPr>
          <a:lstStyle/>
          <a:p>
            <a:pPr algn="ctr">
              <a:lnSpc>
                <a:spcPct val="100000"/>
              </a:lnSpc>
            </a:pPr>
            <a:r>
              <a:rPr sz="1300" b="1">
                <a:solidFill>
                  <a:srgbClr val="FFFFFF"/>
                </a:solidFill>
                <a:latin typeface="Calibri"/>
              </a:rPr>
              <a:t>2</a:t>
            </a:r>
          </a:p>
        </p:txBody>
      </p:sp>
      <p:sp>
        <p:nvSpPr>
          <p:cNvPr id="11" name="Oval 10"/>
          <p:cNvSpPr/>
          <p:nvPr/>
        </p:nvSpPr>
        <p:spPr>
          <a:xfrm>
            <a:off x="5941862" y="2741085"/>
            <a:ext cx="274320" cy="274320"/>
          </a:xfrm>
          <a:prstGeom prst="ellipse">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noAutofit/>
          </a:bodyPr>
          <a:lstStyle/>
          <a:p>
            <a:pPr algn="ctr">
              <a:lnSpc>
                <a:spcPct val="100000"/>
              </a:lnSpc>
            </a:pPr>
            <a:r>
              <a:rPr sz="1300" b="1">
                <a:solidFill>
                  <a:srgbClr val="FFFFFF"/>
                </a:solidFill>
                <a:latin typeface="Calibri"/>
              </a:rPr>
              <a:t>3</a:t>
            </a:r>
          </a:p>
        </p:txBody>
      </p:sp>
      <p:sp>
        <p:nvSpPr>
          <p:cNvPr id="12" name="TextBox 11"/>
          <p:cNvSpPr txBox="1"/>
          <p:nvPr/>
        </p:nvSpPr>
        <p:spPr>
          <a:xfrm>
            <a:off x="8458200" y="1188720"/>
            <a:ext cx="3291840" cy="219456"/>
          </a:xfrm>
          <a:prstGeom prst="rect">
            <a:avLst/>
          </a:prstGeom>
          <a:noFill/>
        </p:spPr>
        <p:txBody>
          <a:bodyPr wrap="square" anchor="t" lIns="0" rIns="0" tIns="0" bIns="0">
            <a:spAutoFit/>
          </a:bodyPr>
          <a:lstStyle/>
          <a:p>
            <a:pPr algn="l">
              <a:lnSpc>
                <a:spcPct val="115000"/>
              </a:lnSpc>
            </a:pPr>
            <a:r>
              <a:rPr sz="1000" b="1">
                <a:solidFill>
                  <a:srgbClr val="C25B2E"/>
                </a:solidFill>
                <a:latin typeface="Calibri"/>
              </a:rPr>
              <a:t>ON THIS SCREEN</a:t>
            </a:r>
          </a:p>
        </p:txBody>
      </p:sp>
      <p:sp>
        <p:nvSpPr>
          <p:cNvPr id="13" name="Oval 12"/>
          <p:cNvSpPr/>
          <p:nvPr/>
        </p:nvSpPr>
        <p:spPr>
          <a:xfrm>
            <a:off x="8458200" y="1463040"/>
            <a:ext cx="210312" cy="210312"/>
          </a:xfrm>
          <a:prstGeom prst="ellipse">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noAutofit/>
          </a:bodyPr>
          <a:lstStyle/>
          <a:p>
            <a:pPr algn="ctr">
              <a:lnSpc>
                <a:spcPct val="100000"/>
              </a:lnSpc>
            </a:pPr>
            <a:r>
              <a:rPr sz="1000" b="1">
                <a:solidFill>
                  <a:srgbClr val="FFFFFF"/>
                </a:solidFill>
                <a:latin typeface="Calibri"/>
              </a:rPr>
              <a:t>1</a:t>
            </a:r>
          </a:p>
        </p:txBody>
      </p:sp>
      <p:sp>
        <p:nvSpPr>
          <p:cNvPr id="14" name="TextBox 13"/>
          <p:cNvSpPr txBox="1"/>
          <p:nvPr/>
        </p:nvSpPr>
        <p:spPr>
          <a:xfrm>
            <a:off x="8787384" y="1481328"/>
            <a:ext cx="2962656" cy="169164"/>
          </a:xfrm>
          <a:prstGeom prst="rect">
            <a:avLst/>
          </a:prstGeom>
          <a:noFill/>
        </p:spPr>
        <p:txBody>
          <a:bodyPr wrap="square" anchor="t" lIns="0" rIns="0" tIns="0" bIns="0">
            <a:spAutoFit/>
          </a:bodyPr>
          <a:lstStyle/>
          <a:p>
            <a:pPr algn="l">
              <a:lnSpc>
                <a:spcPct val="105000"/>
              </a:lnSpc>
            </a:pPr>
            <a:r>
              <a:rPr sz="1050" b="0">
                <a:solidFill>
                  <a:srgbClr val="1B2A33"/>
                </a:solidFill>
                <a:latin typeface="Calibri"/>
              </a:rPr>
              <a:t>SLA Breached — deal with these first</a:t>
            </a:r>
          </a:p>
        </p:txBody>
      </p:sp>
      <p:sp>
        <p:nvSpPr>
          <p:cNvPr id="15" name="Oval 14"/>
          <p:cNvSpPr/>
          <p:nvPr/>
        </p:nvSpPr>
        <p:spPr>
          <a:xfrm>
            <a:off x="8458200" y="1723644"/>
            <a:ext cx="210312" cy="210312"/>
          </a:xfrm>
          <a:prstGeom prst="ellipse">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noAutofit/>
          </a:bodyPr>
          <a:lstStyle/>
          <a:p>
            <a:pPr algn="ctr">
              <a:lnSpc>
                <a:spcPct val="100000"/>
              </a:lnSpc>
            </a:pPr>
            <a:r>
              <a:rPr sz="1000" b="1">
                <a:solidFill>
                  <a:srgbClr val="FFFFFF"/>
                </a:solidFill>
                <a:latin typeface="Calibri"/>
              </a:rPr>
              <a:t>2</a:t>
            </a:r>
          </a:p>
        </p:txBody>
      </p:sp>
      <p:sp>
        <p:nvSpPr>
          <p:cNvPr id="16" name="TextBox 15"/>
          <p:cNvSpPr txBox="1"/>
          <p:nvPr/>
        </p:nvSpPr>
        <p:spPr>
          <a:xfrm>
            <a:off x="8787384" y="1741932"/>
            <a:ext cx="2962656" cy="169164"/>
          </a:xfrm>
          <a:prstGeom prst="rect">
            <a:avLst/>
          </a:prstGeom>
          <a:noFill/>
        </p:spPr>
        <p:txBody>
          <a:bodyPr wrap="square" anchor="t" lIns="0" rIns="0" tIns="0" bIns="0">
            <a:spAutoFit/>
          </a:bodyPr>
          <a:lstStyle/>
          <a:p>
            <a:pPr algn="l">
              <a:lnSpc>
                <a:spcPct val="105000"/>
              </a:lnSpc>
            </a:pPr>
            <a:r>
              <a:rPr sz="1050" b="0">
                <a:solidFill>
                  <a:srgbClr val="1B2A33"/>
                </a:solidFill>
                <a:latin typeface="Calibri"/>
              </a:rPr>
              <a:t>Critical open</a:t>
            </a:r>
          </a:p>
        </p:txBody>
      </p:sp>
      <p:sp>
        <p:nvSpPr>
          <p:cNvPr id="17" name="Oval 16"/>
          <p:cNvSpPr/>
          <p:nvPr/>
        </p:nvSpPr>
        <p:spPr>
          <a:xfrm>
            <a:off x="8458200" y="1984248"/>
            <a:ext cx="210312" cy="210312"/>
          </a:xfrm>
          <a:prstGeom prst="ellipse">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noAutofit/>
          </a:bodyPr>
          <a:lstStyle/>
          <a:p>
            <a:pPr algn="ctr">
              <a:lnSpc>
                <a:spcPct val="100000"/>
              </a:lnSpc>
            </a:pPr>
            <a:r>
              <a:rPr sz="1000" b="1">
                <a:solidFill>
                  <a:srgbClr val="FFFFFF"/>
                </a:solidFill>
                <a:latin typeface="Calibri"/>
              </a:rPr>
              <a:t>3</a:t>
            </a:r>
          </a:p>
        </p:txBody>
      </p:sp>
      <p:sp>
        <p:nvSpPr>
          <p:cNvPr id="18" name="TextBox 17"/>
          <p:cNvSpPr txBox="1"/>
          <p:nvPr/>
        </p:nvSpPr>
        <p:spPr>
          <a:xfrm>
            <a:off x="8787384" y="2002536"/>
            <a:ext cx="2962656" cy="169164"/>
          </a:xfrm>
          <a:prstGeom prst="rect">
            <a:avLst/>
          </a:prstGeom>
          <a:noFill/>
        </p:spPr>
        <p:txBody>
          <a:bodyPr wrap="square" anchor="t" lIns="0" rIns="0" tIns="0" bIns="0">
            <a:spAutoFit/>
          </a:bodyPr>
          <a:lstStyle/>
          <a:p>
            <a:pPr algn="l">
              <a:lnSpc>
                <a:spcPct val="105000"/>
              </a:lnSpc>
            </a:pPr>
            <a:r>
              <a:rPr sz="1050" b="0">
                <a:solidFill>
                  <a:srgbClr val="1B2A33"/>
                </a:solidFill>
                <a:latin typeface="Calibri"/>
              </a:rPr>
              <a:t>AI panel</a:t>
            </a:r>
          </a:p>
        </p:txBody>
      </p:sp>
      <p:sp>
        <p:nvSpPr>
          <p:cNvPr id="19" name="Rectangle 18"/>
          <p:cNvSpPr/>
          <p:nvPr/>
        </p:nvSpPr>
        <p:spPr>
          <a:xfrm>
            <a:off x="8458200" y="2391156"/>
            <a:ext cx="45720" cy="502920"/>
          </a:xfrm>
          <a:prstGeom prst="rect">
            <a:avLst/>
          </a:prstGeom>
          <a:solidFill>
            <a:srgbClr val="0E4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22792" y="2391156"/>
            <a:ext cx="3127248" cy="164592"/>
          </a:xfrm>
          <a:prstGeom prst="rect">
            <a:avLst/>
          </a:prstGeom>
          <a:noFill/>
        </p:spPr>
        <p:txBody>
          <a:bodyPr wrap="square" anchor="t" lIns="0" rIns="0" tIns="0" bIns="0">
            <a:spAutoFit/>
          </a:bodyPr>
          <a:lstStyle/>
          <a:p>
            <a:pPr algn="l">
              <a:lnSpc>
                <a:spcPct val="115000"/>
              </a:lnSpc>
            </a:pPr>
            <a:r>
              <a:rPr sz="950" b="1">
                <a:solidFill>
                  <a:srgbClr val="0E4F4A"/>
                </a:solidFill>
                <a:latin typeface="Calibri"/>
              </a:rPr>
              <a:t>ACTION</a:t>
            </a:r>
          </a:p>
        </p:txBody>
      </p:sp>
      <p:sp>
        <p:nvSpPr>
          <p:cNvPr id="21" name="TextBox 20"/>
          <p:cNvSpPr txBox="1"/>
          <p:nvPr/>
        </p:nvSpPr>
        <p:spPr>
          <a:xfrm>
            <a:off x="8622792" y="2583180"/>
            <a:ext cx="3127248" cy="320040"/>
          </a:xfrm>
          <a:prstGeom prst="rect">
            <a:avLst/>
          </a:prstGeom>
          <a:noFill/>
        </p:spPr>
        <p:txBody>
          <a:bodyPr wrap="square" anchor="t" lIns="0" rIns="0" tIns="0" bIns="0">
            <a:spAutoFit/>
          </a:bodyPr>
          <a:lstStyle/>
          <a:p>
            <a:pPr algn="l">
              <a:lnSpc>
                <a:spcPct val="108000"/>
              </a:lnSpc>
            </a:pPr>
            <a:r>
              <a:rPr sz="1100" b="0">
                <a:solidFill>
                  <a:srgbClr val="1B2A33"/>
                </a:solidFill>
                <a:latin typeface="Calibri"/>
              </a:rPr>
              <a:t>Sign in and read the KPI strip before opening anything.</a:t>
            </a:r>
          </a:p>
        </p:txBody>
      </p:sp>
      <p:sp>
        <p:nvSpPr>
          <p:cNvPr id="22" name="Rectangle 21"/>
          <p:cNvSpPr/>
          <p:nvPr/>
        </p:nvSpPr>
        <p:spPr>
          <a:xfrm>
            <a:off x="8458200" y="3095244"/>
            <a:ext cx="45720" cy="502920"/>
          </a:xfrm>
          <a:prstGeom prst="rect">
            <a:avLst/>
          </a:prstGeom>
          <a:solidFill>
            <a:srgbClr val="1E7A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22792" y="3095244"/>
            <a:ext cx="3127248" cy="164592"/>
          </a:xfrm>
          <a:prstGeom prst="rect">
            <a:avLst/>
          </a:prstGeom>
          <a:noFill/>
        </p:spPr>
        <p:txBody>
          <a:bodyPr wrap="square" anchor="t" lIns="0" rIns="0" tIns="0" bIns="0">
            <a:spAutoFit/>
          </a:bodyPr>
          <a:lstStyle/>
          <a:p>
            <a:pPr algn="l">
              <a:lnSpc>
                <a:spcPct val="115000"/>
              </a:lnSpc>
            </a:pPr>
            <a:r>
              <a:rPr sz="950" b="1">
                <a:solidFill>
                  <a:srgbClr val="1E7A53"/>
                </a:solidFill>
                <a:latin typeface="Calibri"/>
              </a:rPr>
              <a:t>RESULT</a:t>
            </a:r>
          </a:p>
        </p:txBody>
      </p:sp>
      <p:sp>
        <p:nvSpPr>
          <p:cNvPr id="24" name="TextBox 23"/>
          <p:cNvSpPr txBox="1"/>
          <p:nvPr/>
        </p:nvSpPr>
        <p:spPr>
          <a:xfrm>
            <a:off x="8622792" y="3287268"/>
            <a:ext cx="3127248" cy="320040"/>
          </a:xfrm>
          <a:prstGeom prst="rect">
            <a:avLst/>
          </a:prstGeom>
          <a:noFill/>
        </p:spPr>
        <p:txBody>
          <a:bodyPr wrap="square" anchor="t" lIns="0" rIns="0" tIns="0" bIns="0">
            <a:spAutoFit/>
          </a:bodyPr>
          <a:lstStyle/>
          <a:p>
            <a:pPr algn="l">
              <a:lnSpc>
                <a:spcPct val="108000"/>
              </a:lnSpc>
            </a:pPr>
            <a:r>
              <a:rPr sz="1100" b="0">
                <a:solidFill>
                  <a:srgbClr val="1B2A33"/>
                </a:solidFill>
                <a:latin typeface="Calibri"/>
              </a:rPr>
              <a:t>Every tile is a live count and opens the exact list behind it.</a:t>
            </a:r>
          </a:p>
        </p:txBody>
      </p:sp>
      <p:sp>
        <p:nvSpPr>
          <p:cNvPr id="25" name="Rectangle 24"/>
          <p:cNvSpPr/>
          <p:nvPr/>
        </p:nvSpPr>
        <p:spPr>
          <a:xfrm>
            <a:off x="8458200" y="3799332"/>
            <a:ext cx="45720" cy="342900"/>
          </a:xfrm>
          <a:prstGeom prst="rect">
            <a:avLst/>
          </a:prstGeom>
          <a:solidFill>
            <a:srgbClr val="5B6B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622792" y="3799332"/>
            <a:ext cx="3127248" cy="164592"/>
          </a:xfrm>
          <a:prstGeom prst="rect">
            <a:avLst/>
          </a:prstGeom>
          <a:noFill/>
        </p:spPr>
        <p:txBody>
          <a:bodyPr wrap="square" anchor="t" lIns="0" rIns="0" tIns="0" bIns="0">
            <a:spAutoFit/>
          </a:bodyPr>
          <a:lstStyle/>
          <a:p>
            <a:pPr algn="l">
              <a:lnSpc>
                <a:spcPct val="115000"/>
              </a:lnSpc>
            </a:pPr>
            <a:r>
              <a:rPr sz="950" b="1">
                <a:solidFill>
                  <a:srgbClr val="5B6B75"/>
                </a:solidFill>
                <a:latin typeface="Calibri"/>
              </a:rPr>
              <a:t>NEXT</a:t>
            </a:r>
          </a:p>
        </p:txBody>
      </p:sp>
      <p:sp>
        <p:nvSpPr>
          <p:cNvPr id="27" name="TextBox 26"/>
          <p:cNvSpPr txBox="1"/>
          <p:nvPr/>
        </p:nvSpPr>
        <p:spPr>
          <a:xfrm>
            <a:off x="8622792" y="3991356"/>
            <a:ext cx="3127248" cy="160020"/>
          </a:xfrm>
          <a:prstGeom prst="rect">
            <a:avLst/>
          </a:prstGeom>
          <a:noFill/>
        </p:spPr>
        <p:txBody>
          <a:bodyPr wrap="square" anchor="t" lIns="0" rIns="0" tIns="0" bIns="0">
            <a:spAutoFit/>
          </a:bodyPr>
          <a:lstStyle/>
          <a:p>
            <a:pPr algn="l">
              <a:lnSpc>
                <a:spcPct val="108000"/>
              </a:lnSpc>
            </a:pPr>
            <a:r>
              <a:rPr sz="1100" b="0">
                <a:solidFill>
                  <a:srgbClr val="1B2A33"/>
                </a:solidFill>
                <a:latin typeface="Calibri"/>
              </a:rPr>
              <a:t>Step 09 — open the queue.</a:t>
            </a:r>
          </a:p>
        </p:txBody>
      </p:sp>
      <p:sp>
        <p:nvSpPr>
          <p:cNvPr id="28" name="Rectangle 27"/>
          <p:cNvSpPr/>
          <p:nvPr/>
        </p:nvSpPr>
        <p:spPr>
          <a:xfrm>
            <a:off x="0" y="6473952"/>
            <a:ext cx="12191695" cy="384048"/>
          </a:xfrm>
          <a:prstGeom prst="rect">
            <a:avLst/>
          </a:prstGeom>
          <a:solidFill>
            <a:srgbClr val="F3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02920" y="6547104"/>
            <a:ext cx="8229600" cy="228600"/>
          </a:xfrm>
          <a:prstGeom prst="rect">
            <a:avLst/>
          </a:prstGeom>
          <a:noFill/>
        </p:spPr>
        <p:txBody>
          <a:bodyPr wrap="square" anchor="t" lIns="0" rIns="0" tIns="0" bIns="0">
            <a:spAutoFit/>
          </a:bodyPr>
          <a:lstStyle/>
          <a:p>
            <a:pPr algn="l">
              <a:lnSpc>
                <a:spcPct val="115000"/>
              </a:lnSpc>
            </a:pPr>
            <a:r>
              <a:rPr sz="900" b="0">
                <a:solidFill>
                  <a:srgbClr val="5B6B75"/>
                </a:solidFill>
                <a:latin typeface="Calibri"/>
              </a:rPr>
              <a:t>SUCCESS Bank — Internal Ticketing · Standard Operating Procedure</a:t>
            </a:r>
          </a:p>
        </p:txBody>
      </p:sp>
      <p:sp>
        <p:nvSpPr>
          <p:cNvPr id="30" name="TextBox 29"/>
          <p:cNvSpPr txBox="1"/>
          <p:nvPr/>
        </p:nvSpPr>
        <p:spPr>
          <a:xfrm>
            <a:off x="9997135" y="6547104"/>
            <a:ext cx="1691640" cy="228600"/>
          </a:xfrm>
          <a:prstGeom prst="rect">
            <a:avLst/>
          </a:prstGeom>
          <a:noFill/>
        </p:spPr>
        <p:txBody>
          <a:bodyPr wrap="square" anchor="t" lIns="0" rIns="0" tIns="0" bIns="0">
            <a:spAutoFit/>
          </a:bodyPr>
          <a:lstStyle/>
          <a:p>
            <a:pPr algn="r">
              <a:lnSpc>
                <a:spcPct val="115000"/>
              </a:lnSpc>
            </a:pPr>
            <a:r>
              <a:rPr sz="900" b="0">
                <a:solidFill>
                  <a:srgbClr val="5B6B75"/>
                </a:solidFill>
                <a:latin typeface="Calibri"/>
              </a:rPr>
              <a:t>Step 08</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0E4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36576"/>
          </a:xfrm>
          <a:prstGeom prst="rect">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55448"/>
            <a:ext cx="1371600" cy="274320"/>
          </a:xfrm>
          <a:prstGeom prst="rect">
            <a:avLst/>
          </a:prstGeom>
          <a:noFill/>
        </p:spPr>
        <p:txBody>
          <a:bodyPr wrap="square" anchor="t" lIns="0" rIns="0" tIns="0" bIns="0">
            <a:spAutoFit/>
          </a:bodyPr>
          <a:lstStyle/>
          <a:p>
            <a:pPr algn="l">
              <a:lnSpc>
                <a:spcPct val="115000"/>
              </a:lnSpc>
            </a:pPr>
            <a:r>
              <a:rPr sz="1200" b="1">
                <a:solidFill>
                  <a:srgbClr val="C25B2E"/>
                </a:solidFill>
                <a:latin typeface="Calibri"/>
              </a:rPr>
              <a:t>STEP 09</a:t>
            </a:r>
          </a:p>
        </p:txBody>
      </p:sp>
      <p:sp>
        <p:nvSpPr>
          <p:cNvPr id="5" name="TextBox 4"/>
          <p:cNvSpPr txBox="1"/>
          <p:nvPr/>
        </p:nvSpPr>
        <p:spPr>
          <a:xfrm>
            <a:off x="502920" y="420624"/>
            <a:ext cx="8412480" cy="365760"/>
          </a:xfrm>
          <a:prstGeom prst="rect">
            <a:avLst/>
          </a:prstGeom>
          <a:noFill/>
        </p:spPr>
        <p:txBody>
          <a:bodyPr wrap="square" anchor="t" lIns="0" rIns="0" tIns="0" bIns="0">
            <a:spAutoFit/>
          </a:bodyPr>
          <a:lstStyle/>
          <a:p>
            <a:pPr algn="l">
              <a:lnSpc>
                <a:spcPct val="115000"/>
              </a:lnSpc>
            </a:pPr>
            <a:r>
              <a:rPr sz="2000" b="1">
                <a:solidFill>
                  <a:srgbClr val="FFFFFF"/>
                </a:solidFill>
                <a:latin typeface="Calibri"/>
              </a:rPr>
              <a:t>Work the queue</a:t>
            </a:r>
          </a:p>
        </p:txBody>
      </p:sp>
      <p:sp>
        <p:nvSpPr>
          <p:cNvPr id="6" name="TextBox 5"/>
          <p:cNvSpPr txBox="1"/>
          <p:nvPr/>
        </p:nvSpPr>
        <p:spPr>
          <a:xfrm>
            <a:off x="9174175" y="320040"/>
            <a:ext cx="2514600" cy="274320"/>
          </a:xfrm>
          <a:prstGeom prst="rect">
            <a:avLst/>
          </a:prstGeom>
          <a:noFill/>
        </p:spPr>
        <p:txBody>
          <a:bodyPr wrap="square" anchor="t" lIns="0" rIns="0" tIns="0" bIns="0">
            <a:spAutoFit/>
          </a:bodyPr>
          <a:lstStyle/>
          <a:p>
            <a:pPr algn="r">
              <a:lnSpc>
                <a:spcPct val="115000"/>
              </a:lnSpc>
            </a:pPr>
            <a:r>
              <a:rPr sz="1100" b="1">
                <a:solidFill>
                  <a:srgbClr val="F3ECE0"/>
                </a:solidFill>
                <a:latin typeface="Calibri"/>
              </a:rPr>
              <a:t>AGENT</a:t>
            </a:r>
          </a:p>
        </p:txBody>
      </p:sp>
      <p:sp>
        <p:nvSpPr>
          <p:cNvPr id="7" name="Rectangle 6"/>
          <p:cNvSpPr/>
          <p:nvPr/>
        </p:nvSpPr>
        <p:spPr>
          <a:xfrm>
            <a:off x="388620" y="1165860"/>
            <a:ext cx="7818120" cy="4903470"/>
          </a:xfrm>
          <a:prstGeom prst="rect">
            <a:avLst/>
          </a:prstGeom>
          <a:solidFill>
            <a:srgbClr val="D6CE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411480" y="1188720"/>
            <a:ext cx="7772400" cy="4855464"/>
          </a:xfrm>
          <a:prstGeom prst="rect">
            <a:avLst/>
          </a:prstGeom>
        </p:spPr>
      </p:pic>
      <p:sp>
        <p:nvSpPr>
          <p:cNvPr id="9" name="Oval 8"/>
          <p:cNvSpPr/>
          <p:nvPr/>
        </p:nvSpPr>
        <p:spPr>
          <a:xfrm>
            <a:off x="7036215" y="1915267"/>
            <a:ext cx="274320" cy="274320"/>
          </a:xfrm>
          <a:prstGeom prst="ellipse">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noAutofit/>
          </a:bodyPr>
          <a:lstStyle/>
          <a:p>
            <a:pPr algn="ctr">
              <a:lnSpc>
                <a:spcPct val="100000"/>
              </a:lnSpc>
            </a:pPr>
            <a:r>
              <a:rPr sz="1300" b="1">
                <a:solidFill>
                  <a:srgbClr val="FFFFFF"/>
                </a:solidFill>
                <a:latin typeface="Calibri"/>
              </a:rPr>
              <a:t>1</a:t>
            </a:r>
          </a:p>
        </p:txBody>
      </p:sp>
      <p:sp>
        <p:nvSpPr>
          <p:cNvPr id="10" name="TextBox 9"/>
          <p:cNvSpPr txBox="1"/>
          <p:nvPr/>
        </p:nvSpPr>
        <p:spPr>
          <a:xfrm>
            <a:off x="8458200" y="1188720"/>
            <a:ext cx="3291840" cy="219456"/>
          </a:xfrm>
          <a:prstGeom prst="rect">
            <a:avLst/>
          </a:prstGeom>
          <a:noFill/>
        </p:spPr>
        <p:txBody>
          <a:bodyPr wrap="square" anchor="t" lIns="0" rIns="0" tIns="0" bIns="0">
            <a:spAutoFit/>
          </a:bodyPr>
          <a:lstStyle/>
          <a:p>
            <a:pPr algn="l">
              <a:lnSpc>
                <a:spcPct val="115000"/>
              </a:lnSpc>
            </a:pPr>
            <a:r>
              <a:rPr sz="1000" b="1">
                <a:solidFill>
                  <a:srgbClr val="C25B2E"/>
                </a:solidFill>
                <a:latin typeface="Calibri"/>
              </a:rPr>
              <a:t>ON THIS SCREEN</a:t>
            </a:r>
          </a:p>
        </p:txBody>
      </p:sp>
      <p:sp>
        <p:nvSpPr>
          <p:cNvPr id="11" name="Oval 10"/>
          <p:cNvSpPr/>
          <p:nvPr/>
        </p:nvSpPr>
        <p:spPr>
          <a:xfrm>
            <a:off x="8458200" y="1463040"/>
            <a:ext cx="210312" cy="210312"/>
          </a:xfrm>
          <a:prstGeom prst="ellipse">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noAutofit/>
          </a:bodyPr>
          <a:lstStyle/>
          <a:p>
            <a:pPr algn="ctr">
              <a:lnSpc>
                <a:spcPct val="100000"/>
              </a:lnSpc>
            </a:pPr>
            <a:r>
              <a:rPr sz="1000" b="1">
                <a:solidFill>
                  <a:srgbClr val="FFFFFF"/>
                </a:solidFill>
                <a:latin typeface="Calibri"/>
              </a:rPr>
              <a:t>1</a:t>
            </a:r>
          </a:p>
        </p:txBody>
      </p:sp>
      <p:sp>
        <p:nvSpPr>
          <p:cNvPr id="12" name="TextBox 11"/>
          <p:cNvSpPr txBox="1"/>
          <p:nvPr/>
        </p:nvSpPr>
        <p:spPr>
          <a:xfrm>
            <a:off x="8787384" y="1481328"/>
            <a:ext cx="2962656" cy="169164"/>
          </a:xfrm>
          <a:prstGeom prst="rect">
            <a:avLst/>
          </a:prstGeom>
          <a:noFill/>
        </p:spPr>
        <p:txBody>
          <a:bodyPr wrap="square" anchor="t" lIns="0" rIns="0" tIns="0" bIns="0">
            <a:spAutoFit/>
          </a:bodyPr>
          <a:lstStyle/>
          <a:p>
            <a:pPr algn="l">
              <a:lnSpc>
                <a:spcPct val="105000"/>
              </a:lnSpc>
            </a:pPr>
            <a:r>
              <a:rPr sz="1050" b="0">
                <a:solidFill>
                  <a:srgbClr val="1B2A33"/>
                </a:solidFill>
                <a:latin typeface="Calibri"/>
              </a:rPr>
              <a:t>Filter by status, priority or owner</a:t>
            </a:r>
          </a:p>
        </p:txBody>
      </p:sp>
      <p:sp>
        <p:nvSpPr>
          <p:cNvPr id="13" name="Rectangle 12"/>
          <p:cNvSpPr/>
          <p:nvPr/>
        </p:nvSpPr>
        <p:spPr>
          <a:xfrm>
            <a:off x="8458200" y="1869948"/>
            <a:ext cx="45720" cy="502920"/>
          </a:xfrm>
          <a:prstGeom prst="rect">
            <a:avLst/>
          </a:prstGeom>
          <a:solidFill>
            <a:srgbClr val="0E4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22792" y="1869948"/>
            <a:ext cx="3127248" cy="164592"/>
          </a:xfrm>
          <a:prstGeom prst="rect">
            <a:avLst/>
          </a:prstGeom>
          <a:noFill/>
        </p:spPr>
        <p:txBody>
          <a:bodyPr wrap="square" anchor="t" lIns="0" rIns="0" tIns="0" bIns="0">
            <a:spAutoFit/>
          </a:bodyPr>
          <a:lstStyle/>
          <a:p>
            <a:pPr algn="l">
              <a:lnSpc>
                <a:spcPct val="115000"/>
              </a:lnSpc>
            </a:pPr>
            <a:r>
              <a:rPr sz="950" b="1">
                <a:solidFill>
                  <a:srgbClr val="0E4F4A"/>
                </a:solidFill>
                <a:latin typeface="Calibri"/>
              </a:rPr>
              <a:t>ACTION</a:t>
            </a:r>
          </a:p>
        </p:txBody>
      </p:sp>
      <p:sp>
        <p:nvSpPr>
          <p:cNvPr id="15" name="TextBox 14"/>
          <p:cNvSpPr txBox="1"/>
          <p:nvPr/>
        </p:nvSpPr>
        <p:spPr>
          <a:xfrm>
            <a:off x="8622792" y="2061972"/>
            <a:ext cx="3127248" cy="320040"/>
          </a:xfrm>
          <a:prstGeom prst="rect">
            <a:avLst/>
          </a:prstGeom>
          <a:noFill/>
        </p:spPr>
        <p:txBody>
          <a:bodyPr wrap="square" anchor="t" lIns="0" rIns="0" tIns="0" bIns="0">
            <a:spAutoFit/>
          </a:bodyPr>
          <a:lstStyle/>
          <a:p>
            <a:pPr algn="l">
              <a:lnSpc>
                <a:spcPct val="108000"/>
              </a:lnSpc>
            </a:pPr>
            <a:r>
              <a:rPr sz="1100" b="0">
                <a:solidFill>
                  <a:srgbClr val="1B2A33"/>
                </a:solidFill>
                <a:latin typeface="Calibri"/>
              </a:rPr>
              <a:t>Filter to unassigned or to your own, and choose what to work on.</a:t>
            </a:r>
          </a:p>
        </p:txBody>
      </p:sp>
      <p:sp>
        <p:nvSpPr>
          <p:cNvPr id="16" name="Rectangle 15"/>
          <p:cNvSpPr/>
          <p:nvPr/>
        </p:nvSpPr>
        <p:spPr>
          <a:xfrm>
            <a:off x="8458200" y="2574036"/>
            <a:ext cx="45720" cy="502920"/>
          </a:xfrm>
          <a:prstGeom prst="rect">
            <a:avLst/>
          </a:prstGeom>
          <a:solidFill>
            <a:srgbClr val="1E7A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22792" y="2574036"/>
            <a:ext cx="3127248" cy="164592"/>
          </a:xfrm>
          <a:prstGeom prst="rect">
            <a:avLst/>
          </a:prstGeom>
          <a:noFill/>
        </p:spPr>
        <p:txBody>
          <a:bodyPr wrap="square" anchor="t" lIns="0" rIns="0" tIns="0" bIns="0">
            <a:spAutoFit/>
          </a:bodyPr>
          <a:lstStyle/>
          <a:p>
            <a:pPr algn="l">
              <a:lnSpc>
                <a:spcPct val="115000"/>
              </a:lnSpc>
            </a:pPr>
            <a:r>
              <a:rPr sz="950" b="1">
                <a:solidFill>
                  <a:srgbClr val="1E7A53"/>
                </a:solidFill>
                <a:latin typeface="Calibri"/>
              </a:rPr>
              <a:t>RESULT</a:t>
            </a:r>
          </a:p>
        </p:txBody>
      </p:sp>
      <p:sp>
        <p:nvSpPr>
          <p:cNvPr id="18" name="TextBox 17"/>
          <p:cNvSpPr txBox="1"/>
          <p:nvPr/>
        </p:nvSpPr>
        <p:spPr>
          <a:xfrm>
            <a:off x="8622792" y="2766060"/>
            <a:ext cx="3127248" cy="320040"/>
          </a:xfrm>
          <a:prstGeom prst="rect">
            <a:avLst/>
          </a:prstGeom>
          <a:noFill/>
        </p:spPr>
        <p:txBody>
          <a:bodyPr wrap="square" anchor="t" lIns="0" rIns="0" tIns="0" bIns="0">
            <a:spAutoFit/>
          </a:bodyPr>
          <a:lstStyle/>
          <a:p>
            <a:pPr algn="l">
              <a:lnSpc>
                <a:spcPct val="108000"/>
              </a:lnSpc>
            </a:pPr>
            <a:r>
              <a:rPr sz="1100" b="0">
                <a:solidFill>
                  <a:srgbClr val="1B2A33"/>
                </a:solidFill>
                <a:latin typeface="Calibri"/>
              </a:rPr>
              <a:t>Agents see every ticket in their org scope, not just their own.</a:t>
            </a:r>
          </a:p>
        </p:txBody>
      </p:sp>
      <p:sp>
        <p:nvSpPr>
          <p:cNvPr id="19" name="Rectangle 18"/>
          <p:cNvSpPr/>
          <p:nvPr/>
        </p:nvSpPr>
        <p:spPr>
          <a:xfrm>
            <a:off x="8458200" y="3278124"/>
            <a:ext cx="45720" cy="342900"/>
          </a:xfrm>
          <a:prstGeom prst="rect">
            <a:avLst/>
          </a:prstGeom>
          <a:solidFill>
            <a:srgbClr val="5B6B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22792" y="3278124"/>
            <a:ext cx="3127248" cy="164592"/>
          </a:xfrm>
          <a:prstGeom prst="rect">
            <a:avLst/>
          </a:prstGeom>
          <a:noFill/>
        </p:spPr>
        <p:txBody>
          <a:bodyPr wrap="square" anchor="t" lIns="0" rIns="0" tIns="0" bIns="0">
            <a:spAutoFit/>
          </a:bodyPr>
          <a:lstStyle/>
          <a:p>
            <a:pPr algn="l">
              <a:lnSpc>
                <a:spcPct val="115000"/>
              </a:lnSpc>
            </a:pPr>
            <a:r>
              <a:rPr sz="950" b="1">
                <a:solidFill>
                  <a:srgbClr val="5B6B75"/>
                </a:solidFill>
                <a:latin typeface="Calibri"/>
              </a:rPr>
              <a:t>NEXT</a:t>
            </a:r>
          </a:p>
        </p:txBody>
      </p:sp>
      <p:sp>
        <p:nvSpPr>
          <p:cNvPr id="21" name="TextBox 20"/>
          <p:cNvSpPr txBox="1"/>
          <p:nvPr/>
        </p:nvSpPr>
        <p:spPr>
          <a:xfrm>
            <a:off x="8622792" y="3470148"/>
            <a:ext cx="3127248" cy="160020"/>
          </a:xfrm>
          <a:prstGeom prst="rect">
            <a:avLst/>
          </a:prstGeom>
          <a:noFill/>
        </p:spPr>
        <p:txBody>
          <a:bodyPr wrap="square" anchor="t" lIns="0" rIns="0" tIns="0" bIns="0">
            <a:spAutoFit/>
          </a:bodyPr>
          <a:lstStyle/>
          <a:p>
            <a:pPr algn="l">
              <a:lnSpc>
                <a:spcPct val="108000"/>
              </a:lnSpc>
            </a:pPr>
            <a:r>
              <a:rPr sz="1100" b="0">
                <a:solidFill>
                  <a:srgbClr val="1B2A33"/>
                </a:solidFill>
                <a:latin typeface="Calibri"/>
              </a:rPr>
              <a:t>Step 10 — start with what is breaching.</a:t>
            </a:r>
          </a:p>
        </p:txBody>
      </p:sp>
      <p:sp>
        <p:nvSpPr>
          <p:cNvPr id="22" name="Rectangle 21"/>
          <p:cNvSpPr/>
          <p:nvPr/>
        </p:nvSpPr>
        <p:spPr>
          <a:xfrm>
            <a:off x="0" y="6473952"/>
            <a:ext cx="12191695" cy="384048"/>
          </a:xfrm>
          <a:prstGeom prst="rect">
            <a:avLst/>
          </a:prstGeom>
          <a:solidFill>
            <a:srgbClr val="F3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2920" y="6547104"/>
            <a:ext cx="8229600" cy="228600"/>
          </a:xfrm>
          <a:prstGeom prst="rect">
            <a:avLst/>
          </a:prstGeom>
          <a:noFill/>
        </p:spPr>
        <p:txBody>
          <a:bodyPr wrap="square" anchor="t" lIns="0" rIns="0" tIns="0" bIns="0">
            <a:spAutoFit/>
          </a:bodyPr>
          <a:lstStyle/>
          <a:p>
            <a:pPr algn="l">
              <a:lnSpc>
                <a:spcPct val="115000"/>
              </a:lnSpc>
            </a:pPr>
            <a:r>
              <a:rPr sz="900" b="0">
                <a:solidFill>
                  <a:srgbClr val="5B6B75"/>
                </a:solidFill>
                <a:latin typeface="Calibri"/>
              </a:rPr>
              <a:t>SUCCESS Bank — Internal Ticketing · Standard Operating Procedure</a:t>
            </a:r>
          </a:p>
        </p:txBody>
      </p:sp>
      <p:sp>
        <p:nvSpPr>
          <p:cNvPr id="24" name="TextBox 23"/>
          <p:cNvSpPr txBox="1"/>
          <p:nvPr/>
        </p:nvSpPr>
        <p:spPr>
          <a:xfrm>
            <a:off x="9997135" y="6547104"/>
            <a:ext cx="1691640" cy="228600"/>
          </a:xfrm>
          <a:prstGeom prst="rect">
            <a:avLst/>
          </a:prstGeom>
          <a:noFill/>
        </p:spPr>
        <p:txBody>
          <a:bodyPr wrap="square" anchor="t" lIns="0" rIns="0" tIns="0" bIns="0">
            <a:spAutoFit/>
          </a:bodyPr>
          <a:lstStyle/>
          <a:p>
            <a:pPr algn="r">
              <a:lnSpc>
                <a:spcPct val="115000"/>
              </a:lnSpc>
            </a:pPr>
            <a:r>
              <a:rPr sz="900" b="0">
                <a:solidFill>
                  <a:srgbClr val="5B6B75"/>
                </a:solidFill>
                <a:latin typeface="Calibri"/>
              </a:rPr>
              <a:t>Step 09</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0E4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36576"/>
          </a:xfrm>
          <a:prstGeom prst="rect">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55448"/>
            <a:ext cx="1371600" cy="274320"/>
          </a:xfrm>
          <a:prstGeom prst="rect">
            <a:avLst/>
          </a:prstGeom>
          <a:noFill/>
        </p:spPr>
        <p:txBody>
          <a:bodyPr wrap="square" anchor="t" lIns="0" rIns="0" tIns="0" bIns="0">
            <a:spAutoFit/>
          </a:bodyPr>
          <a:lstStyle/>
          <a:p>
            <a:pPr algn="l">
              <a:lnSpc>
                <a:spcPct val="115000"/>
              </a:lnSpc>
            </a:pPr>
            <a:r>
              <a:rPr sz="1200" b="1">
                <a:solidFill>
                  <a:srgbClr val="C25B2E"/>
                </a:solidFill>
                <a:latin typeface="Calibri"/>
              </a:rPr>
              <a:t>STEP 10</a:t>
            </a:r>
          </a:p>
        </p:txBody>
      </p:sp>
      <p:sp>
        <p:nvSpPr>
          <p:cNvPr id="5" name="TextBox 4"/>
          <p:cNvSpPr txBox="1"/>
          <p:nvPr/>
        </p:nvSpPr>
        <p:spPr>
          <a:xfrm>
            <a:off x="502920" y="420624"/>
            <a:ext cx="8412480" cy="365760"/>
          </a:xfrm>
          <a:prstGeom prst="rect">
            <a:avLst/>
          </a:prstGeom>
          <a:noFill/>
        </p:spPr>
        <p:txBody>
          <a:bodyPr wrap="square" anchor="t" lIns="0" rIns="0" tIns="0" bIns="0">
            <a:spAutoFit/>
          </a:bodyPr>
          <a:lstStyle/>
          <a:p>
            <a:pPr algn="l">
              <a:lnSpc>
                <a:spcPct val="115000"/>
              </a:lnSpc>
            </a:pPr>
            <a:r>
              <a:rPr sz="2000" b="1">
                <a:solidFill>
                  <a:srgbClr val="FFFFFF"/>
                </a:solidFill>
                <a:latin typeface="Calibri"/>
              </a:rPr>
              <a:t>Deal with breaches first</a:t>
            </a:r>
          </a:p>
        </p:txBody>
      </p:sp>
      <p:sp>
        <p:nvSpPr>
          <p:cNvPr id="6" name="TextBox 5"/>
          <p:cNvSpPr txBox="1"/>
          <p:nvPr/>
        </p:nvSpPr>
        <p:spPr>
          <a:xfrm>
            <a:off x="9174175" y="320040"/>
            <a:ext cx="2514600" cy="274320"/>
          </a:xfrm>
          <a:prstGeom prst="rect">
            <a:avLst/>
          </a:prstGeom>
          <a:noFill/>
        </p:spPr>
        <p:txBody>
          <a:bodyPr wrap="square" anchor="t" lIns="0" rIns="0" tIns="0" bIns="0">
            <a:spAutoFit/>
          </a:bodyPr>
          <a:lstStyle/>
          <a:p>
            <a:pPr algn="r">
              <a:lnSpc>
                <a:spcPct val="115000"/>
              </a:lnSpc>
            </a:pPr>
            <a:r>
              <a:rPr sz="1100" b="1">
                <a:solidFill>
                  <a:srgbClr val="F3ECE0"/>
                </a:solidFill>
                <a:latin typeface="Calibri"/>
              </a:rPr>
              <a:t>AGENT</a:t>
            </a:r>
          </a:p>
        </p:txBody>
      </p:sp>
      <p:sp>
        <p:nvSpPr>
          <p:cNvPr id="7" name="Rectangle 6"/>
          <p:cNvSpPr/>
          <p:nvPr/>
        </p:nvSpPr>
        <p:spPr>
          <a:xfrm>
            <a:off x="388620" y="1165860"/>
            <a:ext cx="7818120" cy="4903470"/>
          </a:xfrm>
          <a:prstGeom prst="rect">
            <a:avLst/>
          </a:prstGeom>
          <a:solidFill>
            <a:srgbClr val="D6CE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411480" y="1188720"/>
            <a:ext cx="7772400" cy="4855464"/>
          </a:xfrm>
          <a:prstGeom prst="rect">
            <a:avLst/>
          </a:prstGeom>
        </p:spPr>
      </p:pic>
      <p:sp>
        <p:nvSpPr>
          <p:cNvPr id="9" name="Oval 8"/>
          <p:cNvSpPr/>
          <p:nvPr/>
        </p:nvSpPr>
        <p:spPr>
          <a:xfrm>
            <a:off x="6608733" y="1915267"/>
            <a:ext cx="274320" cy="274320"/>
          </a:xfrm>
          <a:prstGeom prst="ellipse">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noAutofit/>
          </a:bodyPr>
          <a:lstStyle/>
          <a:p>
            <a:pPr algn="ctr">
              <a:lnSpc>
                <a:spcPct val="100000"/>
              </a:lnSpc>
            </a:pPr>
            <a:r>
              <a:rPr sz="1300" b="1">
                <a:solidFill>
                  <a:srgbClr val="FFFFFF"/>
                </a:solidFill>
                <a:latin typeface="Calibri"/>
              </a:rPr>
              <a:t>1</a:t>
            </a:r>
          </a:p>
        </p:txBody>
      </p:sp>
      <p:sp>
        <p:nvSpPr>
          <p:cNvPr id="10" name="TextBox 9"/>
          <p:cNvSpPr txBox="1"/>
          <p:nvPr/>
        </p:nvSpPr>
        <p:spPr>
          <a:xfrm>
            <a:off x="8458200" y="1188720"/>
            <a:ext cx="3291840" cy="219456"/>
          </a:xfrm>
          <a:prstGeom prst="rect">
            <a:avLst/>
          </a:prstGeom>
          <a:noFill/>
        </p:spPr>
        <p:txBody>
          <a:bodyPr wrap="square" anchor="t" lIns="0" rIns="0" tIns="0" bIns="0">
            <a:spAutoFit/>
          </a:bodyPr>
          <a:lstStyle/>
          <a:p>
            <a:pPr algn="l">
              <a:lnSpc>
                <a:spcPct val="115000"/>
              </a:lnSpc>
            </a:pPr>
            <a:r>
              <a:rPr sz="1000" b="1">
                <a:solidFill>
                  <a:srgbClr val="C25B2E"/>
                </a:solidFill>
                <a:latin typeface="Calibri"/>
              </a:rPr>
              <a:t>ON THIS SCREEN</a:t>
            </a:r>
          </a:p>
        </p:txBody>
      </p:sp>
      <p:sp>
        <p:nvSpPr>
          <p:cNvPr id="11" name="Oval 10"/>
          <p:cNvSpPr/>
          <p:nvPr/>
        </p:nvSpPr>
        <p:spPr>
          <a:xfrm>
            <a:off x="8458200" y="1463040"/>
            <a:ext cx="210312" cy="210312"/>
          </a:xfrm>
          <a:prstGeom prst="ellipse">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noAutofit/>
          </a:bodyPr>
          <a:lstStyle/>
          <a:p>
            <a:pPr algn="ctr">
              <a:lnSpc>
                <a:spcPct val="100000"/>
              </a:lnSpc>
            </a:pPr>
            <a:r>
              <a:rPr sz="1000" b="1">
                <a:solidFill>
                  <a:srgbClr val="FFFFFF"/>
                </a:solidFill>
                <a:latin typeface="Calibri"/>
              </a:rPr>
              <a:t>1</a:t>
            </a:r>
          </a:p>
        </p:txBody>
      </p:sp>
      <p:sp>
        <p:nvSpPr>
          <p:cNvPr id="12" name="TextBox 11"/>
          <p:cNvSpPr txBox="1"/>
          <p:nvPr/>
        </p:nvSpPr>
        <p:spPr>
          <a:xfrm>
            <a:off x="8787384" y="1481328"/>
            <a:ext cx="2962656" cy="169164"/>
          </a:xfrm>
          <a:prstGeom prst="rect">
            <a:avLst/>
          </a:prstGeom>
          <a:noFill/>
        </p:spPr>
        <p:txBody>
          <a:bodyPr wrap="square" anchor="t" lIns="0" rIns="0" tIns="0" bIns="0">
            <a:spAutoFit/>
          </a:bodyPr>
          <a:lstStyle/>
          <a:p>
            <a:pPr algn="l">
              <a:lnSpc>
                <a:spcPct val="105000"/>
              </a:lnSpc>
            </a:pPr>
            <a:r>
              <a:rPr sz="1050" b="0">
                <a:solidFill>
                  <a:srgbClr val="1B2A33"/>
                </a:solidFill>
                <a:latin typeface="Calibri"/>
              </a:rPr>
              <a:t>The filter the tile applied</a:t>
            </a:r>
          </a:p>
        </p:txBody>
      </p:sp>
      <p:sp>
        <p:nvSpPr>
          <p:cNvPr id="13" name="Rectangle 12"/>
          <p:cNvSpPr/>
          <p:nvPr/>
        </p:nvSpPr>
        <p:spPr>
          <a:xfrm>
            <a:off x="8458200" y="1869948"/>
            <a:ext cx="45720" cy="502920"/>
          </a:xfrm>
          <a:prstGeom prst="rect">
            <a:avLst/>
          </a:prstGeom>
          <a:solidFill>
            <a:srgbClr val="0E4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22792" y="1869948"/>
            <a:ext cx="3127248" cy="164592"/>
          </a:xfrm>
          <a:prstGeom prst="rect">
            <a:avLst/>
          </a:prstGeom>
          <a:noFill/>
        </p:spPr>
        <p:txBody>
          <a:bodyPr wrap="square" anchor="t" lIns="0" rIns="0" tIns="0" bIns="0">
            <a:spAutoFit/>
          </a:bodyPr>
          <a:lstStyle/>
          <a:p>
            <a:pPr algn="l">
              <a:lnSpc>
                <a:spcPct val="115000"/>
              </a:lnSpc>
            </a:pPr>
            <a:r>
              <a:rPr sz="950" b="1">
                <a:solidFill>
                  <a:srgbClr val="0E4F4A"/>
                </a:solidFill>
                <a:latin typeface="Calibri"/>
              </a:rPr>
              <a:t>ACTION</a:t>
            </a:r>
          </a:p>
        </p:txBody>
      </p:sp>
      <p:sp>
        <p:nvSpPr>
          <p:cNvPr id="15" name="TextBox 14"/>
          <p:cNvSpPr txBox="1"/>
          <p:nvPr/>
        </p:nvSpPr>
        <p:spPr>
          <a:xfrm>
            <a:off x="8622792" y="2061972"/>
            <a:ext cx="3127248" cy="320040"/>
          </a:xfrm>
          <a:prstGeom prst="rect">
            <a:avLst/>
          </a:prstGeom>
          <a:noFill/>
        </p:spPr>
        <p:txBody>
          <a:bodyPr wrap="square" anchor="t" lIns="0" rIns="0" tIns="0" bIns="0">
            <a:spAutoFit/>
          </a:bodyPr>
          <a:lstStyle/>
          <a:p>
            <a:pPr algn="l">
              <a:lnSpc>
                <a:spcPct val="108000"/>
              </a:lnSpc>
            </a:pPr>
            <a:r>
              <a:rPr sz="1100" b="0">
                <a:solidFill>
                  <a:srgbClr val="1B2A33"/>
                </a:solidFill>
                <a:latin typeface="Calibri"/>
              </a:rPr>
              <a:t>Select the SLA Breached tile on the dashboard.</a:t>
            </a:r>
          </a:p>
        </p:txBody>
      </p:sp>
      <p:sp>
        <p:nvSpPr>
          <p:cNvPr id="16" name="Rectangle 15"/>
          <p:cNvSpPr/>
          <p:nvPr/>
        </p:nvSpPr>
        <p:spPr>
          <a:xfrm>
            <a:off x="8458200" y="2574036"/>
            <a:ext cx="45720" cy="662940"/>
          </a:xfrm>
          <a:prstGeom prst="rect">
            <a:avLst/>
          </a:prstGeom>
          <a:solidFill>
            <a:srgbClr val="1E7A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22792" y="2574036"/>
            <a:ext cx="3127248" cy="164592"/>
          </a:xfrm>
          <a:prstGeom prst="rect">
            <a:avLst/>
          </a:prstGeom>
          <a:noFill/>
        </p:spPr>
        <p:txBody>
          <a:bodyPr wrap="square" anchor="t" lIns="0" rIns="0" tIns="0" bIns="0">
            <a:spAutoFit/>
          </a:bodyPr>
          <a:lstStyle/>
          <a:p>
            <a:pPr algn="l">
              <a:lnSpc>
                <a:spcPct val="115000"/>
              </a:lnSpc>
            </a:pPr>
            <a:r>
              <a:rPr sz="950" b="1">
                <a:solidFill>
                  <a:srgbClr val="1E7A53"/>
                </a:solidFill>
                <a:latin typeface="Calibri"/>
              </a:rPr>
              <a:t>RESULT</a:t>
            </a:r>
          </a:p>
        </p:txBody>
      </p:sp>
      <p:sp>
        <p:nvSpPr>
          <p:cNvPr id="18" name="TextBox 17"/>
          <p:cNvSpPr txBox="1"/>
          <p:nvPr/>
        </p:nvSpPr>
        <p:spPr>
          <a:xfrm>
            <a:off x="8622792" y="2766060"/>
            <a:ext cx="3127248" cy="480060"/>
          </a:xfrm>
          <a:prstGeom prst="rect">
            <a:avLst/>
          </a:prstGeom>
          <a:noFill/>
        </p:spPr>
        <p:txBody>
          <a:bodyPr wrap="square" anchor="t" lIns="0" rIns="0" tIns="0" bIns="0">
            <a:spAutoFit/>
          </a:bodyPr>
          <a:lstStyle/>
          <a:p>
            <a:pPr algn="l">
              <a:lnSpc>
                <a:spcPct val="108000"/>
              </a:lnSpc>
            </a:pPr>
            <a:r>
              <a:rPr sz="1100" b="0">
                <a:solidFill>
                  <a:srgbClr val="1B2A33"/>
                </a:solidFill>
                <a:latin typeface="Calibri"/>
              </a:rPr>
              <a:t>The list is filtered to exactly the tickets the tile counted — the number on the card and the length of this list always agree.</a:t>
            </a:r>
          </a:p>
        </p:txBody>
      </p:sp>
      <p:sp>
        <p:nvSpPr>
          <p:cNvPr id="19" name="Rectangle 18"/>
          <p:cNvSpPr/>
          <p:nvPr/>
        </p:nvSpPr>
        <p:spPr>
          <a:xfrm>
            <a:off x="8458200" y="3438144"/>
            <a:ext cx="45720" cy="342900"/>
          </a:xfrm>
          <a:prstGeom prst="rect">
            <a:avLst/>
          </a:prstGeom>
          <a:solidFill>
            <a:srgbClr val="5B6B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22792" y="3438144"/>
            <a:ext cx="3127248" cy="164592"/>
          </a:xfrm>
          <a:prstGeom prst="rect">
            <a:avLst/>
          </a:prstGeom>
          <a:noFill/>
        </p:spPr>
        <p:txBody>
          <a:bodyPr wrap="square" anchor="t" lIns="0" rIns="0" tIns="0" bIns="0">
            <a:spAutoFit/>
          </a:bodyPr>
          <a:lstStyle/>
          <a:p>
            <a:pPr algn="l">
              <a:lnSpc>
                <a:spcPct val="115000"/>
              </a:lnSpc>
            </a:pPr>
            <a:r>
              <a:rPr sz="950" b="1">
                <a:solidFill>
                  <a:srgbClr val="5B6B75"/>
                </a:solidFill>
                <a:latin typeface="Calibri"/>
              </a:rPr>
              <a:t>NEXT</a:t>
            </a:r>
          </a:p>
        </p:txBody>
      </p:sp>
      <p:sp>
        <p:nvSpPr>
          <p:cNvPr id="21" name="TextBox 20"/>
          <p:cNvSpPr txBox="1"/>
          <p:nvPr/>
        </p:nvSpPr>
        <p:spPr>
          <a:xfrm>
            <a:off x="8622792" y="3630168"/>
            <a:ext cx="3127248" cy="160020"/>
          </a:xfrm>
          <a:prstGeom prst="rect">
            <a:avLst/>
          </a:prstGeom>
          <a:noFill/>
        </p:spPr>
        <p:txBody>
          <a:bodyPr wrap="square" anchor="t" lIns="0" rIns="0" tIns="0" bIns="0">
            <a:spAutoFit/>
          </a:bodyPr>
          <a:lstStyle/>
          <a:p>
            <a:pPr algn="l">
              <a:lnSpc>
                <a:spcPct val="108000"/>
              </a:lnSpc>
            </a:pPr>
            <a:r>
              <a:rPr sz="1100" b="0">
                <a:solidFill>
                  <a:srgbClr val="1B2A33"/>
                </a:solidFill>
                <a:latin typeface="Calibri"/>
              </a:rPr>
              <a:t>Step 11 — open one and investigate.</a:t>
            </a:r>
          </a:p>
        </p:txBody>
      </p:sp>
      <p:sp>
        <p:nvSpPr>
          <p:cNvPr id="22" name="Rectangle 21"/>
          <p:cNvSpPr/>
          <p:nvPr/>
        </p:nvSpPr>
        <p:spPr>
          <a:xfrm>
            <a:off x="0" y="6473952"/>
            <a:ext cx="12191695" cy="384048"/>
          </a:xfrm>
          <a:prstGeom prst="rect">
            <a:avLst/>
          </a:prstGeom>
          <a:solidFill>
            <a:srgbClr val="F3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2920" y="6547104"/>
            <a:ext cx="8229600" cy="228600"/>
          </a:xfrm>
          <a:prstGeom prst="rect">
            <a:avLst/>
          </a:prstGeom>
          <a:noFill/>
        </p:spPr>
        <p:txBody>
          <a:bodyPr wrap="square" anchor="t" lIns="0" rIns="0" tIns="0" bIns="0">
            <a:spAutoFit/>
          </a:bodyPr>
          <a:lstStyle/>
          <a:p>
            <a:pPr algn="l">
              <a:lnSpc>
                <a:spcPct val="115000"/>
              </a:lnSpc>
            </a:pPr>
            <a:r>
              <a:rPr sz="900" b="0">
                <a:solidFill>
                  <a:srgbClr val="5B6B75"/>
                </a:solidFill>
                <a:latin typeface="Calibri"/>
              </a:rPr>
              <a:t>SUCCESS Bank — Internal Ticketing · Standard Operating Procedure</a:t>
            </a:r>
          </a:p>
        </p:txBody>
      </p:sp>
      <p:sp>
        <p:nvSpPr>
          <p:cNvPr id="24" name="TextBox 23"/>
          <p:cNvSpPr txBox="1"/>
          <p:nvPr/>
        </p:nvSpPr>
        <p:spPr>
          <a:xfrm>
            <a:off x="9997135" y="6547104"/>
            <a:ext cx="1691640" cy="228600"/>
          </a:xfrm>
          <a:prstGeom prst="rect">
            <a:avLst/>
          </a:prstGeom>
          <a:noFill/>
        </p:spPr>
        <p:txBody>
          <a:bodyPr wrap="square" anchor="t" lIns="0" rIns="0" tIns="0" bIns="0">
            <a:spAutoFit/>
          </a:bodyPr>
          <a:lstStyle/>
          <a:p>
            <a:pPr algn="r">
              <a:lnSpc>
                <a:spcPct val="115000"/>
              </a:lnSpc>
            </a:pPr>
            <a:r>
              <a:rPr sz="900" b="0">
                <a:solidFill>
                  <a:srgbClr val="5B6B75"/>
                </a:solidFill>
                <a:latin typeface="Calibri"/>
              </a:rPr>
              <a:t>Step 10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0E4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36576"/>
          </a:xfrm>
          <a:prstGeom prst="rect">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55448"/>
            <a:ext cx="1371600" cy="274320"/>
          </a:xfrm>
          <a:prstGeom prst="rect">
            <a:avLst/>
          </a:prstGeom>
          <a:noFill/>
        </p:spPr>
        <p:txBody>
          <a:bodyPr wrap="square" anchor="t" lIns="0" rIns="0" tIns="0" bIns="0">
            <a:spAutoFit/>
          </a:bodyPr>
          <a:lstStyle/>
          <a:p>
            <a:pPr algn="l">
              <a:lnSpc>
                <a:spcPct val="115000"/>
              </a:lnSpc>
            </a:pPr>
            <a:r>
              <a:rPr sz="1200" b="1">
                <a:solidFill>
                  <a:srgbClr val="C25B2E"/>
                </a:solidFill>
                <a:latin typeface="Calibri"/>
              </a:rPr>
              <a:t>STEP 11</a:t>
            </a:r>
          </a:p>
        </p:txBody>
      </p:sp>
      <p:sp>
        <p:nvSpPr>
          <p:cNvPr id="5" name="TextBox 4"/>
          <p:cNvSpPr txBox="1"/>
          <p:nvPr/>
        </p:nvSpPr>
        <p:spPr>
          <a:xfrm>
            <a:off x="502920" y="420624"/>
            <a:ext cx="8412480" cy="365760"/>
          </a:xfrm>
          <a:prstGeom prst="rect">
            <a:avLst/>
          </a:prstGeom>
          <a:noFill/>
        </p:spPr>
        <p:txBody>
          <a:bodyPr wrap="square" anchor="t" lIns="0" rIns="0" tIns="0" bIns="0">
            <a:spAutoFit/>
          </a:bodyPr>
          <a:lstStyle/>
          <a:p>
            <a:pPr algn="l">
              <a:lnSpc>
                <a:spcPct val="115000"/>
              </a:lnSpc>
            </a:pPr>
            <a:r>
              <a:rPr sz="2000" b="1">
                <a:solidFill>
                  <a:srgbClr val="FFFFFF"/>
                </a:solidFill>
                <a:latin typeface="Calibri"/>
              </a:rPr>
              <a:t>Investigate the ticket</a:t>
            </a:r>
          </a:p>
        </p:txBody>
      </p:sp>
      <p:sp>
        <p:nvSpPr>
          <p:cNvPr id="6" name="TextBox 5"/>
          <p:cNvSpPr txBox="1"/>
          <p:nvPr/>
        </p:nvSpPr>
        <p:spPr>
          <a:xfrm>
            <a:off x="9174175" y="320040"/>
            <a:ext cx="2514600" cy="274320"/>
          </a:xfrm>
          <a:prstGeom prst="rect">
            <a:avLst/>
          </a:prstGeom>
          <a:noFill/>
        </p:spPr>
        <p:txBody>
          <a:bodyPr wrap="square" anchor="t" lIns="0" rIns="0" tIns="0" bIns="0">
            <a:spAutoFit/>
          </a:bodyPr>
          <a:lstStyle/>
          <a:p>
            <a:pPr algn="r">
              <a:lnSpc>
                <a:spcPct val="115000"/>
              </a:lnSpc>
            </a:pPr>
            <a:r>
              <a:rPr sz="1100" b="1">
                <a:solidFill>
                  <a:srgbClr val="F3ECE0"/>
                </a:solidFill>
                <a:latin typeface="Calibri"/>
              </a:rPr>
              <a:t>AGENT</a:t>
            </a:r>
          </a:p>
        </p:txBody>
      </p:sp>
      <p:sp>
        <p:nvSpPr>
          <p:cNvPr id="7" name="Rectangle 6"/>
          <p:cNvSpPr/>
          <p:nvPr/>
        </p:nvSpPr>
        <p:spPr>
          <a:xfrm>
            <a:off x="388620" y="1165860"/>
            <a:ext cx="7818120" cy="4903470"/>
          </a:xfrm>
          <a:prstGeom prst="rect">
            <a:avLst/>
          </a:prstGeom>
          <a:solidFill>
            <a:srgbClr val="D6CE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411480" y="1188720"/>
            <a:ext cx="7772400" cy="4855464"/>
          </a:xfrm>
          <a:prstGeom prst="rect">
            <a:avLst/>
          </a:prstGeom>
        </p:spPr>
      </p:pic>
      <p:sp>
        <p:nvSpPr>
          <p:cNvPr id="9" name="Oval 8"/>
          <p:cNvSpPr/>
          <p:nvPr/>
        </p:nvSpPr>
        <p:spPr>
          <a:xfrm>
            <a:off x="1523252" y="2167385"/>
            <a:ext cx="274320" cy="274320"/>
          </a:xfrm>
          <a:prstGeom prst="ellipse">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noAutofit/>
          </a:bodyPr>
          <a:lstStyle/>
          <a:p>
            <a:pPr algn="ctr">
              <a:lnSpc>
                <a:spcPct val="100000"/>
              </a:lnSpc>
            </a:pPr>
            <a:r>
              <a:rPr sz="1300" b="1">
                <a:solidFill>
                  <a:srgbClr val="FFFFFF"/>
                </a:solidFill>
                <a:latin typeface="Calibri"/>
              </a:rPr>
              <a:t>1</a:t>
            </a:r>
          </a:p>
        </p:txBody>
      </p:sp>
      <p:sp>
        <p:nvSpPr>
          <p:cNvPr id="10" name="Oval 9"/>
          <p:cNvSpPr/>
          <p:nvPr/>
        </p:nvSpPr>
        <p:spPr>
          <a:xfrm>
            <a:off x="5769314" y="2158155"/>
            <a:ext cx="274320" cy="274320"/>
          </a:xfrm>
          <a:prstGeom prst="ellipse">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noAutofit/>
          </a:bodyPr>
          <a:lstStyle/>
          <a:p>
            <a:pPr algn="ctr">
              <a:lnSpc>
                <a:spcPct val="100000"/>
              </a:lnSpc>
            </a:pPr>
            <a:r>
              <a:rPr sz="1300" b="1">
                <a:solidFill>
                  <a:srgbClr val="FFFFFF"/>
                </a:solidFill>
                <a:latin typeface="Calibri"/>
              </a:rPr>
              <a:t>2</a:t>
            </a:r>
          </a:p>
        </p:txBody>
      </p:sp>
      <p:sp>
        <p:nvSpPr>
          <p:cNvPr id="11" name="Oval 10"/>
          <p:cNvSpPr/>
          <p:nvPr/>
        </p:nvSpPr>
        <p:spPr>
          <a:xfrm>
            <a:off x="1761088" y="3070440"/>
            <a:ext cx="274320" cy="274320"/>
          </a:xfrm>
          <a:prstGeom prst="ellipse">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noAutofit/>
          </a:bodyPr>
          <a:lstStyle/>
          <a:p>
            <a:pPr algn="ctr">
              <a:lnSpc>
                <a:spcPct val="100000"/>
              </a:lnSpc>
            </a:pPr>
            <a:r>
              <a:rPr sz="1300" b="1">
                <a:solidFill>
                  <a:srgbClr val="FFFFFF"/>
                </a:solidFill>
                <a:latin typeface="Calibri"/>
              </a:rPr>
              <a:t>3</a:t>
            </a:r>
          </a:p>
        </p:txBody>
      </p:sp>
      <p:sp>
        <p:nvSpPr>
          <p:cNvPr id="12" name="Oval 11"/>
          <p:cNvSpPr/>
          <p:nvPr/>
        </p:nvSpPr>
        <p:spPr>
          <a:xfrm>
            <a:off x="5769314" y="4327626"/>
            <a:ext cx="274320" cy="274320"/>
          </a:xfrm>
          <a:prstGeom prst="ellipse">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noAutofit/>
          </a:bodyPr>
          <a:lstStyle/>
          <a:p>
            <a:pPr algn="ctr">
              <a:lnSpc>
                <a:spcPct val="100000"/>
              </a:lnSpc>
            </a:pPr>
            <a:r>
              <a:rPr sz="1300" b="1">
                <a:solidFill>
                  <a:srgbClr val="FFFFFF"/>
                </a:solidFill>
                <a:latin typeface="Calibri"/>
              </a:rPr>
              <a:t>4</a:t>
            </a:r>
          </a:p>
        </p:txBody>
      </p:sp>
      <p:sp>
        <p:nvSpPr>
          <p:cNvPr id="13" name="TextBox 12"/>
          <p:cNvSpPr txBox="1"/>
          <p:nvPr/>
        </p:nvSpPr>
        <p:spPr>
          <a:xfrm>
            <a:off x="8458200" y="1188720"/>
            <a:ext cx="3291840" cy="219456"/>
          </a:xfrm>
          <a:prstGeom prst="rect">
            <a:avLst/>
          </a:prstGeom>
          <a:noFill/>
        </p:spPr>
        <p:txBody>
          <a:bodyPr wrap="square" anchor="t" lIns="0" rIns="0" tIns="0" bIns="0">
            <a:spAutoFit/>
          </a:bodyPr>
          <a:lstStyle/>
          <a:p>
            <a:pPr algn="l">
              <a:lnSpc>
                <a:spcPct val="115000"/>
              </a:lnSpc>
            </a:pPr>
            <a:r>
              <a:rPr sz="1000" b="1">
                <a:solidFill>
                  <a:srgbClr val="C25B2E"/>
                </a:solidFill>
                <a:latin typeface="Calibri"/>
              </a:rPr>
              <a:t>ON THIS SCREEN</a:t>
            </a:r>
          </a:p>
        </p:txBody>
      </p:sp>
      <p:sp>
        <p:nvSpPr>
          <p:cNvPr id="14" name="Oval 13"/>
          <p:cNvSpPr/>
          <p:nvPr/>
        </p:nvSpPr>
        <p:spPr>
          <a:xfrm>
            <a:off x="8458200" y="1463040"/>
            <a:ext cx="210312" cy="210312"/>
          </a:xfrm>
          <a:prstGeom prst="ellipse">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noAutofit/>
          </a:bodyPr>
          <a:lstStyle/>
          <a:p>
            <a:pPr algn="ctr">
              <a:lnSpc>
                <a:spcPct val="100000"/>
              </a:lnSpc>
            </a:pPr>
            <a:r>
              <a:rPr sz="1000" b="1">
                <a:solidFill>
                  <a:srgbClr val="FFFFFF"/>
                </a:solidFill>
                <a:latin typeface="Calibri"/>
              </a:rPr>
              <a:t>1</a:t>
            </a:r>
          </a:p>
        </p:txBody>
      </p:sp>
      <p:sp>
        <p:nvSpPr>
          <p:cNvPr id="15" name="TextBox 14"/>
          <p:cNvSpPr txBox="1"/>
          <p:nvPr/>
        </p:nvSpPr>
        <p:spPr>
          <a:xfrm>
            <a:off x="8787384" y="1481328"/>
            <a:ext cx="2962656" cy="169164"/>
          </a:xfrm>
          <a:prstGeom prst="rect">
            <a:avLst/>
          </a:prstGeom>
          <a:noFill/>
        </p:spPr>
        <p:txBody>
          <a:bodyPr wrap="square" anchor="t" lIns="0" rIns="0" tIns="0" bIns="0">
            <a:spAutoFit/>
          </a:bodyPr>
          <a:lstStyle/>
          <a:p>
            <a:pPr algn="l">
              <a:lnSpc>
                <a:spcPct val="105000"/>
              </a:lnSpc>
            </a:pPr>
            <a:r>
              <a:rPr sz="1050" b="0">
                <a:solidFill>
                  <a:srgbClr val="1B2A33"/>
                </a:solidFill>
                <a:latin typeface="Calibri"/>
              </a:rPr>
              <a:t>The problem as reported</a:t>
            </a:r>
          </a:p>
        </p:txBody>
      </p:sp>
      <p:sp>
        <p:nvSpPr>
          <p:cNvPr id="16" name="Oval 15"/>
          <p:cNvSpPr/>
          <p:nvPr/>
        </p:nvSpPr>
        <p:spPr>
          <a:xfrm>
            <a:off x="8458200" y="1723644"/>
            <a:ext cx="210312" cy="210312"/>
          </a:xfrm>
          <a:prstGeom prst="ellipse">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noAutofit/>
          </a:bodyPr>
          <a:lstStyle/>
          <a:p>
            <a:pPr algn="ctr">
              <a:lnSpc>
                <a:spcPct val="100000"/>
              </a:lnSpc>
            </a:pPr>
            <a:r>
              <a:rPr sz="1000" b="1">
                <a:solidFill>
                  <a:srgbClr val="FFFFFF"/>
                </a:solidFill>
                <a:latin typeface="Calibri"/>
              </a:rPr>
              <a:t>2</a:t>
            </a:r>
          </a:p>
        </p:txBody>
      </p:sp>
      <p:sp>
        <p:nvSpPr>
          <p:cNvPr id="17" name="TextBox 16"/>
          <p:cNvSpPr txBox="1"/>
          <p:nvPr/>
        </p:nvSpPr>
        <p:spPr>
          <a:xfrm>
            <a:off x="8787384" y="1741932"/>
            <a:ext cx="2962656" cy="338328"/>
          </a:xfrm>
          <a:prstGeom prst="rect">
            <a:avLst/>
          </a:prstGeom>
          <a:noFill/>
        </p:spPr>
        <p:txBody>
          <a:bodyPr wrap="square" anchor="t" lIns="0" rIns="0" tIns="0" bIns="0">
            <a:spAutoFit/>
          </a:bodyPr>
          <a:lstStyle/>
          <a:p>
            <a:pPr algn="l">
              <a:lnSpc>
                <a:spcPct val="105000"/>
              </a:lnSpc>
            </a:pPr>
            <a:r>
              <a:rPr sz="1050" b="0">
                <a:solidFill>
                  <a:srgbClr val="1B2A33"/>
                </a:solidFill>
                <a:latin typeface="Calibri"/>
              </a:rPr>
              <a:t>Status, SLA countdown, AI category and risk</a:t>
            </a:r>
          </a:p>
        </p:txBody>
      </p:sp>
      <p:sp>
        <p:nvSpPr>
          <p:cNvPr id="18" name="Oval 17"/>
          <p:cNvSpPr/>
          <p:nvPr/>
        </p:nvSpPr>
        <p:spPr>
          <a:xfrm>
            <a:off x="8458200" y="2153412"/>
            <a:ext cx="210312" cy="210312"/>
          </a:xfrm>
          <a:prstGeom prst="ellipse">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noAutofit/>
          </a:bodyPr>
          <a:lstStyle/>
          <a:p>
            <a:pPr algn="ctr">
              <a:lnSpc>
                <a:spcPct val="100000"/>
              </a:lnSpc>
            </a:pPr>
            <a:r>
              <a:rPr sz="1000" b="1">
                <a:solidFill>
                  <a:srgbClr val="FFFFFF"/>
                </a:solidFill>
                <a:latin typeface="Calibri"/>
              </a:rPr>
              <a:t>3</a:t>
            </a:r>
          </a:p>
        </p:txBody>
      </p:sp>
      <p:sp>
        <p:nvSpPr>
          <p:cNvPr id="19" name="TextBox 18"/>
          <p:cNvSpPr txBox="1"/>
          <p:nvPr/>
        </p:nvSpPr>
        <p:spPr>
          <a:xfrm>
            <a:off x="8787384" y="2171700"/>
            <a:ext cx="2962656" cy="169164"/>
          </a:xfrm>
          <a:prstGeom prst="rect">
            <a:avLst/>
          </a:prstGeom>
          <a:noFill/>
        </p:spPr>
        <p:txBody>
          <a:bodyPr wrap="square" anchor="t" lIns="0" rIns="0" tIns="0" bIns="0">
            <a:spAutoFit/>
          </a:bodyPr>
          <a:lstStyle/>
          <a:p>
            <a:pPr algn="l">
              <a:lnSpc>
                <a:spcPct val="105000"/>
              </a:lnSpc>
            </a:pPr>
            <a:r>
              <a:rPr sz="1050" b="0">
                <a:solidFill>
                  <a:srgbClr val="1B2A33"/>
                </a:solidFill>
                <a:latin typeface="Calibri"/>
              </a:rPr>
              <a:t>AI Insights — summarise or suggest</a:t>
            </a:r>
          </a:p>
        </p:txBody>
      </p:sp>
      <p:sp>
        <p:nvSpPr>
          <p:cNvPr id="20" name="Oval 19"/>
          <p:cNvSpPr/>
          <p:nvPr/>
        </p:nvSpPr>
        <p:spPr>
          <a:xfrm>
            <a:off x="8458200" y="2414016"/>
            <a:ext cx="210312" cy="210312"/>
          </a:xfrm>
          <a:prstGeom prst="ellipse">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noAutofit/>
          </a:bodyPr>
          <a:lstStyle/>
          <a:p>
            <a:pPr algn="ctr">
              <a:lnSpc>
                <a:spcPct val="100000"/>
              </a:lnSpc>
            </a:pPr>
            <a:r>
              <a:rPr sz="1000" b="1">
                <a:solidFill>
                  <a:srgbClr val="FFFFFF"/>
                </a:solidFill>
                <a:latin typeface="Calibri"/>
              </a:rPr>
              <a:t>4</a:t>
            </a:r>
          </a:p>
        </p:txBody>
      </p:sp>
      <p:sp>
        <p:nvSpPr>
          <p:cNvPr id="21" name="TextBox 20"/>
          <p:cNvSpPr txBox="1"/>
          <p:nvPr/>
        </p:nvSpPr>
        <p:spPr>
          <a:xfrm>
            <a:off x="8787384" y="2432304"/>
            <a:ext cx="2962656" cy="169164"/>
          </a:xfrm>
          <a:prstGeom prst="rect">
            <a:avLst/>
          </a:prstGeom>
          <a:noFill/>
        </p:spPr>
        <p:txBody>
          <a:bodyPr wrap="square" anchor="t" lIns="0" rIns="0" tIns="0" bIns="0">
            <a:spAutoFit/>
          </a:bodyPr>
          <a:lstStyle/>
          <a:p>
            <a:pPr algn="l">
              <a:lnSpc>
                <a:spcPct val="105000"/>
              </a:lnSpc>
            </a:pPr>
            <a:r>
              <a:rPr sz="1050" b="0">
                <a:solidFill>
                  <a:srgbClr val="1B2A33"/>
                </a:solidFill>
                <a:latin typeface="Calibri"/>
              </a:rPr>
              <a:t>Evidence the requester attached</a:t>
            </a:r>
          </a:p>
        </p:txBody>
      </p:sp>
      <p:sp>
        <p:nvSpPr>
          <p:cNvPr id="22" name="Rectangle 21"/>
          <p:cNvSpPr/>
          <p:nvPr/>
        </p:nvSpPr>
        <p:spPr>
          <a:xfrm>
            <a:off x="8458200" y="2820924"/>
            <a:ext cx="45720" cy="662940"/>
          </a:xfrm>
          <a:prstGeom prst="rect">
            <a:avLst/>
          </a:prstGeom>
          <a:solidFill>
            <a:srgbClr val="0E4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22792" y="2820924"/>
            <a:ext cx="3127248" cy="164592"/>
          </a:xfrm>
          <a:prstGeom prst="rect">
            <a:avLst/>
          </a:prstGeom>
          <a:noFill/>
        </p:spPr>
        <p:txBody>
          <a:bodyPr wrap="square" anchor="t" lIns="0" rIns="0" tIns="0" bIns="0">
            <a:spAutoFit/>
          </a:bodyPr>
          <a:lstStyle/>
          <a:p>
            <a:pPr algn="l">
              <a:lnSpc>
                <a:spcPct val="115000"/>
              </a:lnSpc>
            </a:pPr>
            <a:r>
              <a:rPr sz="950" b="1">
                <a:solidFill>
                  <a:srgbClr val="0E4F4A"/>
                </a:solidFill>
                <a:latin typeface="Calibri"/>
              </a:rPr>
              <a:t>ACTION</a:t>
            </a:r>
          </a:p>
        </p:txBody>
      </p:sp>
      <p:sp>
        <p:nvSpPr>
          <p:cNvPr id="24" name="TextBox 23"/>
          <p:cNvSpPr txBox="1"/>
          <p:nvPr/>
        </p:nvSpPr>
        <p:spPr>
          <a:xfrm>
            <a:off x="8622792" y="3012948"/>
            <a:ext cx="3127248" cy="480060"/>
          </a:xfrm>
          <a:prstGeom prst="rect">
            <a:avLst/>
          </a:prstGeom>
          <a:noFill/>
        </p:spPr>
        <p:txBody>
          <a:bodyPr wrap="square" anchor="t" lIns="0" rIns="0" tIns="0" bIns="0">
            <a:spAutoFit/>
          </a:bodyPr>
          <a:lstStyle/>
          <a:p>
            <a:pPr algn="l">
              <a:lnSpc>
                <a:spcPct val="108000"/>
              </a:lnSpc>
            </a:pPr>
            <a:r>
              <a:rPr sz="1100" b="0">
                <a:solidFill>
                  <a:srgbClr val="1B2A33"/>
                </a:solidFill>
                <a:latin typeface="Calibri"/>
              </a:rPr>
              <a:t>Read the description and the attached evidence, then move the ticket to In Progress.</a:t>
            </a:r>
          </a:p>
        </p:txBody>
      </p:sp>
      <p:sp>
        <p:nvSpPr>
          <p:cNvPr id="25" name="Rectangle 24"/>
          <p:cNvSpPr/>
          <p:nvPr/>
        </p:nvSpPr>
        <p:spPr>
          <a:xfrm>
            <a:off x="8458200" y="3685032"/>
            <a:ext cx="45720" cy="662940"/>
          </a:xfrm>
          <a:prstGeom prst="rect">
            <a:avLst/>
          </a:prstGeom>
          <a:solidFill>
            <a:srgbClr val="1E7A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622792" y="3685032"/>
            <a:ext cx="3127248" cy="164592"/>
          </a:xfrm>
          <a:prstGeom prst="rect">
            <a:avLst/>
          </a:prstGeom>
          <a:noFill/>
        </p:spPr>
        <p:txBody>
          <a:bodyPr wrap="square" anchor="t" lIns="0" rIns="0" tIns="0" bIns="0">
            <a:spAutoFit/>
          </a:bodyPr>
          <a:lstStyle/>
          <a:p>
            <a:pPr algn="l">
              <a:lnSpc>
                <a:spcPct val="115000"/>
              </a:lnSpc>
            </a:pPr>
            <a:r>
              <a:rPr sz="950" b="1">
                <a:solidFill>
                  <a:srgbClr val="1E7A53"/>
                </a:solidFill>
                <a:latin typeface="Calibri"/>
              </a:rPr>
              <a:t>RESULT</a:t>
            </a:r>
          </a:p>
        </p:txBody>
      </p:sp>
      <p:sp>
        <p:nvSpPr>
          <p:cNvPr id="27" name="TextBox 26"/>
          <p:cNvSpPr txBox="1"/>
          <p:nvPr/>
        </p:nvSpPr>
        <p:spPr>
          <a:xfrm>
            <a:off x="8622792" y="3877056"/>
            <a:ext cx="3127248" cy="480060"/>
          </a:xfrm>
          <a:prstGeom prst="rect">
            <a:avLst/>
          </a:prstGeom>
          <a:noFill/>
        </p:spPr>
        <p:txBody>
          <a:bodyPr wrap="square" anchor="t" lIns="0" rIns="0" tIns="0" bIns="0">
            <a:spAutoFit/>
          </a:bodyPr>
          <a:lstStyle/>
          <a:p>
            <a:pPr algn="l">
              <a:lnSpc>
                <a:spcPct val="108000"/>
              </a:lnSpc>
            </a:pPr>
            <a:r>
              <a:rPr sz="1100" b="0">
                <a:solidFill>
                  <a:srgbClr val="1B2A33"/>
                </a:solidFill>
                <a:latin typeface="Calibri"/>
              </a:rPr>
              <a:t>The status change is recorded in the audit trail with your name, and the first-response clock stops.</a:t>
            </a:r>
          </a:p>
        </p:txBody>
      </p:sp>
      <p:sp>
        <p:nvSpPr>
          <p:cNvPr id="28" name="Rectangle 27"/>
          <p:cNvSpPr/>
          <p:nvPr/>
        </p:nvSpPr>
        <p:spPr>
          <a:xfrm>
            <a:off x="8458200" y="4549140"/>
            <a:ext cx="45720" cy="342900"/>
          </a:xfrm>
          <a:prstGeom prst="rect">
            <a:avLst/>
          </a:prstGeom>
          <a:solidFill>
            <a:srgbClr val="5B6B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622792" y="4549140"/>
            <a:ext cx="3127248" cy="164592"/>
          </a:xfrm>
          <a:prstGeom prst="rect">
            <a:avLst/>
          </a:prstGeom>
          <a:noFill/>
        </p:spPr>
        <p:txBody>
          <a:bodyPr wrap="square" anchor="t" lIns="0" rIns="0" tIns="0" bIns="0">
            <a:spAutoFit/>
          </a:bodyPr>
          <a:lstStyle/>
          <a:p>
            <a:pPr algn="l">
              <a:lnSpc>
                <a:spcPct val="115000"/>
              </a:lnSpc>
            </a:pPr>
            <a:r>
              <a:rPr sz="950" b="1">
                <a:solidFill>
                  <a:srgbClr val="5B6B75"/>
                </a:solidFill>
                <a:latin typeface="Calibri"/>
              </a:rPr>
              <a:t>NEXT</a:t>
            </a:r>
          </a:p>
        </p:txBody>
      </p:sp>
      <p:sp>
        <p:nvSpPr>
          <p:cNvPr id="30" name="TextBox 29"/>
          <p:cNvSpPr txBox="1"/>
          <p:nvPr/>
        </p:nvSpPr>
        <p:spPr>
          <a:xfrm>
            <a:off x="8622792" y="4741164"/>
            <a:ext cx="3127248" cy="160020"/>
          </a:xfrm>
          <a:prstGeom prst="rect">
            <a:avLst/>
          </a:prstGeom>
          <a:noFill/>
        </p:spPr>
        <p:txBody>
          <a:bodyPr wrap="square" anchor="t" lIns="0" rIns="0" tIns="0" bIns="0">
            <a:spAutoFit/>
          </a:bodyPr>
          <a:lstStyle/>
          <a:p>
            <a:pPr algn="l">
              <a:lnSpc>
                <a:spcPct val="108000"/>
              </a:lnSpc>
            </a:pPr>
            <a:r>
              <a:rPr sz="1100" b="0">
                <a:solidFill>
                  <a:srgbClr val="1B2A33"/>
                </a:solidFill>
                <a:latin typeface="Calibri"/>
              </a:rPr>
              <a:t>Step 12 — reply, and attach the fix.</a:t>
            </a:r>
          </a:p>
        </p:txBody>
      </p:sp>
      <p:sp>
        <p:nvSpPr>
          <p:cNvPr id="31" name="Rectangle 30"/>
          <p:cNvSpPr/>
          <p:nvPr/>
        </p:nvSpPr>
        <p:spPr>
          <a:xfrm>
            <a:off x="0" y="6473952"/>
            <a:ext cx="12191695" cy="384048"/>
          </a:xfrm>
          <a:prstGeom prst="rect">
            <a:avLst/>
          </a:prstGeom>
          <a:solidFill>
            <a:srgbClr val="F3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2920" y="6547104"/>
            <a:ext cx="8229600" cy="228600"/>
          </a:xfrm>
          <a:prstGeom prst="rect">
            <a:avLst/>
          </a:prstGeom>
          <a:noFill/>
        </p:spPr>
        <p:txBody>
          <a:bodyPr wrap="square" anchor="t" lIns="0" rIns="0" tIns="0" bIns="0">
            <a:spAutoFit/>
          </a:bodyPr>
          <a:lstStyle/>
          <a:p>
            <a:pPr algn="l">
              <a:lnSpc>
                <a:spcPct val="115000"/>
              </a:lnSpc>
            </a:pPr>
            <a:r>
              <a:rPr sz="900" b="0">
                <a:solidFill>
                  <a:srgbClr val="5B6B75"/>
                </a:solidFill>
                <a:latin typeface="Calibri"/>
              </a:rPr>
              <a:t>SUCCESS Bank — Internal Ticketing · Standard Operating Procedure</a:t>
            </a:r>
          </a:p>
        </p:txBody>
      </p:sp>
      <p:sp>
        <p:nvSpPr>
          <p:cNvPr id="33" name="TextBox 32"/>
          <p:cNvSpPr txBox="1"/>
          <p:nvPr/>
        </p:nvSpPr>
        <p:spPr>
          <a:xfrm>
            <a:off x="9997135" y="6547104"/>
            <a:ext cx="1691640" cy="228600"/>
          </a:xfrm>
          <a:prstGeom prst="rect">
            <a:avLst/>
          </a:prstGeom>
          <a:noFill/>
        </p:spPr>
        <p:txBody>
          <a:bodyPr wrap="square" anchor="t" lIns="0" rIns="0" tIns="0" bIns="0">
            <a:spAutoFit/>
          </a:bodyPr>
          <a:lstStyle/>
          <a:p>
            <a:pPr algn="r">
              <a:lnSpc>
                <a:spcPct val="115000"/>
              </a:lnSpc>
            </a:pPr>
            <a:r>
              <a:rPr sz="900" b="0">
                <a:solidFill>
                  <a:srgbClr val="5B6B75"/>
                </a:solidFill>
                <a:latin typeface="Calibri"/>
              </a:rPr>
              <a:t>Step 11</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0E4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36576"/>
          </a:xfrm>
          <a:prstGeom prst="rect">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55448"/>
            <a:ext cx="1371600" cy="274320"/>
          </a:xfrm>
          <a:prstGeom prst="rect">
            <a:avLst/>
          </a:prstGeom>
          <a:noFill/>
        </p:spPr>
        <p:txBody>
          <a:bodyPr wrap="square" anchor="t" lIns="0" rIns="0" tIns="0" bIns="0">
            <a:spAutoFit/>
          </a:bodyPr>
          <a:lstStyle/>
          <a:p>
            <a:pPr algn="l">
              <a:lnSpc>
                <a:spcPct val="115000"/>
              </a:lnSpc>
            </a:pPr>
            <a:r>
              <a:rPr sz="1200" b="1">
                <a:solidFill>
                  <a:srgbClr val="C25B2E"/>
                </a:solidFill>
                <a:latin typeface="Calibri"/>
              </a:rPr>
              <a:t>STEP 12</a:t>
            </a:r>
          </a:p>
        </p:txBody>
      </p:sp>
      <p:sp>
        <p:nvSpPr>
          <p:cNvPr id="5" name="TextBox 4"/>
          <p:cNvSpPr txBox="1"/>
          <p:nvPr/>
        </p:nvSpPr>
        <p:spPr>
          <a:xfrm>
            <a:off x="502920" y="420624"/>
            <a:ext cx="8412480" cy="365760"/>
          </a:xfrm>
          <a:prstGeom prst="rect">
            <a:avLst/>
          </a:prstGeom>
          <a:noFill/>
        </p:spPr>
        <p:txBody>
          <a:bodyPr wrap="square" anchor="t" lIns="0" rIns="0" tIns="0" bIns="0">
            <a:spAutoFit/>
          </a:bodyPr>
          <a:lstStyle/>
          <a:p>
            <a:pPr algn="l">
              <a:lnSpc>
                <a:spcPct val="115000"/>
              </a:lnSpc>
            </a:pPr>
            <a:r>
              <a:rPr sz="2000" b="1">
                <a:solidFill>
                  <a:srgbClr val="FFFFFF"/>
                </a:solidFill>
                <a:latin typeface="Calibri"/>
              </a:rPr>
              <a:t>Reply — and attach the fix to your reply</a:t>
            </a:r>
          </a:p>
        </p:txBody>
      </p:sp>
      <p:sp>
        <p:nvSpPr>
          <p:cNvPr id="6" name="TextBox 5"/>
          <p:cNvSpPr txBox="1"/>
          <p:nvPr/>
        </p:nvSpPr>
        <p:spPr>
          <a:xfrm>
            <a:off x="9174175" y="320040"/>
            <a:ext cx="2514600" cy="274320"/>
          </a:xfrm>
          <a:prstGeom prst="rect">
            <a:avLst/>
          </a:prstGeom>
          <a:noFill/>
        </p:spPr>
        <p:txBody>
          <a:bodyPr wrap="square" anchor="t" lIns="0" rIns="0" tIns="0" bIns="0">
            <a:spAutoFit/>
          </a:bodyPr>
          <a:lstStyle/>
          <a:p>
            <a:pPr algn="r">
              <a:lnSpc>
                <a:spcPct val="115000"/>
              </a:lnSpc>
            </a:pPr>
            <a:r>
              <a:rPr sz="1100" b="1">
                <a:solidFill>
                  <a:srgbClr val="F3ECE0"/>
                </a:solidFill>
                <a:latin typeface="Calibri"/>
              </a:rPr>
              <a:t>AGENT</a:t>
            </a:r>
          </a:p>
        </p:txBody>
      </p:sp>
      <p:sp>
        <p:nvSpPr>
          <p:cNvPr id="7" name="Rectangle 6"/>
          <p:cNvSpPr/>
          <p:nvPr/>
        </p:nvSpPr>
        <p:spPr>
          <a:xfrm>
            <a:off x="388620" y="1165860"/>
            <a:ext cx="7818120" cy="4903470"/>
          </a:xfrm>
          <a:prstGeom prst="rect">
            <a:avLst/>
          </a:prstGeom>
          <a:solidFill>
            <a:srgbClr val="D6CE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411480" y="1188720"/>
            <a:ext cx="7772400" cy="4855464"/>
          </a:xfrm>
          <a:prstGeom prst="rect">
            <a:avLst/>
          </a:prstGeom>
        </p:spPr>
      </p:pic>
      <p:sp>
        <p:nvSpPr>
          <p:cNvPr id="9" name="Oval 8"/>
          <p:cNvSpPr/>
          <p:nvPr/>
        </p:nvSpPr>
        <p:spPr>
          <a:xfrm>
            <a:off x="1523252" y="3251149"/>
            <a:ext cx="274320" cy="274320"/>
          </a:xfrm>
          <a:prstGeom prst="ellipse">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noAutofit/>
          </a:bodyPr>
          <a:lstStyle/>
          <a:p>
            <a:pPr algn="ctr">
              <a:lnSpc>
                <a:spcPct val="100000"/>
              </a:lnSpc>
            </a:pPr>
            <a:r>
              <a:rPr sz="1300" b="1">
                <a:solidFill>
                  <a:srgbClr val="FFFFFF"/>
                </a:solidFill>
                <a:latin typeface="Calibri"/>
              </a:rPr>
              <a:t>1</a:t>
            </a:r>
          </a:p>
        </p:txBody>
      </p:sp>
      <p:sp>
        <p:nvSpPr>
          <p:cNvPr id="10" name="Oval 9"/>
          <p:cNvSpPr/>
          <p:nvPr/>
        </p:nvSpPr>
        <p:spPr>
          <a:xfrm>
            <a:off x="3015553" y="3623252"/>
            <a:ext cx="274320" cy="274320"/>
          </a:xfrm>
          <a:prstGeom prst="ellipse">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noAutofit/>
          </a:bodyPr>
          <a:lstStyle/>
          <a:p>
            <a:pPr algn="ctr">
              <a:lnSpc>
                <a:spcPct val="100000"/>
              </a:lnSpc>
            </a:pPr>
            <a:r>
              <a:rPr sz="1300" b="1">
                <a:solidFill>
                  <a:srgbClr val="FFFFFF"/>
                </a:solidFill>
                <a:latin typeface="Calibri"/>
              </a:rPr>
              <a:t>2</a:t>
            </a:r>
          </a:p>
        </p:txBody>
      </p:sp>
      <p:sp>
        <p:nvSpPr>
          <p:cNvPr id="11" name="TextBox 10"/>
          <p:cNvSpPr txBox="1"/>
          <p:nvPr/>
        </p:nvSpPr>
        <p:spPr>
          <a:xfrm>
            <a:off x="8458200" y="1188720"/>
            <a:ext cx="3291840" cy="219456"/>
          </a:xfrm>
          <a:prstGeom prst="rect">
            <a:avLst/>
          </a:prstGeom>
          <a:noFill/>
        </p:spPr>
        <p:txBody>
          <a:bodyPr wrap="square" anchor="t" lIns="0" rIns="0" tIns="0" bIns="0">
            <a:spAutoFit/>
          </a:bodyPr>
          <a:lstStyle/>
          <a:p>
            <a:pPr algn="l">
              <a:lnSpc>
                <a:spcPct val="115000"/>
              </a:lnSpc>
            </a:pPr>
            <a:r>
              <a:rPr sz="1000" b="1">
                <a:solidFill>
                  <a:srgbClr val="C25B2E"/>
                </a:solidFill>
                <a:latin typeface="Calibri"/>
              </a:rPr>
              <a:t>ON THIS SCREEN</a:t>
            </a:r>
          </a:p>
        </p:txBody>
      </p:sp>
      <p:sp>
        <p:nvSpPr>
          <p:cNvPr id="12" name="Oval 11"/>
          <p:cNvSpPr/>
          <p:nvPr/>
        </p:nvSpPr>
        <p:spPr>
          <a:xfrm>
            <a:off x="8458200" y="1463040"/>
            <a:ext cx="210312" cy="210312"/>
          </a:xfrm>
          <a:prstGeom prst="ellipse">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noAutofit/>
          </a:bodyPr>
          <a:lstStyle/>
          <a:p>
            <a:pPr algn="ctr">
              <a:lnSpc>
                <a:spcPct val="100000"/>
              </a:lnSpc>
            </a:pPr>
            <a:r>
              <a:rPr sz="1000" b="1">
                <a:solidFill>
                  <a:srgbClr val="FFFFFF"/>
                </a:solidFill>
                <a:latin typeface="Calibri"/>
              </a:rPr>
              <a:t>1</a:t>
            </a:r>
          </a:p>
        </p:txBody>
      </p:sp>
      <p:sp>
        <p:nvSpPr>
          <p:cNvPr id="13" name="TextBox 12"/>
          <p:cNvSpPr txBox="1"/>
          <p:nvPr/>
        </p:nvSpPr>
        <p:spPr>
          <a:xfrm>
            <a:off x="8787384" y="1481328"/>
            <a:ext cx="2962656" cy="169164"/>
          </a:xfrm>
          <a:prstGeom prst="rect">
            <a:avLst/>
          </a:prstGeom>
          <a:noFill/>
        </p:spPr>
        <p:txBody>
          <a:bodyPr wrap="square" anchor="t" lIns="0" rIns="0" tIns="0" bIns="0">
            <a:spAutoFit/>
          </a:bodyPr>
          <a:lstStyle/>
          <a:p>
            <a:pPr algn="l">
              <a:lnSpc>
                <a:spcPct val="105000"/>
              </a:lnSpc>
            </a:pPr>
            <a:r>
              <a:rPr sz="1050" b="0">
                <a:solidFill>
                  <a:srgbClr val="1B2A33"/>
                </a:solidFill>
                <a:latin typeface="Calibri"/>
              </a:rPr>
              <a:t>Your reply</a:t>
            </a:r>
          </a:p>
        </p:txBody>
      </p:sp>
      <p:sp>
        <p:nvSpPr>
          <p:cNvPr id="14" name="Oval 13"/>
          <p:cNvSpPr/>
          <p:nvPr/>
        </p:nvSpPr>
        <p:spPr>
          <a:xfrm>
            <a:off x="8458200" y="1723644"/>
            <a:ext cx="210312" cy="210312"/>
          </a:xfrm>
          <a:prstGeom prst="ellipse">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noAutofit/>
          </a:bodyPr>
          <a:lstStyle/>
          <a:p>
            <a:pPr algn="ctr">
              <a:lnSpc>
                <a:spcPct val="100000"/>
              </a:lnSpc>
            </a:pPr>
            <a:r>
              <a:rPr sz="1000" b="1">
                <a:solidFill>
                  <a:srgbClr val="FFFFFF"/>
                </a:solidFill>
                <a:latin typeface="Calibri"/>
              </a:rPr>
              <a:t>2</a:t>
            </a:r>
          </a:p>
        </p:txBody>
      </p:sp>
      <p:sp>
        <p:nvSpPr>
          <p:cNvPr id="15" name="TextBox 14"/>
          <p:cNvSpPr txBox="1"/>
          <p:nvPr/>
        </p:nvSpPr>
        <p:spPr>
          <a:xfrm>
            <a:off x="8787384" y="1741932"/>
            <a:ext cx="2962656" cy="169164"/>
          </a:xfrm>
          <a:prstGeom prst="rect">
            <a:avLst/>
          </a:prstGeom>
          <a:noFill/>
        </p:spPr>
        <p:txBody>
          <a:bodyPr wrap="square" anchor="t" lIns="0" rIns="0" tIns="0" bIns="0">
            <a:spAutoFit/>
          </a:bodyPr>
          <a:lstStyle/>
          <a:p>
            <a:pPr algn="l">
              <a:lnSpc>
                <a:spcPct val="105000"/>
              </a:lnSpc>
            </a:pPr>
            <a:r>
              <a:rPr sz="1050" b="0">
                <a:solidFill>
                  <a:srgbClr val="1B2A33"/>
                </a:solidFill>
                <a:latin typeface="Calibri"/>
              </a:rPr>
              <a:t>Attach files to this reply</a:t>
            </a:r>
          </a:p>
        </p:txBody>
      </p:sp>
      <p:sp>
        <p:nvSpPr>
          <p:cNvPr id="16" name="Rectangle 15"/>
          <p:cNvSpPr/>
          <p:nvPr/>
        </p:nvSpPr>
        <p:spPr>
          <a:xfrm>
            <a:off x="8458200" y="2130552"/>
            <a:ext cx="45720" cy="502920"/>
          </a:xfrm>
          <a:prstGeom prst="rect">
            <a:avLst/>
          </a:prstGeom>
          <a:solidFill>
            <a:srgbClr val="0E4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22792" y="2130552"/>
            <a:ext cx="3127248" cy="164592"/>
          </a:xfrm>
          <a:prstGeom prst="rect">
            <a:avLst/>
          </a:prstGeom>
          <a:noFill/>
        </p:spPr>
        <p:txBody>
          <a:bodyPr wrap="square" anchor="t" lIns="0" rIns="0" tIns="0" bIns="0">
            <a:spAutoFit/>
          </a:bodyPr>
          <a:lstStyle/>
          <a:p>
            <a:pPr algn="l">
              <a:lnSpc>
                <a:spcPct val="115000"/>
              </a:lnSpc>
            </a:pPr>
            <a:r>
              <a:rPr sz="950" b="1">
                <a:solidFill>
                  <a:srgbClr val="0E4F4A"/>
                </a:solidFill>
                <a:latin typeface="Calibri"/>
              </a:rPr>
              <a:t>ACTION</a:t>
            </a:r>
          </a:p>
        </p:txBody>
      </p:sp>
      <p:sp>
        <p:nvSpPr>
          <p:cNvPr id="18" name="TextBox 17"/>
          <p:cNvSpPr txBox="1"/>
          <p:nvPr/>
        </p:nvSpPr>
        <p:spPr>
          <a:xfrm>
            <a:off x="8622792" y="2322576"/>
            <a:ext cx="3127248" cy="320040"/>
          </a:xfrm>
          <a:prstGeom prst="rect">
            <a:avLst/>
          </a:prstGeom>
          <a:noFill/>
        </p:spPr>
        <p:txBody>
          <a:bodyPr wrap="square" anchor="t" lIns="0" rIns="0" tIns="0" bIns="0">
            <a:spAutoFit/>
          </a:bodyPr>
          <a:lstStyle/>
          <a:p>
            <a:pPr algn="l">
              <a:lnSpc>
                <a:spcPct val="108000"/>
              </a:lnSpc>
            </a:pPr>
            <a:r>
              <a:rPr sz="1100" b="0">
                <a:solidFill>
                  <a:srgbClr val="1B2A33"/>
                </a:solidFill>
                <a:latin typeface="Calibri"/>
              </a:rPr>
              <a:t>Write what you found and attach the corrected statement or screenshot.</a:t>
            </a:r>
          </a:p>
        </p:txBody>
      </p:sp>
      <p:sp>
        <p:nvSpPr>
          <p:cNvPr id="19" name="Rectangle 18"/>
          <p:cNvSpPr/>
          <p:nvPr/>
        </p:nvSpPr>
        <p:spPr>
          <a:xfrm>
            <a:off x="8458200" y="2834640"/>
            <a:ext cx="45720" cy="662940"/>
          </a:xfrm>
          <a:prstGeom prst="rect">
            <a:avLst/>
          </a:prstGeom>
          <a:solidFill>
            <a:srgbClr val="1E7A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22792" y="2834640"/>
            <a:ext cx="3127248" cy="164592"/>
          </a:xfrm>
          <a:prstGeom prst="rect">
            <a:avLst/>
          </a:prstGeom>
          <a:noFill/>
        </p:spPr>
        <p:txBody>
          <a:bodyPr wrap="square" anchor="t" lIns="0" rIns="0" tIns="0" bIns="0">
            <a:spAutoFit/>
          </a:bodyPr>
          <a:lstStyle/>
          <a:p>
            <a:pPr algn="l">
              <a:lnSpc>
                <a:spcPct val="115000"/>
              </a:lnSpc>
            </a:pPr>
            <a:r>
              <a:rPr sz="950" b="1">
                <a:solidFill>
                  <a:srgbClr val="1E7A53"/>
                </a:solidFill>
                <a:latin typeface="Calibri"/>
              </a:rPr>
              <a:t>RESULT</a:t>
            </a:r>
          </a:p>
        </p:txBody>
      </p:sp>
      <p:sp>
        <p:nvSpPr>
          <p:cNvPr id="21" name="TextBox 20"/>
          <p:cNvSpPr txBox="1"/>
          <p:nvPr/>
        </p:nvSpPr>
        <p:spPr>
          <a:xfrm>
            <a:off x="8622792" y="3026664"/>
            <a:ext cx="3127248" cy="480060"/>
          </a:xfrm>
          <a:prstGeom prst="rect">
            <a:avLst/>
          </a:prstGeom>
          <a:noFill/>
        </p:spPr>
        <p:txBody>
          <a:bodyPr wrap="square" anchor="t" lIns="0" rIns="0" tIns="0" bIns="0">
            <a:spAutoFit/>
          </a:bodyPr>
          <a:lstStyle/>
          <a:p>
            <a:pPr algn="l">
              <a:lnSpc>
                <a:spcPct val="108000"/>
              </a:lnSpc>
            </a:pPr>
            <a:r>
              <a:rPr sz="1100" b="0">
                <a:solidFill>
                  <a:srgbClr val="1B2A33"/>
                </a:solidFill>
                <a:latin typeface="Calibri"/>
              </a:rPr>
              <a:t>Files attached here belong to this reply, so the requester sees your fix beside the answer that explains it.</a:t>
            </a:r>
          </a:p>
        </p:txBody>
      </p:sp>
      <p:sp>
        <p:nvSpPr>
          <p:cNvPr id="22" name="Rectangle 21"/>
          <p:cNvSpPr/>
          <p:nvPr/>
        </p:nvSpPr>
        <p:spPr>
          <a:xfrm>
            <a:off x="8458200" y="3698748"/>
            <a:ext cx="45720" cy="342900"/>
          </a:xfrm>
          <a:prstGeom prst="rect">
            <a:avLst/>
          </a:prstGeom>
          <a:solidFill>
            <a:srgbClr val="5B6B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22792" y="3698748"/>
            <a:ext cx="3127248" cy="164592"/>
          </a:xfrm>
          <a:prstGeom prst="rect">
            <a:avLst/>
          </a:prstGeom>
          <a:noFill/>
        </p:spPr>
        <p:txBody>
          <a:bodyPr wrap="square" anchor="t" lIns="0" rIns="0" tIns="0" bIns="0">
            <a:spAutoFit/>
          </a:bodyPr>
          <a:lstStyle/>
          <a:p>
            <a:pPr algn="l">
              <a:lnSpc>
                <a:spcPct val="115000"/>
              </a:lnSpc>
            </a:pPr>
            <a:r>
              <a:rPr sz="950" b="1">
                <a:solidFill>
                  <a:srgbClr val="5B6B75"/>
                </a:solidFill>
                <a:latin typeface="Calibri"/>
              </a:rPr>
              <a:t>NEXT</a:t>
            </a:r>
          </a:p>
        </p:txBody>
      </p:sp>
      <p:sp>
        <p:nvSpPr>
          <p:cNvPr id="24" name="TextBox 23"/>
          <p:cNvSpPr txBox="1"/>
          <p:nvPr/>
        </p:nvSpPr>
        <p:spPr>
          <a:xfrm>
            <a:off x="8622792" y="3890772"/>
            <a:ext cx="3127248" cy="160020"/>
          </a:xfrm>
          <a:prstGeom prst="rect">
            <a:avLst/>
          </a:prstGeom>
          <a:noFill/>
        </p:spPr>
        <p:txBody>
          <a:bodyPr wrap="square" anchor="t" lIns="0" rIns="0" tIns="0" bIns="0">
            <a:spAutoFit/>
          </a:bodyPr>
          <a:lstStyle/>
          <a:p>
            <a:pPr algn="l">
              <a:lnSpc>
                <a:spcPct val="108000"/>
              </a:lnSpc>
            </a:pPr>
            <a:r>
              <a:rPr sz="1100" b="0">
                <a:solidFill>
                  <a:srgbClr val="1B2A33"/>
                </a:solidFill>
                <a:latin typeface="Calibri"/>
              </a:rPr>
              <a:t>Step 13 — resolve, or escalate.</a:t>
            </a:r>
          </a:p>
        </p:txBody>
      </p:sp>
      <p:sp>
        <p:nvSpPr>
          <p:cNvPr id="25" name="Rectangle 24"/>
          <p:cNvSpPr/>
          <p:nvPr/>
        </p:nvSpPr>
        <p:spPr>
          <a:xfrm>
            <a:off x="0" y="6473952"/>
            <a:ext cx="12191695" cy="384048"/>
          </a:xfrm>
          <a:prstGeom prst="rect">
            <a:avLst/>
          </a:prstGeom>
          <a:solidFill>
            <a:srgbClr val="F3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2920" y="6547104"/>
            <a:ext cx="8229600" cy="228600"/>
          </a:xfrm>
          <a:prstGeom prst="rect">
            <a:avLst/>
          </a:prstGeom>
          <a:noFill/>
        </p:spPr>
        <p:txBody>
          <a:bodyPr wrap="square" anchor="t" lIns="0" rIns="0" tIns="0" bIns="0">
            <a:spAutoFit/>
          </a:bodyPr>
          <a:lstStyle/>
          <a:p>
            <a:pPr algn="l">
              <a:lnSpc>
                <a:spcPct val="115000"/>
              </a:lnSpc>
            </a:pPr>
            <a:r>
              <a:rPr sz="900" b="0">
                <a:solidFill>
                  <a:srgbClr val="5B6B75"/>
                </a:solidFill>
                <a:latin typeface="Calibri"/>
              </a:rPr>
              <a:t>SUCCESS Bank — Internal Ticketing · Standard Operating Procedure</a:t>
            </a:r>
          </a:p>
        </p:txBody>
      </p:sp>
      <p:sp>
        <p:nvSpPr>
          <p:cNvPr id="27" name="TextBox 26"/>
          <p:cNvSpPr txBox="1"/>
          <p:nvPr/>
        </p:nvSpPr>
        <p:spPr>
          <a:xfrm>
            <a:off x="9997135" y="6547104"/>
            <a:ext cx="1691640" cy="228600"/>
          </a:xfrm>
          <a:prstGeom prst="rect">
            <a:avLst/>
          </a:prstGeom>
          <a:noFill/>
        </p:spPr>
        <p:txBody>
          <a:bodyPr wrap="square" anchor="t" lIns="0" rIns="0" tIns="0" bIns="0">
            <a:spAutoFit/>
          </a:bodyPr>
          <a:lstStyle/>
          <a:p>
            <a:pPr algn="r">
              <a:lnSpc>
                <a:spcPct val="115000"/>
              </a:lnSpc>
            </a:pPr>
            <a:r>
              <a:rPr sz="900" b="0">
                <a:solidFill>
                  <a:srgbClr val="5B6B75"/>
                </a:solidFill>
                <a:latin typeface="Calibri"/>
              </a:rPr>
              <a:t>Step 12</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0E4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82880"/>
            <a:ext cx="10515600" cy="320040"/>
          </a:xfrm>
          <a:prstGeom prst="rect">
            <a:avLst/>
          </a:prstGeom>
          <a:noFill/>
        </p:spPr>
        <p:txBody>
          <a:bodyPr wrap="square" anchor="t" lIns="0" rIns="0" tIns="0" bIns="0">
            <a:spAutoFit/>
          </a:bodyPr>
          <a:lstStyle/>
          <a:p>
            <a:pPr algn="l">
              <a:lnSpc>
                <a:spcPct val="115000"/>
              </a:lnSpc>
            </a:pPr>
            <a:r>
              <a:rPr sz="2300" b="1">
                <a:solidFill>
                  <a:srgbClr val="FFFFFF"/>
                </a:solidFill>
                <a:latin typeface="Calibri"/>
              </a:rPr>
              <a:t>Resolve, or escalate — and what each means</a:t>
            </a:r>
          </a:p>
        </p:txBody>
      </p:sp>
      <p:sp>
        <p:nvSpPr>
          <p:cNvPr id="4" name="TextBox 3"/>
          <p:cNvSpPr txBox="1"/>
          <p:nvPr/>
        </p:nvSpPr>
        <p:spPr>
          <a:xfrm>
            <a:off x="502920" y="548640"/>
            <a:ext cx="10515600" cy="256032"/>
          </a:xfrm>
          <a:prstGeom prst="rect">
            <a:avLst/>
          </a:prstGeom>
          <a:noFill/>
        </p:spPr>
        <p:txBody>
          <a:bodyPr wrap="square" anchor="t" lIns="0" rIns="0" tIns="0" bIns="0">
            <a:spAutoFit/>
          </a:bodyPr>
          <a:lstStyle/>
          <a:p>
            <a:pPr algn="l">
              <a:lnSpc>
                <a:spcPct val="115000"/>
              </a:lnSpc>
            </a:pPr>
            <a:r>
              <a:rPr sz="1150" b="0">
                <a:solidFill>
                  <a:srgbClr val="F3ECE0"/>
                </a:solidFill>
                <a:latin typeface="Calibri"/>
              </a:rPr>
              <a:t>Both are one action on the ticket page</a:t>
            </a:r>
          </a:p>
        </p:txBody>
      </p:sp>
      <p:sp>
        <p:nvSpPr>
          <p:cNvPr id="5" name="Rectangle 4"/>
          <p:cNvSpPr/>
          <p:nvPr/>
        </p:nvSpPr>
        <p:spPr>
          <a:xfrm>
            <a:off x="548640" y="1280160"/>
            <a:ext cx="11064240" cy="1207008"/>
          </a:xfrm>
          <a:prstGeom prst="rect">
            <a:avLst/>
          </a:prstGeom>
          <a:solidFill>
            <a:srgbClr val="F3ECE0"/>
          </a:solidFill>
          <a:ln w="12700">
            <a:solidFill>
              <a:srgbClr val="D6CE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280160"/>
            <a:ext cx="54864" cy="1207008"/>
          </a:xfrm>
          <a:prstGeom prst="rect">
            <a:avLst/>
          </a:prstGeom>
          <a:solidFill>
            <a:srgbClr val="1E7A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463040"/>
            <a:ext cx="10424160" cy="274320"/>
          </a:xfrm>
          <a:prstGeom prst="rect">
            <a:avLst/>
          </a:prstGeom>
          <a:noFill/>
        </p:spPr>
        <p:txBody>
          <a:bodyPr wrap="square" anchor="t" lIns="0" rIns="0" tIns="0" bIns="0">
            <a:spAutoFit/>
          </a:bodyPr>
          <a:lstStyle/>
          <a:p>
            <a:pPr algn="l">
              <a:lnSpc>
                <a:spcPct val="115000"/>
              </a:lnSpc>
            </a:pPr>
            <a:r>
              <a:rPr sz="1500" b="1">
                <a:solidFill>
                  <a:srgbClr val="1E7A53"/>
                </a:solidFill>
                <a:latin typeface="Calibri"/>
              </a:rPr>
              <a:t>Resolve</a:t>
            </a:r>
          </a:p>
        </p:txBody>
      </p:sp>
      <p:sp>
        <p:nvSpPr>
          <p:cNvPr id="8" name="TextBox 7"/>
          <p:cNvSpPr txBox="1"/>
          <p:nvPr/>
        </p:nvSpPr>
        <p:spPr>
          <a:xfrm>
            <a:off x="868680" y="1810512"/>
            <a:ext cx="10424160" cy="621792"/>
          </a:xfrm>
          <a:prstGeom prst="rect">
            <a:avLst/>
          </a:prstGeom>
          <a:noFill/>
        </p:spPr>
        <p:txBody>
          <a:bodyPr wrap="square" anchor="t" lIns="0" rIns="0" tIns="0" bIns="0">
            <a:spAutoFit/>
          </a:bodyPr>
          <a:lstStyle/>
          <a:p>
            <a:pPr algn="l">
              <a:lnSpc>
                <a:spcPct val="128000"/>
              </a:lnSpc>
            </a:pPr>
            <a:r>
              <a:rPr sz="1200" b="0">
                <a:solidFill>
                  <a:srgbClr val="1B2A33"/>
                </a:solidFill>
                <a:latin typeface="Calibri"/>
              </a:rPr>
              <a:t>Use when the problem is fixed. Only available once the ticket has been worked — you cannot jump straight from Assigned to Resolved, which is what makes 'resolved' mean something.</a:t>
            </a:r>
          </a:p>
        </p:txBody>
      </p:sp>
      <p:sp>
        <p:nvSpPr>
          <p:cNvPr id="9" name="Rectangle 8"/>
          <p:cNvSpPr/>
          <p:nvPr/>
        </p:nvSpPr>
        <p:spPr>
          <a:xfrm>
            <a:off x="548640" y="2697480"/>
            <a:ext cx="11064240" cy="1207008"/>
          </a:xfrm>
          <a:prstGeom prst="rect">
            <a:avLst/>
          </a:prstGeom>
          <a:solidFill>
            <a:srgbClr val="F3ECE0"/>
          </a:solidFill>
          <a:ln w="12700">
            <a:solidFill>
              <a:srgbClr val="D6CE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697480"/>
            <a:ext cx="54864" cy="1207008"/>
          </a:xfrm>
          <a:prstGeom prst="rect">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880360"/>
            <a:ext cx="10424160" cy="274320"/>
          </a:xfrm>
          <a:prstGeom prst="rect">
            <a:avLst/>
          </a:prstGeom>
          <a:noFill/>
        </p:spPr>
        <p:txBody>
          <a:bodyPr wrap="square" anchor="t" lIns="0" rIns="0" tIns="0" bIns="0">
            <a:spAutoFit/>
          </a:bodyPr>
          <a:lstStyle/>
          <a:p>
            <a:pPr algn="l">
              <a:lnSpc>
                <a:spcPct val="115000"/>
              </a:lnSpc>
            </a:pPr>
            <a:r>
              <a:rPr sz="1500" b="1">
                <a:solidFill>
                  <a:srgbClr val="C25B2E"/>
                </a:solidFill>
                <a:latin typeface="Calibri"/>
              </a:rPr>
              <a:t>Escalate</a:t>
            </a:r>
          </a:p>
        </p:txBody>
      </p:sp>
      <p:sp>
        <p:nvSpPr>
          <p:cNvPr id="12" name="TextBox 11"/>
          <p:cNvSpPr txBox="1"/>
          <p:nvPr/>
        </p:nvSpPr>
        <p:spPr>
          <a:xfrm>
            <a:off x="868680" y="3227832"/>
            <a:ext cx="10424160" cy="621792"/>
          </a:xfrm>
          <a:prstGeom prst="rect">
            <a:avLst/>
          </a:prstGeom>
          <a:noFill/>
        </p:spPr>
        <p:txBody>
          <a:bodyPr wrap="square" anchor="t" lIns="0" rIns="0" tIns="0" bIns="0">
            <a:spAutoFit/>
          </a:bodyPr>
          <a:lstStyle/>
          <a:p>
            <a:pPr algn="l">
              <a:lnSpc>
                <a:spcPct val="128000"/>
              </a:lnSpc>
            </a:pPr>
            <a:r>
              <a:rPr sz="1200" b="0">
                <a:solidFill>
                  <a:srgbClr val="1B2A33"/>
                </a:solidFill>
                <a:latin typeface="Calibri"/>
              </a:rPr>
              <a:t>Use when it needs someone else. The ticket moves to Escalated, is reassigned to the least-loaded holder of the target role, and an escalation event is recorded. Escalating twice for the same reason does nothing — the second is suppressed.</a:t>
            </a:r>
          </a:p>
        </p:txBody>
      </p:sp>
      <p:sp>
        <p:nvSpPr>
          <p:cNvPr id="13" name="Rectangle 12"/>
          <p:cNvSpPr/>
          <p:nvPr/>
        </p:nvSpPr>
        <p:spPr>
          <a:xfrm>
            <a:off x="548640" y="4114800"/>
            <a:ext cx="11064240" cy="1207008"/>
          </a:xfrm>
          <a:prstGeom prst="rect">
            <a:avLst/>
          </a:prstGeom>
          <a:solidFill>
            <a:srgbClr val="F3ECE0"/>
          </a:solidFill>
          <a:ln w="12700">
            <a:solidFill>
              <a:srgbClr val="D6CE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4114800"/>
            <a:ext cx="54864" cy="1207008"/>
          </a:xfrm>
          <a:prstGeom prst="rect">
            <a:avLst/>
          </a:prstGeom>
          <a:solidFill>
            <a:srgbClr val="B47A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4297680"/>
            <a:ext cx="10424160" cy="274320"/>
          </a:xfrm>
          <a:prstGeom prst="rect">
            <a:avLst/>
          </a:prstGeom>
          <a:noFill/>
        </p:spPr>
        <p:txBody>
          <a:bodyPr wrap="square" anchor="t" lIns="0" rIns="0" tIns="0" bIns="0">
            <a:spAutoFit/>
          </a:bodyPr>
          <a:lstStyle/>
          <a:p>
            <a:pPr algn="l">
              <a:lnSpc>
                <a:spcPct val="115000"/>
              </a:lnSpc>
            </a:pPr>
            <a:r>
              <a:rPr sz="1500" b="1">
                <a:solidFill>
                  <a:srgbClr val="B47A14"/>
                </a:solidFill>
                <a:latin typeface="Calibri"/>
              </a:rPr>
              <a:t>Put on hold</a:t>
            </a:r>
          </a:p>
        </p:txBody>
      </p:sp>
      <p:sp>
        <p:nvSpPr>
          <p:cNvPr id="16" name="TextBox 15"/>
          <p:cNvSpPr txBox="1"/>
          <p:nvPr/>
        </p:nvSpPr>
        <p:spPr>
          <a:xfrm>
            <a:off x="868680" y="4645152"/>
            <a:ext cx="10424160" cy="621792"/>
          </a:xfrm>
          <a:prstGeom prst="rect">
            <a:avLst/>
          </a:prstGeom>
          <a:noFill/>
        </p:spPr>
        <p:txBody>
          <a:bodyPr wrap="square" anchor="t" lIns="0" rIns="0" tIns="0" bIns="0">
            <a:spAutoFit/>
          </a:bodyPr>
          <a:lstStyle/>
          <a:p>
            <a:pPr algn="l">
              <a:lnSpc>
                <a:spcPct val="128000"/>
              </a:lnSpc>
            </a:pPr>
            <a:r>
              <a:rPr sz="1200" b="0">
                <a:solidFill>
                  <a:srgbClr val="1B2A33"/>
                </a:solidFill>
                <a:latin typeface="Calibri"/>
              </a:rPr>
              <a:t>Use when you are waiting on someone outside the team. The ticket stays open and keeps counting toward your queue.</a:t>
            </a:r>
          </a:p>
        </p:txBody>
      </p:sp>
      <p:sp>
        <p:nvSpPr>
          <p:cNvPr id="17" name="TextBox 16"/>
          <p:cNvSpPr txBox="1"/>
          <p:nvPr/>
        </p:nvSpPr>
        <p:spPr>
          <a:xfrm>
            <a:off x="548640" y="5623560"/>
            <a:ext cx="11064240" cy="548640"/>
          </a:xfrm>
          <a:prstGeom prst="rect">
            <a:avLst/>
          </a:prstGeom>
          <a:noFill/>
        </p:spPr>
        <p:txBody>
          <a:bodyPr wrap="square" anchor="t" lIns="0" rIns="0" tIns="0" bIns="0">
            <a:spAutoFit/>
          </a:bodyPr>
          <a:lstStyle/>
          <a:p>
            <a:pPr algn="l">
              <a:lnSpc>
                <a:spcPct val="125000"/>
              </a:lnSpc>
            </a:pPr>
            <a:r>
              <a:rPr sz="1150" b="0">
                <a:solidFill>
                  <a:srgbClr val="5B6B75"/>
                </a:solidFill>
                <a:latin typeface="Calibri"/>
              </a:rPr>
              <a:t>Closing is always available, from any open state — it means the problem went away or the ticket was raised in error, not that it was solved.</a:t>
            </a:r>
          </a:p>
        </p:txBody>
      </p:sp>
      <p:sp>
        <p:nvSpPr>
          <p:cNvPr id="18" name="Rectangle 17"/>
          <p:cNvSpPr/>
          <p:nvPr/>
        </p:nvSpPr>
        <p:spPr>
          <a:xfrm>
            <a:off x="0" y="6473952"/>
            <a:ext cx="12191695" cy="384048"/>
          </a:xfrm>
          <a:prstGeom prst="rect">
            <a:avLst/>
          </a:prstGeom>
          <a:solidFill>
            <a:srgbClr val="F3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6547104"/>
            <a:ext cx="8229600" cy="228600"/>
          </a:xfrm>
          <a:prstGeom prst="rect">
            <a:avLst/>
          </a:prstGeom>
          <a:noFill/>
        </p:spPr>
        <p:txBody>
          <a:bodyPr wrap="square" anchor="t" lIns="0" rIns="0" tIns="0" bIns="0">
            <a:spAutoFit/>
          </a:bodyPr>
          <a:lstStyle/>
          <a:p>
            <a:pPr algn="l">
              <a:lnSpc>
                <a:spcPct val="115000"/>
              </a:lnSpc>
            </a:pPr>
            <a:r>
              <a:rPr sz="900" b="0">
                <a:solidFill>
                  <a:srgbClr val="5B6B75"/>
                </a:solidFill>
                <a:latin typeface="Calibri"/>
              </a:rPr>
              <a:t>SUCCESS Bank — Internal Ticketing · Standard Operating Procedure</a:t>
            </a:r>
          </a:p>
        </p:txBody>
      </p:sp>
      <p:sp>
        <p:nvSpPr>
          <p:cNvPr id="20" name="TextBox 19"/>
          <p:cNvSpPr txBox="1"/>
          <p:nvPr/>
        </p:nvSpPr>
        <p:spPr>
          <a:xfrm>
            <a:off x="9997135" y="6547104"/>
            <a:ext cx="1691640" cy="228600"/>
          </a:xfrm>
          <a:prstGeom prst="rect">
            <a:avLst/>
          </a:prstGeom>
          <a:noFill/>
        </p:spPr>
        <p:txBody>
          <a:bodyPr wrap="square" anchor="t" lIns="0" rIns="0" tIns="0" bIns="0">
            <a:spAutoFit/>
          </a:bodyPr>
          <a:lstStyle/>
          <a:p>
            <a:pPr algn="r">
              <a:lnSpc>
                <a:spcPct val="115000"/>
              </a:lnSpc>
            </a:pPr>
            <a:r>
              <a:rPr sz="900" b="0">
                <a:solidFill>
                  <a:srgbClr val="5B6B75"/>
                </a:solidFill>
                <a:latin typeface="Calibri"/>
              </a:rPr>
              <a:t>Agent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3ECE0"/>
        </a:solidFill>
        <a:effectLst/>
      </p:bgPr>
    </p:bg>
    <p:spTree>
      <p:nvGrpSpPr>
        <p:cNvPr id="1" name=""/>
        <p:cNvGrpSpPr/>
        <p:nvPr/>
      </p:nvGrpSpPr>
      <p:grpSpPr/>
      <p:sp>
        <p:nvSpPr>
          <p:cNvPr id="2" name="Rectangle 1"/>
          <p:cNvSpPr/>
          <p:nvPr/>
        </p:nvSpPr>
        <p:spPr>
          <a:xfrm>
            <a:off x="0" y="0"/>
            <a:ext cx="256032" cy="6858000"/>
          </a:xfrm>
          <a:prstGeom prst="rect">
            <a:avLst/>
          </a:prstGeom>
          <a:solidFill>
            <a:srgbClr val="0E4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2377440"/>
            <a:ext cx="1828800" cy="548640"/>
          </a:xfrm>
          <a:prstGeom prst="rect">
            <a:avLst/>
          </a:prstGeom>
          <a:noFill/>
        </p:spPr>
        <p:txBody>
          <a:bodyPr wrap="square" anchor="t" lIns="0" rIns="0" tIns="0" bIns="0">
            <a:spAutoFit/>
          </a:bodyPr>
          <a:lstStyle/>
          <a:p>
            <a:pPr algn="l">
              <a:lnSpc>
                <a:spcPct val="115000"/>
              </a:lnSpc>
            </a:pPr>
            <a:r>
              <a:rPr sz="1300" b="1">
                <a:solidFill>
                  <a:srgbClr val="C25B2E"/>
                </a:solidFill>
                <a:latin typeface="Calibri"/>
              </a:rPr>
              <a:t>SECTION 08</a:t>
            </a:r>
          </a:p>
        </p:txBody>
      </p:sp>
      <p:sp>
        <p:nvSpPr>
          <p:cNvPr id="4" name="TextBox 3"/>
          <p:cNvSpPr txBox="1"/>
          <p:nvPr/>
        </p:nvSpPr>
        <p:spPr>
          <a:xfrm>
            <a:off x="1005840" y="2788920"/>
            <a:ext cx="9601200" cy="822960"/>
          </a:xfrm>
          <a:prstGeom prst="rect">
            <a:avLst/>
          </a:prstGeom>
          <a:noFill/>
        </p:spPr>
        <p:txBody>
          <a:bodyPr wrap="square" anchor="t" lIns="0" rIns="0" tIns="0" bIns="0">
            <a:spAutoFit/>
          </a:bodyPr>
          <a:lstStyle/>
          <a:p>
            <a:pPr algn="l">
              <a:lnSpc>
                <a:spcPct val="115000"/>
              </a:lnSpc>
            </a:pPr>
            <a:r>
              <a:rPr sz="3400" b="1">
                <a:solidFill>
                  <a:srgbClr val="0E4F4A"/>
                </a:solidFill>
                <a:latin typeface="Calibri"/>
              </a:rPr>
              <a:t>Supervisor workflow</a:t>
            </a:r>
          </a:p>
        </p:txBody>
      </p:sp>
      <p:sp>
        <p:nvSpPr>
          <p:cNvPr id="5" name="TextBox 4"/>
          <p:cNvSpPr txBox="1"/>
          <p:nvPr/>
        </p:nvSpPr>
        <p:spPr>
          <a:xfrm>
            <a:off x="1005840" y="3794760"/>
            <a:ext cx="8686800" cy="914400"/>
          </a:xfrm>
          <a:prstGeom prst="rect">
            <a:avLst/>
          </a:prstGeom>
          <a:noFill/>
        </p:spPr>
        <p:txBody>
          <a:bodyPr wrap="square" anchor="t" lIns="0" rIns="0" tIns="0" bIns="0">
            <a:spAutoFit/>
          </a:bodyPr>
          <a:lstStyle/>
          <a:p>
            <a:pPr algn="l">
              <a:lnSpc>
                <a:spcPct val="130000"/>
              </a:lnSpc>
            </a:pPr>
            <a:r>
              <a:rPr sz="1500" b="0">
                <a:solidFill>
                  <a:srgbClr val="5B6B75"/>
                </a:solidFill>
                <a:latin typeface="Calibri"/>
              </a:rPr>
              <a:t>You watch the deadlines and the escalations, and step in before a breach becomes a complaint.</a:t>
            </a:r>
          </a:p>
        </p:txBody>
      </p:sp>
      <p:sp>
        <p:nvSpPr>
          <p:cNvPr id="6" name="Rectangle 5"/>
          <p:cNvSpPr/>
          <p:nvPr/>
        </p:nvSpPr>
        <p:spPr>
          <a:xfrm>
            <a:off x="0" y="6473952"/>
            <a:ext cx="12191695" cy="384048"/>
          </a:xfrm>
          <a:prstGeom prst="rect">
            <a:avLst/>
          </a:prstGeom>
          <a:solidFill>
            <a:srgbClr val="F3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47104"/>
            <a:ext cx="8229600" cy="228600"/>
          </a:xfrm>
          <a:prstGeom prst="rect">
            <a:avLst/>
          </a:prstGeom>
          <a:noFill/>
        </p:spPr>
        <p:txBody>
          <a:bodyPr wrap="square" anchor="t" lIns="0" rIns="0" tIns="0" bIns="0">
            <a:spAutoFit/>
          </a:bodyPr>
          <a:lstStyle/>
          <a:p>
            <a:pPr algn="l">
              <a:lnSpc>
                <a:spcPct val="115000"/>
              </a:lnSpc>
            </a:pPr>
            <a:r>
              <a:rPr sz="900" b="0">
                <a:solidFill>
                  <a:srgbClr val="5B6B75"/>
                </a:solidFill>
                <a:latin typeface="Calibri"/>
              </a:rPr>
              <a:t>SUCCESS Bank — Internal Ticketing · Standard Operating Procedure</a:t>
            </a:r>
          </a:p>
        </p:txBody>
      </p:sp>
      <p:sp>
        <p:nvSpPr>
          <p:cNvPr id="8" name="TextBox 7"/>
          <p:cNvSpPr txBox="1"/>
          <p:nvPr/>
        </p:nvSpPr>
        <p:spPr>
          <a:xfrm>
            <a:off x="9997135" y="6547104"/>
            <a:ext cx="1691640" cy="228600"/>
          </a:xfrm>
          <a:prstGeom prst="rect">
            <a:avLst/>
          </a:prstGeom>
          <a:noFill/>
        </p:spPr>
        <p:txBody>
          <a:bodyPr wrap="square" anchor="t" lIns="0" rIns="0" tIns="0" bIns="0">
            <a:spAutoFit/>
          </a:bodyPr>
          <a:lstStyle/>
          <a:p>
            <a:pPr algn="r">
              <a:lnSpc>
                <a:spcPct val="115000"/>
              </a:lnSpc>
            </a:pPr>
            <a:r>
              <a:rPr sz="900" b="0">
                <a:solidFill>
                  <a:srgbClr val="5B6B75"/>
                </a:solidFill>
                <a:latin typeface="Calibri"/>
              </a:rPr>
              <a:t>Section 08</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0E4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36576"/>
          </a:xfrm>
          <a:prstGeom prst="rect">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55448"/>
            <a:ext cx="1371600" cy="274320"/>
          </a:xfrm>
          <a:prstGeom prst="rect">
            <a:avLst/>
          </a:prstGeom>
          <a:noFill/>
        </p:spPr>
        <p:txBody>
          <a:bodyPr wrap="square" anchor="t" lIns="0" rIns="0" tIns="0" bIns="0">
            <a:spAutoFit/>
          </a:bodyPr>
          <a:lstStyle/>
          <a:p>
            <a:pPr algn="l">
              <a:lnSpc>
                <a:spcPct val="115000"/>
              </a:lnSpc>
            </a:pPr>
            <a:r>
              <a:rPr sz="1200" b="1">
                <a:solidFill>
                  <a:srgbClr val="C25B2E"/>
                </a:solidFill>
                <a:latin typeface="Calibri"/>
              </a:rPr>
              <a:t>STEP 13</a:t>
            </a:r>
          </a:p>
        </p:txBody>
      </p:sp>
      <p:sp>
        <p:nvSpPr>
          <p:cNvPr id="5" name="TextBox 4"/>
          <p:cNvSpPr txBox="1"/>
          <p:nvPr/>
        </p:nvSpPr>
        <p:spPr>
          <a:xfrm>
            <a:off x="502920" y="420624"/>
            <a:ext cx="8412480" cy="365760"/>
          </a:xfrm>
          <a:prstGeom prst="rect">
            <a:avLst/>
          </a:prstGeom>
          <a:noFill/>
        </p:spPr>
        <p:txBody>
          <a:bodyPr wrap="square" anchor="t" lIns="0" rIns="0" tIns="0" bIns="0">
            <a:spAutoFit/>
          </a:bodyPr>
          <a:lstStyle/>
          <a:p>
            <a:pPr algn="l">
              <a:lnSpc>
                <a:spcPct val="115000"/>
              </a:lnSpc>
            </a:pPr>
            <a:r>
              <a:rPr sz="2000" b="1">
                <a:solidFill>
                  <a:srgbClr val="FFFFFF"/>
                </a:solidFill>
                <a:latin typeface="Calibri"/>
              </a:rPr>
              <a:t>Watch the team's position</a:t>
            </a:r>
          </a:p>
        </p:txBody>
      </p:sp>
      <p:sp>
        <p:nvSpPr>
          <p:cNvPr id="6" name="TextBox 5"/>
          <p:cNvSpPr txBox="1"/>
          <p:nvPr/>
        </p:nvSpPr>
        <p:spPr>
          <a:xfrm>
            <a:off x="9174175" y="320040"/>
            <a:ext cx="2514600" cy="274320"/>
          </a:xfrm>
          <a:prstGeom prst="rect">
            <a:avLst/>
          </a:prstGeom>
          <a:noFill/>
        </p:spPr>
        <p:txBody>
          <a:bodyPr wrap="square" anchor="t" lIns="0" rIns="0" tIns="0" bIns="0">
            <a:spAutoFit/>
          </a:bodyPr>
          <a:lstStyle/>
          <a:p>
            <a:pPr algn="r">
              <a:lnSpc>
                <a:spcPct val="115000"/>
              </a:lnSpc>
            </a:pPr>
            <a:r>
              <a:rPr sz="1100" b="1">
                <a:solidFill>
                  <a:srgbClr val="F3ECE0"/>
                </a:solidFill>
                <a:latin typeface="Calibri"/>
              </a:rPr>
              <a:t>SUPERVISOR</a:t>
            </a:r>
          </a:p>
        </p:txBody>
      </p:sp>
      <p:sp>
        <p:nvSpPr>
          <p:cNvPr id="7" name="Rectangle 6"/>
          <p:cNvSpPr/>
          <p:nvPr/>
        </p:nvSpPr>
        <p:spPr>
          <a:xfrm>
            <a:off x="388620" y="1165860"/>
            <a:ext cx="7818120" cy="4903470"/>
          </a:xfrm>
          <a:prstGeom prst="rect">
            <a:avLst/>
          </a:prstGeom>
          <a:solidFill>
            <a:srgbClr val="D6CE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411480" y="1188720"/>
            <a:ext cx="7772400" cy="4855464"/>
          </a:xfrm>
          <a:prstGeom prst="rect">
            <a:avLst/>
          </a:prstGeom>
        </p:spPr>
      </p:pic>
      <p:sp>
        <p:nvSpPr>
          <p:cNvPr id="9" name="Oval 8"/>
          <p:cNvSpPr/>
          <p:nvPr/>
        </p:nvSpPr>
        <p:spPr>
          <a:xfrm>
            <a:off x="444398" y="1270158"/>
            <a:ext cx="274320" cy="274320"/>
          </a:xfrm>
          <a:prstGeom prst="ellipse">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noAutofit/>
          </a:bodyPr>
          <a:lstStyle/>
          <a:p>
            <a:pPr algn="ctr">
              <a:lnSpc>
                <a:spcPct val="100000"/>
              </a:lnSpc>
            </a:pPr>
            <a:r>
              <a:rPr sz="1300" b="1">
                <a:solidFill>
                  <a:srgbClr val="FFFFFF"/>
                </a:solidFill>
                <a:latin typeface="Calibri"/>
              </a:rPr>
              <a:t>1</a:t>
            </a:r>
          </a:p>
        </p:txBody>
      </p:sp>
      <p:sp>
        <p:nvSpPr>
          <p:cNvPr id="10" name="Oval 9"/>
          <p:cNvSpPr/>
          <p:nvPr/>
        </p:nvSpPr>
        <p:spPr>
          <a:xfrm>
            <a:off x="2316814" y="2001735"/>
            <a:ext cx="274320" cy="274320"/>
          </a:xfrm>
          <a:prstGeom prst="ellipse">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noAutofit/>
          </a:bodyPr>
          <a:lstStyle/>
          <a:p>
            <a:pPr algn="ctr">
              <a:lnSpc>
                <a:spcPct val="100000"/>
              </a:lnSpc>
            </a:pPr>
            <a:r>
              <a:rPr sz="1300" b="1">
                <a:solidFill>
                  <a:srgbClr val="FFFFFF"/>
                </a:solidFill>
                <a:latin typeface="Calibri"/>
              </a:rPr>
              <a:t>2</a:t>
            </a:r>
          </a:p>
        </p:txBody>
      </p:sp>
      <p:sp>
        <p:nvSpPr>
          <p:cNvPr id="11" name="TextBox 10"/>
          <p:cNvSpPr txBox="1"/>
          <p:nvPr/>
        </p:nvSpPr>
        <p:spPr>
          <a:xfrm>
            <a:off x="8458200" y="1188720"/>
            <a:ext cx="3291840" cy="219456"/>
          </a:xfrm>
          <a:prstGeom prst="rect">
            <a:avLst/>
          </a:prstGeom>
          <a:noFill/>
        </p:spPr>
        <p:txBody>
          <a:bodyPr wrap="square" anchor="t" lIns="0" rIns="0" tIns="0" bIns="0">
            <a:spAutoFit/>
          </a:bodyPr>
          <a:lstStyle/>
          <a:p>
            <a:pPr algn="l">
              <a:lnSpc>
                <a:spcPct val="115000"/>
              </a:lnSpc>
            </a:pPr>
            <a:r>
              <a:rPr sz="1000" b="1">
                <a:solidFill>
                  <a:srgbClr val="C25B2E"/>
                </a:solidFill>
                <a:latin typeface="Calibri"/>
              </a:rPr>
              <a:t>ON THIS SCREEN</a:t>
            </a:r>
          </a:p>
        </p:txBody>
      </p:sp>
      <p:sp>
        <p:nvSpPr>
          <p:cNvPr id="12" name="Oval 11"/>
          <p:cNvSpPr/>
          <p:nvPr/>
        </p:nvSpPr>
        <p:spPr>
          <a:xfrm>
            <a:off x="8458200" y="1463040"/>
            <a:ext cx="210312" cy="210312"/>
          </a:xfrm>
          <a:prstGeom prst="ellipse">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noAutofit/>
          </a:bodyPr>
          <a:lstStyle/>
          <a:p>
            <a:pPr algn="ctr">
              <a:lnSpc>
                <a:spcPct val="100000"/>
              </a:lnSpc>
            </a:pPr>
            <a:r>
              <a:rPr sz="1000" b="1">
                <a:solidFill>
                  <a:srgbClr val="FFFFFF"/>
                </a:solidFill>
                <a:latin typeface="Calibri"/>
              </a:rPr>
              <a:t>1</a:t>
            </a:r>
          </a:p>
        </p:txBody>
      </p:sp>
      <p:sp>
        <p:nvSpPr>
          <p:cNvPr id="13" name="TextBox 12"/>
          <p:cNvSpPr txBox="1"/>
          <p:nvPr/>
        </p:nvSpPr>
        <p:spPr>
          <a:xfrm>
            <a:off x="8787384" y="1481328"/>
            <a:ext cx="2962656" cy="169164"/>
          </a:xfrm>
          <a:prstGeom prst="rect">
            <a:avLst/>
          </a:prstGeom>
          <a:noFill/>
        </p:spPr>
        <p:txBody>
          <a:bodyPr wrap="square" anchor="t" lIns="0" rIns="0" tIns="0" bIns="0">
            <a:spAutoFit/>
          </a:bodyPr>
          <a:lstStyle/>
          <a:p>
            <a:pPr algn="l">
              <a:lnSpc>
                <a:spcPct val="105000"/>
              </a:lnSpc>
            </a:pPr>
            <a:r>
              <a:rPr sz="1050" b="0">
                <a:solidFill>
                  <a:srgbClr val="1B2A33"/>
                </a:solidFill>
                <a:latin typeface="Calibri"/>
              </a:rPr>
              <a:t>SLA Monitor and Escalations in the menu</a:t>
            </a:r>
          </a:p>
        </p:txBody>
      </p:sp>
      <p:sp>
        <p:nvSpPr>
          <p:cNvPr id="14" name="Oval 13"/>
          <p:cNvSpPr/>
          <p:nvPr/>
        </p:nvSpPr>
        <p:spPr>
          <a:xfrm>
            <a:off x="8458200" y="1723644"/>
            <a:ext cx="210312" cy="210312"/>
          </a:xfrm>
          <a:prstGeom prst="ellipse">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noAutofit/>
          </a:bodyPr>
          <a:lstStyle/>
          <a:p>
            <a:pPr algn="ctr">
              <a:lnSpc>
                <a:spcPct val="100000"/>
              </a:lnSpc>
            </a:pPr>
            <a:r>
              <a:rPr sz="1000" b="1">
                <a:solidFill>
                  <a:srgbClr val="FFFFFF"/>
                </a:solidFill>
                <a:latin typeface="Calibri"/>
              </a:rPr>
              <a:t>2</a:t>
            </a:r>
          </a:p>
        </p:txBody>
      </p:sp>
      <p:sp>
        <p:nvSpPr>
          <p:cNvPr id="15" name="TextBox 14"/>
          <p:cNvSpPr txBox="1"/>
          <p:nvPr/>
        </p:nvSpPr>
        <p:spPr>
          <a:xfrm>
            <a:off x="8787384" y="1741932"/>
            <a:ext cx="2962656" cy="338328"/>
          </a:xfrm>
          <a:prstGeom prst="rect">
            <a:avLst/>
          </a:prstGeom>
          <a:noFill/>
        </p:spPr>
        <p:txBody>
          <a:bodyPr wrap="square" anchor="t" lIns="0" rIns="0" tIns="0" bIns="0">
            <a:spAutoFit/>
          </a:bodyPr>
          <a:lstStyle/>
          <a:p>
            <a:pPr algn="l">
              <a:lnSpc>
                <a:spcPct val="105000"/>
              </a:lnSpc>
            </a:pPr>
            <a:r>
              <a:rPr sz="1050" b="0">
                <a:solidFill>
                  <a:srgbClr val="1B2A33"/>
                </a:solidFill>
                <a:latin typeface="Calibri"/>
              </a:rPr>
              <a:t>Breached — the number that matters most</a:t>
            </a:r>
          </a:p>
        </p:txBody>
      </p:sp>
      <p:sp>
        <p:nvSpPr>
          <p:cNvPr id="16" name="Rectangle 15"/>
          <p:cNvSpPr/>
          <p:nvPr/>
        </p:nvSpPr>
        <p:spPr>
          <a:xfrm>
            <a:off x="8458200" y="2299716"/>
            <a:ext cx="45720" cy="502920"/>
          </a:xfrm>
          <a:prstGeom prst="rect">
            <a:avLst/>
          </a:prstGeom>
          <a:solidFill>
            <a:srgbClr val="0E4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22792" y="2299716"/>
            <a:ext cx="3127248" cy="164592"/>
          </a:xfrm>
          <a:prstGeom prst="rect">
            <a:avLst/>
          </a:prstGeom>
          <a:noFill/>
        </p:spPr>
        <p:txBody>
          <a:bodyPr wrap="square" anchor="t" lIns="0" rIns="0" tIns="0" bIns="0">
            <a:spAutoFit/>
          </a:bodyPr>
          <a:lstStyle/>
          <a:p>
            <a:pPr algn="l">
              <a:lnSpc>
                <a:spcPct val="115000"/>
              </a:lnSpc>
            </a:pPr>
            <a:r>
              <a:rPr sz="950" b="1">
                <a:solidFill>
                  <a:srgbClr val="0E4F4A"/>
                </a:solidFill>
                <a:latin typeface="Calibri"/>
              </a:rPr>
              <a:t>ACTION</a:t>
            </a:r>
          </a:p>
        </p:txBody>
      </p:sp>
      <p:sp>
        <p:nvSpPr>
          <p:cNvPr id="18" name="TextBox 17"/>
          <p:cNvSpPr txBox="1"/>
          <p:nvPr/>
        </p:nvSpPr>
        <p:spPr>
          <a:xfrm>
            <a:off x="8622792" y="2491740"/>
            <a:ext cx="3127248" cy="320040"/>
          </a:xfrm>
          <a:prstGeom prst="rect">
            <a:avLst/>
          </a:prstGeom>
          <a:noFill/>
        </p:spPr>
        <p:txBody>
          <a:bodyPr wrap="square" anchor="t" lIns="0" rIns="0" tIns="0" bIns="0">
            <a:spAutoFit/>
          </a:bodyPr>
          <a:lstStyle/>
          <a:p>
            <a:pPr algn="l">
              <a:lnSpc>
                <a:spcPct val="108000"/>
              </a:lnSpc>
            </a:pPr>
            <a:r>
              <a:rPr sz="1100" b="0">
                <a:solidFill>
                  <a:srgbClr val="1B2A33"/>
                </a:solidFill>
                <a:latin typeface="Calibri"/>
              </a:rPr>
              <a:t>Read the strip; anything breaching needs an owner today.</a:t>
            </a:r>
          </a:p>
        </p:txBody>
      </p:sp>
      <p:sp>
        <p:nvSpPr>
          <p:cNvPr id="19" name="Rectangle 18"/>
          <p:cNvSpPr/>
          <p:nvPr/>
        </p:nvSpPr>
        <p:spPr>
          <a:xfrm>
            <a:off x="8458200" y="3003804"/>
            <a:ext cx="45720" cy="662940"/>
          </a:xfrm>
          <a:prstGeom prst="rect">
            <a:avLst/>
          </a:prstGeom>
          <a:solidFill>
            <a:srgbClr val="1E7A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22792" y="3003804"/>
            <a:ext cx="3127248" cy="164592"/>
          </a:xfrm>
          <a:prstGeom prst="rect">
            <a:avLst/>
          </a:prstGeom>
          <a:noFill/>
        </p:spPr>
        <p:txBody>
          <a:bodyPr wrap="square" anchor="t" lIns="0" rIns="0" tIns="0" bIns="0">
            <a:spAutoFit/>
          </a:bodyPr>
          <a:lstStyle/>
          <a:p>
            <a:pPr algn="l">
              <a:lnSpc>
                <a:spcPct val="115000"/>
              </a:lnSpc>
            </a:pPr>
            <a:r>
              <a:rPr sz="950" b="1">
                <a:solidFill>
                  <a:srgbClr val="1E7A53"/>
                </a:solidFill>
                <a:latin typeface="Calibri"/>
              </a:rPr>
              <a:t>RESULT</a:t>
            </a:r>
          </a:p>
        </p:txBody>
      </p:sp>
      <p:sp>
        <p:nvSpPr>
          <p:cNvPr id="21" name="TextBox 20"/>
          <p:cNvSpPr txBox="1"/>
          <p:nvPr/>
        </p:nvSpPr>
        <p:spPr>
          <a:xfrm>
            <a:off x="8622792" y="3195828"/>
            <a:ext cx="3127248" cy="480060"/>
          </a:xfrm>
          <a:prstGeom prst="rect">
            <a:avLst/>
          </a:prstGeom>
          <a:noFill/>
        </p:spPr>
        <p:txBody>
          <a:bodyPr wrap="square" anchor="t" lIns="0" rIns="0" tIns="0" bIns="0">
            <a:spAutoFit/>
          </a:bodyPr>
          <a:lstStyle/>
          <a:p>
            <a:pPr algn="l">
              <a:lnSpc>
                <a:spcPct val="108000"/>
              </a:lnSpc>
            </a:pPr>
            <a:r>
              <a:rPr sz="1100" b="0">
                <a:solidFill>
                  <a:srgbClr val="1B2A33"/>
                </a:solidFill>
                <a:latin typeface="Calibri"/>
              </a:rPr>
              <a:t>Supervisors see the same tiles as agents, plus the SLA monitor and escalation queue in the menu.</a:t>
            </a:r>
          </a:p>
        </p:txBody>
      </p:sp>
      <p:sp>
        <p:nvSpPr>
          <p:cNvPr id="22" name="Rectangle 21"/>
          <p:cNvSpPr/>
          <p:nvPr/>
        </p:nvSpPr>
        <p:spPr>
          <a:xfrm>
            <a:off x="8458200" y="3867912"/>
            <a:ext cx="45720" cy="342900"/>
          </a:xfrm>
          <a:prstGeom prst="rect">
            <a:avLst/>
          </a:prstGeom>
          <a:solidFill>
            <a:srgbClr val="5B6B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22792" y="3867912"/>
            <a:ext cx="3127248" cy="164592"/>
          </a:xfrm>
          <a:prstGeom prst="rect">
            <a:avLst/>
          </a:prstGeom>
          <a:noFill/>
        </p:spPr>
        <p:txBody>
          <a:bodyPr wrap="square" anchor="t" lIns="0" rIns="0" tIns="0" bIns="0">
            <a:spAutoFit/>
          </a:bodyPr>
          <a:lstStyle/>
          <a:p>
            <a:pPr algn="l">
              <a:lnSpc>
                <a:spcPct val="115000"/>
              </a:lnSpc>
            </a:pPr>
            <a:r>
              <a:rPr sz="950" b="1">
                <a:solidFill>
                  <a:srgbClr val="5B6B75"/>
                </a:solidFill>
                <a:latin typeface="Calibri"/>
              </a:rPr>
              <a:t>NEXT</a:t>
            </a:r>
          </a:p>
        </p:txBody>
      </p:sp>
      <p:sp>
        <p:nvSpPr>
          <p:cNvPr id="24" name="TextBox 23"/>
          <p:cNvSpPr txBox="1"/>
          <p:nvPr/>
        </p:nvSpPr>
        <p:spPr>
          <a:xfrm>
            <a:off x="8622792" y="4059936"/>
            <a:ext cx="3127248" cy="160020"/>
          </a:xfrm>
          <a:prstGeom prst="rect">
            <a:avLst/>
          </a:prstGeom>
          <a:noFill/>
        </p:spPr>
        <p:txBody>
          <a:bodyPr wrap="square" anchor="t" lIns="0" rIns="0" tIns="0" bIns="0">
            <a:spAutoFit/>
          </a:bodyPr>
          <a:lstStyle/>
          <a:p>
            <a:pPr algn="l">
              <a:lnSpc>
                <a:spcPct val="108000"/>
              </a:lnSpc>
            </a:pPr>
            <a:r>
              <a:rPr sz="1100" b="0">
                <a:solidFill>
                  <a:srgbClr val="1B2A33"/>
                </a:solidFill>
                <a:latin typeface="Calibri"/>
              </a:rPr>
              <a:t>Step 14 — open the SLA monitor.</a:t>
            </a:r>
          </a:p>
        </p:txBody>
      </p:sp>
      <p:sp>
        <p:nvSpPr>
          <p:cNvPr id="25" name="Rectangle 24"/>
          <p:cNvSpPr/>
          <p:nvPr/>
        </p:nvSpPr>
        <p:spPr>
          <a:xfrm>
            <a:off x="0" y="6473952"/>
            <a:ext cx="12191695" cy="384048"/>
          </a:xfrm>
          <a:prstGeom prst="rect">
            <a:avLst/>
          </a:prstGeom>
          <a:solidFill>
            <a:srgbClr val="F3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2920" y="6547104"/>
            <a:ext cx="8229600" cy="228600"/>
          </a:xfrm>
          <a:prstGeom prst="rect">
            <a:avLst/>
          </a:prstGeom>
          <a:noFill/>
        </p:spPr>
        <p:txBody>
          <a:bodyPr wrap="square" anchor="t" lIns="0" rIns="0" tIns="0" bIns="0">
            <a:spAutoFit/>
          </a:bodyPr>
          <a:lstStyle/>
          <a:p>
            <a:pPr algn="l">
              <a:lnSpc>
                <a:spcPct val="115000"/>
              </a:lnSpc>
            </a:pPr>
            <a:r>
              <a:rPr sz="900" b="0">
                <a:solidFill>
                  <a:srgbClr val="5B6B75"/>
                </a:solidFill>
                <a:latin typeface="Calibri"/>
              </a:rPr>
              <a:t>SUCCESS Bank — Internal Ticketing · Standard Operating Procedure</a:t>
            </a:r>
          </a:p>
        </p:txBody>
      </p:sp>
      <p:sp>
        <p:nvSpPr>
          <p:cNvPr id="27" name="TextBox 26"/>
          <p:cNvSpPr txBox="1"/>
          <p:nvPr/>
        </p:nvSpPr>
        <p:spPr>
          <a:xfrm>
            <a:off x="9997135" y="6547104"/>
            <a:ext cx="1691640" cy="228600"/>
          </a:xfrm>
          <a:prstGeom prst="rect">
            <a:avLst/>
          </a:prstGeom>
          <a:noFill/>
        </p:spPr>
        <p:txBody>
          <a:bodyPr wrap="square" anchor="t" lIns="0" rIns="0" tIns="0" bIns="0">
            <a:spAutoFit/>
          </a:bodyPr>
          <a:lstStyle/>
          <a:p>
            <a:pPr algn="r">
              <a:lnSpc>
                <a:spcPct val="115000"/>
              </a:lnSpc>
            </a:pPr>
            <a:r>
              <a:rPr sz="900" b="0">
                <a:solidFill>
                  <a:srgbClr val="5B6B75"/>
                </a:solidFill>
                <a:latin typeface="Calibri"/>
              </a:rPr>
              <a:t>Step 13</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0E4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36576"/>
          </a:xfrm>
          <a:prstGeom prst="rect">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55448"/>
            <a:ext cx="1371600" cy="274320"/>
          </a:xfrm>
          <a:prstGeom prst="rect">
            <a:avLst/>
          </a:prstGeom>
          <a:noFill/>
        </p:spPr>
        <p:txBody>
          <a:bodyPr wrap="square" anchor="t" lIns="0" rIns="0" tIns="0" bIns="0">
            <a:spAutoFit/>
          </a:bodyPr>
          <a:lstStyle/>
          <a:p>
            <a:pPr algn="l">
              <a:lnSpc>
                <a:spcPct val="115000"/>
              </a:lnSpc>
            </a:pPr>
            <a:r>
              <a:rPr sz="1200" b="1">
                <a:solidFill>
                  <a:srgbClr val="C25B2E"/>
                </a:solidFill>
                <a:latin typeface="Calibri"/>
              </a:rPr>
              <a:t>STEP 14</a:t>
            </a:r>
          </a:p>
        </p:txBody>
      </p:sp>
      <p:sp>
        <p:nvSpPr>
          <p:cNvPr id="5" name="TextBox 4"/>
          <p:cNvSpPr txBox="1"/>
          <p:nvPr/>
        </p:nvSpPr>
        <p:spPr>
          <a:xfrm>
            <a:off x="502920" y="420624"/>
            <a:ext cx="8412480" cy="365760"/>
          </a:xfrm>
          <a:prstGeom prst="rect">
            <a:avLst/>
          </a:prstGeom>
          <a:noFill/>
        </p:spPr>
        <p:txBody>
          <a:bodyPr wrap="square" anchor="t" lIns="0" rIns="0" tIns="0" bIns="0">
            <a:spAutoFit/>
          </a:bodyPr>
          <a:lstStyle/>
          <a:p>
            <a:pPr algn="l">
              <a:lnSpc>
                <a:spcPct val="115000"/>
              </a:lnSpc>
            </a:pPr>
            <a:r>
              <a:rPr sz="2000" b="1">
                <a:solidFill>
                  <a:srgbClr val="FFFFFF"/>
                </a:solidFill>
                <a:latin typeface="Calibri"/>
              </a:rPr>
              <a:t>Read the SLA monitor</a:t>
            </a:r>
          </a:p>
        </p:txBody>
      </p:sp>
      <p:sp>
        <p:nvSpPr>
          <p:cNvPr id="6" name="TextBox 5"/>
          <p:cNvSpPr txBox="1"/>
          <p:nvPr/>
        </p:nvSpPr>
        <p:spPr>
          <a:xfrm>
            <a:off x="9174175" y="320040"/>
            <a:ext cx="2514600" cy="274320"/>
          </a:xfrm>
          <a:prstGeom prst="rect">
            <a:avLst/>
          </a:prstGeom>
          <a:noFill/>
        </p:spPr>
        <p:txBody>
          <a:bodyPr wrap="square" anchor="t" lIns="0" rIns="0" tIns="0" bIns="0">
            <a:spAutoFit/>
          </a:bodyPr>
          <a:lstStyle/>
          <a:p>
            <a:pPr algn="r">
              <a:lnSpc>
                <a:spcPct val="115000"/>
              </a:lnSpc>
            </a:pPr>
            <a:r>
              <a:rPr sz="1100" b="1">
                <a:solidFill>
                  <a:srgbClr val="F3ECE0"/>
                </a:solidFill>
                <a:latin typeface="Calibri"/>
              </a:rPr>
              <a:t>SUPERVISOR</a:t>
            </a:r>
          </a:p>
        </p:txBody>
      </p:sp>
      <p:sp>
        <p:nvSpPr>
          <p:cNvPr id="7" name="Rectangle 6"/>
          <p:cNvSpPr/>
          <p:nvPr/>
        </p:nvSpPr>
        <p:spPr>
          <a:xfrm>
            <a:off x="388620" y="1165860"/>
            <a:ext cx="7818120" cy="4903470"/>
          </a:xfrm>
          <a:prstGeom prst="rect">
            <a:avLst/>
          </a:prstGeom>
          <a:solidFill>
            <a:srgbClr val="D6CE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411480" y="1188720"/>
            <a:ext cx="7772400" cy="4855464"/>
          </a:xfrm>
          <a:prstGeom prst="rect">
            <a:avLst/>
          </a:prstGeom>
        </p:spPr>
      </p:pic>
      <p:sp>
        <p:nvSpPr>
          <p:cNvPr id="9" name="Rectangle 8"/>
          <p:cNvSpPr/>
          <p:nvPr/>
        </p:nvSpPr>
        <p:spPr>
          <a:xfrm>
            <a:off x="8458200" y="1188720"/>
            <a:ext cx="45720" cy="502920"/>
          </a:xfrm>
          <a:prstGeom prst="rect">
            <a:avLst/>
          </a:prstGeom>
          <a:solidFill>
            <a:srgbClr val="0E4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22792" y="1188720"/>
            <a:ext cx="3127248" cy="164592"/>
          </a:xfrm>
          <a:prstGeom prst="rect">
            <a:avLst/>
          </a:prstGeom>
          <a:noFill/>
        </p:spPr>
        <p:txBody>
          <a:bodyPr wrap="square" anchor="t" lIns="0" rIns="0" tIns="0" bIns="0">
            <a:spAutoFit/>
          </a:bodyPr>
          <a:lstStyle/>
          <a:p>
            <a:pPr algn="l">
              <a:lnSpc>
                <a:spcPct val="115000"/>
              </a:lnSpc>
            </a:pPr>
            <a:r>
              <a:rPr sz="950" b="1">
                <a:solidFill>
                  <a:srgbClr val="0E4F4A"/>
                </a:solidFill>
                <a:latin typeface="Calibri"/>
              </a:rPr>
              <a:t>ACTION</a:t>
            </a:r>
          </a:p>
        </p:txBody>
      </p:sp>
      <p:sp>
        <p:nvSpPr>
          <p:cNvPr id="11" name="TextBox 10"/>
          <p:cNvSpPr txBox="1"/>
          <p:nvPr/>
        </p:nvSpPr>
        <p:spPr>
          <a:xfrm>
            <a:off x="8622792" y="1380744"/>
            <a:ext cx="3127248" cy="320040"/>
          </a:xfrm>
          <a:prstGeom prst="rect">
            <a:avLst/>
          </a:prstGeom>
          <a:noFill/>
        </p:spPr>
        <p:txBody>
          <a:bodyPr wrap="square" anchor="t" lIns="0" rIns="0" tIns="0" bIns="0">
            <a:spAutoFit/>
          </a:bodyPr>
          <a:lstStyle/>
          <a:p>
            <a:pPr algn="l">
              <a:lnSpc>
                <a:spcPct val="108000"/>
              </a:lnSpc>
            </a:pPr>
            <a:r>
              <a:rPr sz="1100" b="0">
                <a:solidFill>
                  <a:srgbClr val="1B2A33"/>
                </a:solidFill>
                <a:latin typeface="Calibri"/>
              </a:rPr>
              <a:t>Work down from the tickets nearest their deadline.</a:t>
            </a:r>
          </a:p>
        </p:txBody>
      </p:sp>
      <p:sp>
        <p:nvSpPr>
          <p:cNvPr id="12" name="Rectangle 11"/>
          <p:cNvSpPr/>
          <p:nvPr/>
        </p:nvSpPr>
        <p:spPr>
          <a:xfrm>
            <a:off x="8458200" y="1892808"/>
            <a:ext cx="45720" cy="822960"/>
          </a:xfrm>
          <a:prstGeom prst="rect">
            <a:avLst/>
          </a:prstGeom>
          <a:solidFill>
            <a:srgbClr val="1E7A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22792" y="1892808"/>
            <a:ext cx="3127248" cy="164592"/>
          </a:xfrm>
          <a:prstGeom prst="rect">
            <a:avLst/>
          </a:prstGeom>
          <a:noFill/>
        </p:spPr>
        <p:txBody>
          <a:bodyPr wrap="square" anchor="t" lIns="0" rIns="0" tIns="0" bIns="0">
            <a:spAutoFit/>
          </a:bodyPr>
          <a:lstStyle/>
          <a:p>
            <a:pPr algn="l">
              <a:lnSpc>
                <a:spcPct val="115000"/>
              </a:lnSpc>
            </a:pPr>
            <a:r>
              <a:rPr sz="950" b="1">
                <a:solidFill>
                  <a:srgbClr val="1E7A53"/>
                </a:solidFill>
                <a:latin typeface="Calibri"/>
              </a:rPr>
              <a:t>RESULT</a:t>
            </a:r>
          </a:p>
        </p:txBody>
      </p:sp>
      <p:sp>
        <p:nvSpPr>
          <p:cNvPr id="14" name="TextBox 13"/>
          <p:cNvSpPr txBox="1"/>
          <p:nvPr/>
        </p:nvSpPr>
        <p:spPr>
          <a:xfrm>
            <a:off x="8622792" y="2084832"/>
            <a:ext cx="3127248" cy="640080"/>
          </a:xfrm>
          <a:prstGeom prst="rect">
            <a:avLst/>
          </a:prstGeom>
          <a:noFill/>
        </p:spPr>
        <p:txBody>
          <a:bodyPr wrap="square" anchor="t" lIns="0" rIns="0" tIns="0" bIns="0">
            <a:spAutoFit/>
          </a:bodyPr>
          <a:lstStyle/>
          <a:p>
            <a:pPr algn="l">
              <a:lnSpc>
                <a:spcPct val="108000"/>
              </a:lnSpc>
            </a:pPr>
            <a:r>
              <a:rPr sz="1100" b="0">
                <a:solidFill>
                  <a:srgbClr val="1B2A33"/>
                </a:solidFill>
                <a:latin typeface="Calibri"/>
              </a:rPr>
              <a:t>At risk means due within the hour. Breached means the deadline has already passed and, if a rule matched, escalation has already fired.</a:t>
            </a:r>
          </a:p>
        </p:txBody>
      </p:sp>
      <p:sp>
        <p:nvSpPr>
          <p:cNvPr id="15" name="Rectangle 14"/>
          <p:cNvSpPr/>
          <p:nvPr/>
        </p:nvSpPr>
        <p:spPr>
          <a:xfrm>
            <a:off x="8458200" y="2916936"/>
            <a:ext cx="45720" cy="342900"/>
          </a:xfrm>
          <a:prstGeom prst="rect">
            <a:avLst/>
          </a:prstGeom>
          <a:solidFill>
            <a:srgbClr val="5B6B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22792" y="2916936"/>
            <a:ext cx="3127248" cy="164592"/>
          </a:xfrm>
          <a:prstGeom prst="rect">
            <a:avLst/>
          </a:prstGeom>
          <a:noFill/>
        </p:spPr>
        <p:txBody>
          <a:bodyPr wrap="square" anchor="t" lIns="0" rIns="0" tIns="0" bIns="0">
            <a:spAutoFit/>
          </a:bodyPr>
          <a:lstStyle/>
          <a:p>
            <a:pPr algn="l">
              <a:lnSpc>
                <a:spcPct val="115000"/>
              </a:lnSpc>
            </a:pPr>
            <a:r>
              <a:rPr sz="950" b="1">
                <a:solidFill>
                  <a:srgbClr val="5B6B75"/>
                </a:solidFill>
                <a:latin typeface="Calibri"/>
              </a:rPr>
              <a:t>NEXT</a:t>
            </a:r>
          </a:p>
        </p:txBody>
      </p:sp>
      <p:sp>
        <p:nvSpPr>
          <p:cNvPr id="17" name="TextBox 16"/>
          <p:cNvSpPr txBox="1"/>
          <p:nvPr/>
        </p:nvSpPr>
        <p:spPr>
          <a:xfrm>
            <a:off x="8622792" y="3108960"/>
            <a:ext cx="3127248" cy="160020"/>
          </a:xfrm>
          <a:prstGeom prst="rect">
            <a:avLst/>
          </a:prstGeom>
          <a:noFill/>
        </p:spPr>
        <p:txBody>
          <a:bodyPr wrap="square" anchor="t" lIns="0" rIns="0" tIns="0" bIns="0">
            <a:spAutoFit/>
          </a:bodyPr>
          <a:lstStyle/>
          <a:p>
            <a:pPr algn="l">
              <a:lnSpc>
                <a:spcPct val="108000"/>
              </a:lnSpc>
            </a:pPr>
            <a:r>
              <a:rPr sz="1100" b="0">
                <a:solidFill>
                  <a:srgbClr val="1B2A33"/>
                </a:solidFill>
                <a:latin typeface="Calibri"/>
              </a:rPr>
              <a:t>Step 15 — review escalations.</a:t>
            </a:r>
          </a:p>
        </p:txBody>
      </p:sp>
      <p:sp>
        <p:nvSpPr>
          <p:cNvPr id="18" name="Rectangle 17"/>
          <p:cNvSpPr/>
          <p:nvPr/>
        </p:nvSpPr>
        <p:spPr>
          <a:xfrm>
            <a:off x="0" y="6473952"/>
            <a:ext cx="12191695" cy="384048"/>
          </a:xfrm>
          <a:prstGeom prst="rect">
            <a:avLst/>
          </a:prstGeom>
          <a:solidFill>
            <a:srgbClr val="F3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6547104"/>
            <a:ext cx="8229600" cy="228600"/>
          </a:xfrm>
          <a:prstGeom prst="rect">
            <a:avLst/>
          </a:prstGeom>
          <a:noFill/>
        </p:spPr>
        <p:txBody>
          <a:bodyPr wrap="square" anchor="t" lIns="0" rIns="0" tIns="0" bIns="0">
            <a:spAutoFit/>
          </a:bodyPr>
          <a:lstStyle/>
          <a:p>
            <a:pPr algn="l">
              <a:lnSpc>
                <a:spcPct val="115000"/>
              </a:lnSpc>
            </a:pPr>
            <a:r>
              <a:rPr sz="900" b="0">
                <a:solidFill>
                  <a:srgbClr val="5B6B75"/>
                </a:solidFill>
                <a:latin typeface="Calibri"/>
              </a:rPr>
              <a:t>SUCCESS Bank — Internal Ticketing · Standard Operating Procedure</a:t>
            </a:r>
          </a:p>
        </p:txBody>
      </p:sp>
      <p:sp>
        <p:nvSpPr>
          <p:cNvPr id="20" name="TextBox 19"/>
          <p:cNvSpPr txBox="1"/>
          <p:nvPr/>
        </p:nvSpPr>
        <p:spPr>
          <a:xfrm>
            <a:off x="9997135" y="6547104"/>
            <a:ext cx="1691640" cy="228600"/>
          </a:xfrm>
          <a:prstGeom prst="rect">
            <a:avLst/>
          </a:prstGeom>
          <a:noFill/>
        </p:spPr>
        <p:txBody>
          <a:bodyPr wrap="square" anchor="t" lIns="0" rIns="0" tIns="0" bIns="0">
            <a:spAutoFit/>
          </a:bodyPr>
          <a:lstStyle/>
          <a:p>
            <a:pPr algn="r">
              <a:lnSpc>
                <a:spcPct val="115000"/>
              </a:lnSpc>
            </a:pPr>
            <a:r>
              <a:rPr sz="900" b="0">
                <a:solidFill>
                  <a:srgbClr val="5B6B75"/>
                </a:solidFill>
                <a:latin typeface="Calibri"/>
              </a:rPr>
              <a:t>Step 14</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0E4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36576"/>
          </a:xfrm>
          <a:prstGeom prst="rect">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55448"/>
            <a:ext cx="1371600" cy="274320"/>
          </a:xfrm>
          <a:prstGeom prst="rect">
            <a:avLst/>
          </a:prstGeom>
          <a:noFill/>
        </p:spPr>
        <p:txBody>
          <a:bodyPr wrap="square" anchor="t" lIns="0" rIns="0" tIns="0" bIns="0">
            <a:spAutoFit/>
          </a:bodyPr>
          <a:lstStyle/>
          <a:p>
            <a:pPr algn="l">
              <a:lnSpc>
                <a:spcPct val="115000"/>
              </a:lnSpc>
            </a:pPr>
            <a:r>
              <a:rPr sz="1200" b="1">
                <a:solidFill>
                  <a:srgbClr val="C25B2E"/>
                </a:solidFill>
                <a:latin typeface="Calibri"/>
              </a:rPr>
              <a:t>STEP 15</a:t>
            </a:r>
          </a:p>
        </p:txBody>
      </p:sp>
      <p:sp>
        <p:nvSpPr>
          <p:cNvPr id="5" name="TextBox 4"/>
          <p:cNvSpPr txBox="1"/>
          <p:nvPr/>
        </p:nvSpPr>
        <p:spPr>
          <a:xfrm>
            <a:off x="502920" y="420624"/>
            <a:ext cx="8412480" cy="365760"/>
          </a:xfrm>
          <a:prstGeom prst="rect">
            <a:avLst/>
          </a:prstGeom>
          <a:noFill/>
        </p:spPr>
        <p:txBody>
          <a:bodyPr wrap="square" anchor="t" lIns="0" rIns="0" tIns="0" bIns="0">
            <a:spAutoFit/>
          </a:bodyPr>
          <a:lstStyle/>
          <a:p>
            <a:pPr algn="l">
              <a:lnSpc>
                <a:spcPct val="115000"/>
              </a:lnSpc>
            </a:pPr>
            <a:r>
              <a:rPr sz="2000" b="1">
                <a:solidFill>
                  <a:srgbClr val="FFFFFF"/>
                </a:solidFill>
                <a:latin typeface="Calibri"/>
              </a:rPr>
              <a:t>Review the escalation queue</a:t>
            </a:r>
          </a:p>
        </p:txBody>
      </p:sp>
      <p:sp>
        <p:nvSpPr>
          <p:cNvPr id="6" name="TextBox 5"/>
          <p:cNvSpPr txBox="1"/>
          <p:nvPr/>
        </p:nvSpPr>
        <p:spPr>
          <a:xfrm>
            <a:off x="9174175" y="320040"/>
            <a:ext cx="2514600" cy="274320"/>
          </a:xfrm>
          <a:prstGeom prst="rect">
            <a:avLst/>
          </a:prstGeom>
          <a:noFill/>
        </p:spPr>
        <p:txBody>
          <a:bodyPr wrap="square" anchor="t" lIns="0" rIns="0" tIns="0" bIns="0">
            <a:spAutoFit/>
          </a:bodyPr>
          <a:lstStyle/>
          <a:p>
            <a:pPr algn="r">
              <a:lnSpc>
                <a:spcPct val="115000"/>
              </a:lnSpc>
            </a:pPr>
            <a:r>
              <a:rPr sz="1100" b="1">
                <a:solidFill>
                  <a:srgbClr val="F3ECE0"/>
                </a:solidFill>
                <a:latin typeface="Calibri"/>
              </a:rPr>
              <a:t>SUPERVISOR</a:t>
            </a:r>
          </a:p>
        </p:txBody>
      </p:sp>
      <p:sp>
        <p:nvSpPr>
          <p:cNvPr id="7" name="Rectangle 6"/>
          <p:cNvSpPr/>
          <p:nvPr/>
        </p:nvSpPr>
        <p:spPr>
          <a:xfrm>
            <a:off x="388620" y="1165860"/>
            <a:ext cx="7818120" cy="4903470"/>
          </a:xfrm>
          <a:prstGeom prst="rect">
            <a:avLst/>
          </a:prstGeom>
          <a:solidFill>
            <a:srgbClr val="D6CE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411480" y="1188720"/>
            <a:ext cx="7772400" cy="4855464"/>
          </a:xfrm>
          <a:prstGeom prst="rect">
            <a:avLst/>
          </a:prstGeom>
        </p:spPr>
      </p:pic>
      <p:sp>
        <p:nvSpPr>
          <p:cNvPr id="9" name="Rectangle 8"/>
          <p:cNvSpPr/>
          <p:nvPr/>
        </p:nvSpPr>
        <p:spPr>
          <a:xfrm>
            <a:off x="8458200" y="1188720"/>
            <a:ext cx="45720" cy="502920"/>
          </a:xfrm>
          <a:prstGeom prst="rect">
            <a:avLst/>
          </a:prstGeom>
          <a:solidFill>
            <a:srgbClr val="0E4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22792" y="1188720"/>
            <a:ext cx="3127248" cy="164592"/>
          </a:xfrm>
          <a:prstGeom prst="rect">
            <a:avLst/>
          </a:prstGeom>
          <a:noFill/>
        </p:spPr>
        <p:txBody>
          <a:bodyPr wrap="square" anchor="t" lIns="0" rIns="0" tIns="0" bIns="0">
            <a:spAutoFit/>
          </a:bodyPr>
          <a:lstStyle/>
          <a:p>
            <a:pPr algn="l">
              <a:lnSpc>
                <a:spcPct val="115000"/>
              </a:lnSpc>
            </a:pPr>
            <a:r>
              <a:rPr sz="950" b="1">
                <a:solidFill>
                  <a:srgbClr val="0E4F4A"/>
                </a:solidFill>
                <a:latin typeface="Calibri"/>
              </a:rPr>
              <a:t>ACTION</a:t>
            </a:r>
          </a:p>
        </p:txBody>
      </p:sp>
      <p:sp>
        <p:nvSpPr>
          <p:cNvPr id="11" name="TextBox 10"/>
          <p:cNvSpPr txBox="1"/>
          <p:nvPr/>
        </p:nvSpPr>
        <p:spPr>
          <a:xfrm>
            <a:off x="8622792" y="1380744"/>
            <a:ext cx="3127248" cy="320040"/>
          </a:xfrm>
          <a:prstGeom prst="rect">
            <a:avLst/>
          </a:prstGeom>
          <a:noFill/>
        </p:spPr>
        <p:txBody>
          <a:bodyPr wrap="square" anchor="t" lIns="0" rIns="0" tIns="0" bIns="0">
            <a:spAutoFit/>
          </a:bodyPr>
          <a:lstStyle/>
          <a:p>
            <a:pPr algn="l">
              <a:lnSpc>
                <a:spcPct val="108000"/>
              </a:lnSpc>
            </a:pPr>
            <a:r>
              <a:rPr sz="1100" b="0">
                <a:solidFill>
                  <a:srgbClr val="1B2A33"/>
                </a:solidFill>
                <a:latin typeface="Calibri"/>
              </a:rPr>
              <a:t>Check what escalated and whether the target is acting on it.</a:t>
            </a:r>
          </a:p>
        </p:txBody>
      </p:sp>
      <p:sp>
        <p:nvSpPr>
          <p:cNvPr id="12" name="Rectangle 11"/>
          <p:cNvSpPr/>
          <p:nvPr/>
        </p:nvSpPr>
        <p:spPr>
          <a:xfrm>
            <a:off x="8458200" y="1892808"/>
            <a:ext cx="45720" cy="822960"/>
          </a:xfrm>
          <a:prstGeom prst="rect">
            <a:avLst/>
          </a:prstGeom>
          <a:solidFill>
            <a:srgbClr val="1E7A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22792" y="1892808"/>
            <a:ext cx="3127248" cy="164592"/>
          </a:xfrm>
          <a:prstGeom prst="rect">
            <a:avLst/>
          </a:prstGeom>
          <a:noFill/>
        </p:spPr>
        <p:txBody>
          <a:bodyPr wrap="square" anchor="t" lIns="0" rIns="0" tIns="0" bIns="0">
            <a:spAutoFit/>
          </a:bodyPr>
          <a:lstStyle/>
          <a:p>
            <a:pPr algn="l">
              <a:lnSpc>
                <a:spcPct val="115000"/>
              </a:lnSpc>
            </a:pPr>
            <a:r>
              <a:rPr sz="950" b="1">
                <a:solidFill>
                  <a:srgbClr val="1E7A53"/>
                </a:solidFill>
                <a:latin typeface="Calibri"/>
              </a:rPr>
              <a:t>RESULT</a:t>
            </a:r>
          </a:p>
        </p:txBody>
      </p:sp>
      <p:sp>
        <p:nvSpPr>
          <p:cNvPr id="14" name="TextBox 13"/>
          <p:cNvSpPr txBox="1"/>
          <p:nvPr/>
        </p:nvSpPr>
        <p:spPr>
          <a:xfrm>
            <a:off x="8622792" y="2084832"/>
            <a:ext cx="3127248" cy="640080"/>
          </a:xfrm>
          <a:prstGeom prst="rect">
            <a:avLst/>
          </a:prstGeom>
          <a:noFill/>
        </p:spPr>
        <p:txBody>
          <a:bodyPr wrap="square" anchor="t" lIns="0" rIns="0" tIns="0" bIns="0">
            <a:spAutoFit/>
          </a:bodyPr>
          <a:lstStyle/>
          <a:p>
            <a:pPr algn="l">
              <a:lnSpc>
                <a:spcPct val="108000"/>
              </a:lnSpc>
            </a:pPr>
            <a:r>
              <a:rPr sz="1100" b="0">
                <a:solidFill>
                  <a:srgbClr val="1B2A33"/>
                </a:solidFill>
                <a:latin typeface="Calibri"/>
              </a:rPr>
              <a:t>Escalations arrive here whether raised by hand or fired automatically by the SLA worker — both run the same engine, so the evidence is identical.</a:t>
            </a:r>
          </a:p>
        </p:txBody>
      </p:sp>
      <p:sp>
        <p:nvSpPr>
          <p:cNvPr id="15" name="Rectangle 14"/>
          <p:cNvSpPr/>
          <p:nvPr/>
        </p:nvSpPr>
        <p:spPr>
          <a:xfrm>
            <a:off x="8458200" y="2916936"/>
            <a:ext cx="45720" cy="502920"/>
          </a:xfrm>
          <a:prstGeom prst="rect">
            <a:avLst/>
          </a:prstGeom>
          <a:solidFill>
            <a:srgbClr val="5B6B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22792" y="2916936"/>
            <a:ext cx="3127248" cy="164592"/>
          </a:xfrm>
          <a:prstGeom prst="rect">
            <a:avLst/>
          </a:prstGeom>
          <a:noFill/>
        </p:spPr>
        <p:txBody>
          <a:bodyPr wrap="square" anchor="t" lIns="0" rIns="0" tIns="0" bIns="0">
            <a:spAutoFit/>
          </a:bodyPr>
          <a:lstStyle/>
          <a:p>
            <a:pPr algn="l">
              <a:lnSpc>
                <a:spcPct val="115000"/>
              </a:lnSpc>
            </a:pPr>
            <a:r>
              <a:rPr sz="950" b="1">
                <a:solidFill>
                  <a:srgbClr val="5B6B75"/>
                </a:solidFill>
                <a:latin typeface="Calibri"/>
              </a:rPr>
              <a:t>NEXT</a:t>
            </a:r>
          </a:p>
        </p:txBody>
      </p:sp>
      <p:sp>
        <p:nvSpPr>
          <p:cNvPr id="17" name="TextBox 16"/>
          <p:cNvSpPr txBox="1"/>
          <p:nvPr/>
        </p:nvSpPr>
        <p:spPr>
          <a:xfrm>
            <a:off x="8622792" y="3108960"/>
            <a:ext cx="3127248" cy="320040"/>
          </a:xfrm>
          <a:prstGeom prst="rect">
            <a:avLst/>
          </a:prstGeom>
          <a:noFill/>
        </p:spPr>
        <p:txBody>
          <a:bodyPr wrap="square" anchor="t" lIns="0" rIns="0" tIns="0" bIns="0">
            <a:spAutoFit/>
          </a:bodyPr>
          <a:lstStyle/>
          <a:p>
            <a:pPr algn="l">
              <a:lnSpc>
                <a:spcPct val="108000"/>
              </a:lnSpc>
            </a:pPr>
            <a:r>
              <a:rPr sz="1100" b="0">
                <a:solidFill>
                  <a:srgbClr val="1B2A33"/>
                </a:solidFill>
                <a:latin typeface="Calibri"/>
              </a:rPr>
              <a:t>Reassign if the target is wrong; otherwise the agent resolves it.</a:t>
            </a:r>
          </a:p>
        </p:txBody>
      </p:sp>
      <p:sp>
        <p:nvSpPr>
          <p:cNvPr id="18" name="Rectangle 17"/>
          <p:cNvSpPr/>
          <p:nvPr/>
        </p:nvSpPr>
        <p:spPr>
          <a:xfrm>
            <a:off x="0" y="6473952"/>
            <a:ext cx="12191695" cy="384048"/>
          </a:xfrm>
          <a:prstGeom prst="rect">
            <a:avLst/>
          </a:prstGeom>
          <a:solidFill>
            <a:srgbClr val="F3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6547104"/>
            <a:ext cx="8229600" cy="228600"/>
          </a:xfrm>
          <a:prstGeom prst="rect">
            <a:avLst/>
          </a:prstGeom>
          <a:noFill/>
        </p:spPr>
        <p:txBody>
          <a:bodyPr wrap="square" anchor="t" lIns="0" rIns="0" tIns="0" bIns="0">
            <a:spAutoFit/>
          </a:bodyPr>
          <a:lstStyle/>
          <a:p>
            <a:pPr algn="l">
              <a:lnSpc>
                <a:spcPct val="115000"/>
              </a:lnSpc>
            </a:pPr>
            <a:r>
              <a:rPr sz="900" b="0">
                <a:solidFill>
                  <a:srgbClr val="5B6B75"/>
                </a:solidFill>
                <a:latin typeface="Calibri"/>
              </a:rPr>
              <a:t>SUCCESS Bank — Internal Ticketing · Standard Operating Procedure</a:t>
            </a:r>
          </a:p>
        </p:txBody>
      </p:sp>
      <p:sp>
        <p:nvSpPr>
          <p:cNvPr id="20" name="TextBox 19"/>
          <p:cNvSpPr txBox="1"/>
          <p:nvPr/>
        </p:nvSpPr>
        <p:spPr>
          <a:xfrm>
            <a:off x="9997135" y="6547104"/>
            <a:ext cx="1691640" cy="228600"/>
          </a:xfrm>
          <a:prstGeom prst="rect">
            <a:avLst/>
          </a:prstGeom>
          <a:noFill/>
        </p:spPr>
        <p:txBody>
          <a:bodyPr wrap="square" anchor="t" lIns="0" rIns="0" tIns="0" bIns="0">
            <a:spAutoFit/>
          </a:bodyPr>
          <a:lstStyle/>
          <a:p>
            <a:pPr algn="r">
              <a:lnSpc>
                <a:spcPct val="115000"/>
              </a:lnSpc>
            </a:pPr>
            <a:r>
              <a:rPr sz="900" b="0">
                <a:solidFill>
                  <a:srgbClr val="5B6B75"/>
                </a:solidFill>
                <a:latin typeface="Calibri"/>
              </a:rPr>
              <a:t>Step 15</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0E4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36576"/>
          </a:xfrm>
          <a:prstGeom prst="rect">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55448"/>
            <a:ext cx="1371600" cy="274320"/>
          </a:xfrm>
          <a:prstGeom prst="rect">
            <a:avLst/>
          </a:prstGeom>
          <a:noFill/>
        </p:spPr>
        <p:txBody>
          <a:bodyPr wrap="square" anchor="t" lIns="0" rIns="0" tIns="0" bIns="0">
            <a:spAutoFit/>
          </a:bodyPr>
          <a:lstStyle/>
          <a:p>
            <a:pPr algn="l">
              <a:lnSpc>
                <a:spcPct val="115000"/>
              </a:lnSpc>
            </a:pPr>
            <a:r>
              <a:rPr sz="1200" b="1">
                <a:solidFill>
                  <a:srgbClr val="C25B2E"/>
                </a:solidFill>
                <a:latin typeface="Calibri"/>
              </a:rPr>
              <a:t>STEP 16</a:t>
            </a:r>
          </a:p>
        </p:txBody>
      </p:sp>
      <p:sp>
        <p:nvSpPr>
          <p:cNvPr id="5" name="TextBox 4"/>
          <p:cNvSpPr txBox="1"/>
          <p:nvPr/>
        </p:nvSpPr>
        <p:spPr>
          <a:xfrm>
            <a:off x="502920" y="420624"/>
            <a:ext cx="8412480" cy="365760"/>
          </a:xfrm>
          <a:prstGeom prst="rect">
            <a:avLst/>
          </a:prstGeom>
          <a:noFill/>
        </p:spPr>
        <p:txBody>
          <a:bodyPr wrap="square" anchor="t" lIns="0" rIns="0" tIns="0" bIns="0">
            <a:spAutoFit/>
          </a:bodyPr>
          <a:lstStyle/>
          <a:p>
            <a:pPr algn="l">
              <a:lnSpc>
                <a:spcPct val="115000"/>
              </a:lnSpc>
            </a:pPr>
            <a:r>
              <a:rPr sz="2000" b="1">
                <a:solidFill>
                  <a:srgbClr val="FFFFFF"/>
                </a:solidFill>
                <a:latin typeface="Calibri"/>
              </a:rPr>
              <a:t>Decide who works it</a:t>
            </a:r>
          </a:p>
        </p:txBody>
      </p:sp>
      <p:sp>
        <p:nvSpPr>
          <p:cNvPr id="6" name="TextBox 5"/>
          <p:cNvSpPr txBox="1"/>
          <p:nvPr/>
        </p:nvSpPr>
        <p:spPr>
          <a:xfrm>
            <a:off x="9174175" y="320040"/>
            <a:ext cx="2514600" cy="274320"/>
          </a:xfrm>
          <a:prstGeom prst="rect">
            <a:avLst/>
          </a:prstGeom>
          <a:noFill/>
        </p:spPr>
        <p:txBody>
          <a:bodyPr wrap="square" anchor="t" lIns="0" rIns="0" tIns="0" bIns="0">
            <a:spAutoFit/>
          </a:bodyPr>
          <a:lstStyle/>
          <a:p>
            <a:pPr algn="r">
              <a:lnSpc>
                <a:spcPct val="115000"/>
              </a:lnSpc>
            </a:pPr>
            <a:r>
              <a:rPr sz="1100" b="1">
                <a:solidFill>
                  <a:srgbClr val="F3ECE0"/>
                </a:solidFill>
                <a:latin typeface="Calibri"/>
              </a:rPr>
              <a:t>SUPERVISOR</a:t>
            </a:r>
          </a:p>
        </p:txBody>
      </p:sp>
      <p:sp>
        <p:nvSpPr>
          <p:cNvPr id="7" name="Rectangle 6"/>
          <p:cNvSpPr/>
          <p:nvPr/>
        </p:nvSpPr>
        <p:spPr>
          <a:xfrm>
            <a:off x="388620" y="1165860"/>
            <a:ext cx="7818120" cy="4903470"/>
          </a:xfrm>
          <a:prstGeom prst="rect">
            <a:avLst/>
          </a:prstGeom>
          <a:solidFill>
            <a:srgbClr val="D6CE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411480" y="1188720"/>
            <a:ext cx="7772400" cy="4855464"/>
          </a:xfrm>
          <a:prstGeom prst="rect">
            <a:avLst/>
          </a:prstGeom>
        </p:spPr>
      </p:pic>
      <p:sp>
        <p:nvSpPr>
          <p:cNvPr id="9" name="Oval 8"/>
          <p:cNvSpPr/>
          <p:nvPr/>
        </p:nvSpPr>
        <p:spPr>
          <a:xfrm>
            <a:off x="7001240" y="4630264"/>
            <a:ext cx="274320" cy="274320"/>
          </a:xfrm>
          <a:prstGeom prst="ellipse">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noAutofit/>
          </a:bodyPr>
          <a:lstStyle/>
          <a:p>
            <a:pPr algn="ctr">
              <a:lnSpc>
                <a:spcPct val="100000"/>
              </a:lnSpc>
            </a:pPr>
            <a:r>
              <a:rPr sz="1300" b="1">
                <a:solidFill>
                  <a:srgbClr val="FFFFFF"/>
                </a:solidFill>
                <a:latin typeface="Calibri"/>
              </a:rPr>
              <a:t>1</a:t>
            </a:r>
          </a:p>
        </p:txBody>
      </p:sp>
      <p:sp>
        <p:nvSpPr>
          <p:cNvPr id="10" name="Oval 9"/>
          <p:cNvSpPr/>
          <p:nvPr/>
        </p:nvSpPr>
        <p:spPr>
          <a:xfrm>
            <a:off x="7420949" y="4630264"/>
            <a:ext cx="274320" cy="274320"/>
          </a:xfrm>
          <a:prstGeom prst="ellipse">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noAutofit/>
          </a:bodyPr>
          <a:lstStyle/>
          <a:p>
            <a:pPr algn="ctr">
              <a:lnSpc>
                <a:spcPct val="100000"/>
              </a:lnSpc>
            </a:pPr>
            <a:r>
              <a:rPr sz="1300" b="1">
                <a:solidFill>
                  <a:srgbClr val="FFFFFF"/>
                </a:solidFill>
                <a:latin typeface="Calibri"/>
              </a:rPr>
              <a:t>2</a:t>
            </a:r>
          </a:p>
        </p:txBody>
      </p:sp>
      <p:sp>
        <p:nvSpPr>
          <p:cNvPr id="11" name="TextBox 10"/>
          <p:cNvSpPr txBox="1"/>
          <p:nvPr/>
        </p:nvSpPr>
        <p:spPr>
          <a:xfrm>
            <a:off x="8458200" y="1188720"/>
            <a:ext cx="3291840" cy="219456"/>
          </a:xfrm>
          <a:prstGeom prst="rect">
            <a:avLst/>
          </a:prstGeom>
          <a:noFill/>
        </p:spPr>
        <p:txBody>
          <a:bodyPr wrap="square" anchor="t" lIns="0" rIns="0" tIns="0" bIns="0">
            <a:spAutoFit/>
          </a:bodyPr>
          <a:lstStyle/>
          <a:p>
            <a:pPr algn="l">
              <a:lnSpc>
                <a:spcPct val="115000"/>
              </a:lnSpc>
            </a:pPr>
            <a:r>
              <a:rPr sz="1000" b="1">
                <a:solidFill>
                  <a:srgbClr val="C25B2E"/>
                </a:solidFill>
                <a:latin typeface="Calibri"/>
              </a:rPr>
              <a:t>ON THIS SCREEN</a:t>
            </a:r>
          </a:p>
        </p:txBody>
      </p:sp>
      <p:sp>
        <p:nvSpPr>
          <p:cNvPr id="12" name="Oval 11"/>
          <p:cNvSpPr/>
          <p:nvPr/>
        </p:nvSpPr>
        <p:spPr>
          <a:xfrm>
            <a:off x="8458200" y="1463040"/>
            <a:ext cx="210312" cy="210312"/>
          </a:xfrm>
          <a:prstGeom prst="ellipse">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noAutofit/>
          </a:bodyPr>
          <a:lstStyle/>
          <a:p>
            <a:pPr algn="ctr">
              <a:lnSpc>
                <a:spcPct val="100000"/>
              </a:lnSpc>
            </a:pPr>
            <a:r>
              <a:rPr sz="1000" b="1">
                <a:solidFill>
                  <a:srgbClr val="FFFFFF"/>
                </a:solidFill>
                <a:latin typeface="Calibri"/>
              </a:rPr>
              <a:t>1</a:t>
            </a:r>
          </a:p>
        </p:txBody>
      </p:sp>
      <p:sp>
        <p:nvSpPr>
          <p:cNvPr id="13" name="TextBox 12"/>
          <p:cNvSpPr txBox="1"/>
          <p:nvPr/>
        </p:nvSpPr>
        <p:spPr>
          <a:xfrm>
            <a:off x="8787384" y="1481328"/>
            <a:ext cx="2962656" cy="338328"/>
          </a:xfrm>
          <a:prstGeom prst="rect">
            <a:avLst/>
          </a:prstGeom>
          <a:noFill/>
        </p:spPr>
        <p:txBody>
          <a:bodyPr wrap="square" anchor="t" lIns="0" rIns="0" tIns="0" bIns="0">
            <a:spAutoFit/>
          </a:bodyPr>
          <a:lstStyle/>
          <a:p>
            <a:pPr algn="l">
              <a:lnSpc>
                <a:spcPct val="105000"/>
              </a:lnSpc>
            </a:pPr>
            <a:r>
              <a:rPr sz="1050" b="0">
                <a:solidFill>
                  <a:srgbClr val="1B2A33"/>
                </a:solidFill>
                <a:latin typeface="Calibri"/>
              </a:rPr>
              <a:t>No owner yet — raising a ticket does not choose one</a:t>
            </a:r>
          </a:p>
        </p:txBody>
      </p:sp>
      <p:sp>
        <p:nvSpPr>
          <p:cNvPr id="14" name="Oval 13"/>
          <p:cNvSpPr/>
          <p:nvPr/>
        </p:nvSpPr>
        <p:spPr>
          <a:xfrm>
            <a:off x="8458200" y="1892808"/>
            <a:ext cx="210312" cy="210312"/>
          </a:xfrm>
          <a:prstGeom prst="ellipse">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noAutofit/>
          </a:bodyPr>
          <a:lstStyle/>
          <a:p>
            <a:pPr algn="ctr">
              <a:lnSpc>
                <a:spcPct val="100000"/>
              </a:lnSpc>
            </a:pPr>
            <a:r>
              <a:rPr sz="1000" b="1">
                <a:solidFill>
                  <a:srgbClr val="FFFFFF"/>
                </a:solidFill>
                <a:latin typeface="Calibri"/>
              </a:rPr>
              <a:t>2</a:t>
            </a:r>
          </a:p>
        </p:txBody>
      </p:sp>
      <p:sp>
        <p:nvSpPr>
          <p:cNvPr id="15" name="TextBox 14"/>
          <p:cNvSpPr txBox="1"/>
          <p:nvPr/>
        </p:nvSpPr>
        <p:spPr>
          <a:xfrm>
            <a:off x="8787384" y="1911096"/>
            <a:ext cx="2962656" cy="169164"/>
          </a:xfrm>
          <a:prstGeom prst="rect">
            <a:avLst/>
          </a:prstGeom>
          <a:noFill/>
        </p:spPr>
        <p:txBody>
          <a:bodyPr wrap="square" anchor="t" lIns="0" rIns="0" tIns="0" bIns="0">
            <a:spAutoFit/>
          </a:bodyPr>
          <a:lstStyle/>
          <a:p>
            <a:pPr algn="l">
              <a:lnSpc>
                <a:spcPct val="105000"/>
              </a:lnSpc>
            </a:pPr>
            <a:r>
              <a:rPr sz="1050" b="0">
                <a:solidFill>
                  <a:srgbClr val="1B2A33"/>
                </a:solidFill>
                <a:latin typeface="Calibri"/>
              </a:rPr>
              <a:t>Open the assign list</a:t>
            </a:r>
          </a:p>
        </p:txBody>
      </p:sp>
      <p:sp>
        <p:nvSpPr>
          <p:cNvPr id="16" name="Rectangle 15"/>
          <p:cNvSpPr/>
          <p:nvPr/>
        </p:nvSpPr>
        <p:spPr>
          <a:xfrm>
            <a:off x="8458200" y="2299716"/>
            <a:ext cx="45720" cy="502920"/>
          </a:xfrm>
          <a:prstGeom prst="rect">
            <a:avLst/>
          </a:prstGeom>
          <a:solidFill>
            <a:srgbClr val="0E4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22792" y="2299716"/>
            <a:ext cx="3127248" cy="164592"/>
          </a:xfrm>
          <a:prstGeom prst="rect">
            <a:avLst/>
          </a:prstGeom>
          <a:noFill/>
        </p:spPr>
        <p:txBody>
          <a:bodyPr wrap="square" anchor="t" lIns="0" rIns="0" tIns="0" bIns="0">
            <a:spAutoFit/>
          </a:bodyPr>
          <a:lstStyle/>
          <a:p>
            <a:pPr algn="l">
              <a:lnSpc>
                <a:spcPct val="115000"/>
              </a:lnSpc>
            </a:pPr>
            <a:r>
              <a:rPr sz="950" b="1">
                <a:solidFill>
                  <a:srgbClr val="0E4F4A"/>
                </a:solidFill>
                <a:latin typeface="Calibri"/>
              </a:rPr>
              <a:t>ACTION</a:t>
            </a:r>
          </a:p>
        </p:txBody>
      </p:sp>
      <p:sp>
        <p:nvSpPr>
          <p:cNvPr id="18" name="TextBox 17"/>
          <p:cNvSpPr txBox="1"/>
          <p:nvPr/>
        </p:nvSpPr>
        <p:spPr>
          <a:xfrm>
            <a:off x="8622792" y="2491740"/>
            <a:ext cx="3127248" cy="320040"/>
          </a:xfrm>
          <a:prstGeom prst="rect">
            <a:avLst/>
          </a:prstGeom>
          <a:noFill/>
        </p:spPr>
        <p:txBody>
          <a:bodyPr wrap="square" anchor="t" lIns="0" rIns="0" tIns="0" bIns="0">
            <a:spAutoFit/>
          </a:bodyPr>
          <a:lstStyle/>
          <a:p>
            <a:pPr algn="l">
              <a:lnSpc>
                <a:spcPct val="108000"/>
              </a:lnSpc>
            </a:pPr>
            <a:r>
              <a:rPr sz="1100" b="0">
                <a:solidFill>
                  <a:srgbClr val="1B2A33"/>
                </a:solidFill>
                <a:latin typeface="Calibri"/>
              </a:rPr>
              <a:t>Open a ticket with no owner and select Assign.</a:t>
            </a:r>
          </a:p>
        </p:txBody>
      </p:sp>
      <p:sp>
        <p:nvSpPr>
          <p:cNvPr id="19" name="Rectangle 18"/>
          <p:cNvSpPr/>
          <p:nvPr/>
        </p:nvSpPr>
        <p:spPr>
          <a:xfrm>
            <a:off x="8458200" y="3003804"/>
            <a:ext cx="45720" cy="1303020"/>
          </a:xfrm>
          <a:prstGeom prst="rect">
            <a:avLst/>
          </a:prstGeom>
          <a:solidFill>
            <a:srgbClr val="1E7A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22792" y="3003804"/>
            <a:ext cx="3127248" cy="164592"/>
          </a:xfrm>
          <a:prstGeom prst="rect">
            <a:avLst/>
          </a:prstGeom>
          <a:noFill/>
        </p:spPr>
        <p:txBody>
          <a:bodyPr wrap="square" anchor="t" lIns="0" rIns="0" tIns="0" bIns="0">
            <a:spAutoFit/>
          </a:bodyPr>
          <a:lstStyle/>
          <a:p>
            <a:pPr algn="l">
              <a:lnSpc>
                <a:spcPct val="115000"/>
              </a:lnSpc>
            </a:pPr>
            <a:r>
              <a:rPr sz="950" b="1">
                <a:solidFill>
                  <a:srgbClr val="1E7A53"/>
                </a:solidFill>
                <a:latin typeface="Calibri"/>
              </a:rPr>
              <a:t>RESULT</a:t>
            </a:r>
          </a:p>
        </p:txBody>
      </p:sp>
      <p:sp>
        <p:nvSpPr>
          <p:cNvPr id="21" name="TextBox 20"/>
          <p:cNvSpPr txBox="1"/>
          <p:nvPr/>
        </p:nvSpPr>
        <p:spPr>
          <a:xfrm>
            <a:off x="8622792" y="3195828"/>
            <a:ext cx="3127248" cy="1120140"/>
          </a:xfrm>
          <a:prstGeom prst="rect">
            <a:avLst/>
          </a:prstGeom>
          <a:noFill/>
        </p:spPr>
        <p:txBody>
          <a:bodyPr wrap="square" anchor="t" lIns="0" rIns="0" tIns="0" bIns="0">
            <a:spAutoFit/>
          </a:bodyPr>
          <a:lstStyle/>
          <a:p>
            <a:pPr algn="l">
              <a:lnSpc>
                <a:spcPct val="108000"/>
              </a:lnSpc>
            </a:pPr>
            <a:r>
              <a:rPr sz="1100" b="0">
                <a:solidFill>
                  <a:srgbClr val="1B2A33"/>
                </a:solidFill>
                <a:latin typeface="Calibri"/>
              </a:rPr>
              <a:t>Raising a ticket stamps its SLA deadlines but does not choose an owner. That is deliberate: who carries the work is a shift decision, and a machine making it at 2am is how tickets end up with whoever happens to be idlest rather than whoever should have them.</a:t>
            </a:r>
          </a:p>
        </p:txBody>
      </p:sp>
      <p:sp>
        <p:nvSpPr>
          <p:cNvPr id="22" name="Rectangle 21"/>
          <p:cNvSpPr/>
          <p:nvPr/>
        </p:nvSpPr>
        <p:spPr>
          <a:xfrm>
            <a:off x="8458200" y="4507992"/>
            <a:ext cx="45720" cy="502920"/>
          </a:xfrm>
          <a:prstGeom prst="rect">
            <a:avLst/>
          </a:prstGeom>
          <a:solidFill>
            <a:srgbClr val="5B6B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22792" y="4507992"/>
            <a:ext cx="3127248" cy="164592"/>
          </a:xfrm>
          <a:prstGeom prst="rect">
            <a:avLst/>
          </a:prstGeom>
          <a:noFill/>
        </p:spPr>
        <p:txBody>
          <a:bodyPr wrap="square" anchor="t" lIns="0" rIns="0" tIns="0" bIns="0">
            <a:spAutoFit/>
          </a:bodyPr>
          <a:lstStyle/>
          <a:p>
            <a:pPr algn="l">
              <a:lnSpc>
                <a:spcPct val="115000"/>
              </a:lnSpc>
            </a:pPr>
            <a:r>
              <a:rPr sz="950" b="1">
                <a:solidFill>
                  <a:srgbClr val="5B6B75"/>
                </a:solidFill>
                <a:latin typeface="Calibri"/>
              </a:rPr>
              <a:t>NEXT</a:t>
            </a:r>
          </a:p>
        </p:txBody>
      </p:sp>
      <p:sp>
        <p:nvSpPr>
          <p:cNvPr id="24" name="TextBox 23"/>
          <p:cNvSpPr txBox="1"/>
          <p:nvPr/>
        </p:nvSpPr>
        <p:spPr>
          <a:xfrm>
            <a:off x="8622792" y="4700016"/>
            <a:ext cx="3127248" cy="320040"/>
          </a:xfrm>
          <a:prstGeom prst="rect">
            <a:avLst/>
          </a:prstGeom>
          <a:noFill/>
        </p:spPr>
        <p:txBody>
          <a:bodyPr wrap="square" anchor="t" lIns="0" rIns="0" tIns="0" bIns="0">
            <a:spAutoFit/>
          </a:bodyPr>
          <a:lstStyle/>
          <a:p>
            <a:pPr algn="l">
              <a:lnSpc>
                <a:spcPct val="108000"/>
              </a:lnSpc>
            </a:pPr>
            <a:r>
              <a:rPr sz="1100" b="0">
                <a:solidFill>
                  <a:srgbClr val="1B2A33"/>
                </a:solidFill>
                <a:latin typeface="Calibri"/>
              </a:rPr>
              <a:t>Step 17 — pick a person, or let the router pick.</a:t>
            </a:r>
          </a:p>
        </p:txBody>
      </p:sp>
      <p:sp>
        <p:nvSpPr>
          <p:cNvPr id="25" name="Rectangle 24"/>
          <p:cNvSpPr/>
          <p:nvPr/>
        </p:nvSpPr>
        <p:spPr>
          <a:xfrm>
            <a:off x="0" y="6473952"/>
            <a:ext cx="12191695" cy="384048"/>
          </a:xfrm>
          <a:prstGeom prst="rect">
            <a:avLst/>
          </a:prstGeom>
          <a:solidFill>
            <a:srgbClr val="F3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2920" y="6547104"/>
            <a:ext cx="8229600" cy="228600"/>
          </a:xfrm>
          <a:prstGeom prst="rect">
            <a:avLst/>
          </a:prstGeom>
          <a:noFill/>
        </p:spPr>
        <p:txBody>
          <a:bodyPr wrap="square" anchor="t" lIns="0" rIns="0" tIns="0" bIns="0">
            <a:spAutoFit/>
          </a:bodyPr>
          <a:lstStyle/>
          <a:p>
            <a:pPr algn="l">
              <a:lnSpc>
                <a:spcPct val="115000"/>
              </a:lnSpc>
            </a:pPr>
            <a:r>
              <a:rPr sz="900" b="0">
                <a:solidFill>
                  <a:srgbClr val="5B6B75"/>
                </a:solidFill>
                <a:latin typeface="Calibri"/>
              </a:rPr>
              <a:t>SUCCESS Bank — Internal Ticketing · Standard Operating Procedure</a:t>
            </a:r>
          </a:p>
        </p:txBody>
      </p:sp>
      <p:sp>
        <p:nvSpPr>
          <p:cNvPr id="27" name="TextBox 26"/>
          <p:cNvSpPr txBox="1"/>
          <p:nvPr/>
        </p:nvSpPr>
        <p:spPr>
          <a:xfrm>
            <a:off x="9997135" y="6547104"/>
            <a:ext cx="1691640" cy="228600"/>
          </a:xfrm>
          <a:prstGeom prst="rect">
            <a:avLst/>
          </a:prstGeom>
          <a:noFill/>
        </p:spPr>
        <p:txBody>
          <a:bodyPr wrap="square" anchor="t" lIns="0" rIns="0" tIns="0" bIns="0">
            <a:spAutoFit/>
          </a:bodyPr>
          <a:lstStyle/>
          <a:p>
            <a:pPr algn="r">
              <a:lnSpc>
                <a:spcPct val="115000"/>
              </a:lnSpc>
            </a:pPr>
            <a:r>
              <a:rPr sz="900" b="0">
                <a:solidFill>
                  <a:srgbClr val="5B6B75"/>
                </a:solidFill>
                <a:latin typeface="Calibri"/>
              </a:rPr>
              <a:t>Step 16</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0E4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36576"/>
          </a:xfrm>
          <a:prstGeom prst="rect">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55448"/>
            <a:ext cx="1371600" cy="274320"/>
          </a:xfrm>
          <a:prstGeom prst="rect">
            <a:avLst/>
          </a:prstGeom>
          <a:noFill/>
        </p:spPr>
        <p:txBody>
          <a:bodyPr wrap="square" anchor="t" lIns="0" rIns="0" tIns="0" bIns="0">
            <a:spAutoFit/>
          </a:bodyPr>
          <a:lstStyle/>
          <a:p>
            <a:pPr algn="l">
              <a:lnSpc>
                <a:spcPct val="115000"/>
              </a:lnSpc>
            </a:pPr>
            <a:r>
              <a:rPr sz="1200" b="1">
                <a:solidFill>
                  <a:srgbClr val="C25B2E"/>
                </a:solidFill>
                <a:latin typeface="Calibri"/>
              </a:rPr>
              <a:t>STEP 17</a:t>
            </a:r>
          </a:p>
        </p:txBody>
      </p:sp>
      <p:sp>
        <p:nvSpPr>
          <p:cNvPr id="5" name="TextBox 4"/>
          <p:cNvSpPr txBox="1"/>
          <p:nvPr/>
        </p:nvSpPr>
        <p:spPr>
          <a:xfrm>
            <a:off x="502920" y="420624"/>
            <a:ext cx="8412480" cy="365760"/>
          </a:xfrm>
          <a:prstGeom prst="rect">
            <a:avLst/>
          </a:prstGeom>
          <a:noFill/>
        </p:spPr>
        <p:txBody>
          <a:bodyPr wrap="square" anchor="t" lIns="0" rIns="0" tIns="0" bIns="0">
            <a:spAutoFit/>
          </a:bodyPr>
          <a:lstStyle/>
          <a:p>
            <a:pPr algn="l">
              <a:lnSpc>
                <a:spcPct val="115000"/>
              </a:lnSpc>
            </a:pPr>
            <a:r>
              <a:rPr sz="2000" b="1">
                <a:solidFill>
                  <a:srgbClr val="FFFFFF"/>
                </a:solidFill>
                <a:latin typeface="Calibri"/>
              </a:rPr>
              <a:t>Pick a person, or let the router pick</a:t>
            </a:r>
          </a:p>
        </p:txBody>
      </p:sp>
      <p:sp>
        <p:nvSpPr>
          <p:cNvPr id="6" name="TextBox 5"/>
          <p:cNvSpPr txBox="1"/>
          <p:nvPr/>
        </p:nvSpPr>
        <p:spPr>
          <a:xfrm>
            <a:off x="9174175" y="320040"/>
            <a:ext cx="2514600" cy="274320"/>
          </a:xfrm>
          <a:prstGeom prst="rect">
            <a:avLst/>
          </a:prstGeom>
          <a:noFill/>
        </p:spPr>
        <p:txBody>
          <a:bodyPr wrap="square" anchor="t" lIns="0" rIns="0" tIns="0" bIns="0">
            <a:spAutoFit/>
          </a:bodyPr>
          <a:lstStyle/>
          <a:p>
            <a:pPr algn="r">
              <a:lnSpc>
                <a:spcPct val="115000"/>
              </a:lnSpc>
            </a:pPr>
            <a:r>
              <a:rPr sz="1100" b="1">
                <a:solidFill>
                  <a:srgbClr val="F3ECE0"/>
                </a:solidFill>
                <a:latin typeface="Calibri"/>
              </a:rPr>
              <a:t>SUPERVISOR</a:t>
            </a:r>
          </a:p>
        </p:txBody>
      </p:sp>
      <p:sp>
        <p:nvSpPr>
          <p:cNvPr id="7" name="Rectangle 6"/>
          <p:cNvSpPr/>
          <p:nvPr/>
        </p:nvSpPr>
        <p:spPr>
          <a:xfrm>
            <a:off x="388620" y="1165860"/>
            <a:ext cx="7818120" cy="4903470"/>
          </a:xfrm>
          <a:prstGeom prst="rect">
            <a:avLst/>
          </a:prstGeom>
          <a:solidFill>
            <a:srgbClr val="D6CE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411480" y="1188720"/>
            <a:ext cx="7772400" cy="4855464"/>
          </a:xfrm>
          <a:prstGeom prst="rect">
            <a:avLst/>
          </a:prstGeom>
        </p:spPr>
      </p:pic>
      <p:sp>
        <p:nvSpPr>
          <p:cNvPr id="9" name="Oval 8"/>
          <p:cNvSpPr/>
          <p:nvPr/>
        </p:nvSpPr>
        <p:spPr>
          <a:xfrm>
            <a:off x="6300169" y="4354830"/>
            <a:ext cx="274320" cy="274320"/>
          </a:xfrm>
          <a:prstGeom prst="ellipse">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noAutofit/>
          </a:bodyPr>
          <a:lstStyle/>
          <a:p>
            <a:pPr algn="ctr">
              <a:lnSpc>
                <a:spcPct val="100000"/>
              </a:lnSpc>
            </a:pPr>
            <a:r>
              <a:rPr sz="1300" b="1">
                <a:solidFill>
                  <a:srgbClr val="FFFFFF"/>
                </a:solidFill>
                <a:latin typeface="Calibri"/>
              </a:rPr>
              <a:t>1</a:t>
            </a:r>
          </a:p>
        </p:txBody>
      </p:sp>
      <p:sp>
        <p:nvSpPr>
          <p:cNvPr id="10" name="Oval 9"/>
          <p:cNvSpPr/>
          <p:nvPr/>
        </p:nvSpPr>
        <p:spPr>
          <a:xfrm>
            <a:off x="7269387" y="4549140"/>
            <a:ext cx="274320" cy="274320"/>
          </a:xfrm>
          <a:prstGeom prst="ellipse">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noAutofit/>
          </a:bodyPr>
          <a:lstStyle/>
          <a:p>
            <a:pPr algn="ctr">
              <a:lnSpc>
                <a:spcPct val="100000"/>
              </a:lnSpc>
            </a:pPr>
            <a:r>
              <a:rPr sz="1300" b="1">
                <a:solidFill>
                  <a:srgbClr val="FFFFFF"/>
                </a:solidFill>
                <a:latin typeface="Calibri"/>
              </a:rPr>
              <a:t>2</a:t>
            </a:r>
          </a:p>
        </p:txBody>
      </p:sp>
      <p:sp>
        <p:nvSpPr>
          <p:cNvPr id="11" name="Oval 10"/>
          <p:cNvSpPr/>
          <p:nvPr/>
        </p:nvSpPr>
        <p:spPr>
          <a:xfrm>
            <a:off x="6343695" y="5305005"/>
            <a:ext cx="274320" cy="274320"/>
          </a:xfrm>
          <a:prstGeom prst="ellipse">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noAutofit/>
          </a:bodyPr>
          <a:lstStyle/>
          <a:p>
            <a:pPr algn="ctr">
              <a:lnSpc>
                <a:spcPct val="100000"/>
              </a:lnSpc>
            </a:pPr>
            <a:r>
              <a:rPr sz="1300" b="1">
                <a:solidFill>
                  <a:srgbClr val="FFFFFF"/>
                </a:solidFill>
                <a:latin typeface="Calibri"/>
              </a:rPr>
              <a:t>3</a:t>
            </a:r>
          </a:p>
        </p:txBody>
      </p:sp>
      <p:sp>
        <p:nvSpPr>
          <p:cNvPr id="12" name="TextBox 11"/>
          <p:cNvSpPr txBox="1"/>
          <p:nvPr/>
        </p:nvSpPr>
        <p:spPr>
          <a:xfrm>
            <a:off x="8458200" y="1188720"/>
            <a:ext cx="3291840" cy="219456"/>
          </a:xfrm>
          <a:prstGeom prst="rect">
            <a:avLst/>
          </a:prstGeom>
          <a:noFill/>
        </p:spPr>
        <p:txBody>
          <a:bodyPr wrap="square" anchor="t" lIns="0" rIns="0" tIns="0" bIns="0">
            <a:spAutoFit/>
          </a:bodyPr>
          <a:lstStyle/>
          <a:p>
            <a:pPr algn="l">
              <a:lnSpc>
                <a:spcPct val="115000"/>
              </a:lnSpc>
            </a:pPr>
            <a:r>
              <a:rPr sz="1000" b="1">
                <a:solidFill>
                  <a:srgbClr val="C25B2E"/>
                </a:solidFill>
                <a:latin typeface="Calibri"/>
              </a:rPr>
              <a:t>ON THIS SCREEN</a:t>
            </a:r>
          </a:p>
        </p:txBody>
      </p:sp>
      <p:sp>
        <p:nvSpPr>
          <p:cNvPr id="13" name="Oval 12"/>
          <p:cNvSpPr/>
          <p:nvPr/>
        </p:nvSpPr>
        <p:spPr>
          <a:xfrm>
            <a:off x="8458200" y="1463040"/>
            <a:ext cx="210312" cy="210312"/>
          </a:xfrm>
          <a:prstGeom prst="ellipse">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noAutofit/>
          </a:bodyPr>
          <a:lstStyle/>
          <a:p>
            <a:pPr algn="ctr">
              <a:lnSpc>
                <a:spcPct val="100000"/>
              </a:lnSpc>
            </a:pPr>
            <a:r>
              <a:rPr sz="1000" b="1">
                <a:solidFill>
                  <a:srgbClr val="FFFFFF"/>
                </a:solidFill>
                <a:latin typeface="Calibri"/>
              </a:rPr>
              <a:t>1</a:t>
            </a:r>
          </a:p>
        </p:txBody>
      </p:sp>
      <p:sp>
        <p:nvSpPr>
          <p:cNvPr id="14" name="TextBox 13"/>
          <p:cNvSpPr txBox="1"/>
          <p:nvPr/>
        </p:nvSpPr>
        <p:spPr>
          <a:xfrm>
            <a:off x="8787384" y="1481328"/>
            <a:ext cx="2962656" cy="169164"/>
          </a:xfrm>
          <a:prstGeom prst="rect">
            <a:avLst/>
          </a:prstGeom>
          <a:noFill/>
        </p:spPr>
        <p:txBody>
          <a:bodyPr wrap="square" anchor="t" lIns="0" rIns="0" tIns="0" bIns="0">
            <a:spAutoFit/>
          </a:bodyPr>
          <a:lstStyle/>
          <a:p>
            <a:pPr algn="l">
              <a:lnSpc>
                <a:spcPct val="105000"/>
              </a:lnSpc>
            </a:pPr>
            <a:r>
              <a:rPr sz="1050" b="0">
                <a:solidFill>
                  <a:srgbClr val="1B2A33"/>
                </a:solidFill>
                <a:latin typeface="Calibri"/>
              </a:rPr>
              <a:t>Hand the choice to the router</a:t>
            </a:r>
          </a:p>
        </p:txBody>
      </p:sp>
      <p:sp>
        <p:nvSpPr>
          <p:cNvPr id="15" name="Oval 14"/>
          <p:cNvSpPr/>
          <p:nvPr/>
        </p:nvSpPr>
        <p:spPr>
          <a:xfrm>
            <a:off x="8458200" y="1723644"/>
            <a:ext cx="210312" cy="210312"/>
          </a:xfrm>
          <a:prstGeom prst="ellipse">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noAutofit/>
          </a:bodyPr>
          <a:lstStyle/>
          <a:p>
            <a:pPr algn="ctr">
              <a:lnSpc>
                <a:spcPct val="100000"/>
              </a:lnSpc>
            </a:pPr>
            <a:r>
              <a:rPr sz="1000" b="1">
                <a:solidFill>
                  <a:srgbClr val="FFFFFF"/>
                </a:solidFill>
                <a:latin typeface="Calibri"/>
              </a:rPr>
              <a:t>2</a:t>
            </a:r>
          </a:p>
        </p:txBody>
      </p:sp>
      <p:sp>
        <p:nvSpPr>
          <p:cNvPr id="16" name="TextBox 15"/>
          <p:cNvSpPr txBox="1"/>
          <p:nvPr/>
        </p:nvSpPr>
        <p:spPr>
          <a:xfrm>
            <a:off x="8787384" y="1741932"/>
            <a:ext cx="2962656" cy="338328"/>
          </a:xfrm>
          <a:prstGeom prst="rect">
            <a:avLst/>
          </a:prstGeom>
          <a:noFill/>
        </p:spPr>
        <p:txBody>
          <a:bodyPr wrap="square" anchor="t" lIns="0" rIns="0" tIns="0" bIns="0">
            <a:spAutoFit/>
          </a:bodyPr>
          <a:lstStyle/>
          <a:p>
            <a:pPr algn="l">
              <a:lnSpc>
                <a:spcPct val="105000"/>
              </a:lnSpc>
            </a:pPr>
            <a:r>
              <a:rPr sz="1050" b="0">
                <a:solidFill>
                  <a:srgbClr val="1B2A33"/>
                </a:solidFill>
                <a:latin typeface="Calibri"/>
              </a:rPr>
              <a:t>Each candidate's open queue — what the router ranks on</a:t>
            </a:r>
          </a:p>
        </p:txBody>
      </p:sp>
      <p:sp>
        <p:nvSpPr>
          <p:cNvPr id="17" name="Oval 16"/>
          <p:cNvSpPr/>
          <p:nvPr/>
        </p:nvSpPr>
        <p:spPr>
          <a:xfrm>
            <a:off x="8458200" y="2153412"/>
            <a:ext cx="210312" cy="210312"/>
          </a:xfrm>
          <a:prstGeom prst="ellipse">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noAutofit/>
          </a:bodyPr>
          <a:lstStyle/>
          <a:p>
            <a:pPr algn="ctr">
              <a:lnSpc>
                <a:spcPct val="100000"/>
              </a:lnSpc>
            </a:pPr>
            <a:r>
              <a:rPr sz="1000" b="1">
                <a:solidFill>
                  <a:srgbClr val="FFFFFF"/>
                </a:solidFill>
                <a:latin typeface="Calibri"/>
              </a:rPr>
              <a:t>3</a:t>
            </a:r>
          </a:p>
        </p:txBody>
      </p:sp>
      <p:sp>
        <p:nvSpPr>
          <p:cNvPr id="18" name="TextBox 17"/>
          <p:cNvSpPr txBox="1"/>
          <p:nvPr/>
        </p:nvSpPr>
        <p:spPr>
          <a:xfrm>
            <a:off x="8787384" y="2171700"/>
            <a:ext cx="2962656" cy="338328"/>
          </a:xfrm>
          <a:prstGeom prst="rect">
            <a:avLst/>
          </a:prstGeom>
          <a:noFill/>
        </p:spPr>
        <p:txBody>
          <a:bodyPr wrap="square" anchor="t" lIns="0" rIns="0" tIns="0" bIns="0">
            <a:spAutoFit/>
          </a:bodyPr>
          <a:lstStyle/>
          <a:p>
            <a:pPr algn="l">
              <a:lnSpc>
                <a:spcPct val="105000"/>
              </a:lnSpc>
            </a:pPr>
            <a:r>
              <a:rPr sz="1050" b="0">
                <a:solidFill>
                  <a:srgbClr val="1B2A33"/>
                </a:solidFill>
                <a:latin typeface="Calibri"/>
              </a:rPr>
              <a:t>Anyone on leave is marked, and sorted to the bottom</a:t>
            </a:r>
          </a:p>
        </p:txBody>
      </p:sp>
      <p:sp>
        <p:nvSpPr>
          <p:cNvPr id="19" name="Rectangle 18"/>
          <p:cNvSpPr/>
          <p:nvPr/>
        </p:nvSpPr>
        <p:spPr>
          <a:xfrm>
            <a:off x="8458200" y="2729484"/>
            <a:ext cx="45720" cy="502920"/>
          </a:xfrm>
          <a:prstGeom prst="rect">
            <a:avLst/>
          </a:prstGeom>
          <a:solidFill>
            <a:srgbClr val="0E4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22792" y="2729484"/>
            <a:ext cx="3127248" cy="164592"/>
          </a:xfrm>
          <a:prstGeom prst="rect">
            <a:avLst/>
          </a:prstGeom>
          <a:noFill/>
        </p:spPr>
        <p:txBody>
          <a:bodyPr wrap="square" anchor="t" lIns="0" rIns="0" tIns="0" bIns="0">
            <a:spAutoFit/>
          </a:bodyPr>
          <a:lstStyle/>
          <a:p>
            <a:pPr algn="l">
              <a:lnSpc>
                <a:spcPct val="115000"/>
              </a:lnSpc>
            </a:pPr>
            <a:r>
              <a:rPr sz="950" b="1">
                <a:solidFill>
                  <a:srgbClr val="0E4F4A"/>
                </a:solidFill>
                <a:latin typeface="Calibri"/>
              </a:rPr>
              <a:t>ACTION</a:t>
            </a:r>
          </a:p>
        </p:txBody>
      </p:sp>
      <p:sp>
        <p:nvSpPr>
          <p:cNvPr id="21" name="TextBox 20"/>
          <p:cNvSpPr txBox="1"/>
          <p:nvPr/>
        </p:nvSpPr>
        <p:spPr>
          <a:xfrm>
            <a:off x="8622792" y="2921508"/>
            <a:ext cx="3127248" cy="320040"/>
          </a:xfrm>
          <a:prstGeom prst="rect">
            <a:avLst/>
          </a:prstGeom>
          <a:noFill/>
        </p:spPr>
        <p:txBody>
          <a:bodyPr wrap="square" anchor="t" lIns="0" rIns="0" tIns="0" bIns="0">
            <a:spAutoFit/>
          </a:bodyPr>
          <a:lstStyle/>
          <a:p>
            <a:pPr algn="l">
              <a:lnSpc>
                <a:spcPct val="108000"/>
              </a:lnSpc>
            </a:pPr>
            <a:r>
              <a:rPr sz="1100" b="0">
                <a:solidFill>
                  <a:srgbClr val="1B2A33"/>
                </a:solidFill>
                <a:latin typeface="Calibri"/>
              </a:rPr>
              <a:t>Choose a name, or select Auto-assign to take the lightest queue.</a:t>
            </a:r>
          </a:p>
        </p:txBody>
      </p:sp>
      <p:sp>
        <p:nvSpPr>
          <p:cNvPr id="22" name="Rectangle 21"/>
          <p:cNvSpPr/>
          <p:nvPr/>
        </p:nvSpPr>
        <p:spPr>
          <a:xfrm>
            <a:off x="8458200" y="3433572"/>
            <a:ext cx="45720" cy="1463040"/>
          </a:xfrm>
          <a:prstGeom prst="rect">
            <a:avLst/>
          </a:prstGeom>
          <a:solidFill>
            <a:srgbClr val="1E7A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22792" y="3433572"/>
            <a:ext cx="3127248" cy="164592"/>
          </a:xfrm>
          <a:prstGeom prst="rect">
            <a:avLst/>
          </a:prstGeom>
          <a:noFill/>
        </p:spPr>
        <p:txBody>
          <a:bodyPr wrap="square" anchor="t" lIns="0" rIns="0" tIns="0" bIns="0">
            <a:spAutoFit/>
          </a:bodyPr>
          <a:lstStyle/>
          <a:p>
            <a:pPr algn="l">
              <a:lnSpc>
                <a:spcPct val="115000"/>
              </a:lnSpc>
            </a:pPr>
            <a:r>
              <a:rPr sz="950" b="1">
                <a:solidFill>
                  <a:srgbClr val="1E7A53"/>
                </a:solidFill>
                <a:latin typeface="Calibri"/>
              </a:rPr>
              <a:t>RESULT</a:t>
            </a:r>
          </a:p>
        </p:txBody>
      </p:sp>
      <p:sp>
        <p:nvSpPr>
          <p:cNvPr id="24" name="TextBox 23"/>
          <p:cNvSpPr txBox="1"/>
          <p:nvPr/>
        </p:nvSpPr>
        <p:spPr>
          <a:xfrm>
            <a:off x="8622792" y="3625596"/>
            <a:ext cx="3127248" cy="1280160"/>
          </a:xfrm>
          <a:prstGeom prst="rect">
            <a:avLst/>
          </a:prstGeom>
          <a:noFill/>
        </p:spPr>
        <p:txBody>
          <a:bodyPr wrap="square" anchor="t" lIns="0" rIns="0" tIns="0" bIns="0">
            <a:spAutoFit/>
          </a:bodyPr>
          <a:lstStyle/>
          <a:p>
            <a:pPr algn="l">
              <a:lnSpc>
                <a:spcPct val="108000"/>
              </a:lnSpc>
            </a:pPr>
            <a:r>
              <a:rPr sz="1100" b="0">
                <a:solidFill>
                  <a:srgbClr val="1B2A33"/>
                </a:solidFill>
                <a:latin typeface="Calibri"/>
              </a:rPr>
              <a:t>Each name shows the number of open tickets that person is already carrying — the same number the router ranks on, so you can see what you are overriding. Anyone on leave is labelled with their return date and sorted to the bottom. You can still assign to them knowingly; auto-assign will not.</a:t>
            </a:r>
          </a:p>
        </p:txBody>
      </p:sp>
      <p:sp>
        <p:nvSpPr>
          <p:cNvPr id="25" name="Rectangle 24"/>
          <p:cNvSpPr/>
          <p:nvPr/>
        </p:nvSpPr>
        <p:spPr>
          <a:xfrm>
            <a:off x="8458200" y="5097780"/>
            <a:ext cx="45720" cy="342900"/>
          </a:xfrm>
          <a:prstGeom prst="rect">
            <a:avLst/>
          </a:prstGeom>
          <a:solidFill>
            <a:srgbClr val="5B6B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622792" y="5097780"/>
            <a:ext cx="3127248" cy="164592"/>
          </a:xfrm>
          <a:prstGeom prst="rect">
            <a:avLst/>
          </a:prstGeom>
          <a:noFill/>
        </p:spPr>
        <p:txBody>
          <a:bodyPr wrap="square" anchor="t" lIns="0" rIns="0" tIns="0" bIns="0">
            <a:spAutoFit/>
          </a:bodyPr>
          <a:lstStyle/>
          <a:p>
            <a:pPr algn="l">
              <a:lnSpc>
                <a:spcPct val="115000"/>
              </a:lnSpc>
            </a:pPr>
            <a:r>
              <a:rPr sz="950" b="1">
                <a:solidFill>
                  <a:srgbClr val="5B6B75"/>
                </a:solidFill>
                <a:latin typeface="Calibri"/>
              </a:rPr>
              <a:t>NEXT</a:t>
            </a:r>
          </a:p>
        </p:txBody>
      </p:sp>
      <p:sp>
        <p:nvSpPr>
          <p:cNvPr id="27" name="TextBox 26"/>
          <p:cNvSpPr txBox="1"/>
          <p:nvPr/>
        </p:nvSpPr>
        <p:spPr>
          <a:xfrm>
            <a:off x="8622792" y="5289804"/>
            <a:ext cx="3127248" cy="160020"/>
          </a:xfrm>
          <a:prstGeom prst="rect">
            <a:avLst/>
          </a:prstGeom>
          <a:noFill/>
        </p:spPr>
        <p:txBody>
          <a:bodyPr wrap="square" anchor="t" lIns="0" rIns="0" tIns="0" bIns="0">
            <a:spAutoFit/>
          </a:bodyPr>
          <a:lstStyle/>
          <a:p>
            <a:pPr algn="l">
              <a:lnSpc>
                <a:spcPct val="108000"/>
              </a:lnSpc>
            </a:pPr>
            <a:r>
              <a:rPr sz="1100" b="0">
                <a:solidFill>
                  <a:srgbClr val="1B2A33"/>
                </a:solidFill>
                <a:latin typeface="Calibri"/>
              </a:rPr>
              <a:t>The agent picks it up from their queue.</a:t>
            </a:r>
          </a:p>
        </p:txBody>
      </p:sp>
      <p:sp>
        <p:nvSpPr>
          <p:cNvPr id="28" name="Rectangle 27"/>
          <p:cNvSpPr/>
          <p:nvPr/>
        </p:nvSpPr>
        <p:spPr>
          <a:xfrm>
            <a:off x="411480" y="6119622"/>
            <a:ext cx="7772400" cy="317754"/>
          </a:xfrm>
          <a:prstGeom prst="rect">
            <a:avLst/>
          </a:prstGeom>
          <a:solidFill>
            <a:srgbClr val="F3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76072" y="6183630"/>
            <a:ext cx="7443216" cy="208026"/>
          </a:xfrm>
          <a:prstGeom prst="rect">
            <a:avLst/>
          </a:prstGeom>
          <a:noFill/>
        </p:spPr>
        <p:txBody>
          <a:bodyPr wrap="square" anchor="ctr" lIns="0" rIns="0" tIns="0" bIns="0">
            <a:spAutoFit/>
          </a:bodyPr>
          <a:lstStyle/>
          <a:p>
            <a:pPr algn="l">
              <a:lnSpc>
                <a:spcPct val="115000"/>
              </a:lnSpc>
            </a:pPr>
            <a:r>
              <a:rPr sz="1000" b="0">
                <a:solidFill>
                  <a:srgbClr val="1B2A33"/>
                </a:solidFill>
                <a:latin typeface="Calibri"/>
              </a:rPr>
              <a:t>Auto-assign is supervisor and above; an agent may assign a specific ticket.</a:t>
            </a:r>
          </a:p>
        </p:txBody>
      </p:sp>
      <p:sp>
        <p:nvSpPr>
          <p:cNvPr id="30" name="Rectangle 29"/>
          <p:cNvSpPr/>
          <p:nvPr/>
        </p:nvSpPr>
        <p:spPr>
          <a:xfrm>
            <a:off x="0" y="6473952"/>
            <a:ext cx="12191695" cy="384048"/>
          </a:xfrm>
          <a:prstGeom prst="rect">
            <a:avLst/>
          </a:prstGeom>
          <a:solidFill>
            <a:srgbClr val="F3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2920" y="6547104"/>
            <a:ext cx="8229600" cy="228600"/>
          </a:xfrm>
          <a:prstGeom prst="rect">
            <a:avLst/>
          </a:prstGeom>
          <a:noFill/>
        </p:spPr>
        <p:txBody>
          <a:bodyPr wrap="square" anchor="t" lIns="0" rIns="0" tIns="0" bIns="0">
            <a:spAutoFit/>
          </a:bodyPr>
          <a:lstStyle/>
          <a:p>
            <a:pPr algn="l">
              <a:lnSpc>
                <a:spcPct val="115000"/>
              </a:lnSpc>
            </a:pPr>
            <a:r>
              <a:rPr sz="900" b="0">
                <a:solidFill>
                  <a:srgbClr val="5B6B75"/>
                </a:solidFill>
                <a:latin typeface="Calibri"/>
              </a:rPr>
              <a:t>SUCCESS Bank — Internal Ticketing · Standard Operating Procedure</a:t>
            </a:r>
          </a:p>
        </p:txBody>
      </p:sp>
      <p:sp>
        <p:nvSpPr>
          <p:cNvPr id="32" name="TextBox 31"/>
          <p:cNvSpPr txBox="1"/>
          <p:nvPr/>
        </p:nvSpPr>
        <p:spPr>
          <a:xfrm>
            <a:off x="9997135" y="6547104"/>
            <a:ext cx="1691640" cy="228600"/>
          </a:xfrm>
          <a:prstGeom prst="rect">
            <a:avLst/>
          </a:prstGeom>
          <a:noFill/>
        </p:spPr>
        <p:txBody>
          <a:bodyPr wrap="square" anchor="t" lIns="0" rIns="0" tIns="0" bIns="0">
            <a:spAutoFit/>
          </a:bodyPr>
          <a:lstStyle/>
          <a:p>
            <a:pPr algn="r">
              <a:lnSpc>
                <a:spcPct val="115000"/>
              </a:lnSpc>
            </a:pPr>
            <a:r>
              <a:rPr sz="900" b="0">
                <a:solidFill>
                  <a:srgbClr val="5B6B75"/>
                </a:solidFill>
                <a:latin typeface="Calibri"/>
              </a:rPr>
              <a:t>Step 17</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0E4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82880"/>
            <a:ext cx="10515600" cy="320040"/>
          </a:xfrm>
          <a:prstGeom prst="rect">
            <a:avLst/>
          </a:prstGeom>
          <a:noFill/>
        </p:spPr>
        <p:txBody>
          <a:bodyPr wrap="square" anchor="t" lIns="0" rIns="0" tIns="0" bIns="0">
            <a:spAutoFit/>
          </a:bodyPr>
          <a:lstStyle/>
          <a:p>
            <a:pPr algn="l">
              <a:lnSpc>
                <a:spcPct val="115000"/>
              </a:lnSpc>
            </a:pPr>
            <a:r>
              <a:rPr sz="2300" b="1">
                <a:solidFill>
                  <a:srgbClr val="FFFFFF"/>
                </a:solidFill>
                <a:latin typeface="Calibri"/>
              </a:rPr>
              <a:t>What the router actually does</a:t>
            </a:r>
          </a:p>
        </p:txBody>
      </p:sp>
      <p:sp>
        <p:nvSpPr>
          <p:cNvPr id="4" name="TextBox 3"/>
          <p:cNvSpPr txBox="1"/>
          <p:nvPr/>
        </p:nvSpPr>
        <p:spPr>
          <a:xfrm>
            <a:off x="502920" y="548640"/>
            <a:ext cx="10515600" cy="256032"/>
          </a:xfrm>
          <a:prstGeom prst="rect">
            <a:avLst/>
          </a:prstGeom>
          <a:noFill/>
        </p:spPr>
        <p:txBody>
          <a:bodyPr wrap="square" anchor="t" lIns="0" rIns="0" tIns="0" bIns="0">
            <a:spAutoFit/>
          </a:bodyPr>
          <a:lstStyle/>
          <a:p>
            <a:pPr algn="l">
              <a:lnSpc>
                <a:spcPct val="115000"/>
              </a:lnSpc>
            </a:pPr>
            <a:r>
              <a:rPr sz="1150" b="0">
                <a:solidFill>
                  <a:srgbClr val="F3ECE0"/>
                </a:solidFill>
                <a:latin typeface="Calibri"/>
              </a:rPr>
              <a:t>Three steps, and it stops at the first that yields somebody</a:t>
            </a:r>
          </a:p>
        </p:txBody>
      </p:sp>
      <p:sp>
        <p:nvSpPr>
          <p:cNvPr id="5" name="TextBox 4"/>
          <p:cNvSpPr txBox="1"/>
          <p:nvPr/>
        </p:nvSpPr>
        <p:spPr>
          <a:xfrm>
            <a:off x="566928" y="1188720"/>
            <a:ext cx="11064240" cy="457200"/>
          </a:xfrm>
          <a:prstGeom prst="rect">
            <a:avLst/>
          </a:prstGeom>
          <a:noFill/>
        </p:spPr>
        <p:txBody>
          <a:bodyPr wrap="square" anchor="t" lIns="0" rIns="0" tIns="0" bIns="0">
            <a:spAutoFit/>
          </a:bodyPr>
          <a:lstStyle/>
          <a:p>
            <a:pPr algn="l">
              <a:lnSpc>
                <a:spcPct val="125000"/>
              </a:lnSpc>
            </a:pPr>
            <a:r>
              <a:rPr sz="1250" b="0">
                <a:solidFill>
                  <a:srgbClr val="1B2A33"/>
                </a:solidFill>
                <a:latin typeface="Calibri"/>
              </a:rPr>
              <a:t>Auto-assign is not a black box. It runs the same search every time, and each step falls through to the next rather than failing.</a:t>
            </a:r>
          </a:p>
        </p:txBody>
      </p:sp>
      <p:sp>
        <p:nvSpPr>
          <p:cNvPr id="6" name="Rectangle 5"/>
          <p:cNvSpPr/>
          <p:nvPr/>
        </p:nvSpPr>
        <p:spPr>
          <a:xfrm>
            <a:off x="566928" y="1828800"/>
            <a:ext cx="11064240" cy="731520"/>
          </a:xfrm>
          <a:prstGeom prst="rect">
            <a:avLst/>
          </a:prstGeom>
          <a:solidFill>
            <a:srgbClr val="F3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38528"/>
            <a:ext cx="3291840" cy="274320"/>
          </a:xfrm>
          <a:prstGeom prst="rect">
            <a:avLst/>
          </a:prstGeom>
          <a:noFill/>
        </p:spPr>
        <p:txBody>
          <a:bodyPr wrap="square" anchor="t" lIns="0" rIns="0" tIns="0" bIns="0">
            <a:spAutoFit/>
          </a:bodyPr>
          <a:lstStyle/>
          <a:p>
            <a:pPr algn="l">
              <a:lnSpc>
                <a:spcPct val="115000"/>
              </a:lnSpc>
            </a:pPr>
            <a:r>
              <a:rPr sz="1250" b="1">
                <a:solidFill>
                  <a:srgbClr val="0E4F4A"/>
                </a:solidFill>
                <a:latin typeface="Calibri"/>
              </a:rPr>
              <a:t>1 — A category rule</a:t>
            </a:r>
          </a:p>
        </p:txBody>
      </p:sp>
      <p:sp>
        <p:nvSpPr>
          <p:cNvPr id="8" name="TextBox 7"/>
          <p:cNvSpPr txBox="1"/>
          <p:nvPr/>
        </p:nvSpPr>
        <p:spPr>
          <a:xfrm>
            <a:off x="4206240" y="1938528"/>
            <a:ext cx="7223760" cy="548640"/>
          </a:xfrm>
          <a:prstGeom prst="rect">
            <a:avLst/>
          </a:prstGeom>
          <a:noFill/>
        </p:spPr>
        <p:txBody>
          <a:bodyPr wrap="square" anchor="t" lIns="0" rIns="0" tIns="0" bIns="0">
            <a:spAutoFit/>
          </a:bodyPr>
          <a:lstStyle/>
          <a:p>
            <a:pPr algn="l">
              <a:lnSpc>
                <a:spcPct val="120000"/>
              </a:lnSpc>
            </a:pPr>
            <a:r>
              <a:rPr sz="1150" b="0">
                <a:solidFill>
                  <a:srgbClr val="1B2A33"/>
                </a:solidFill>
                <a:latin typeface="Calibri"/>
              </a:rPr>
              <a:t>If a rule names an owner for this category, they get it. Optional: most categories have none.</a:t>
            </a:r>
          </a:p>
        </p:txBody>
      </p:sp>
      <p:sp>
        <p:nvSpPr>
          <p:cNvPr id="9" name="Rectangle 8"/>
          <p:cNvSpPr/>
          <p:nvPr/>
        </p:nvSpPr>
        <p:spPr>
          <a:xfrm>
            <a:off x="566928" y="2670048"/>
            <a:ext cx="11064240" cy="731520"/>
          </a:xfrm>
          <a:prstGeom prst="rect">
            <a:avLst/>
          </a:prstGeom>
          <a:solidFill>
            <a:srgbClr val="F3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779776"/>
            <a:ext cx="3291840" cy="274320"/>
          </a:xfrm>
          <a:prstGeom prst="rect">
            <a:avLst/>
          </a:prstGeom>
          <a:noFill/>
        </p:spPr>
        <p:txBody>
          <a:bodyPr wrap="square" anchor="t" lIns="0" rIns="0" tIns="0" bIns="0">
            <a:spAutoFit/>
          </a:bodyPr>
          <a:lstStyle/>
          <a:p>
            <a:pPr algn="l">
              <a:lnSpc>
                <a:spcPct val="115000"/>
              </a:lnSpc>
            </a:pPr>
            <a:r>
              <a:rPr sz="1250" b="1">
                <a:solidFill>
                  <a:srgbClr val="0E4F4A"/>
                </a:solidFill>
                <a:latin typeface="Calibri"/>
              </a:rPr>
              <a:t>2 — Someone in the ticket's branch</a:t>
            </a:r>
          </a:p>
        </p:txBody>
      </p:sp>
      <p:sp>
        <p:nvSpPr>
          <p:cNvPr id="11" name="TextBox 10"/>
          <p:cNvSpPr txBox="1"/>
          <p:nvPr/>
        </p:nvSpPr>
        <p:spPr>
          <a:xfrm>
            <a:off x="4206240" y="2779776"/>
            <a:ext cx="7223760" cy="548640"/>
          </a:xfrm>
          <a:prstGeom prst="rect">
            <a:avLst/>
          </a:prstGeom>
          <a:noFill/>
        </p:spPr>
        <p:txBody>
          <a:bodyPr wrap="square" anchor="t" lIns="0" rIns="0" tIns="0" bIns="0">
            <a:spAutoFit/>
          </a:bodyPr>
          <a:lstStyle/>
          <a:p>
            <a:pPr algn="l">
              <a:lnSpc>
                <a:spcPct val="120000"/>
              </a:lnSpc>
            </a:pPr>
            <a:r>
              <a:rPr sz="1150" b="0">
                <a:solidFill>
                  <a:srgbClr val="1B2A33"/>
                </a:solidFill>
                <a:latin typeface="Calibri"/>
              </a:rPr>
              <a:t>Of the people left, whoever in that branch is carrying the fewest open tickets.</a:t>
            </a:r>
          </a:p>
        </p:txBody>
      </p:sp>
      <p:sp>
        <p:nvSpPr>
          <p:cNvPr id="12" name="Rectangle 11"/>
          <p:cNvSpPr/>
          <p:nvPr/>
        </p:nvSpPr>
        <p:spPr>
          <a:xfrm>
            <a:off x="566928" y="3511296"/>
            <a:ext cx="11064240" cy="731520"/>
          </a:xfrm>
          <a:prstGeom prst="rect">
            <a:avLst/>
          </a:prstGeom>
          <a:solidFill>
            <a:srgbClr val="F3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3621024"/>
            <a:ext cx="3291840" cy="274320"/>
          </a:xfrm>
          <a:prstGeom prst="rect">
            <a:avLst/>
          </a:prstGeom>
          <a:noFill/>
        </p:spPr>
        <p:txBody>
          <a:bodyPr wrap="square" anchor="t" lIns="0" rIns="0" tIns="0" bIns="0">
            <a:spAutoFit/>
          </a:bodyPr>
          <a:lstStyle/>
          <a:p>
            <a:pPr algn="l">
              <a:lnSpc>
                <a:spcPct val="115000"/>
              </a:lnSpc>
            </a:pPr>
            <a:r>
              <a:rPr sz="1250" b="1">
                <a:solidFill>
                  <a:srgbClr val="0E4F4A"/>
                </a:solidFill>
                <a:latin typeface="Calibri"/>
              </a:rPr>
              <a:t>3 — Anyone assignable</a:t>
            </a:r>
          </a:p>
        </p:txBody>
      </p:sp>
      <p:sp>
        <p:nvSpPr>
          <p:cNvPr id="14" name="TextBox 13"/>
          <p:cNvSpPr txBox="1"/>
          <p:nvPr/>
        </p:nvSpPr>
        <p:spPr>
          <a:xfrm>
            <a:off x="4206240" y="3621024"/>
            <a:ext cx="7223760" cy="548640"/>
          </a:xfrm>
          <a:prstGeom prst="rect">
            <a:avLst/>
          </a:prstGeom>
          <a:noFill/>
        </p:spPr>
        <p:txBody>
          <a:bodyPr wrap="square" anchor="t" lIns="0" rIns="0" tIns="0" bIns="0">
            <a:spAutoFit/>
          </a:bodyPr>
          <a:lstStyle/>
          <a:p>
            <a:pPr algn="l">
              <a:lnSpc>
                <a:spcPct val="120000"/>
              </a:lnSpc>
            </a:pPr>
            <a:r>
              <a:rPr sz="1150" b="0">
                <a:solidFill>
                  <a:srgbClr val="1B2A33"/>
                </a:solidFill>
                <a:latin typeface="Calibri"/>
              </a:rPr>
              <a:t>Failing both, the lightest open queue anywhere.</a:t>
            </a:r>
          </a:p>
        </p:txBody>
      </p:sp>
      <p:sp>
        <p:nvSpPr>
          <p:cNvPr id="15" name="TextBox 14"/>
          <p:cNvSpPr txBox="1"/>
          <p:nvPr/>
        </p:nvSpPr>
        <p:spPr>
          <a:xfrm>
            <a:off x="566928" y="4480560"/>
            <a:ext cx="11064240" cy="256032"/>
          </a:xfrm>
          <a:prstGeom prst="rect">
            <a:avLst/>
          </a:prstGeom>
          <a:noFill/>
        </p:spPr>
        <p:txBody>
          <a:bodyPr wrap="square" anchor="t" lIns="0" rIns="0" tIns="0" bIns="0">
            <a:spAutoFit/>
          </a:bodyPr>
          <a:lstStyle/>
          <a:p>
            <a:pPr algn="l">
              <a:lnSpc>
                <a:spcPct val="115000"/>
              </a:lnSpc>
            </a:pPr>
            <a:r>
              <a:rPr sz="1050" b="1">
                <a:solidFill>
                  <a:srgbClr val="C25B2E"/>
                </a:solidFill>
                <a:latin typeface="Calibri"/>
              </a:rPr>
              <a:t>TWO RULES THAT HOLD AT EVERY STEP</a:t>
            </a:r>
          </a:p>
        </p:txBody>
      </p:sp>
      <p:sp>
        <p:nvSpPr>
          <p:cNvPr id="16" name="Rectangle 15"/>
          <p:cNvSpPr/>
          <p:nvPr/>
        </p:nvSpPr>
        <p:spPr>
          <a:xfrm>
            <a:off x="566928" y="4773168"/>
            <a:ext cx="11064240" cy="676656"/>
          </a:xfrm>
          <a:prstGeom prst="rect">
            <a:avLst/>
          </a:prstGeom>
          <a:solidFill>
            <a:srgbClr val="F3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4846320"/>
            <a:ext cx="10607040" cy="219456"/>
          </a:xfrm>
          <a:prstGeom prst="rect">
            <a:avLst/>
          </a:prstGeom>
          <a:noFill/>
        </p:spPr>
        <p:txBody>
          <a:bodyPr wrap="square" anchor="t" lIns="0" rIns="0" tIns="0" bIns="0">
            <a:spAutoFit/>
          </a:bodyPr>
          <a:lstStyle/>
          <a:p>
            <a:pPr algn="l">
              <a:lnSpc>
                <a:spcPct val="115000"/>
              </a:lnSpc>
            </a:pPr>
            <a:r>
              <a:rPr sz="1200" b="1">
                <a:solidFill>
                  <a:srgbClr val="0E4F4A"/>
                </a:solidFill>
                <a:latin typeface="Calibri"/>
              </a:rPr>
              <a:t>Agents before supervisors</a:t>
            </a:r>
          </a:p>
        </p:txBody>
      </p:sp>
      <p:sp>
        <p:nvSpPr>
          <p:cNvPr id="18" name="TextBox 17"/>
          <p:cNvSpPr txBox="1"/>
          <p:nvPr/>
        </p:nvSpPr>
        <p:spPr>
          <a:xfrm>
            <a:off x="822960" y="5084064"/>
            <a:ext cx="10607040" cy="329184"/>
          </a:xfrm>
          <a:prstGeom prst="rect">
            <a:avLst/>
          </a:prstGeom>
          <a:noFill/>
        </p:spPr>
        <p:txBody>
          <a:bodyPr wrap="square" anchor="t" lIns="0" rIns="0" tIns="0" bIns="0">
            <a:spAutoFit/>
          </a:bodyPr>
          <a:lstStyle/>
          <a:p>
            <a:pPr algn="l">
              <a:lnSpc>
                <a:spcPct val="115000"/>
              </a:lnSpc>
            </a:pPr>
            <a:r>
              <a:rPr sz="1050" b="0">
                <a:solidFill>
                  <a:srgbClr val="5B6B75"/>
                </a:solidFill>
                <a:latin typeface="Calibri"/>
              </a:rPr>
              <a:t>Ranking on workload alone sends everything to whoever is idlest, which is reliably a supervisor — they carry no queue of their own — and frontline work would skip the agents entirely.</a:t>
            </a:r>
          </a:p>
        </p:txBody>
      </p:sp>
      <p:sp>
        <p:nvSpPr>
          <p:cNvPr id="19" name="Rectangle 18"/>
          <p:cNvSpPr/>
          <p:nvPr/>
        </p:nvSpPr>
        <p:spPr>
          <a:xfrm>
            <a:off x="566928" y="5559552"/>
            <a:ext cx="11064240" cy="676656"/>
          </a:xfrm>
          <a:prstGeom prst="rect">
            <a:avLst/>
          </a:prstGeom>
          <a:solidFill>
            <a:srgbClr val="F3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5632704"/>
            <a:ext cx="10607040" cy="219456"/>
          </a:xfrm>
          <a:prstGeom prst="rect">
            <a:avLst/>
          </a:prstGeom>
          <a:noFill/>
        </p:spPr>
        <p:txBody>
          <a:bodyPr wrap="square" anchor="t" lIns="0" rIns="0" tIns="0" bIns="0">
            <a:spAutoFit/>
          </a:bodyPr>
          <a:lstStyle/>
          <a:p>
            <a:pPr algn="l">
              <a:lnSpc>
                <a:spcPct val="115000"/>
              </a:lnSpc>
            </a:pPr>
            <a:r>
              <a:rPr sz="1200" b="1">
                <a:solidFill>
                  <a:srgbClr val="0E4F4A"/>
                </a:solidFill>
                <a:latin typeface="Calibri"/>
              </a:rPr>
              <a:t>Nobody on leave, ever</a:t>
            </a:r>
          </a:p>
        </p:txBody>
      </p:sp>
      <p:sp>
        <p:nvSpPr>
          <p:cNvPr id="21" name="TextBox 20"/>
          <p:cNvSpPr txBox="1"/>
          <p:nvPr/>
        </p:nvSpPr>
        <p:spPr>
          <a:xfrm>
            <a:off x="822960" y="5870448"/>
            <a:ext cx="10607040" cy="329184"/>
          </a:xfrm>
          <a:prstGeom prst="rect">
            <a:avLst/>
          </a:prstGeom>
          <a:noFill/>
        </p:spPr>
        <p:txBody>
          <a:bodyPr wrap="square" anchor="t" lIns="0" rIns="0" tIns="0" bIns="0">
            <a:spAutoFit/>
          </a:bodyPr>
          <a:lstStyle/>
          <a:p>
            <a:pPr algn="l">
              <a:lnSpc>
                <a:spcPct val="115000"/>
              </a:lnSpc>
            </a:pPr>
            <a:r>
              <a:rPr sz="1050" b="0">
                <a:solidFill>
                  <a:srgbClr val="5B6B75"/>
                </a:solidFill>
                <a:latin typeface="Calibri"/>
              </a:rPr>
              <a:t>A category rule naming someone who is away is skipped rather than obeyed. Parking tickets on an absent person is worse than having no rule.</a:t>
            </a:r>
          </a:p>
        </p:txBody>
      </p:sp>
      <p:sp>
        <p:nvSpPr>
          <p:cNvPr id="22" name="Rectangle 21"/>
          <p:cNvSpPr/>
          <p:nvPr/>
        </p:nvSpPr>
        <p:spPr>
          <a:xfrm>
            <a:off x="0" y="6473952"/>
            <a:ext cx="12191695" cy="384048"/>
          </a:xfrm>
          <a:prstGeom prst="rect">
            <a:avLst/>
          </a:prstGeom>
          <a:solidFill>
            <a:srgbClr val="F3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2920" y="6547104"/>
            <a:ext cx="8229600" cy="228600"/>
          </a:xfrm>
          <a:prstGeom prst="rect">
            <a:avLst/>
          </a:prstGeom>
          <a:noFill/>
        </p:spPr>
        <p:txBody>
          <a:bodyPr wrap="square" anchor="t" lIns="0" rIns="0" tIns="0" bIns="0">
            <a:spAutoFit/>
          </a:bodyPr>
          <a:lstStyle/>
          <a:p>
            <a:pPr algn="l">
              <a:lnSpc>
                <a:spcPct val="115000"/>
              </a:lnSpc>
            </a:pPr>
            <a:r>
              <a:rPr sz="900" b="0">
                <a:solidFill>
                  <a:srgbClr val="5B6B75"/>
                </a:solidFill>
                <a:latin typeface="Calibri"/>
              </a:rPr>
              <a:t>SUCCESS Bank — Internal Ticketing · Standard Operating Procedure</a:t>
            </a:r>
          </a:p>
        </p:txBody>
      </p:sp>
      <p:sp>
        <p:nvSpPr>
          <p:cNvPr id="24" name="TextBox 23"/>
          <p:cNvSpPr txBox="1"/>
          <p:nvPr/>
        </p:nvSpPr>
        <p:spPr>
          <a:xfrm>
            <a:off x="9997135" y="6547104"/>
            <a:ext cx="1691640" cy="228600"/>
          </a:xfrm>
          <a:prstGeom prst="rect">
            <a:avLst/>
          </a:prstGeom>
          <a:noFill/>
        </p:spPr>
        <p:txBody>
          <a:bodyPr wrap="square" anchor="t" lIns="0" rIns="0" tIns="0" bIns="0">
            <a:spAutoFit/>
          </a:bodyPr>
          <a:lstStyle/>
          <a:p>
            <a:pPr algn="r">
              <a:lnSpc>
                <a:spcPct val="115000"/>
              </a:lnSpc>
            </a:pPr>
            <a:r>
              <a:rPr sz="900" b="0">
                <a:solidFill>
                  <a:srgbClr val="5B6B75"/>
                </a:solidFill>
                <a:latin typeface="Calibri"/>
              </a:rPr>
              <a:t>Supervisor</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0E4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82880"/>
            <a:ext cx="10515600" cy="320040"/>
          </a:xfrm>
          <a:prstGeom prst="rect">
            <a:avLst/>
          </a:prstGeom>
          <a:noFill/>
        </p:spPr>
        <p:txBody>
          <a:bodyPr wrap="square" anchor="t" lIns="0" rIns="0" tIns="0" bIns="0">
            <a:spAutoFit/>
          </a:bodyPr>
          <a:lstStyle/>
          <a:p>
            <a:pPr algn="l">
              <a:lnSpc>
                <a:spcPct val="115000"/>
              </a:lnSpc>
            </a:pPr>
            <a:r>
              <a:rPr sz="2300" b="1">
                <a:solidFill>
                  <a:srgbClr val="FFFFFF"/>
                </a:solidFill>
                <a:latin typeface="Calibri"/>
              </a:rPr>
              <a:t>The ticket nobody picked up</a:t>
            </a:r>
          </a:p>
        </p:txBody>
      </p:sp>
      <p:sp>
        <p:nvSpPr>
          <p:cNvPr id="4" name="TextBox 3"/>
          <p:cNvSpPr txBox="1"/>
          <p:nvPr/>
        </p:nvSpPr>
        <p:spPr>
          <a:xfrm>
            <a:off x="502920" y="548640"/>
            <a:ext cx="10515600" cy="256032"/>
          </a:xfrm>
          <a:prstGeom prst="rect">
            <a:avLst/>
          </a:prstGeom>
          <a:noFill/>
        </p:spPr>
        <p:txBody>
          <a:bodyPr wrap="square" anchor="t" lIns="0" rIns="0" tIns="0" bIns="0">
            <a:spAutoFit/>
          </a:bodyPr>
          <a:lstStyle/>
          <a:p>
            <a:pPr algn="l">
              <a:lnSpc>
                <a:spcPct val="115000"/>
              </a:lnSpc>
            </a:pPr>
            <a:r>
              <a:rPr sz="1150" b="0">
                <a:solidFill>
                  <a:srgbClr val="F3ECE0"/>
                </a:solidFill>
                <a:latin typeface="Calibri"/>
              </a:rPr>
              <a:t>Why moving assignment to a person does not risk the SLA</a:t>
            </a:r>
          </a:p>
        </p:txBody>
      </p:sp>
      <p:sp>
        <p:nvSpPr>
          <p:cNvPr id="5" name="Rectangle 4"/>
          <p:cNvSpPr/>
          <p:nvPr/>
        </p:nvSpPr>
        <p:spPr>
          <a:xfrm>
            <a:off x="548640" y="1234440"/>
            <a:ext cx="11064240" cy="1188720"/>
          </a:xfrm>
          <a:prstGeom prst="rect">
            <a:avLst/>
          </a:prstGeom>
          <a:solidFill>
            <a:srgbClr val="F3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234440"/>
            <a:ext cx="54864" cy="1188720"/>
          </a:xfrm>
          <a:prstGeom prst="rect">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444752"/>
            <a:ext cx="10424160" cy="822960"/>
          </a:xfrm>
          <a:prstGeom prst="rect">
            <a:avLst/>
          </a:prstGeom>
          <a:noFill/>
        </p:spPr>
        <p:txBody>
          <a:bodyPr wrap="square" anchor="t" lIns="0" rIns="0" tIns="0" bIns="0">
            <a:spAutoFit/>
          </a:bodyPr>
          <a:lstStyle/>
          <a:p>
            <a:pPr algn="l">
              <a:lnSpc>
                <a:spcPct val="130000"/>
              </a:lnSpc>
            </a:pPr>
            <a:r>
              <a:rPr sz="1300" b="0">
                <a:solidFill>
                  <a:srgbClr val="1B2A33"/>
                </a:solidFill>
                <a:latin typeface="Calibri"/>
              </a:rPr>
              <a:t>SLA deadlines are stamped when the ticket is raised, and the clock runs from that moment. If assignment waited for a person and nobody was on shift, a ticket raised overnight could breach — and then escalate — without ever having had an owner.</a:t>
            </a:r>
          </a:p>
        </p:txBody>
      </p:sp>
      <p:sp>
        <p:nvSpPr>
          <p:cNvPr id="8" name="Rectangle 7"/>
          <p:cNvSpPr/>
          <p:nvPr/>
        </p:nvSpPr>
        <p:spPr>
          <a:xfrm>
            <a:off x="548640" y="2743200"/>
            <a:ext cx="11064240" cy="731520"/>
          </a:xfrm>
          <a:prstGeom prst="rect">
            <a:avLst/>
          </a:prstGeom>
          <a:solidFill>
            <a:srgbClr val="FFFFFF"/>
          </a:solidFill>
          <a:ln w="12700">
            <a:solidFill>
              <a:srgbClr val="D6CE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852928"/>
            <a:ext cx="2743200" cy="274320"/>
          </a:xfrm>
          <a:prstGeom prst="rect">
            <a:avLst/>
          </a:prstGeom>
          <a:noFill/>
        </p:spPr>
        <p:txBody>
          <a:bodyPr wrap="square" anchor="t" lIns="0" rIns="0" tIns="0" bIns="0">
            <a:spAutoFit/>
          </a:bodyPr>
          <a:lstStyle/>
          <a:p>
            <a:pPr algn="l">
              <a:lnSpc>
                <a:spcPct val="115000"/>
              </a:lnSpc>
            </a:pPr>
            <a:r>
              <a:rPr sz="1250" b="1">
                <a:solidFill>
                  <a:srgbClr val="0E4F4A"/>
                </a:solidFill>
                <a:latin typeface="Calibri"/>
              </a:rPr>
              <a:t>The safety net</a:t>
            </a:r>
          </a:p>
        </p:txBody>
      </p:sp>
      <p:sp>
        <p:nvSpPr>
          <p:cNvPr id="10" name="TextBox 9"/>
          <p:cNvSpPr txBox="1"/>
          <p:nvPr/>
        </p:nvSpPr>
        <p:spPr>
          <a:xfrm>
            <a:off x="3566160" y="2852928"/>
            <a:ext cx="7863840" cy="548640"/>
          </a:xfrm>
          <a:prstGeom prst="rect">
            <a:avLst/>
          </a:prstGeom>
          <a:noFill/>
        </p:spPr>
        <p:txBody>
          <a:bodyPr wrap="square" anchor="t" lIns="0" rIns="0" tIns="0" bIns="0">
            <a:spAutoFit/>
          </a:bodyPr>
          <a:lstStyle/>
          <a:p>
            <a:pPr algn="l">
              <a:lnSpc>
                <a:spcPct val="120000"/>
              </a:lnSpc>
            </a:pPr>
            <a:r>
              <a:rPr sz="1150" b="0">
                <a:solidFill>
                  <a:srgbClr val="1B2A33"/>
                </a:solidFill>
                <a:latin typeface="Calibri"/>
              </a:rPr>
              <a:t>A background worker assigns anything still unassigned after a set delay, using the same router.</a:t>
            </a:r>
          </a:p>
        </p:txBody>
      </p:sp>
      <p:sp>
        <p:nvSpPr>
          <p:cNvPr id="11" name="Rectangle 10"/>
          <p:cNvSpPr/>
          <p:nvPr/>
        </p:nvSpPr>
        <p:spPr>
          <a:xfrm>
            <a:off x="548640" y="3584448"/>
            <a:ext cx="11064240" cy="731520"/>
          </a:xfrm>
          <a:prstGeom prst="rect">
            <a:avLst/>
          </a:prstGeom>
          <a:solidFill>
            <a:srgbClr val="FFFFFF"/>
          </a:solidFill>
          <a:ln w="12700">
            <a:solidFill>
              <a:srgbClr val="D6CE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3694176"/>
            <a:ext cx="2743200" cy="274320"/>
          </a:xfrm>
          <a:prstGeom prst="rect">
            <a:avLst/>
          </a:prstGeom>
          <a:noFill/>
        </p:spPr>
        <p:txBody>
          <a:bodyPr wrap="square" anchor="t" lIns="0" rIns="0" tIns="0" bIns="0">
            <a:spAutoFit/>
          </a:bodyPr>
          <a:lstStyle/>
          <a:p>
            <a:pPr algn="l">
              <a:lnSpc>
                <a:spcPct val="115000"/>
              </a:lnSpc>
            </a:pPr>
            <a:r>
              <a:rPr sz="1250" b="1">
                <a:solidFill>
                  <a:srgbClr val="0E4F4A"/>
                </a:solidFill>
                <a:latin typeface="Calibri"/>
              </a:rPr>
              <a:t>You set the delay</a:t>
            </a:r>
          </a:p>
        </p:txBody>
      </p:sp>
      <p:sp>
        <p:nvSpPr>
          <p:cNvPr id="13" name="TextBox 12"/>
          <p:cNvSpPr txBox="1"/>
          <p:nvPr/>
        </p:nvSpPr>
        <p:spPr>
          <a:xfrm>
            <a:off x="3566160" y="3694176"/>
            <a:ext cx="7863840" cy="548640"/>
          </a:xfrm>
          <a:prstGeom prst="rect">
            <a:avLst/>
          </a:prstGeom>
          <a:noFill/>
        </p:spPr>
        <p:txBody>
          <a:bodyPr wrap="square" anchor="t" lIns="0" rIns="0" tIns="0" bIns="0">
            <a:spAutoFit/>
          </a:bodyPr>
          <a:lstStyle/>
          <a:p>
            <a:pPr algn="l">
              <a:lnSpc>
                <a:spcPct val="120000"/>
              </a:lnSpc>
            </a:pPr>
            <a:r>
              <a:rPr sz="1150" b="0">
                <a:solidFill>
                  <a:srgbClr val="1B2A33"/>
                </a:solidFill>
                <a:latin typeface="Calibri"/>
              </a:rPr>
              <a:t>An admin sets it while the system is running — two hours by default, anywhere from fifteen minutes to a week.</a:t>
            </a:r>
          </a:p>
        </p:txBody>
      </p:sp>
      <p:sp>
        <p:nvSpPr>
          <p:cNvPr id="14" name="Rectangle 13"/>
          <p:cNvSpPr/>
          <p:nvPr/>
        </p:nvSpPr>
        <p:spPr>
          <a:xfrm>
            <a:off x="548640" y="4425696"/>
            <a:ext cx="11064240" cy="731520"/>
          </a:xfrm>
          <a:prstGeom prst="rect">
            <a:avLst/>
          </a:prstGeom>
          <a:solidFill>
            <a:srgbClr val="FFFFFF"/>
          </a:solidFill>
          <a:ln w="12700">
            <a:solidFill>
              <a:srgbClr val="D6CE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4535424"/>
            <a:ext cx="2743200" cy="274320"/>
          </a:xfrm>
          <a:prstGeom prst="rect">
            <a:avLst/>
          </a:prstGeom>
          <a:noFill/>
        </p:spPr>
        <p:txBody>
          <a:bodyPr wrap="square" anchor="t" lIns="0" rIns="0" tIns="0" bIns="0">
            <a:spAutoFit/>
          </a:bodyPr>
          <a:lstStyle/>
          <a:p>
            <a:pPr algn="l">
              <a:lnSpc>
                <a:spcPct val="115000"/>
              </a:lnSpc>
            </a:pPr>
            <a:r>
              <a:rPr sz="1250" b="1">
                <a:solidFill>
                  <a:srgbClr val="0E4F4A"/>
                </a:solidFill>
                <a:latin typeface="Calibri"/>
              </a:rPr>
              <a:t>It never overrides you</a:t>
            </a:r>
          </a:p>
        </p:txBody>
      </p:sp>
      <p:sp>
        <p:nvSpPr>
          <p:cNvPr id="16" name="TextBox 15"/>
          <p:cNvSpPr txBox="1"/>
          <p:nvPr/>
        </p:nvSpPr>
        <p:spPr>
          <a:xfrm>
            <a:off x="3566160" y="4535424"/>
            <a:ext cx="7863840" cy="548640"/>
          </a:xfrm>
          <a:prstGeom prst="rect">
            <a:avLst/>
          </a:prstGeom>
          <a:noFill/>
        </p:spPr>
        <p:txBody>
          <a:bodyPr wrap="square" anchor="t" lIns="0" rIns="0" tIns="0" bIns="0">
            <a:spAutoFit/>
          </a:bodyPr>
          <a:lstStyle/>
          <a:p>
            <a:pPr algn="l">
              <a:lnSpc>
                <a:spcPct val="120000"/>
              </a:lnSpc>
            </a:pPr>
            <a:r>
              <a:rPr sz="1150" b="0">
                <a:solidFill>
                  <a:srgbClr val="1B2A33"/>
                </a:solidFill>
                <a:latin typeface="Calibri"/>
              </a:rPr>
              <a:t>It only touches tickets with no owner. It never reassigns one somebody has already given out.</a:t>
            </a:r>
          </a:p>
        </p:txBody>
      </p:sp>
      <p:sp>
        <p:nvSpPr>
          <p:cNvPr id="17" name="TextBox 16"/>
          <p:cNvSpPr txBox="1"/>
          <p:nvPr/>
        </p:nvSpPr>
        <p:spPr>
          <a:xfrm>
            <a:off x="548640" y="5440680"/>
            <a:ext cx="11064240" cy="548640"/>
          </a:xfrm>
          <a:prstGeom prst="rect">
            <a:avLst/>
          </a:prstGeom>
          <a:noFill/>
        </p:spPr>
        <p:txBody>
          <a:bodyPr wrap="square" anchor="t" lIns="0" rIns="0" tIns="0" bIns="0">
            <a:spAutoFit/>
          </a:bodyPr>
          <a:lstStyle/>
          <a:p>
            <a:pPr algn="l">
              <a:lnSpc>
                <a:spcPct val="125000"/>
              </a:lnSpc>
            </a:pPr>
            <a:r>
              <a:rPr sz="1150" b="0">
                <a:solidFill>
                  <a:srgbClr val="5B6B75"/>
                </a:solidFill>
                <a:latin typeface="Calibri"/>
              </a:rPr>
              <a:t>So the window is yours to triage in, not a gap. Shorten it if tickets sit too long; lengthen it if the system is assigning work your supervisors wanted to place themselves.</a:t>
            </a:r>
          </a:p>
        </p:txBody>
      </p:sp>
      <p:sp>
        <p:nvSpPr>
          <p:cNvPr id="18" name="Rectangle 17"/>
          <p:cNvSpPr/>
          <p:nvPr/>
        </p:nvSpPr>
        <p:spPr>
          <a:xfrm>
            <a:off x="0" y="6473952"/>
            <a:ext cx="12191695" cy="384048"/>
          </a:xfrm>
          <a:prstGeom prst="rect">
            <a:avLst/>
          </a:prstGeom>
          <a:solidFill>
            <a:srgbClr val="F3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6547104"/>
            <a:ext cx="8229600" cy="228600"/>
          </a:xfrm>
          <a:prstGeom prst="rect">
            <a:avLst/>
          </a:prstGeom>
          <a:noFill/>
        </p:spPr>
        <p:txBody>
          <a:bodyPr wrap="square" anchor="t" lIns="0" rIns="0" tIns="0" bIns="0">
            <a:spAutoFit/>
          </a:bodyPr>
          <a:lstStyle/>
          <a:p>
            <a:pPr algn="l">
              <a:lnSpc>
                <a:spcPct val="115000"/>
              </a:lnSpc>
            </a:pPr>
            <a:r>
              <a:rPr sz="900" b="0">
                <a:solidFill>
                  <a:srgbClr val="5B6B75"/>
                </a:solidFill>
                <a:latin typeface="Calibri"/>
              </a:rPr>
              <a:t>SUCCESS Bank — Internal Ticketing · Standard Operating Procedure</a:t>
            </a:r>
          </a:p>
        </p:txBody>
      </p:sp>
      <p:sp>
        <p:nvSpPr>
          <p:cNvPr id="20" name="TextBox 19"/>
          <p:cNvSpPr txBox="1"/>
          <p:nvPr/>
        </p:nvSpPr>
        <p:spPr>
          <a:xfrm>
            <a:off x="9997135" y="6547104"/>
            <a:ext cx="1691640" cy="228600"/>
          </a:xfrm>
          <a:prstGeom prst="rect">
            <a:avLst/>
          </a:prstGeom>
          <a:noFill/>
        </p:spPr>
        <p:txBody>
          <a:bodyPr wrap="square" anchor="t" lIns="0" rIns="0" tIns="0" bIns="0">
            <a:spAutoFit/>
          </a:bodyPr>
          <a:lstStyle/>
          <a:p>
            <a:pPr algn="r">
              <a:lnSpc>
                <a:spcPct val="115000"/>
              </a:lnSpc>
            </a:pPr>
            <a:r>
              <a:rPr sz="900" b="0">
                <a:solidFill>
                  <a:srgbClr val="5B6B75"/>
                </a:solidFill>
                <a:latin typeface="Calibri"/>
              </a:rPr>
              <a:t>Supervisor</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0E4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82880"/>
            <a:ext cx="10515600" cy="320040"/>
          </a:xfrm>
          <a:prstGeom prst="rect">
            <a:avLst/>
          </a:prstGeom>
          <a:noFill/>
        </p:spPr>
        <p:txBody>
          <a:bodyPr wrap="square" anchor="t" lIns="0" rIns="0" tIns="0" bIns="0">
            <a:spAutoFit/>
          </a:bodyPr>
          <a:lstStyle/>
          <a:p>
            <a:pPr algn="l">
              <a:lnSpc>
                <a:spcPct val="115000"/>
              </a:lnSpc>
            </a:pPr>
            <a:r>
              <a:rPr sz="2300" b="1">
                <a:solidFill>
                  <a:srgbClr val="FFFFFF"/>
                </a:solidFill>
                <a:latin typeface="Calibri"/>
              </a:rPr>
              <a:t>How escalation actually fires</a:t>
            </a:r>
          </a:p>
        </p:txBody>
      </p:sp>
      <p:sp>
        <p:nvSpPr>
          <p:cNvPr id="4" name="TextBox 3"/>
          <p:cNvSpPr txBox="1"/>
          <p:nvPr/>
        </p:nvSpPr>
        <p:spPr>
          <a:xfrm>
            <a:off x="502920" y="548640"/>
            <a:ext cx="10515600" cy="256032"/>
          </a:xfrm>
          <a:prstGeom prst="rect">
            <a:avLst/>
          </a:prstGeom>
          <a:noFill/>
        </p:spPr>
        <p:txBody>
          <a:bodyPr wrap="square" anchor="t" lIns="0" rIns="0" tIns="0" bIns="0">
            <a:spAutoFit/>
          </a:bodyPr>
          <a:lstStyle/>
          <a:p>
            <a:pPr algn="l">
              <a:lnSpc>
                <a:spcPct val="115000"/>
              </a:lnSpc>
            </a:pPr>
            <a:r>
              <a:rPr sz="1150" b="0">
                <a:solidFill>
                  <a:srgbClr val="F3ECE0"/>
                </a:solidFill>
                <a:latin typeface="Calibri"/>
              </a:rPr>
              <a:t>Nobody has to be watching for this to happen</a:t>
            </a:r>
          </a:p>
        </p:txBody>
      </p:sp>
      <p:sp>
        <p:nvSpPr>
          <p:cNvPr id="5" name="Rectangle 4"/>
          <p:cNvSpPr/>
          <p:nvPr/>
        </p:nvSpPr>
        <p:spPr>
          <a:xfrm>
            <a:off x="548640" y="1234440"/>
            <a:ext cx="11064240" cy="1051560"/>
          </a:xfrm>
          <a:prstGeom prst="rect">
            <a:avLst/>
          </a:prstGeom>
          <a:solidFill>
            <a:srgbClr val="F3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463040"/>
            <a:ext cx="10424160" cy="640080"/>
          </a:xfrm>
          <a:prstGeom prst="rect">
            <a:avLst/>
          </a:prstGeom>
          <a:noFill/>
        </p:spPr>
        <p:txBody>
          <a:bodyPr wrap="square" anchor="t" lIns="0" rIns="0" tIns="0" bIns="0">
            <a:spAutoFit/>
          </a:bodyPr>
          <a:lstStyle/>
          <a:p>
            <a:pPr algn="l">
              <a:lnSpc>
                <a:spcPct val="130000"/>
              </a:lnSpc>
            </a:pPr>
            <a:r>
              <a:rPr sz="1300" b="0">
                <a:solidFill>
                  <a:srgbClr val="1B2A33"/>
                </a:solidFill>
                <a:latin typeface="Calibri"/>
              </a:rPr>
              <a:t>Every 5 minutes a background worker looks for tickets past their resolution deadline. For each one it finds, it marks the breach and evaluates the escalation rules.</a:t>
            </a:r>
          </a:p>
        </p:txBody>
      </p:sp>
      <p:sp>
        <p:nvSpPr>
          <p:cNvPr id="7" name="Rectangle 6"/>
          <p:cNvSpPr/>
          <p:nvPr/>
        </p:nvSpPr>
        <p:spPr>
          <a:xfrm>
            <a:off x="548640" y="2514600"/>
            <a:ext cx="11064240" cy="713232"/>
          </a:xfrm>
          <a:prstGeom prst="rect">
            <a:avLst/>
          </a:prstGeom>
          <a:solidFill>
            <a:srgbClr val="FFFFFF"/>
          </a:solidFill>
          <a:ln w="12700">
            <a:solidFill>
              <a:srgbClr val="D6CE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615184"/>
            <a:ext cx="2743200" cy="256032"/>
          </a:xfrm>
          <a:prstGeom prst="rect">
            <a:avLst/>
          </a:prstGeom>
          <a:noFill/>
        </p:spPr>
        <p:txBody>
          <a:bodyPr wrap="square" anchor="t" lIns="0" rIns="0" tIns="0" bIns="0">
            <a:spAutoFit/>
          </a:bodyPr>
          <a:lstStyle/>
          <a:p>
            <a:pPr algn="l">
              <a:lnSpc>
                <a:spcPct val="115000"/>
              </a:lnSpc>
            </a:pPr>
            <a:r>
              <a:rPr sz="1250" b="1">
                <a:solidFill>
                  <a:srgbClr val="0E4F4A"/>
                </a:solidFill>
                <a:latin typeface="Calibri"/>
              </a:rPr>
              <a:t>1 — Rule matched</a:t>
            </a:r>
          </a:p>
        </p:txBody>
      </p:sp>
      <p:sp>
        <p:nvSpPr>
          <p:cNvPr id="9" name="TextBox 8"/>
          <p:cNvSpPr txBox="1"/>
          <p:nvPr/>
        </p:nvSpPr>
        <p:spPr>
          <a:xfrm>
            <a:off x="3566160" y="2615184"/>
            <a:ext cx="7863840" cy="548640"/>
          </a:xfrm>
          <a:prstGeom prst="rect">
            <a:avLst/>
          </a:prstGeom>
          <a:noFill/>
        </p:spPr>
        <p:txBody>
          <a:bodyPr wrap="square" anchor="t" lIns="0" rIns="0" tIns="0" bIns="0">
            <a:spAutoFit/>
          </a:bodyPr>
          <a:lstStyle/>
          <a:p>
            <a:pPr algn="l">
              <a:lnSpc>
                <a:spcPct val="120000"/>
              </a:lnSpc>
            </a:pPr>
            <a:r>
              <a:rPr sz="1100" b="0">
                <a:solidFill>
                  <a:srgbClr val="1B2A33"/>
                </a:solidFill>
                <a:latin typeface="Calibri"/>
              </a:rPr>
              <a:t>The most specific rule wins. A category-specific rule beats a catch-all, and priority_threshold is read as a minimum, so a 'high' rule also covers critical.</a:t>
            </a:r>
          </a:p>
        </p:txBody>
      </p:sp>
      <p:sp>
        <p:nvSpPr>
          <p:cNvPr id="10" name="Rectangle 9"/>
          <p:cNvSpPr/>
          <p:nvPr/>
        </p:nvSpPr>
        <p:spPr>
          <a:xfrm>
            <a:off x="548640" y="3337560"/>
            <a:ext cx="11064240" cy="713232"/>
          </a:xfrm>
          <a:prstGeom prst="rect">
            <a:avLst/>
          </a:prstGeom>
          <a:solidFill>
            <a:srgbClr val="FFFFFF"/>
          </a:solidFill>
          <a:ln w="12700">
            <a:solidFill>
              <a:srgbClr val="D6CE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3438144"/>
            <a:ext cx="2743200" cy="256032"/>
          </a:xfrm>
          <a:prstGeom prst="rect">
            <a:avLst/>
          </a:prstGeom>
          <a:noFill/>
        </p:spPr>
        <p:txBody>
          <a:bodyPr wrap="square" anchor="t" lIns="0" rIns="0" tIns="0" bIns="0">
            <a:spAutoFit/>
          </a:bodyPr>
          <a:lstStyle/>
          <a:p>
            <a:pPr algn="l">
              <a:lnSpc>
                <a:spcPct val="115000"/>
              </a:lnSpc>
            </a:pPr>
            <a:r>
              <a:rPr sz="1250" b="1">
                <a:solidFill>
                  <a:srgbClr val="0E4F4A"/>
                </a:solidFill>
                <a:latin typeface="Calibri"/>
              </a:rPr>
              <a:t>2 — Ticket moved</a:t>
            </a:r>
          </a:p>
        </p:txBody>
      </p:sp>
      <p:sp>
        <p:nvSpPr>
          <p:cNvPr id="12" name="TextBox 11"/>
          <p:cNvSpPr txBox="1"/>
          <p:nvPr/>
        </p:nvSpPr>
        <p:spPr>
          <a:xfrm>
            <a:off x="3566160" y="3438144"/>
            <a:ext cx="7863840" cy="548640"/>
          </a:xfrm>
          <a:prstGeom prst="rect">
            <a:avLst/>
          </a:prstGeom>
          <a:noFill/>
        </p:spPr>
        <p:txBody>
          <a:bodyPr wrap="square" anchor="t" lIns="0" rIns="0" tIns="0" bIns="0">
            <a:spAutoFit/>
          </a:bodyPr>
          <a:lstStyle/>
          <a:p>
            <a:pPr algn="l">
              <a:lnSpc>
                <a:spcPct val="120000"/>
              </a:lnSpc>
            </a:pPr>
            <a:r>
              <a:rPr sz="1100" b="0">
                <a:solidFill>
                  <a:srgbClr val="1B2A33"/>
                </a:solidFill>
                <a:latin typeface="Calibri"/>
              </a:rPr>
              <a:t>Status becomes Escalated and it is reassigned to the least-loaded holder of the target role.</a:t>
            </a:r>
          </a:p>
        </p:txBody>
      </p:sp>
      <p:sp>
        <p:nvSpPr>
          <p:cNvPr id="13" name="Rectangle 12"/>
          <p:cNvSpPr/>
          <p:nvPr/>
        </p:nvSpPr>
        <p:spPr>
          <a:xfrm>
            <a:off x="548640" y="4160520"/>
            <a:ext cx="11064240" cy="713232"/>
          </a:xfrm>
          <a:prstGeom prst="rect">
            <a:avLst/>
          </a:prstGeom>
          <a:solidFill>
            <a:srgbClr val="FFFFFF"/>
          </a:solidFill>
          <a:ln w="12700">
            <a:solidFill>
              <a:srgbClr val="D6CE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4261104"/>
            <a:ext cx="2743200" cy="256032"/>
          </a:xfrm>
          <a:prstGeom prst="rect">
            <a:avLst/>
          </a:prstGeom>
          <a:noFill/>
        </p:spPr>
        <p:txBody>
          <a:bodyPr wrap="square" anchor="t" lIns="0" rIns="0" tIns="0" bIns="0">
            <a:spAutoFit/>
          </a:bodyPr>
          <a:lstStyle/>
          <a:p>
            <a:pPr algn="l">
              <a:lnSpc>
                <a:spcPct val="115000"/>
              </a:lnSpc>
            </a:pPr>
            <a:r>
              <a:rPr sz="1250" b="1">
                <a:solidFill>
                  <a:srgbClr val="0E4F4A"/>
                </a:solidFill>
                <a:latin typeface="Calibri"/>
              </a:rPr>
              <a:t>3 — Evidence written</a:t>
            </a:r>
          </a:p>
        </p:txBody>
      </p:sp>
      <p:sp>
        <p:nvSpPr>
          <p:cNvPr id="15" name="TextBox 14"/>
          <p:cNvSpPr txBox="1"/>
          <p:nvPr/>
        </p:nvSpPr>
        <p:spPr>
          <a:xfrm>
            <a:off x="3566160" y="4261104"/>
            <a:ext cx="7863840" cy="548640"/>
          </a:xfrm>
          <a:prstGeom prst="rect">
            <a:avLst/>
          </a:prstGeom>
          <a:noFill/>
        </p:spPr>
        <p:txBody>
          <a:bodyPr wrap="square" anchor="t" lIns="0" rIns="0" tIns="0" bIns="0">
            <a:spAutoFit/>
          </a:bodyPr>
          <a:lstStyle/>
          <a:p>
            <a:pPr algn="l">
              <a:lnSpc>
                <a:spcPct val="120000"/>
              </a:lnSpc>
            </a:pPr>
            <a:r>
              <a:rPr sz="1100" b="0">
                <a:solidFill>
                  <a:srgbClr val="1B2A33"/>
                </a:solidFill>
                <a:latin typeface="Calibri"/>
              </a:rPr>
              <a:t>An escalation_events row records the trigger, the rule and the target.</a:t>
            </a:r>
          </a:p>
        </p:txBody>
      </p:sp>
      <p:sp>
        <p:nvSpPr>
          <p:cNvPr id="16" name="Rectangle 15"/>
          <p:cNvSpPr/>
          <p:nvPr/>
        </p:nvSpPr>
        <p:spPr>
          <a:xfrm>
            <a:off x="548640" y="4983480"/>
            <a:ext cx="11064240" cy="713232"/>
          </a:xfrm>
          <a:prstGeom prst="rect">
            <a:avLst/>
          </a:prstGeom>
          <a:solidFill>
            <a:srgbClr val="FFFFFF"/>
          </a:solidFill>
          <a:ln w="12700">
            <a:solidFill>
              <a:srgbClr val="D6CE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5084064"/>
            <a:ext cx="2743200" cy="256032"/>
          </a:xfrm>
          <a:prstGeom prst="rect">
            <a:avLst/>
          </a:prstGeom>
          <a:noFill/>
        </p:spPr>
        <p:txBody>
          <a:bodyPr wrap="square" anchor="t" lIns="0" rIns="0" tIns="0" bIns="0">
            <a:spAutoFit/>
          </a:bodyPr>
          <a:lstStyle/>
          <a:p>
            <a:pPr algn="l">
              <a:lnSpc>
                <a:spcPct val="115000"/>
              </a:lnSpc>
            </a:pPr>
            <a:r>
              <a:rPr sz="1250" b="1">
                <a:solidFill>
                  <a:srgbClr val="0E4F4A"/>
                </a:solidFill>
                <a:latin typeface="Calibri"/>
              </a:rPr>
              <a:t>4 — People told</a:t>
            </a:r>
          </a:p>
        </p:txBody>
      </p:sp>
      <p:sp>
        <p:nvSpPr>
          <p:cNvPr id="18" name="TextBox 17"/>
          <p:cNvSpPr txBox="1"/>
          <p:nvPr/>
        </p:nvSpPr>
        <p:spPr>
          <a:xfrm>
            <a:off x="3566160" y="5084064"/>
            <a:ext cx="7863840" cy="548640"/>
          </a:xfrm>
          <a:prstGeom prst="rect">
            <a:avLst/>
          </a:prstGeom>
          <a:noFill/>
        </p:spPr>
        <p:txBody>
          <a:bodyPr wrap="square" anchor="t" lIns="0" rIns="0" tIns="0" bIns="0">
            <a:spAutoFit/>
          </a:bodyPr>
          <a:lstStyle/>
          <a:p>
            <a:pPr algn="l">
              <a:lnSpc>
                <a:spcPct val="120000"/>
              </a:lnSpc>
            </a:pPr>
            <a:r>
              <a:rPr sz="1100" b="0">
                <a:solidFill>
                  <a:srgbClr val="1B2A33"/>
                </a:solidFill>
                <a:latin typeface="Calibri"/>
              </a:rPr>
              <a:t>The target and the manager list are emailed after the change commits — a failed email never rolls back the escalation.</a:t>
            </a:r>
          </a:p>
        </p:txBody>
      </p:sp>
      <p:sp>
        <p:nvSpPr>
          <p:cNvPr id="19" name="TextBox 18"/>
          <p:cNvSpPr txBox="1"/>
          <p:nvPr/>
        </p:nvSpPr>
        <p:spPr>
          <a:xfrm>
            <a:off x="548640" y="5897880"/>
            <a:ext cx="11064240" cy="457200"/>
          </a:xfrm>
          <a:prstGeom prst="rect">
            <a:avLst/>
          </a:prstGeom>
          <a:noFill/>
        </p:spPr>
        <p:txBody>
          <a:bodyPr wrap="square" anchor="t" lIns="0" rIns="0" tIns="0" bIns="0">
            <a:spAutoFit/>
          </a:bodyPr>
          <a:lstStyle/>
          <a:p>
            <a:pPr algn="l">
              <a:lnSpc>
                <a:spcPct val="125000"/>
              </a:lnSpc>
            </a:pPr>
            <a:r>
              <a:rPr sz="1150" b="0">
                <a:solidFill>
                  <a:srgbClr val="5B6B75"/>
                </a:solidFill>
                <a:latin typeface="Calibri"/>
              </a:rPr>
              <a:t>A ticket will not escalate twice for the same trigger — otherwise the worker would raise a new event every five minutes until somebody resolved it.</a:t>
            </a:r>
          </a:p>
        </p:txBody>
      </p:sp>
      <p:sp>
        <p:nvSpPr>
          <p:cNvPr id="20" name="Rectangle 19"/>
          <p:cNvSpPr/>
          <p:nvPr/>
        </p:nvSpPr>
        <p:spPr>
          <a:xfrm>
            <a:off x="0" y="6473952"/>
            <a:ext cx="12191695" cy="384048"/>
          </a:xfrm>
          <a:prstGeom prst="rect">
            <a:avLst/>
          </a:prstGeom>
          <a:solidFill>
            <a:srgbClr val="F3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6547104"/>
            <a:ext cx="8229600" cy="228600"/>
          </a:xfrm>
          <a:prstGeom prst="rect">
            <a:avLst/>
          </a:prstGeom>
          <a:noFill/>
        </p:spPr>
        <p:txBody>
          <a:bodyPr wrap="square" anchor="t" lIns="0" rIns="0" tIns="0" bIns="0">
            <a:spAutoFit/>
          </a:bodyPr>
          <a:lstStyle/>
          <a:p>
            <a:pPr algn="l">
              <a:lnSpc>
                <a:spcPct val="115000"/>
              </a:lnSpc>
            </a:pPr>
            <a:r>
              <a:rPr sz="900" b="0">
                <a:solidFill>
                  <a:srgbClr val="5B6B75"/>
                </a:solidFill>
                <a:latin typeface="Calibri"/>
              </a:rPr>
              <a:t>SUCCESS Bank — Internal Ticketing · Standard Operating Procedure</a:t>
            </a:r>
          </a:p>
        </p:txBody>
      </p:sp>
      <p:sp>
        <p:nvSpPr>
          <p:cNvPr id="22" name="TextBox 21"/>
          <p:cNvSpPr txBox="1"/>
          <p:nvPr/>
        </p:nvSpPr>
        <p:spPr>
          <a:xfrm>
            <a:off x="9997135" y="6547104"/>
            <a:ext cx="1691640" cy="228600"/>
          </a:xfrm>
          <a:prstGeom prst="rect">
            <a:avLst/>
          </a:prstGeom>
          <a:noFill/>
        </p:spPr>
        <p:txBody>
          <a:bodyPr wrap="square" anchor="t" lIns="0" rIns="0" tIns="0" bIns="0">
            <a:spAutoFit/>
          </a:bodyPr>
          <a:lstStyle/>
          <a:p>
            <a:pPr algn="r">
              <a:lnSpc>
                <a:spcPct val="115000"/>
              </a:lnSpc>
            </a:pPr>
            <a:r>
              <a:rPr sz="900" b="0">
                <a:solidFill>
                  <a:srgbClr val="5B6B75"/>
                </a:solidFill>
                <a:latin typeface="Calibri"/>
              </a:rPr>
              <a:t>Supervisor</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3ECE0"/>
        </a:solidFill>
        <a:effectLst/>
      </p:bgPr>
    </p:bg>
    <p:spTree>
      <p:nvGrpSpPr>
        <p:cNvPr id="1" name=""/>
        <p:cNvGrpSpPr/>
        <p:nvPr/>
      </p:nvGrpSpPr>
      <p:grpSpPr/>
      <p:sp>
        <p:nvSpPr>
          <p:cNvPr id="2" name="Rectangle 1"/>
          <p:cNvSpPr/>
          <p:nvPr/>
        </p:nvSpPr>
        <p:spPr>
          <a:xfrm>
            <a:off x="0" y="0"/>
            <a:ext cx="256032" cy="6858000"/>
          </a:xfrm>
          <a:prstGeom prst="rect">
            <a:avLst/>
          </a:prstGeom>
          <a:solidFill>
            <a:srgbClr val="0E4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2377440"/>
            <a:ext cx="1828800" cy="548640"/>
          </a:xfrm>
          <a:prstGeom prst="rect">
            <a:avLst/>
          </a:prstGeom>
          <a:noFill/>
        </p:spPr>
        <p:txBody>
          <a:bodyPr wrap="square" anchor="t" lIns="0" rIns="0" tIns="0" bIns="0">
            <a:spAutoFit/>
          </a:bodyPr>
          <a:lstStyle/>
          <a:p>
            <a:pPr algn="l">
              <a:lnSpc>
                <a:spcPct val="115000"/>
              </a:lnSpc>
            </a:pPr>
            <a:r>
              <a:rPr sz="1300" b="1">
                <a:solidFill>
                  <a:srgbClr val="C25B2E"/>
                </a:solidFill>
                <a:latin typeface="Calibri"/>
              </a:rPr>
              <a:t>SECTION 09</a:t>
            </a:r>
          </a:p>
        </p:txBody>
      </p:sp>
      <p:sp>
        <p:nvSpPr>
          <p:cNvPr id="4" name="TextBox 3"/>
          <p:cNvSpPr txBox="1"/>
          <p:nvPr/>
        </p:nvSpPr>
        <p:spPr>
          <a:xfrm>
            <a:off x="1005840" y="2788920"/>
            <a:ext cx="9601200" cy="822960"/>
          </a:xfrm>
          <a:prstGeom prst="rect">
            <a:avLst/>
          </a:prstGeom>
          <a:noFill/>
        </p:spPr>
        <p:txBody>
          <a:bodyPr wrap="square" anchor="t" lIns="0" rIns="0" tIns="0" bIns="0">
            <a:spAutoFit/>
          </a:bodyPr>
          <a:lstStyle/>
          <a:p>
            <a:pPr algn="l">
              <a:lnSpc>
                <a:spcPct val="115000"/>
              </a:lnSpc>
            </a:pPr>
            <a:r>
              <a:rPr sz="3400" b="1">
                <a:solidFill>
                  <a:srgbClr val="0E4F4A"/>
                </a:solidFill>
                <a:latin typeface="Calibri"/>
              </a:rPr>
              <a:t>Admin workflow</a:t>
            </a:r>
          </a:p>
        </p:txBody>
      </p:sp>
      <p:sp>
        <p:nvSpPr>
          <p:cNvPr id="5" name="TextBox 4"/>
          <p:cNvSpPr txBox="1"/>
          <p:nvPr/>
        </p:nvSpPr>
        <p:spPr>
          <a:xfrm>
            <a:off x="1005840" y="3794760"/>
            <a:ext cx="8686800" cy="914400"/>
          </a:xfrm>
          <a:prstGeom prst="rect">
            <a:avLst/>
          </a:prstGeom>
          <a:noFill/>
        </p:spPr>
        <p:txBody>
          <a:bodyPr wrap="square" anchor="t" lIns="0" rIns="0" tIns="0" bIns="0">
            <a:spAutoFit/>
          </a:bodyPr>
          <a:lstStyle/>
          <a:p>
            <a:pPr algn="l">
              <a:lnSpc>
                <a:spcPct val="130000"/>
              </a:lnSpc>
            </a:pPr>
            <a:r>
              <a:rPr sz="1500" b="0">
                <a:solidFill>
                  <a:srgbClr val="5B6B75"/>
                </a:solidFill>
                <a:latin typeface="Calibri"/>
              </a:rPr>
              <a:t>You decide who exists, what they may do, and how the organisation is shaped.</a:t>
            </a:r>
          </a:p>
        </p:txBody>
      </p:sp>
      <p:sp>
        <p:nvSpPr>
          <p:cNvPr id="6" name="Rectangle 5"/>
          <p:cNvSpPr/>
          <p:nvPr/>
        </p:nvSpPr>
        <p:spPr>
          <a:xfrm>
            <a:off x="0" y="6473952"/>
            <a:ext cx="12191695" cy="384048"/>
          </a:xfrm>
          <a:prstGeom prst="rect">
            <a:avLst/>
          </a:prstGeom>
          <a:solidFill>
            <a:srgbClr val="F3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47104"/>
            <a:ext cx="8229600" cy="228600"/>
          </a:xfrm>
          <a:prstGeom prst="rect">
            <a:avLst/>
          </a:prstGeom>
          <a:noFill/>
        </p:spPr>
        <p:txBody>
          <a:bodyPr wrap="square" anchor="t" lIns="0" rIns="0" tIns="0" bIns="0">
            <a:spAutoFit/>
          </a:bodyPr>
          <a:lstStyle/>
          <a:p>
            <a:pPr algn="l">
              <a:lnSpc>
                <a:spcPct val="115000"/>
              </a:lnSpc>
            </a:pPr>
            <a:r>
              <a:rPr sz="900" b="0">
                <a:solidFill>
                  <a:srgbClr val="5B6B75"/>
                </a:solidFill>
                <a:latin typeface="Calibri"/>
              </a:rPr>
              <a:t>SUCCESS Bank — Internal Ticketing · Standard Operating Procedure</a:t>
            </a:r>
          </a:p>
        </p:txBody>
      </p:sp>
      <p:sp>
        <p:nvSpPr>
          <p:cNvPr id="8" name="TextBox 7"/>
          <p:cNvSpPr txBox="1"/>
          <p:nvPr/>
        </p:nvSpPr>
        <p:spPr>
          <a:xfrm>
            <a:off x="9997135" y="6547104"/>
            <a:ext cx="1691640" cy="228600"/>
          </a:xfrm>
          <a:prstGeom prst="rect">
            <a:avLst/>
          </a:prstGeom>
          <a:noFill/>
        </p:spPr>
        <p:txBody>
          <a:bodyPr wrap="square" anchor="t" lIns="0" rIns="0" tIns="0" bIns="0">
            <a:spAutoFit/>
          </a:bodyPr>
          <a:lstStyle/>
          <a:p>
            <a:pPr algn="r">
              <a:lnSpc>
                <a:spcPct val="115000"/>
              </a:lnSpc>
            </a:pPr>
            <a:r>
              <a:rPr sz="900" b="0">
                <a:solidFill>
                  <a:srgbClr val="5B6B75"/>
                </a:solidFill>
                <a:latin typeface="Calibri"/>
              </a:rPr>
              <a:t>Section 09</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0E4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36576"/>
          </a:xfrm>
          <a:prstGeom prst="rect">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55448"/>
            <a:ext cx="1371600" cy="274320"/>
          </a:xfrm>
          <a:prstGeom prst="rect">
            <a:avLst/>
          </a:prstGeom>
          <a:noFill/>
        </p:spPr>
        <p:txBody>
          <a:bodyPr wrap="square" anchor="t" lIns="0" rIns="0" tIns="0" bIns="0">
            <a:spAutoFit/>
          </a:bodyPr>
          <a:lstStyle/>
          <a:p>
            <a:pPr algn="l">
              <a:lnSpc>
                <a:spcPct val="115000"/>
              </a:lnSpc>
            </a:pPr>
            <a:r>
              <a:rPr sz="1200" b="1">
                <a:solidFill>
                  <a:srgbClr val="C25B2E"/>
                </a:solidFill>
                <a:latin typeface="Calibri"/>
              </a:rPr>
              <a:t>STEP 18</a:t>
            </a:r>
          </a:p>
        </p:txBody>
      </p:sp>
      <p:sp>
        <p:nvSpPr>
          <p:cNvPr id="5" name="TextBox 4"/>
          <p:cNvSpPr txBox="1"/>
          <p:nvPr/>
        </p:nvSpPr>
        <p:spPr>
          <a:xfrm>
            <a:off x="502920" y="420624"/>
            <a:ext cx="8412480" cy="365760"/>
          </a:xfrm>
          <a:prstGeom prst="rect">
            <a:avLst/>
          </a:prstGeom>
          <a:noFill/>
        </p:spPr>
        <p:txBody>
          <a:bodyPr wrap="square" anchor="t" lIns="0" rIns="0" tIns="0" bIns="0">
            <a:spAutoFit/>
          </a:bodyPr>
          <a:lstStyle/>
          <a:p>
            <a:pPr algn="l">
              <a:lnSpc>
                <a:spcPct val="115000"/>
              </a:lnSpc>
            </a:pPr>
            <a:r>
              <a:rPr sz="2000" b="1">
                <a:solidFill>
                  <a:srgbClr val="FFFFFF"/>
                </a:solidFill>
                <a:latin typeface="Calibri"/>
              </a:rPr>
              <a:t>Manage users</a:t>
            </a:r>
          </a:p>
        </p:txBody>
      </p:sp>
      <p:sp>
        <p:nvSpPr>
          <p:cNvPr id="6" name="TextBox 5"/>
          <p:cNvSpPr txBox="1"/>
          <p:nvPr/>
        </p:nvSpPr>
        <p:spPr>
          <a:xfrm>
            <a:off x="9174175" y="320040"/>
            <a:ext cx="2514600" cy="274320"/>
          </a:xfrm>
          <a:prstGeom prst="rect">
            <a:avLst/>
          </a:prstGeom>
          <a:noFill/>
        </p:spPr>
        <p:txBody>
          <a:bodyPr wrap="square" anchor="t" lIns="0" rIns="0" tIns="0" bIns="0">
            <a:spAutoFit/>
          </a:bodyPr>
          <a:lstStyle/>
          <a:p>
            <a:pPr algn="r">
              <a:lnSpc>
                <a:spcPct val="115000"/>
              </a:lnSpc>
            </a:pPr>
            <a:r>
              <a:rPr sz="1100" b="1">
                <a:solidFill>
                  <a:srgbClr val="F3ECE0"/>
                </a:solidFill>
                <a:latin typeface="Calibri"/>
              </a:rPr>
              <a:t>ADMIN</a:t>
            </a:r>
          </a:p>
        </p:txBody>
      </p:sp>
      <p:sp>
        <p:nvSpPr>
          <p:cNvPr id="7" name="Rectangle 6"/>
          <p:cNvSpPr/>
          <p:nvPr/>
        </p:nvSpPr>
        <p:spPr>
          <a:xfrm>
            <a:off x="388620" y="1165860"/>
            <a:ext cx="7818120" cy="4903470"/>
          </a:xfrm>
          <a:prstGeom prst="rect">
            <a:avLst/>
          </a:prstGeom>
          <a:solidFill>
            <a:srgbClr val="D6CE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411480" y="1188720"/>
            <a:ext cx="7772400" cy="4855464"/>
          </a:xfrm>
          <a:prstGeom prst="rect">
            <a:avLst/>
          </a:prstGeom>
        </p:spPr>
      </p:pic>
      <p:sp>
        <p:nvSpPr>
          <p:cNvPr id="9" name="Oval 8"/>
          <p:cNvSpPr/>
          <p:nvPr/>
        </p:nvSpPr>
        <p:spPr>
          <a:xfrm>
            <a:off x="7094508" y="1607286"/>
            <a:ext cx="274320" cy="274320"/>
          </a:xfrm>
          <a:prstGeom prst="ellipse">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noAutofit/>
          </a:bodyPr>
          <a:lstStyle/>
          <a:p>
            <a:pPr algn="ctr">
              <a:lnSpc>
                <a:spcPct val="100000"/>
              </a:lnSpc>
            </a:pPr>
            <a:r>
              <a:rPr sz="1300" b="1">
                <a:solidFill>
                  <a:srgbClr val="FFFFFF"/>
                </a:solidFill>
                <a:latin typeface="Calibri"/>
              </a:rPr>
              <a:t>1</a:t>
            </a:r>
          </a:p>
        </p:txBody>
      </p:sp>
      <p:sp>
        <p:nvSpPr>
          <p:cNvPr id="10" name="TextBox 9"/>
          <p:cNvSpPr txBox="1"/>
          <p:nvPr/>
        </p:nvSpPr>
        <p:spPr>
          <a:xfrm>
            <a:off x="8458200" y="1188720"/>
            <a:ext cx="3291840" cy="219456"/>
          </a:xfrm>
          <a:prstGeom prst="rect">
            <a:avLst/>
          </a:prstGeom>
          <a:noFill/>
        </p:spPr>
        <p:txBody>
          <a:bodyPr wrap="square" anchor="t" lIns="0" rIns="0" tIns="0" bIns="0">
            <a:spAutoFit/>
          </a:bodyPr>
          <a:lstStyle/>
          <a:p>
            <a:pPr algn="l">
              <a:lnSpc>
                <a:spcPct val="115000"/>
              </a:lnSpc>
            </a:pPr>
            <a:r>
              <a:rPr sz="1000" b="1">
                <a:solidFill>
                  <a:srgbClr val="C25B2E"/>
                </a:solidFill>
                <a:latin typeface="Calibri"/>
              </a:rPr>
              <a:t>ON THIS SCREEN</a:t>
            </a:r>
          </a:p>
        </p:txBody>
      </p:sp>
      <p:sp>
        <p:nvSpPr>
          <p:cNvPr id="11" name="Oval 10"/>
          <p:cNvSpPr/>
          <p:nvPr/>
        </p:nvSpPr>
        <p:spPr>
          <a:xfrm>
            <a:off x="8458200" y="1463040"/>
            <a:ext cx="210312" cy="210312"/>
          </a:xfrm>
          <a:prstGeom prst="ellipse">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noAutofit/>
          </a:bodyPr>
          <a:lstStyle/>
          <a:p>
            <a:pPr algn="ctr">
              <a:lnSpc>
                <a:spcPct val="100000"/>
              </a:lnSpc>
            </a:pPr>
            <a:r>
              <a:rPr sz="1000" b="1">
                <a:solidFill>
                  <a:srgbClr val="FFFFFF"/>
                </a:solidFill>
                <a:latin typeface="Calibri"/>
              </a:rPr>
              <a:t>1</a:t>
            </a:r>
          </a:p>
        </p:txBody>
      </p:sp>
      <p:sp>
        <p:nvSpPr>
          <p:cNvPr id="12" name="TextBox 11"/>
          <p:cNvSpPr txBox="1"/>
          <p:nvPr/>
        </p:nvSpPr>
        <p:spPr>
          <a:xfrm>
            <a:off x="8787384" y="1481328"/>
            <a:ext cx="2962656" cy="169164"/>
          </a:xfrm>
          <a:prstGeom prst="rect">
            <a:avLst/>
          </a:prstGeom>
          <a:noFill/>
        </p:spPr>
        <p:txBody>
          <a:bodyPr wrap="square" anchor="t" lIns="0" rIns="0" tIns="0" bIns="0">
            <a:spAutoFit/>
          </a:bodyPr>
          <a:lstStyle/>
          <a:p>
            <a:pPr algn="l">
              <a:lnSpc>
                <a:spcPct val="105000"/>
              </a:lnSpc>
            </a:pPr>
            <a:r>
              <a:rPr sz="1050" b="0">
                <a:solidFill>
                  <a:srgbClr val="1B2A33"/>
                </a:solidFill>
                <a:latin typeface="Calibri"/>
              </a:rPr>
              <a:t>Add a user</a:t>
            </a:r>
          </a:p>
        </p:txBody>
      </p:sp>
      <p:sp>
        <p:nvSpPr>
          <p:cNvPr id="13" name="Rectangle 12"/>
          <p:cNvSpPr/>
          <p:nvPr/>
        </p:nvSpPr>
        <p:spPr>
          <a:xfrm>
            <a:off x="8458200" y="1869948"/>
            <a:ext cx="45720" cy="502920"/>
          </a:xfrm>
          <a:prstGeom prst="rect">
            <a:avLst/>
          </a:prstGeom>
          <a:solidFill>
            <a:srgbClr val="0E4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22792" y="1869948"/>
            <a:ext cx="3127248" cy="164592"/>
          </a:xfrm>
          <a:prstGeom prst="rect">
            <a:avLst/>
          </a:prstGeom>
          <a:noFill/>
        </p:spPr>
        <p:txBody>
          <a:bodyPr wrap="square" anchor="t" lIns="0" rIns="0" tIns="0" bIns="0">
            <a:spAutoFit/>
          </a:bodyPr>
          <a:lstStyle/>
          <a:p>
            <a:pPr algn="l">
              <a:lnSpc>
                <a:spcPct val="115000"/>
              </a:lnSpc>
            </a:pPr>
            <a:r>
              <a:rPr sz="950" b="1">
                <a:solidFill>
                  <a:srgbClr val="0E4F4A"/>
                </a:solidFill>
                <a:latin typeface="Calibri"/>
              </a:rPr>
              <a:t>ACTION</a:t>
            </a:r>
          </a:p>
        </p:txBody>
      </p:sp>
      <p:sp>
        <p:nvSpPr>
          <p:cNvPr id="15" name="TextBox 14"/>
          <p:cNvSpPr txBox="1"/>
          <p:nvPr/>
        </p:nvSpPr>
        <p:spPr>
          <a:xfrm>
            <a:off x="8622792" y="2061972"/>
            <a:ext cx="3127248" cy="320040"/>
          </a:xfrm>
          <a:prstGeom prst="rect">
            <a:avLst/>
          </a:prstGeom>
          <a:noFill/>
        </p:spPr>
        <p:txBody>
          <a:bodyPr wrap="square" anchor="t" lIns="0" rIns="0" tIns="0" bIns="0">
            <a:spAutoFit/>
          </a:bodyPr>
          <a:lstStyle/>
          <a:p>
            <a:pPr algn="l">
              <a:lnSpc>
                <a:spcPct val="108000"/>
              </a:lnSpc>
            </a:pPr>
            <a:r>
              <a:rPr sz="1100" b="0">
                <a:solidFill>
                  <a:srgbClr val="1B2A33"/>
                </a:solidFill>
                <a:latin typeface="Calibri"/>
              </a:rPr>
              <a:t>Create a user, set their role, and place them in an org unit.</a:t>
            </a:r>
          </a:p>
        </p:txBody>
      </p:sp>
      <p:sp>
        <p:nvSpPr>
          <p:cNvPr id="16" name="Rectangle 15"/>
          <p:cNvSpPr/>
          <p:nvPr/>
        </p:nvSpPr>
        <p:spPr>
          <a:xfrm>
            <a:off x="8458200" y="2574036"/>
            <a:ext cx="45720" cy="502920"/>
          </a:xfrm>
          <a:prstGeom prst="rect">
            <a:avLst/>
          </a:prstGeom>
          <a:solidFill>
            <a:srgbClr val="1E7A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22792" y="2574036"/>
            <a:ext cx="3127248" cy="164592"/>
          </a:xfrm>
          <a:prstGeom prst="rect">
            <a:avLst/>
          </a:prstGeom>
          <a:noFill/>
        </p:spPr>
        <p:txBody>
          <a:bodyPr wrap="square" anchor="t" lIns="0" rIns="0" tIns="0" bIns="0">
            <a:spAutoFit/>
          </a:bodyPr>
          <a:lstStyle/>
          <a:p>
            <a:pPr algn="l">
              <a:lnSpc>
                <a:spcPct val="115000"/>
              </a:lnSpc>
            </a:pPr>
            <a:r>
              <a:rPr sz="950" b="1">
                <a:solidFill>
                  <a:srgbClr val="1E7A53"/>
                </a:solidFill>
                <a:latin typeface="Calibri"/>
              </a:rPr>
              <a:t>RESULT</a:t>
            </a:r>
          </a:p>
        </p:txBody>
      </p:sp>
      <p:sp>
        <p:nvSpPr>
          <p:cNvPr id="18" name="TextBox 17"/>
          <p:cNvSpPr txBox="1"/>
          <p:nvPr/>
        </p:nvSpPr>
        <p:spPr>
          <a:xfrm>
            <a:off x="8622792" y="2766060"/>
            <a:ext cx="3127248" cy="320040"/>
          </a:xfrm>
          <a:prstGeom prst="rect">
            <a:avLst/>
          </a:prstGeom>
          <a:noFill/>
        </p:spPr>
        <p:txBody>
          <a:bodyPr wrap="square" anchor="t" lIns="0" rIns="0" tIns="0" bIns="0">
            <a:spAutoFit/>
          </a:bodyPr>
          <a:lstStyle/>
          <a:p>
            <a:pPr algn="l">
              <a:lnSpc>
                <a:spcPct val="108000"/>
              </a:lnSpc>
            </a:pPr>
            <a:r>
              <a:rPr sz="1100" b="0">
                <a:solidFill>
                  <a:srgbClr val="1B2A33"/>
                </a:solidFill>
                <a:latin typeface="Calibri"/>
              </a:rPr>
              <a:t>The role decides what they may do. There are no per-user permission overrides.</a:t>
            </a:r>
          </a:p>
        </p:txBody>
      </p:sp>
      <p:sp>
        <p:nvSpPr>
          <p:cNvPr id="19" name="Rectangle 18"/>
          <p:cNvSpPr/>
          <p:nvPr/>
        </p:nvSpPr>
        <p:spPr>
          <a:xfrm>
            <a:off x="8458200" y="3278124"/>
            <a:ext cx="45720" cy="342900"/>
          </a:xfrm>
          <a:prstGeom prst="rect">
            <a:avLst/>
          </a:prstGeom>
          <a:solidFill>
            <a:srgbClr val="5B6B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22792" y="3278124"/>
            <a:ext cx="3127248" cy="164592"/>
          </a:xfrm>
          <a:prstGeom prst="rect">
            <a:avLst/>
          </a:prstGeom>
          <a:noFill/>
        </p:spPr>
        <p:txBody>
          <a:bodyPr wrap="square" anchor="t" lIns="0" rIns="0" tIns="0" bIns="0">
            <a:spAutoFit/>
          </a:bodyPr>
          <a:lstStyle/>
          <a:p>
            <a:pPr algn="l">
              <a:lnSpc>
                <a:spcPct val="115000"/>
              </a:lnSpc>
            </a:pPr>
            <a:r>
              <a:rPr sz="950" b="1">
                <a:solidFill>
                  <a:srgbClr val="5B6B75"/>
                </a:solidFill>
                <a:latin typeface="Calibri"/>
              </a:rPr>
              <a:t>NEXT</a:t>
            </a:r>
          </a:p>
        </p:txBody>
      </p:sp>
      <p:sp>
        <p:nvSpPr>
          <p:cNvPr id="21" name="TextBox 20"/>
          <p:cNvSpPr txBox="1"/>
          <p:nvPr/>
        </p:nvSpPr>
        <p:spPr>
          <a:xfrm>
            <a:off x="8622792" y="3470148"/>
            <a:ext cx="3127248" cy="160020"/>
          </a:xfrm>
          <a:prstGeom prst="rect">
            <a:avLst/>
          </a:prstGeom>
          <a:noFill/>
        </p:spPr>
        <p:txBody>
          <a:bodyPr wrap="square" anchor="t" lIns="0" rIns="0" tIns="0" bIns="0">
            <a:spAutoFit/>
          </a:bodyPr>
          <a:lstStyle/>
          <a:p>
            <a:pPr algn="l">
              <a:lnSpc>
                <a:spcPct val="108000"/>
              </a:lnSpc>
            </a:pPr>
            <a:r>
              <a:rPr sz="1100" b="0">
                <a:solidFill>
                  <a:srgbClr val="1B2A33"/>
                </a:solidFill>
                <a:latin typeface="Calibri"/>
              </a:rPr>
              <a:t>Step 19 — shape the organisation.</a:t>
            </a:r>
          </a:p>
        </p:txBody>
      </p:sp>
      <p:sp>
        <p:nvSpPr>
          <p:cNvPr id="22" name="Rectangle 21"/>
          <p:cNvSpPr/>
          <p:nvPr/>
        </p:nvSpPr>
        <p:spPr>
          <a:xfrm>
            <a:off x="0" y="6473952"/>
            <a:ext cx="12191695" cy="384048"/>
          </a:xfrm>
          <a:prstGeom prst="rect">
            <a:avLst/>
          </a:prstGeom>
          <a:solidFill>
            <a:srgbClr val="F3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2920" y="6547104"/>
            <a:ext cx="8229600" cy="228600"/>
          </a:xfrm>
          <a:prstGeom prst="rect">
            <a:avLst/>
          </a:prstGeom>
          <a:noFill/>
        </p:spPr>
        <p:txBody>
          <a:bodyPr wrap="square" anchor="t" lIns="0" rIns="0" tIns="0" bIns="0">
            <a:spAutoFit/>
          </a:bodyPr>
          <a:lstStyle/>
          <a:p>
            <a:pPr algn="l">
              <a:lnSpc>
                <a:spcPct val="115000"/>
              </a:lnSpc>
            </a:pPr>
            <a:r>
              <a:rPr sz="900" b="0">
                <a:solidFill>
                  <a:srgbClr val="5B6B75"/>
                </a:solidFill>
                <a:latin typeface="Calibri"/>
              </a:rPr>
              <a:t>SUCCESS Bank — Internal Ticketing · Standard Operating Procedure</a:t>
            </a:r>
          </a:p>
        </p:txBody>
      </p:sp>
      <p:sp>
        <p:nvSpPr>
          <p:cNvPr id="24" name="TextBox 23"/>
          <p:cNvSpPr txBox="1"/>
          <p:nvPr/>
        </p:nvSpPr>
        <p:spPr>
          <a:xfrm>
            <a:off x="9997135" y="6547104"/>
            <a:ext cx="1691640" cy="228600"/>
          </a:xfrm>
          <a:prstGeom prst="rect">
            <a:avLst/>
          </a:prstGeom>
          <a:noFill/>
        </p:spPr>
        <p:txBody>
          <a:bodyPr wrap="square" anchor="t" lIns="0" rIns="0" tIns="0" bIns="0">
            <a:spAutoFit/>
          </a:bodyPr>
          <a:lstStyle/>
          <a:p>
            <a:pPr algn="r">
              <a:lnSpc>
                <a:spcPct val="115000"/>
              </a:lnSpc>
            </a:pPr>
            <a:r>
              <a:rPr sz="900" b="0">
                <a:solidFill>
                  <a:srgbClr val="5B6B75"/>
                </a:solidFill>
                <a:latin typeface="Calibri"/>
              </a:rPr>
              <a:t>Step 18</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0E4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36576"/>
          </a:xfrm>
          <a:prstGeom prst="rect">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55448"/>
            <a:ext cx="1371600" cy="274320"/>
          </a:xfrm>
          <a:prstGeom prst="rect">
            <a:avLst/>
          </a:prstGeom>
          <a:noFill/>
        </p:spPr>
        <p:txBody>
          <a:bodyPr wrap="square" anchor="t" lIns="0" rIns="0" tIns="0" bIns="0">
            <a:spAutoFit/>
          </a:bodyPr>
          <a:lstStyle/>
          <a:p>
            <a:pPr algn="l">
              <a:lnSpc>
                <a:spcPct val="115000"/>
              </a:lnSpc>
            </a:pPr>
            <a:r>
              <a:rPr sz="1200" b="1">
                <a:solidFill>
                  <a:srgbClr val="C25B2E"/>
                </a:solidFill>
                <a:latin typeface="Calibri"/>
              </a:rPr>
              <a:t>STEP 19</a:t>
            </a:r>
          </a:p>
        </p:txBody>
      </p:sp>
      <p:sp>
        <p:nvSpPr>
          <p:cNvPr id="5" name="TextBox 4"/>
          <p:cNvSpPr txBox="1"/>
          <p:nvPr/>
        </p:nvSpPr>
        <p:spPr>
          <a:xfrm>
            <a:off x="502920" y="420624"/>
            <a:ext cx="8412480" cy="365760"/>
          </a:xfrm>
          <a:prstGeom prst="rect">
            <a:avLst/>
          </a:prstGeom>
          <a:noFill/>
        </p:spPr>
        <p:txBody>
          <a:bodyPr wrap="square" anchor="t" lIns="0" rIns="0" tIns="0" bIns="0">
            <a:spAutoFit/>
          </a:bodyPr>
          <a:lstStyle/>
          <a:p>
            <a:pPr algn="l">
              <a:lnSpc>
                <a:spcPct val="115000"/>
              </a:lnSpc>
            </a:pPr>
            <a:r>
              <a:rPr sz="2000" b="1">
                <a:solidFill>
                  <a:srgbClr val="FFFFFF"/>
                </a:solidFill>
                <a:latin typeface="Calibri"/>
              </a:rPr>
              <a:t>See who is available</a:t>
            </a:r>
          </a:p>
        </p:txBody>
      </p:sp>
      <p:sp>
        <p:nvSpPr>
          <p:cNvPr id="6" name="TextBox 5"/>
          <p:cNvSpPr txBox="1"/>
          <p:nvPr/>
        </p:nvSpPr>
        <p:spPr>
          <a:xfrm>
            <a:off x="9174175" y="320040"/>
            <a:ext cx="2514600" cy="274320"/>
          </a:xfrm>
          <a:prstGeom prst="rect">
            <a:avLst/>
          </a:prstGeom>
          <a:noFill/>
        </p:spPr>
        <p:txBody>
          <a:bodyPr wrap="square" anchor="t" lIns="0" rIns="0" tIns="0" bIns="0">
            <a:spAutoFit/>
          </a:bodyPr>
          <a:lstStyle/>
          <a:p>
            <a:pPr algn="r">
              <a:lnSpc>
                <a:spcPct val="115000"/>
              </a:lnSpc>
            </a:pPr>
            <a:r>
              <a:rPr sz="1100" b="1">
                <a:solidFill>
                  <a:srgbClr val="F3ECE0"/>
                </a:solidFill>
                <a:latin typeface="Calibri"/>
              </a:rPr>
              <a:t>ADMIN</a:t>
            </a:r>
          </a:p>
        </p:txBody>
      </p:sp>
      <p:sp>
        <p:nvSpPr>
          <p:cNvPr id="7" name="Rectangle 6"/>
          <p:cNvSpPr/>
          <p:nvPr/>
        </p:nvSpPr>
        <p:spPr>
          <a:xfrm>
            <a:off x="388620" y="1165860"/>
            <a:ext cx="7818120" cy="4903470"/>
          </a:xfrm>
          <a:prstGeom prst="rect">
            <a:avLst/>
          </a:prstGeom>
          <a:solidFill>
            <a:srgbClr val="D6CE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411480" y="1188720"/>
            <a:ext cx="7772400" cy="4855464"/>
          </a:xfrm>
          <a:prstGeom prst="rect">
            <a:avLst/>
          </a:prstGeom>
        </p:spPr>
      </p:pic>
      <p:sp>
        <p:nvSpPr>
          <p:cNvPr id="9" name="Oval 8"/>
          <p:cNvSpPr/>
          <p:nvPr/>
        </p:nvSpPr>
        <p:spPr>
          <a:xfrm>
            <a:off x="5809731" y="2228592"/>
            <a:ext cx="274320" cy="274320"/>
          </a:xfrm>
          <a:prstGeom prst="ellipse">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noAutofit/>
          </a:bodyPr>
          <a:lstStyle/>
          <a:p>
            <a:pPr algn="ctr">
              <a:lnSpc>
                <a:spcPct val="100000"/>
              </a:lnSpc>
            </a:pPr>
            <a:r>
              <a:rPr sz="1300" b="1">
                <a:solidFill>
                  <a:srgbClr val="FFFFFF"/>
                </a:solidFill>
                <a:latin typeface="Calibri"/>
              </a:rPr>
              <a:t>1</a:t>
            </a:r>
          </a:p>
        </p:txBody>
      </p:sp>
      <p:sp>
        <p:nvSpPr>
          <p:cNvPr id="10" name="Oval 9"/>
          <p:cNvSpPr/>
          <p:nvPr/>
        </p:nvSpPr>
        <p:spPr>
          <a:xfrm>
            <a:off x="7058755" y="2474394"/>
            <a:ext cx="274320" cy="274320"/>
          </a:xfrm>
          <a:prstGeom prst="ellipse">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noAutofit/>
          </a:bodyPr>
          <a:lstStyle/>
          <a:p>
            <a:pPr algn="ctr">
              <a:lnSpc>
                <a:spcPct val="100000"/>
              </a:lnSpc>
            </a:pPr>
            <a:r>
              <a:rPr sz="1300" b="1">
                <a:solidFill>
                  <a:srgbClr val="FFFFFF"/>
                </a:solidFill>
                <a:latin typeface="Calibri"/>
              </a:rPr>
              <a:t>2</a:t>
            </a:r>
          </a:p>
        </p:txBody>
      </p:sp>
      <p:sp>
        <p:nvSpPr>
          <p:cNvPr id="11" name="TextBox 10"/>
          <p:cNvSpPr txBox="1"/>
          <p:nvPr/>
        </p:nvSpPr>
        <p:spPr>
          <a:xfrm>
            <a:off x="8458200" y="1188720"/>
            <a:ext cx="3291840" cy="219456"/>
          </a:xfrm>
          <a:prstGeom prst="rect">
            <a:avLst/>
          </a:prstGeom>
          <a:noFill/>
        </p:spPr>
        <p:txBody>
          <a:bodyPr wrap="square" anchor="t" lIns="0" rIns="0" tIns="0" bIns="0">
            <a:spAutoFit/>
          </a:bodyPr>
          <a:lstStyle/>
          <a:p>
            <a:pPr algn="l">
              <a:lnSpc>
                <a:spcPct val="115000"/>
              </a:lnSpc>
            </a:pPr>
            <a:r>
              <a:rPr sz="1000" b="1">
                <a:solidFill>
                  <a:srgbClr val="C25B2E"/>
                </a:solidFill>
                <a:latin typeface="Calibri"/>
              </a:rPr>
              <a:t>ON THIS SCREEN</a:t>
            </a:r>
          </a:p>
        </p:txBody>
      </p:sp>
      <p:sp>
        <p:nvSpPr>
          <p:cNvPr id="12" name="Oval 11"/>
          <p:cNvSpPr/>
          <p:nvPr/>
        </p:nvSpPr>
        <p:spPr>
          <a:xfrm>
            <a:off x="8458200" y="1463040"/>
            <a:ext cx="210312" cy="210312"/>
          </a:xfrm>
          <a:prstGeom prst="ellipse">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noAutofit/>
          </a:bodyPr>
          <a:lstStyle/>
          <a:p>
            <a:pPr algn="ctr">
              <a:lnSpc>
                <a:spcPct val="100000"/>
              </a:lnSpc>
            </a:pPr>
            <a:r>
              <a:rPr sz="1000" b="1">
                <a:solidFill>
                  <a:srgbClr val="FFFFFF"/>
                </a:solidFill>
                <a:latin typeface="Calibri"/>
              </a:rPr>
              <a:t>1</a:t>
            </a:r>
          </a:p>
        </p:txBody>
      </p:sp>
      <p:sp>
        <p:nvSpPr>
          <p:cNvPr id="13" name="TextBox 12"/>
          <p:cNvSpPr txBox="1"/>
          <p:nvPr/>
        </p:nvSpPr>
        <p:spPr>
          <a:xfrm>
            <a:off x="8787384" y="1481328"/>
            <a:ext cx="2962656" cy="338328"/>
          </a:xfrm>
          <a:prstGeom prst="rect">
            <a:avLst/>
          </a:prstGeom>
          <a:noFill/>
        </p:spPr>
        <p:txBody>
          <a:bodyPr wrap="square" anchor="t" lIns="0" rIns="0" tIns="0" bIns="0">
            <a:spAutoFit/>
          </a:bodyPr>
          <a:lstStyle/>
          <a:p>
            <a:pPr algn="l">
              <a:lnSpc>
                <a:spcPct val="105000"/>
              </a:lnSpc>
            </a:pPr>
            <a:r>
              <a:rPr sz="1050" b="0">
                <a:solidFill>
                  <a:srgbClr val="1B2A33"/>
                </a:solidFill>
                <a:latin typeface="Calibri"/>
              </a:rPr>
              <a:t>Availability is separate from Active — one gates login, the other routing</a:t>
            </a:r>
          </a:p>
        </p:txBody>
      </p:sp>
      <p:sp>
        <p:nvSpPr>
          <p:cNvPr id="14" name="Oval 13"/>
          <p:cNvSpPr/>
          <p:nvPr/>
        </p:nvSpPr>
        <p:spPr>
          <a:xfrm>
            <a:off x="8458200" y="1892808"/>
            <a:ext cx="210312" cy="210312"/>
          </a:xfrm>
          <a:prstGeom prst="ellipse">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noAutofit/>
          </a:bodyPr>
          <a:lstStyle/>
          <a:p>
            <a:pPr algn="ctr">
              <a:lnSpc>
                <a:spcPct val="100000"/>
              </a:lnSpc>
            </a:pPr>
            <a:r>
              <a:rPr sz="1000" b="1">
                <a:solidFill>
                  <a:srgbClr val="FFFFFF"/>
                </a:solidFill>
                <a:latin typeface="Calibri"/>
              </a:rPr>
              <a:t>2</a:t>
            </a:r>
          </a:p>
        </p:txBody>
      </p:sp>
      <p:sp>
        <p:nvSpPr>
          <p:cNvPr id="15" name="TextBox 14"/>
          <p:cNvSpPr txBox="1"/>
          <p:nvPr/>
        </p:nvSpPr>
        <p:spPr>
          <a:xfrm>
            <a:off x="8787384" y="1911096"/>
            <a:ext cx="2962656" cy="169164"/>
          </a:xfrm>
          <a:prstGeom prst="rect">
            <a:avLst/>
          </a:prstGeom>
          <a:noFill/>
        </p:spPr>
        <p:txBody>
          <a:bodyPr wrap="square" anchor="t" lIns="0" rIns="0" tIns="0" bIns="0">
            <a:spAutoFit/>
          </a:bodyPr>
          <a:lstStyle/>
          <a:p>
            <a:pPr algn="l">
              <a:lnSpc>
                <a:spcPct val="105000"/>
              </a:lnSpc>
            </a:pPr>
            <a:r>
              <a:rPr sz="1050" b="0">
                <a:solidFill>
                  <a:srgbClr val="1B2A33"/>
                </a:solidFill>
                <a:latin typeface="Calibri"/>
              </a:rPr>
              <a:t>Record a leave window</a:t>
            </a:r>
          </a:p>
        </p:txBody>
      </p:sp>
      <p:sp>
        <p:nvSpPr>
          <p:cNvPr id="16" name="Rectangle 15"/>
          <p:cNvSpPr/>
          <p:nvPr/>
        </p:nvSpPr>
        <p:spPr>
          <a:xfrm>
            <a:off x="8458200" y="2299716"/>
            <a:ext cx="45720" cy="662940"/>
          </a:xfrm>
          <a:prstGeom prst="rect">
            <a:avLst/>
          </a:prstGeom>
          <a:solidFill>
            <a:srgbClr val="0E4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22792" y="2299716"/>
            <a:ext cx="3127248" cy="164592"/>
          </a:xfrm>
          <a:prstGeom prst="rect">
            <a:avLst/>
          </a:prstGeom>
          <a:noFill/>
        </p:spPr>
        <p:txBody>
          <a:bodyPr wrap="square" anchor="t" lIns="0" rIns="0" tIns="0" bIns="0">
            <a:spAutoFit/>
          </a:bodyPr>
          <a:lstStyle/>
          <a:p>
            <a:pPr algn="l">
              <a:lnSpc>
                <a:spcPct val="115000"/>
              </a:lnSpc>
            </a:pPr>
            <a:r>
              <a:rPr sz="950" b="1">
                <a:solidFill>
                  <a:srgbClr val="0E4F4A"/>
                </a:solidFill>
                <a:latin typeface="Calibri"/>
              </a:rPr>
              <a:t>ACTION</a:t>
            </a:r>
          </a:p>
        </p:txBody>
      </p:sp>
      <p:sp>
        <p:nvSpPr>
          <p:cNvPr id="18" name="TextBox 17"/>
          <p:cNvSpPr txBox="1"/>
          <p:nvPr/>
        </p:nvSpPr>
        <p:spPr>
          <a:xfrm>
            <a:off x="8622792" y="2491740"/>
            <a:ext cx="3127248" cy="480060"/>
          </a:xfrm>
          <a:prstGeom prst="rect">
            <a:avLst/>
          </a:prstGeom>
          <a:noFill/>
        </p:spPr>
        <p:txBody>
          <a:bodyPr wrap="square" anchor="t" lIns="0" rIns="0" tIns="0" bIns="0">
            <a:spAutoFit/>
          </a:bodyPr>
          <a:lstStyle/>
          <a:p>
            <a:pPr algn="l">
              <a:lnSpc>
                <a:spcPct val="108000"/>
              </a:lnSpc>
            </a:pPr>
            <a:r>
              <a:rPr sz="1100" b="0">
                <a:solidFill>
                  <a:srgbClr val="1B2A33"/>
                </a:solidFill>
                <a:latin typeface="Calibri"/>
              </a:rPr>
              <a:t>Read the Availability column before wondering why work is not reaching someone.</a:t>
            </a:r>
          </a:p>
        </p:txBody>
      </p:sp>
      <p:sp>
        <p:nvSpPr>
          <p:cNvPr id="19" name="Rectangle 18"/>
          <p:cNvSpPr/>
          <p:nvPr/>
        </p:nvSpPr>
        <p:spPr>
          <a:xfrm>
            <a:off x="8458200" y="3163824"/>
            <a:ext cx="45720" cy="1303020"/>
          </a:xfrm>
          <a:prstGeom prst="rect">
            <a:avLst/>
          </a:prstGeom>
          <a:solidFill>
            <a:srgbClr val="1E7A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22792" y="3163824"/>
            <a:ext cx="3127248" cy="164592"/>
          </a:xfrm>
          <a:prstGeom prst="rect">
            <a:avLst/>
          </a:prstGeom>
          <a:noFill/>
        </p:spPr>
        <p:txBody>
          <a:bodyPr wrap="square" anchor="t" lIns="0" rIns="0" tIns="0" bIns="0">
            <a:spAutoFit/>
          </a:bodyPr>
          <a:lstStyle/>
          <a:p>
            <a:pPr algn="l">
              <a:lnSpc>
                <a:spcPct val="115000"/>
              </a:lnSpc>
            </a:pPr>
            <a:r>
              <a:rPr sz="950" b="1">
                <a:solidFill>
                  <a:srgbClr val="1E7A53"/>
                </a:solidFill>
                <a:latin typeface="Calibri"/>
              </a:rPr>
              <a:t>RESULT</a:t>
            </a:r>
          </a:p>
        </p:txBody>
      </p:sp>
      <p:sp>
        <p:nvSpPr>
          <p:cNvPr id="21" name="TextBox 20"/>
          <p:cNvSpPr txBox="1"/>
          <p:nvPr/>
        </p:nvSpPr>
        <p:spPr>
          <a:xfrm>
            <a:off x="8622792" y="3355848"/>
            <a:ext cx="3127248" cy="1120140"/>
          </a:xfrm>
          <a:prstGeom prst="rect">
            <a:avLst/>
          </a:prstGeom>
          <a:noFill/>
        </p:spPr>
        <p:txBody>
          <a:bodyPr wrap="square" anchor="t" lIns="0" rIns="0" tIns="0" bIns="0">
            <a:spAutoFit/>
          </a:bodyPr>
          <a:lstStyle/>
          <a:p>
            <a:pPr algn="l">
              <a:lnSpc>
                <a:spcPct val="108000"/>
              </a:lnSpc>
            </a:pPr>
            <a:r>
              <a:rPr sz="1100" b="0">
                <a:solidFill>
                  <a:srgbClr val="1B2A33"/>
                </a:solidFill>
                <a:latin typeface="Calibri"/>
              </a:rPr>
              <a:t>Availability and Active are different columns because they mean different things. Active is whether the account works at all; availability is whether the router sends new tickets there. Someone on leave can still sign in and finish what they already hold.</a:t>
            </a:r>
          </a:p>
        </p:txBody>
      </p:sp>
      <p:sp>
        <p:nvSpPr>
          <p:cNvPr id="22" name="Rectangle 21"/>
          <p:cNvSpPr/>
          <p:nvPr/>
        </p:nvSpPr>
        <p:spPr>
          <a:xfrm>
            <a:off x="8458200" y="4668012"/>
            <a:ext cx="45720" cy="502920"/>
          </a:xfrm>
          <a:prstGeom prst="rect">
            <a:avLst/>
          </a:prstGeom>
          <a:solidFill>
            <a:srgbClr val="5B6B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22792" y="4668012"/>
            <a:ext cx="3127248" cy="164592"/>
          </a:xfrm>
          <a:prstGeom prst="rect">
            <a:avLst/>
          </a:prstGeom>
          <a:noFill/>
        </p:spPr>
        <p:txBody>
          <a:bodyPr wrap="square" anchor="t" lIns="0" rIns="0" tIns="0" bIns="0">
            <a:spAutoFit/>
          </a:bodyPr>
          <a:lstStyle/>
          <a:p>
            <a:pPr algn="l">
              <a:lnSpc>
                <a:spcPct val="115000"/>
              </a:lnSpc>
            </a:pPr>
            <a:r>
              <a:rPr sz="950" b="1">
                <a:solidFill>
                  <a:srgbClr val="5B6B75"/>
                </a:solidFill>
                <a:latin typeface="Calibri"/>
              </a:rPr>
              <a:t>NEXT</a:t>
            </a:r>
          </a:p>
        </p:txBody>
      </p:sp>
      <p:sp>
        <p:nvSpPr>
          <p:cNvPr id="24" name="TextBox 23"/>
          <p:cNvSpPr txBox="1"/>
          <p:nvPr/>
        </p:nvSpPr>
        <p:spPr>
          <a:xfrm>
            <a:off x="8622792" y="4860036"/>
            <a:ext cx="3127248" cy="320040"/>
          </a:xfrm>
          <a:prstGeom prst="rect">
            <a:avLst/>
          </a:prstGeom>
          <a:noFill/>
        </p:spPr>
        <p:txBody>
          <a:bodyPr wrap="square" anchor="t" lIns="0" rIns="0" tIns="0" bIns="0">
            <a:spAutoFit/>
          </a:bodyPr>
          <a:lstStyle/>
          <a:p>
            <a:pPr algn="l">
              <a:lnSpc>
                <a:spcPct val="108000"/>
              </a:lnSpc>
            </a:pPr>
            <a:r>
              <a:rPr sz="1100" b="0">
                <a:solidFill>
                  <a:srgbClr val="1B2A33"/>
                </a:solidFill>
                <a:latin typeface="Calibri"/>
              </a:rPr>
              <a:t>Record a leave window with the Leave button.</a:t>
            </a:r>
          </a:p>
        </p:txBody>
      </p:sp>
      <p:sp>
        <p:nvSpPr>
          <p:cNvPr id="25" name="Rectangle 24"/>
          <p:cNvSpPr/>
          <p:nvPr/>
        </p:nvSpPr>
        <p:spPr>
          <a:xfrm>
            <a:off x="0" y="6473952"/>
            <a:ext cx="12191695" cy="384048"/>
          </a:xfrm>
          <a:prstGeom prst="rect">
            <a:avLst/>
          </a:prstGeom>
          <a:solidFill>
            <a:srgbClr val="F3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2920" y="6547104"/>
            <a:ext cx="8229600" cy="228600"/>
          </a:xfrm>
          <a:prstGeom prst="rect">
            <a:avLst/>
          </a:prstGeom>
          <a:noFill/>
        </p:spPr>
        <p:txBody>
          <a:bodyPr wrap="square" anchor="t" lIns="0" rIns="0" tIns="0" bIns="0">
            <a:spAutoFit/>
          </a:bodyPr>
          <a:lstStyle/>
          <a:p>
            <a:pPr algn="l">
              <a:lnSpc>
                <a:spcPct val="115000"/>
              </a:lnSpc>
            </a:pPr>
            <a:r>
              <a:rPr sz="900" b="0">
                <a:solidFill>
                  <a:srgbClr val="5B6B75"/>
                </a:solidFill>
                <a:latin typeface="Calibri"/>
              </a:rPr>
              <a:t>SUCCESS Bank — Internal Ticketing · Standard Operating Procedure</a:t>
            </a:r>
          </a:p>
        </p:txBody>
      </p:sp>
      <p:sp>
        <p:nvSpPr>
          <p:cNvPr id="27" name="TextBox 26"/>
          <p:cNvSpPr txBox="1"/>
          <p:nvPr/>
        </p:nvSpPr>
        <p:spPr>
          <a:xfrm>
            <a:off x="9997135" y="6547104"/>
            <a:ext cx="1691640" cy="228600"/>
          </a:xfrm>
          <a:prstGeom prst="rect">
            <a:avLst/>
          </a:prstGeom>
          <a:noFill/>
        </p:spPr>
        <p:txBody>
          <a:bodyPr wrap="square" anchor="t" lIns="0" rIns="0" tIns="0" bIns="0">
            <a:spAutoFit/>
          </a:bodyPr>
          <a:lstStyle/>
          <a:p>
            <a:pPr algn="r">
              <a:lnSpc>
                <a:spcPct val="115000"/>
              </a:lnSpc>
            </a:pPr>
            <a:r>
              <a:rPr sz="900" b="0">
                <a:solidFill>
                  <a:srgbClr val="5B6B75"/>
                </a:solidFill>
                <a:latin typeface="Calibri"/>
              </a:rPr>
              <a:t>Step 19</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0E4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36576"/>
          </a:xfrm>
          <a:prstGeom prst="rect">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55448"/>
            <a:ext cx="1371600" cy="274320"/>
          </a:xfrm>
          <a:prstGeom prst="rect">
            <a:avLst/>
          </a:prstGeom>
          <a:noFill/>
        </p:spPr>
        <p:txBody>
          <a:bodyPr wrap="square" anchor="t" lIns="0" rIns="0" tIns="0" bIns="0">
            <a:spAutoFit/>
          </a:bodyPr>
          <a:lstStyle/>
          <a:p>
            <a:pPr algn="l">
              <a:lnSpc>
                <a:spcPct val="115000"/>
              </a:lnSpc>
            </a:pPr>
            <a:r>
              <a:rPr sz="1200" b="1">
                <a:solidFill>
                  <a:srgbClr val="C25B2E"/>
                </a:solidFill>
                <a:latin typeface="Calibri"/>
              </a:rPr>
              <a:t>STEP 20</a:t>
            </a:r>
          </a:p>
        </p:txBody>
      </p:sp>
      <p:sp>
        <p:nvSpPr>
          <p:cNvPr id="5" name="TextBox 4"/>
          <p:cNvSpPr txBox="1"/>
          <p:nvPr/>
        </p:nvSpPr>
        <p:spPr>
          <a:xfrm>
            <a:off x="502920" y="420624"/>
            <a:ext cx="8412480" cy="365760"/>
          </a:xfrm>
          <a:prstGeom prst="rect">
            <a:avLst/>
          </a:prstGeom>
          <a:noFill/>
        </p:spPr>
        <p:txBody>
          <a:bodyPr wrap="square" anchor="t" lIns="0" rIns="0" tIns="0" bIns="0">
            <a:spAutoFit/>
          </a:bodyPr>
          <a:lstStyle/>
          <a:p>
            <a:pPr algn="l">
              <a:lnSpc>
                <a:spcPct val="115000"/>
              </a:lnSpc>
            </a:pPr>
            <a:r>
              <a:rPr sz="2000" b="1">
                <a:solidFill>
                  <a:srgbClr val="FFFFFF"/>
                </a:solidFill>
                <a:latin typeface="Calibri"/>
              </a:rPr>
              <a:t>Record a leave window</a:t>
            </a:r>
          </a:p>
        </p:txBody>
      </p:sp>
      <p:sp>
        <p:nvSpPr>
          <p:cNvPr id="6" name="TextBox 5"/>
          <p:cNvSpPr txBox="1"/>
          <p:nvPr/>
        </p:nvSpPr>
        <p:spPr>
          <a:xfrm>
            <a:off x="9174175" y="320040"/>
            <a:ext cx="2514600" cy="274320"/>
          </a:xfrm>
          <a:prstGeom prst="rect">
            <a:avLst/>
          </a:prstGeom>
          <a:noFill/>
        </p:spPr>
        <p:txBody>
          <a:bodyPr wrap="square" anchor="t" lIns="0" rIns="0" tIns="0" bIns="0">
            <a:spAutoFit/>
          </a:bodyPr>
          <a:lstStyle/>
          <a:p>
            <a:pPr algn="r">
              <a:lnSpc>
                <a:spcPct val="115000"/>
              </a:lnSpc>
            </a:pPr>
            <a:r>
              <a:rPr sz="1100" b="1">
                <a:solidFill>
                  <a:srgbClr val="F3ECE0"/>
                </a:solidFill>
                <a:latin typeface="Calibri"/>
              </a:rPr>
              <a:t>ADMIN</a:t>
            </a:r>
          </a:p>
        </p:txBody>
      </p:sp>
      <p:sp>
        <p:nvSpPr>
          <p:cNvPr id="7" name="Rectangle 6"/>
          <p:cNvSpPr/>
          <p:nvPr/>
        </p:nvSpPr>
        <p:spPr>
          <a:xfrm>
            <a:off x="388620" y="1165860"/>
            <a:ext cx="7818120" cy="4903470"/>
          </a:xfrm>
          <a:prstGeom prst="rect">
            <a:avLst/>
          </a:prstGeom>
          <a:solidFill>
            <a:srgbClr val="D6CE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411480" y="1188720"/>
            <a:ext cx="7772400" cy="4855464"/>
          </a:xfrm>
          <a:prstGeom prst="rect">
            <a:avLst/>
          </a:prstGeom>
        </p:spPr>
      </p:pic>
      <p:sp>
        <p:nvSpPr>
          <p:cNvPr id="9" name="Oval 8"/>
          <p:cNvSpPr/>
          <p:nvPr/>
        </p:nvSpPr>
        <p:spPr>
          <a:xfrm>
            <a:off x="2840674" y="3295354"/>
            <a:ext cx="274320" cy="274320"/>
          </a:xfrm>
          <a:prstGeom prst="ellipse">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noAutofit/>
          </a:bodyPr>
          <a:lstStyle/>
          <a:p>
            <a:pPr algn="ctr">
              <a:lnSpc>
                <a:spcPct val="100000"/>
              </a:lnSpc>
            </a:pPr>
            <a:r>
              <a:rPr sz="1300" b="1">
                <a:solidFill>
                  <a:srgbClr val="FFFFFF"/>
                </a:solidFill>
                <a:latin typeface="Calibri"/>
              </a:rPr>
              <a:t>1</a:t>
            </a:r>
          </a:p>
        </p:txBody>
      </p:sp>
      <p:sp>
        <p:nvSpPr>
          <p:cNvPr id="10" name="Oval 9"/>
          <p:cNvSpPr/>
          <p:nvPr/>
        </p:nvSpPr>
        <p:spPr>
          <a:xfrm>
            <a:off x="3995653" y="3295354"/>
            <a:ext cx="274320" cy="274320"/>
          </a:xfrm>
          <a:prstGeom prst="ellipse">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noAutofit/>
          </a:bodyPr>
          <a:lstStyle/>
          <a:p>
            <a:pPr algn="ctr">
              <a:lnSpc>
                <a:spcPct val="100000"/>
              </a:lnSpc>
            </a:pPr>
            <a:r>
              <a:rPr sz="1300" b="1">
                <a:solidFill>
                  <a:srgbClr val="FFFFFF"/>
                </a:solidFill>
                <a:latin typeface="Calibri"/>
              </a:rPr>
              <a:t>2</a:t>
            </a:r>
          </a:p>
        </p:txBody>
      </p:sp>
      <p:sp>
        <p:nvSpPr>
          <p:cNvPr id="11" name="Oval 10"/>
          <p:cNvSpPr/>
          <p:nvPr/>
        </p:nvSpPr>
        <p:spPr>
          <a:xfrm>
            <a:off x="2840674" y="4124086"/>
            <a:ext cx="274320" cy="274320"/>
          </a:xfrm>
          <a:prstGeom prst="ellipse">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noAutofit/>
          </a:bodyPr>
          <a:lstStyle/>
          <a:p>
            <a:pPr algn="ctr">
              <a:lnSpc>
                <a:spcPct val="100000"/>
              </a:lnSpc>
            </a:pPr>
            <a:r>
              <a:rPr sz="1300" b="1">
                <a:solidFill>
                  <a:srgbClr val="FFFFFF"/>
                </a:solidFill>
                <a:latin typeface="Calibri"/>
              </a:rPr>
              <a:t>3</a:t>
            </a:r>
          </a:p>
        </p:txBody>
      </p:sp>
      <p:sp>
        <p:nvSpPr>
          <p:cNvPr id="12" name="TextBox 11"/>
          <p:cNvSpPr txBox="1"/>
          <p:nvPr/>
        </p:nvSpPr>
        <p:spPr>
          <a:xfrm>
            <a:off x="8458200" y="1188720"/>
            <a:ext cx="3291840" cy="219456"/>
          </a:xfrm>
          <a:prstGeom prst="rect">
            <a:avLst/>
          </a:prstGeom>
          <a:noFill/>
        </p:spPr>
        <p:txBody>
          <a:bodyPr wrap="square" anchor="t" lIns="0" rIns="0" tIns="0" bIns="0">
            <a:spAutoFit/>
          </a:bodyPr>
          <a:lstStyle/>
          <a:p>
            <a:pPr algn="l">
              <a:lnSpc>
                <a:spcPct val="115000"/>
              </a:lnSpc>
            </a:pPr>
            <a:r>
              <a:rPr sz="1000" b="1">
                <a:solidFill>
                  <a:srgbClr val="C25B2E"/>
                </a:solidFill>
                <a:latin typeface="Calibri"/>
              </a:rPr>
              <a:t>ON THIS SCREEN</a:t>
            </a:r>
          </a:p>
        </p:txBody>
      </p:sp>
      <p:sp>
        <p:nvSpPr>
          <p:cNvPr id="13" name="Oval 12"/>
          <p:cNvSpPr/>
          <p:nvPr/>
        </p:nvSpPr>
        <p:spPr>
          <a:xfrm>
            <a:off x="8458200" y="1463040"/>
            <a:ext cx="210312" cy="210312"/>
          </a:xfrm>
          <a:prstGeom prst="ellipse">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noAutofit/>
          </a:bodyPr>
          <a:lstStyle/>
          <a:p>
            <a:pPr algn="ctr">
              <a:lnSpc>
                <a:spcPct val="100000"/>
              </a:lnSpc>
            </a:pPr>
            <a:r>
              <a:rPr sz="1000" b="1">
                <a:solidFill>
                  <a:srgbClr val="FFFFFF"/>
                </a:solidFill>
                <a:latin typeface="Calibri"/>
              </a:rPr>
              <a:t>1</a:t>
            </a:r>
          </a:p>
        </p:txBody>
      </p:sp>
      <p:sp>
        <p:nvSpPr>
          <p:cNvPr id="14" name="TextBox 13"/>
          <p:cNvSpPr txBox="1"/>
          <p:nvPr/>
        </p:nvSpPr>
        <p:spPr>
          <a:xfrm>
            <a:off x="8787384" y="1481328"/>
            <a:ext cx="2962656" cy="169164"/>
          </a:xfrm>
          <a:prstGeom prst="rect">
            <a:avLst/>
          </a:prstGeom>
          <a:noFill/>
        </p:spPr>
        <p:txBody>
          <a:bodyPr wrap="square" anchor="t" lIns="0" rIns="0" tIns="0" bIns="0">
            <a:spAutoFit/>
          </a:bodyPr>
          <a:lstStyle/>
          <a:p>
            <a:pPr algn="l">
              <a:lnSpc>
                <a:spcPct val="105000"/>
              </a:lnSpc>
            </a:pPr>
            <a:r>
              <a:rPr sz="1050" b="0">
                <a:solidFill>
                  <a:srgbClr val="1B2A33"/>
                </a:solidFill>
                <a:latin typeface="Calibri"/>
              </a:rPr>
              <a:t>First and last day, both inclusive</a:t>
            </a:r>
          </a:p>
        </p:txBody>
      </p:sp>
      <p:sp>
        <p:nvSpPr>
          <p:cNvPr id="15" name="Oval 14"/>
          <p:cNvSpPr/>
          <p:nvPr/>
        </p:nvSpPr>
        <p:spPr>
          <a:xfrm>
            <a:off x="8458200" y="1723644"/>
            <a:ext cx="210312" cy="210312"/>
          </a:xfrm>
          <a:prstGeom prst="ellipse">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noAutofit/>
          </a:bodyPr>
          <a:lstStyle/>
          <a:p>
            <a:pPr algn="ctr">
              <a:lnSpc>
                <a:spcPct val="100000"/>
              </a:lnSpc>
            </a:pPr>
            <a:r>
              <a:rPr sz="1000" b="1">
                <a:solidFill>
                  <a:srgbClr val="FFFFFF"/>
                </a:solidFill>
                <a:latin typeface="Calibri"/>
              </a:rPr>
              <a:t>2</a:t>
            </a:r>
          </a:p>
        </p:txBody>
      </p:sp>
      <p:sp>
        <p:nvSpPr>
          <p:cNvPr id="16" name="TextBox 15"/>
          <p:cNvSpPr txBox="1"/>
          <p:nvPr/>
        </p:nvSpPr>
        <p:spPr>
          <a:xfrm>
            <a:off x="8787384" y="1741932"/>
            <a:ext cx="2962656" cy="338328"/>
          </a:xfrm>
          <a:prstGeom prst="rect">
            <a:avLst/>
          </a:prstGeom>
          <a:noFill/>
        </p:spPr>
        <p:txBody>
          <a:bodyPr wrap="square" anchor="t" lIns="0" rIns="0" tIns="0" bIns="0">
            <a:spAutoFit/>
          </a:bodyPr>
          <a:lstStyle/>
          <a:p>
            <a:pPr algn="l">
              <a:lnSpc>
                <a:spcPct val="105000"/>
              </a:lnSpc>
            </a:pPr>
            <a:r>
              <a:rPr sz="1050" b="0">
                <a:solidFill>
                  <a:srgbClr val="1B2A33"/>
                </a:solidFill>
                <a:latin typeface="Calibri"/>
              </a:rPr>
              <a:t>Leave the end date empty for indefinite leave</a:t>
            </a:r>
          </a:p>
        </p:txBody>
      </p:sp>
      <p:sp>
        <p:nvSpPr>
          <p:cNvPr id="17" name="Oval 16"/>
          <p:cNvSpPr/>
          <p:nvPr/>
        </p:nvSpPr>
        <p:spPr>
          <a:xfrm>
            <a:off x="8458200" y="2153412"/>
            <a:ext cx="210312" cy="210312"/>
          </a:xfrm>
          <a:prstGeom prst="ellipse">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noAutofit/>
          </a:bodyPr>
          <a:lstStyle/>
          <a:p>
            <a:pPr algn="ctr">
              <a:lnSpc>
                <a:spcPct val="100000"/>
              </a:lnSpc>
            </a:pPr>
            <a:r>
              <a:rPr sz="1000" b="1">
                <a:solidFill>
                  <a:srgbClr val="FFFFFF"/>
                </a:solidFill>
                <a:latin typeface="Calibri"/>
              </a:rPr>
              <a:t>3</a:t>
            </a:r>
          </a:p>
        </p:txBody>
      </p:sp>
      <p:sp>
        <p:nvSpPr>
          <p:cNvPr id="18" name="TextBox 17"/>
          <p:cNvSpPr txBox="1"/>
          <p:nvPr/>
        </p:nvSpPr>
        <p:spPr>
          <a:xfrm>
            <a:off x="8787384" y="2171700"/>
            <a:ext cx="2962656" cy="338328"/>
          </a:xfrm>
          <a:prstGeom prst="rect">
            <a:avLst/>
          </a:prstGeom>
          <a:noFill/>
        </p:spPr>
        <p:txBody>
          <a:bodyPr wrap="square" anchor="t" lIns="0" rIns="0" tIns="0" bIns="0">
            <a:spAutoFit/>
          </a:bodyPr>
          <a:lstStyle/>
          <a:p>
            <a:pPr algn="l">
              <a:lnSpc>
                <a:spcPct val="105000"/>
              </a:lnSpc>
            </a:pPr>
            <a:r>
              <a:rPr sz="1050" b="0">
                <a:solidFill>
                  <a:srgbClr val="1B2A33"/>
                </a:solidFill>
                <a:latin typeface="Calibri"/>
              </a:rPr>
              <a:t>Clears the window and makes them available again</a:t>
            </a:r>
          </a:p>
        </p:txBody>
      </p:sp>
      <p:sp>
        <p:nvSpPr>
          <p:cNvPr id="19" name="Rectangle 18"/>
          <p:cNvSpPr/>
          <p:nvPr/>
        </p:nvSpPr>
        <p:spPr>
          <a:xfrm>
            <a:off x="8458200" y="2729484"/>
            <a:ext cx="45720" cy="502920"/>
          </a:xfrm>
          <a:prstGeom prst="rect">
            <a:avLst/>
          </a:prstGeom>
          <a:solidFill>
            <a:srgbClr val="0E4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22792" y="2729484"/>
            <a:ext cx="3127248" cy="164592"/>
          </a:xfrm>
          <a:prstGeom prst="rect">
            <a:avLst/>
          </a:prstGeom>
          <a:noFill/>
        </p:spPr>
        <p:txBody>
          <a:bodyPr wrap="square" anchor="t" lIns="0" rIns="0" tIns="0" bIns="0">
            <a:spAutoFit/>
          </a:bodyPr>
          <a:lstStyle/>
          <a:p>
            <a:pPr algn="l">
              <a:lnSpc>
                <a:spcPct val="115000"/>
              </a:lnSpc>
            </a:pPr>
            <a:r>
              <a:rPr sz="950" b="1">
                <a:solidFill>
                  <a:srgbClr val="0E4F4A"/>
                </a:solidFill>
                <a:latin typeface="Calibri"/>
              </a:rPr>
              <a:t>ACTION</a:t>
            </a:r>
          </a:p>
        </p:txBody>
      </p:sp>
      <p:sp>
        <p:nvSpPr>
          <p:cNvPr id="21" name="TextBox 20"/>
          <p:cNvSpPr txBox="1"/>
          <p:nvPr/>
        </p:nvSpPr>
        <p:spPr>
          <a:xfrm>
            <a:off x="8622792" y="2921508"/>
            <a:ext cx="3127248" cy="320040"/>
          </a:xfrm>
          <a:prstGeom prst="rect">
            <a:avLst/>
          </a:prstGeom>
          <a:noFill/>
        </p:spPr>
        <p:txBody>
          <a:bodyPr wrap="square" anchor="t" lIns="0" rIns="0" tIns="0" bIns="0">
            <a:spAutoFit/>
          </a:bodyPr>
          <a:lstStyle/>
          <a:p>
            <a:pPr algn="l">
              <a:lnSpc>
                <a:spcPct val="108000"/>
              </a:lnSpc>
            </a:pPr>
            <a:r>
              <a:rPr sz="1100" b="0">
                <a:solidFill>
                  <a:srgbClr val="1B2A33"/>
                </a:solidFill>
                <a:latin typeface="Calibri"/>
              </a:rPr>
              <a:t>Enter the first and last day away, then save.</a:t>
            </a:r>
          </a:p>
        </p:txBody>
      </p:sp>
      <p:sp>
        <p:nvSpPr>
          <p:cNvPr id="22" name="Rectangle 21"/>
          <p:cNvSpPr/>
          <p:nvPr/>
        </p:nvSpPr>
        <p:spPr>
          <a:xfrm>
            <a:off x="8458200" y="3433572"/>
            <a:ext cx="45720" cy="1303020"/>
          </a:xfrm>
          <a:prstGeom prst="rect">
            <a:avLst/>
          </a:prstGeom>
          <a:solidFill>
            <a:srgbClr val="1E7A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22792" y="3433572"/>
            <a:ext cx="3127248" cy="164592"/>
          </a:xfrm>
          <a:prstGeom prst="rect">
            <a:avLst/>
          </a:prstGeom>
          <a:noFill/>
        </p:spPr>
        <p:txBody>
          <a:bodyPr wrap="square" anchor="t" lIns="0" rIns="0" tIns="0" bIns="0">
            <a:spAutoFit/>
          </a:bodyPr>
          <a:lstStyle/>
          <a:p>
            <a:pPr algn="l">
              <a:lnSpc>
                <a:spcPct val="115000"/>
              </a:lnSpc>
            </a:pPr>
            <a:r>
              <a:rPr sz="950" b="1">
                <a:solidFill>
                  <a:srgbClr val="1E7A53"/>
                </a:solidFill>
                <a:latin typeface="Calibri"/>
              </a:rPr>
              <a:t>RESULT</a:t>
            </a:r>
          </a:p>
        </p:txBody>
      </p:sp>
      <p:sp>
        <p:nvSpPr>
          <p:cNvPr id="24" name="TextBox 23"/>
          <p:cNvSpPr txBox="1"/>
          <p:nvPr/>
        </p:nvSpPr>
        <p:spPr>
          <a:xfrm>
            <a:off x="8622792" y="3625596"/>
            <a:ext cx="3127248" cy="1120140"/>
          </a:xfrm>
          <a:prstGeom prst="rect">
            <a:avLst/>
          </a:prstGeom>
          <a:noFill/>
        </p:spPr>
        <p:txBody>
          <a:bodyPr wrap="square" anchor="t" lIns="0" rIns="0" tIns="0" bIns="0">
            <a:spAutoFit/>
          </a:bodyPr>
          <a:lstStyle/>
          <a:p>
            <a:pPr algn="l">
              <a:lnSpc>
                <a:spcPct val="108000"/>
              </a:lnSpc>
            </a:pPr>
            <a:r>
              <a:rPr sz="1100" b="0">
                <a:solidFill>
                  <a:srgbClr val="1B2A33"/>
                </a:solidFill>
                <a:latin typeface="Calibri"/>
              </a:rPr>
              <a:t>Auto-assign skips them for that window and starts including them again the day after it ends — nobody has to remember to switch them back on. A supervisor can still assign to them deliberately, which is why they stay in the list rather than disappearing from it.</a:t>
            </a:r>
          </a:p>
        </p:txBody>
      </p:sp>
      <p:sp>
        <p:nvSpPr>
          <p:cNvPr id="25" name="Rectangle 24"/>
          <p:cNvSpPr/>
          <p:nvPr/>
        </p:nvSpPr>
        <p:spPr>
          <a:xfrm>
            <a:off x="8458200" y="4937760"/>
            <a:ext cx="45720" cy="342900"/>
          </a:xfrm>
          <a:prstGeom prst="rect">
            <a:avLst/>
          </a:prstGeom>
          <a:solidFill>
            <a:srgbClr val="5B6B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622792" y="4937760"/>
            <a:ext cx="3127248" cy="164592"/>
          </a:xfrm>
          <a:prstGeom prst="rect">
            <a:avLst/>
          </a:prstGeom>
          <a:noFill/>
        </p:spPr>
        <p:txBody>
          <a:bodyPr wrap="square" anchor="t" lIns="0" rIns="0" tIns="0" bIns="0">
            <a:spAutoFit/>
          </a:bodyPr>
          <a:lstStyle/>
          <a:p>
            <a:pPr algn="l">
              <a:lnSpc>
                <a:spcPct val="115000"/>
              </a:lnSpc>
            </a:pPr>
            <a:r>
              <a:rPr sz="950" b="1">
                <a:solidFill>
                  <a:srgbClr val="5B6B75"/>
                </a:solidFill>
                <a:latin typeface="Calibri"/>
              </a:rPr>
              <a:t>NEXT</a:t>
            </a:r>
          </a:p>
        </p:txBody>
      </p:sp>
      <p:sp>
        <p:nvSpPr>
          <p:cNvPr id="27" name="TextBox 26"/>
          <p:cNvSpPr txBox="1"/>
          <p:nvPr/>
        </p:nvSpPr>
        <p:spPr>
          <a:xfrm>
            <a:off x="8622792" y="5129784"/>
            <a:ext cx="3127248" cy="160020"/>
          </a:xfrm>
          <a:prstGeom prst="rect">
            <a:avLst/>
          </a:prstGeom>
          <a:noFill/>
        </p:spPr>
        <p:txBody>
          <a:bodyPr wrap="square" anchor="t" lIns="0" rIns="0" tIns="0" bIns="0">
            <a:spAutoFit/>
          </a:bodyPr>
          <a:lstStyle/>
          <a:p>
            <a:pPr algn="l">
              <a:lnSpc>
                <a:spcPct val="108000"/>
              </a:lnSpc>
            </a:pPr>
            <a:r>
              <a:rPr sz="1100" b="0">
                <a:solidFill>
                  <a:srgbClr val="1B2A33"/>
                </a:solidFill>
                <a:latin typeface="Calibri"/>
              </a:rPr>
              <a:t>Step 21 — shape the organisation.</a:t>
            </a:r>
          </a:p>
        </p:txBody>
      </p:sp>
      <p:sp>
        <p:nvSpPr>
          <p:cNvPr id="28" name="Rectangle 27"/>
          <p:cNvSpPr/>
          <p:nvPr/>
        </p:nvSpPr>
        <p:spPr>
          <a:xfrm>
            <a:off x="411480" y="6119622"/>
            <a:ext cx="7772400" cy="317754"/>
          </a:xfrm>
          <a:prstGeom prst="rect">
            <a:avLst/>
          </a:prstGeom>
          <a:solidFill>
            <a:srgbClr val="F3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76072" y="6183630"/>
            <a:ext cx="7443216" cy="208026"/>
          </a:xfrm>
          <a:prstGeom prst="rect">
            <a:avLst/>
          </a:prstGeom>
          <a:noFill/>
        </p:spPr>
        <p:txBody>
          <a:bodyPr wrap="square" anchor="ctr" lIns="0" rIns="0" tIns="0" bIns="0">
            <a:spAutoFit/>
          </a:bodyPr>
          <a:lstStyle/>
          <a:p>
            <a:pPr algn="l">
              <a:lnSpc>
                <a:spcPct val="115000"/>
              </a:lnSpc>
            </a:pPr>
            <a:r>
              <a:rPr sz="1000" b="0">
                <a:solidFill>
                  <a:srgbClr val="1B2A33"/>
                </a:solidFill>
                <a:latin typeface="Calibri"/>
              </a:rPr>
              <a:t>Supervisors can set leave too — rota changes should not wait for an admin.</a:t>
            </a:r>
          </a:p>
        </p:txBody>
      </p:sp>
      <p:sp>
        <p:nvSpPr>
          <p:cNvPr id="30" name="Rectangle 29"/>
          <p:cNvSpPr/>
          <p:nvPr/>
        </p:nvSpPr>
        <p:spPr>
          <a:xfrm>
            <a:off x="0" y="6473952"/>
            <a:ext cx="12191695" cy="384048"/>
          </a:xfrm>
          <a:prstGeom prst="rect">
            <a:avLst/>
          </a:prstGeom>
          <a:solidFill>
            <a:srgbClr val="F3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2920" y="6547104"/>
            <a:ext cx="8229600" cy="228600"/>
          </a:xfrm>
          <a:prstGeom prst="rect">
            <a:avLst/>
          </a:prstGeom>
          <a:noFill/>
        </p:spPr>
        <p:txBody>
          <a:bodyPr wrap="square" anchor="t" lIns="0" rIns="0" tIns="0" bIns="0">
            <a:spAutoFit/>
          </a:bodyPr>
          <a:lstStyle/>
          <a:p>
            <a:pPr algn="l">
              <a:lnSpc>
                <a:spcPct val="115000"/>
              </a:lnSpc>
            </a:pPr>
            <a:r>
              <a:rPr sz="900" b="0">
                <a:solidFill>
                  <a:srgbClr val="5B6B75"/>
                </a:solidFill>
                <a:latin typeface="Calibri"/>
              </a:rPr>
              <a:t>SUCCESS Bank — Internal Ticketing · Standard Operating Procedure</a:t>
            </a:r>
          </a:p>
        </p:txBody>
      </p:sp>
      <p:sp>
        <p:nvSpPr>
          <p:cNvPr id="32" name="TextBox 31"/>
          <p:cNvSpPr txBox="1"/>
          <p:nvPr/>
        </p:nvSpPr>
        <p:spPr>
          <a:xfrm>
            <a:off x="9997135" y="6547104"/>
            <a:ext cx="1691640" cy="228600"/>
          </a:xfrm>
          <a:prstGeom prst="rect">
            <a:avLst/>
          </a:prstGeom>
          <a:noFill/>
        </p:spPr>
        <p:txBody>
          <a:bodyPr wrap="square" anchor="t" lIns="0" rIns="0" tIns="0" bIns="0">
            <a:spAutoFit/>
          </a:bodyPr>
          <a:lstStyle/>
          <a:p>
            <a:pPr algn="r">
              <a:lnSpc>
                <a:spcPct val="115000"/>
              </a:lnSpc>
            </a:pPr>
            <a:r>
              <a:rPr sz="900" b="0">
                <a:solidFill>
                  <a:srgbClr val="5B6B75"/>
                </a:solidFill>
                <a:latin typeface="Calibri"/>
              </a:rPr>
              <a:t>Step 20</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0E4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36576"/>
          </a:xfrm>
          <a:prstGeom prst="rect">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55448"/>
            <a:ext cx="1371600" cy="274320"/>
          </a:xfrm>
          <a:prstGeom prst="rect">
            <a:avLst/>
          </a:prstGeom>
          <a:noFill/>
        </p:spPr>
        <p:txBody>
          <a:bodyPr wrap="square" anchor="t" lIns="0" rIns="0" tIns="0" bIns="0">
            <a:spAutoFit/>
          </a:bodyPr>
          <a:lstStyle/>
          <a:p>
            <a:pPr algn="l">
              <a:lnSpc>
                <a:spcPct val="115000"/>
              </a:lnSpc>
            </a:pPr>
            <a:r>
              <a:rPr sz="1200" b="1">
                <a:solidFill>
                  <a:srgbClr val="C25B2E"/>
                </a:solidFill>
                <a:latin typeface="Calibri"/>
              </a:rPr>
              <a:t>STEP 21</a:t>
            </a:r>
          </a:p>
        </p:txBody>
      </p:sp>
      <p:sp>
        <p:nvSpPr>
          <p:cNvPr id="5" name="TextBox 4"/>
          <p:cNvSpPr txBox="1"/>
          <p:nvPr/>
        </p:nvSpPr>
        <p:spPr>
          <a:xfrm>
            <a:off x="502920" y="420624"/>
            <a:ext cx="8412480" cy="365760"/>
          </a:xfrm>
          <a:prstGeom prst="rect">
            <a:avLst/>
          </a:prstGeom>
          <a:noFill/>
        </p:spPr>
        <p:txBody>
          <a:bodyPr wrap="square" anchor="t" lIns="0" rIns="0" tIns="0" bIns="0">
            <a:spAutoFit/>
          </a:bodyPr>
          <a:lstStyle/>
          <a:p>
            <a:pPr algn="l">
              <a:lnSpc>
                <a:spcPct val="115000"/>
              </a:lnSpc>
            </a:pPr>
            <a:r>
              <a:rPr sz="2000" b="1">
                <a:solidFill>
                  <a:srgbClr val="FFFFFF"/>
                </a:solidFill>
                <a:latin typeface="Calibri"/>
              </a:rPr>
              <a:t>Shape the organisation</a:t>
            </a:r>
          </a:p>
        </p:txBody>
      </p:sp>
      <p:sp>
        <p:nvSpPr>
          <p:cNvPr id="6" name="TextBox 5"/>
          <p:cNvSpPr txBox="1"/>
          <p:nvPr/>
        </p:nvSpPr>
        <p:spPr>
          <a:xfrm>
            <a:off x="9174175" y="320040"/>
            <a:ext cx="2514600" cy="274320"/>
          </a:xfrm>
          <a:prstGeom prst="rect">
            <a:avLst/>
          </a:prstGeom>
          <a:noFill/>
        </p:spPr>
        <p:txBody>
          <a:bodyPr wrap="square" anchor="t" lIns="0" rIns="0" tIns="0" bIns="0">
            <a:spAutoFit/>
          </a:bodyPr>
          <a:lstStyle/>
          <a:p>
            <a:pPr algn="r">
              <a:lnSpc>
                <a:spcPct val="115000"/>
              </a:lnSpc>
            </a:pPr>
            <a:r>
              <a:rPr sz="1100" b="1">
                <a:solidFill>
                  <a:srgbClr val="F3ECE0"/>
                </a:solidFill>
                <a:latin typeface="Calibri"/>
              </a:rPr>
              <a:t>ADMIN</a:t>
            </a:r>
          </a:p>
        </p:txBody>
      </p:sp>
      <p:sp>
        <p:nvSpPr>
          <p:cNvPr id="7" name="Rectangle 6"/>
          <p:cNvSpPr/>
          <p:nvPr/>
        </p:nvSpPr>
        <p:spPr>
          <a:xfrm>
            <a:off x="388620" y="1165860"/>
            <a:ext cx="7818120" cy="4903470"/>
          </a:xfrm>
          <a:prstGeom prst="rect">
            <a:avLst/>
          </a:prstGeom>
          <a:solidFill>
            <a:srgbClr val="D6CE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411480" y="1188720"/>
            <a:ext cx="7772400" cy="4855464"/>
          </a:xfrm>
          <a:prstGeom prst="rect">
            <a:avLst/>
          </a:prstGeom>
        </p:spPr>
      </p:pic>
      <p:sp>
        <p:nvSpPr>
          <p:cNvPr id="9" name="Rectangle 8"/>
          <p:cNvSpPr/>
          <p:nvPr/>
        </p:nvSpPr>
        <p:spPr>
          <a:xfrm>
            <a:off x="8458200" y="1188720"/>
            <a:ext cx="45720" cy="502920"/>
          </a:xfrm>
          <a:prstGeom prst="rect">
            <a:avLst/>
          </a:prstGeom>
          <a:solidFill>
            <a:srgbClr val="0E4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22792" y="1188720"/>
            <a:ext cx="3127248" cy="164592"/>
          </a:xfrm>
          <a:prstGeom prst="rect">
            <a:avLst/>
          </a:prstGeom>
          <a:noFill/>
        </p:spPr>
        <p:txBody>
          <a:bodyPr wrap="square" anchor="t" lIns="0" rIns="0" tIns="0" bIns="0">
            <a:spAutoFit/>
          </a:bodyPr>
          <a:lstStyle/>
          <a:p>
            <a:pPr algn="l">
              <a:lnSpc>
                <a:spcPct val="115000"/>
              </a:lnSpc>
            </a:pPr>
            <a:r>
              <a:rPr sz="950" b="1">
                <a:solidFill>
                  <a:srgbClr val="0E4F4A"/>
                </a:solidFill>
                <a:latin typeface="Calibri"/>
              </a:rPr>
              <a:t>ACTION</a:t>
            </a:r>
          </a:p>
        </p:txBody>
      </p:sp>
      <p:sp>
        <p:nvSpPr>
          <p:cNvPr id="11" name="TextBox 10"/>
          <p:cNvSpPr txBox="1"/>
          <p:nvPr/>
        </p:nvSpPr>
        <p:spPr>
          <a:xfrm>
            <a:off x="8622792" y="1380744"/>
            <a:ext cx="3127248" cy="320040"/>
          </a:xfrm>
          <a:prstGeom prst="rect">
            <a:avLst/>
          </a:prstGeom>
          <a:noFill/>
        </p:spPr>
        <p:txBody>
          <a:bodyPr wrap="square" anchor="t" lIns="0" rIns="0" tIns="0" bIns="0">
            <a:spAutoFit/>
          </a:bodyPr>
          <a:lstStyle/>
          <a:p>
            <a:pPr algn="l">
              <a:lnSpc>
                <a:spcPct val="108000"/>
              </a:lnSpc>
            </a:pPr>
            <a:r>
              <a:rPr sz="1100" b="0">
                <a:solidFill>
                  <a:srgbClr val="1B2A33"/>
                </a:solidFill>
                <a:latin typeface="Calibri"/>
              </a:rPr>
              <a:t>Define hierarchy levels, then units within them.</a:t>
            </a:r>
          </a:p>
        </p:txBody>
      </p:sp>
      <p:sp>
        <p:nvSpPr>
          <p:cNvPr id="12" name="Rectangle 11"/>
          <p:cNvSpPr/>
          <p:nvPr/>
        </p:nvSpPr>
        <p:spPr>
          <a:xfrm>
            <a:off x="8458200" y="1892808"/>
            <a:ext cx="45720" cy="662940"/>
          </a:xfrm>
          <a:prstGeom prst="rect">
            <a:avLst/>
          </a:prstGeom>
          <a:solidFill>
            <a:srgbClr val="1E7A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22792" y="1892808"/>
            <a:ext cx="3127248" cy="164592"/>
          </a:xfrm>
          <a:prstGeom prst="rect">
            <a:avLst/>
          </a:prstGeom>
          <a:noFill/>
        </p:spPr>
        <p:txBody>
          <a:bodyPr wrap="square" anchor="t" lIns="0" rIns="0" tIns="0" bIns="0">
            <a:spAutoFit/>
          </a:bodyPr>
          <a:lstStyle/>
          <a:p>
            <a:pPr algn="l">
              <a:lnSpc>
                <a:spcPct val="115000"/>
              </a:lnSpc>
            </a:pPr>
            <a:r>
              <a:rPr sz="950" b="1">
                <a:solidFill>
                  <a:srgbClr val="1E7A53"/>
                </a:solidFill>
                <a:latin typeface="Calibri"/>
              </a:rPr>
              <a:t>RESULT</a:t>
            </a:r>
          </a:p>
        </p:txBody>
      </p:sp>
      <p:sp>
        <p:nvSpPr>
          <p:cNvPr id="14" name="TextBox 13"/>
          <p:cNvSpPr txBox="1"/>
          <p:nvPr/>
        </p:nvSpPr>
        <p:spPr>
          <a:xfrm>
            <a:off x="8622792" y="2084832"/>
            <a:ext cx="3127248" cy="480060"/>
          </a:xfrm>
          <a:prstGeom prst="rect">
            <a:avLst/>
          </a:prstGeom>
          <a:noFill/>
        </p:spPr>
        <p:txBody>
          <a:bodyPr wrap="square" anchor="t" lIns="0" rIns="0" tIns="0" bIns="0">
            <a:spAutoFit/>
          </a:bodyPr>
          <a:lstStyle/>
          <a:p>
            <a:pPr algn="l">
              <a:lnSpc>
                <a:spcPct val="108000"/>
              </a:lnSpc>
            </a:pPr>
            <a:r>
              <a:rPr sz="1100" b="0">
                <a:solidFill>
                  <a:srgbClr val="1B2A33"/>
                </a:solidFill>
                <a:latin typeface="Calibri"/>
              </a:rPr>
              <a:t>The org tree drives ticket visibility: a user sees their unit's subtree, plus anything assigned to them personally.</a:t>
            </a:r>
          </a:p>
        </p:txBody>
      </p:sp>
      <p:sp>
        <p:nvSpPr>
          <p:cNvPr id="15" name="Rectangle 14"/>
          <p:cNvSpPr/>
          <p:nvPr/>
        </p:nvSpPr>
        <p:spPr>
          <a:xfrm>
            <a:off x="8458200" y="2756916"/>
            <a:ext cx="45720" cy="342900"/>
          </a:xfrm>
          <a:prstGeom prst="rect">
            <a:avLst/>
          </a:prstGeom>
          <a:solidFill>
            <a:srgbClr val="5B6B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22792" y="2756916"/>
            <a:ext cx="3127248" cy="164592"/>
          </a:xfrm>
          <a:prstGeom prst="rect">
            <a:avLst/>
          </a:prstGeom>
          <a:noFill/>
        </p:spPr>
        <p:txBody>
          <a:bodyPr wrap="square" anchor="t" lIns="0" rIns="0" tIns="0" bIns="0">
            <a:spAutoFit/>
          </a:bodyPr>
          <a:lstStyle/>
          <a:p>
            <a:pPr algn="l">
              <a:lnSpc>
                <a:spcPct val="115000"/>
              </a:lnSpc>
            </a:pPr>
            <a:r>
              <a:rPr sz="950" b="1">
                <a:solidFill>
                  <a:srgbClr val="5B6B75"/>
                </a:solidFill>
                <a:latin typeface="Calibri"/>
              </a:rPr>
              <a:t>NEXT</a:t>
            </a:r>
          </a:p>
        </p:txBody>
      </p:sp>
      <p:sp>
        <p:nvSpPr>
          <p:cNvPr id="17" name="TextBox 16"/>
          <p:cNvSpPr txBox="1"/>
          <p:nvPr/>
        </p:nvSpPr>
        <p:spPr>
          <a:xfrm>
            <a:off x="8622792" y="2948940"/>
            <a:ext cx="3127248" cy="160020"/>
          </a:xfrm>
          <a:prstGeom prst="rect">
            <a:avLst/>
          </a:prstGeom>
          <a:noFill/>
        </p:spPr>
        <p:txBody>
          <a:bodyPr wrap="square" anchor="t" lIns="0" rIns="0" tIns="0" bIns="0">
            <a:spAutoFit/>
          </a:bodyPr>
          <a:lstStyle/>
          <a:p>
            <a:pPr algn="l">
              <a:lnSpc>
                <a:spcPct val="108000"/>
              </a:lnSpc>
            </a:pPr>
            <a:r>
              <a:rPr sz="1100" b="0">
                <a:solidFill>
                  <a:srgbClr val="1B2A33"/>
                </a:solidFill>
                <a:latin typeface="Calibri"/>
              </a:rPr>
              <a:t>Step 22 — maintain the branch network.</a:t>
            </a:r>
          </a:p>
        </p:txBody>
      </p:sp>
      <p:sp>
        <p:nvSpPr>
          <p:cNvPr id="18" name="Rectangle 17"/>
          <p:cNvSpPr/>
          <p:nvPr/>
        </p:nvSpPr>
        <p:spPr>
          <a:xfrm>
            <a:off x="0" y="6473952"/>
            <a:ext cx="12191695" cy="384048"/>
          </a:xfrm>
          <a:prstGeom prst="rect">
            <a:avLst/>
          </a:prstGeom>
          <a:solidFill>
            <a:srgbClr val="F3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6547104"/>
            <a:ext cx="8229600" cy="228600"/>
          </a:xfrm>
          <a:prstGeom prst="rect">
            <a:avLst/>
          </a:prstGeom>
          <a:noFill/>
        </p:spPr>
        <p:txBody>
          <a:bodyPr wrap="square" anchor="t" lIns="0" rIns="0" tIns="0" bIns="0">
            <a:spAutoFit/>
          </a:bodyPr>
          <a:lstStyle/>
          <a:p>
            <a:pPr algn="l">
              <a:lnSpc>
                <a:spcPct val="115000"/>
              </a:lnSpc>
            </a:pPr>
            <a:r>
              <a:rPr sz="900" b="0">
                <a:solidFill>
                  <a:srgbClr val="5B6B75"/>
                </a:solidFill>
                <a:latin typeface="Calibri"/>
              </a:rPr>
              <a:t>SUCCESS Bank — Internal Ticketing · Standard Operating Procedure</a:t>
            </a:r>
          </a:p>
        </p:txBody>
      </p:sp>
      <p:sp>
        <p:nvSpPr>
          <p:cNvPr id="20" name="TextBox 19"/>
          <p:cNvSpPr txBox="1"/>
          <p:nvPr/>
        </p:nvSpPr>
        <p:spPr>
          <a:xfrm>
            <a:off x="9997135" y="6547104"/>
            <a:ext cx="1691640" cy="228600"/>
          </a:xfrm>
          <a:prstGeom prst="rect">
            <a:avLst/>
          </a:prstGeom>
          <a:noFill/>
        </p:spPr>
        <p:txBody>
          <a:bodyPr wrap="square" anchor="t" lIns="0" rIns="0" tIns="0" bIns="0">
            <a:spAutoFit/>
          </a:bodyPr>
          <a:lstStyle/>
          <a:p>
            <a:pPr algn="r">
              <a:lnSpc>
                <a:spcPct val="115000"/>
              </a:lnSpc>
            </a:pPr>
            <a:r>
              <a:rPr sz="900" b="0">
                <a:solidFill>
                  <a:srgbClr val="5B6B75"/>
                </a:solidFill>
                <a:latin typeface="Calibri"/>
              </a:rPr>
              <a:t>Step 21</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0E4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36576"/>
          </a:xfrm>
          <a:prstGeom prst="rect">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55448"/>
            <a:ext cx="1371600" cy="274320"/>
          </a:xfrm>
          <a:prstGeom prst="rect">
            <a:avLst/>
          </a:prstGeom>
          <a:noFill/>
        </p:spPr>
        <p:txBody>
          <a:bodyPr wrap="square" anchor="t" lIns="0" rIns="0" tIns="0" bIns="0">
            <a:spAutoFit/>
          </a:bodyPr>
          <a:lstStyle/>
          <a:p>
            <a:pPr algn="l">
              <a:lnSpc>
                <a:spcPct val="115000"/>
              </a:lnSpc>
            </a:pPr>
            <a:r>
              <a:rPr sz="1200" b="1">
                <a:solidFill>
                  <a:srgbClr val="C25B2E"/>
                </a:solidFill>
                <a:latin typeface="Calibri"/>
              </a:rPr>
              <a:t>STEP 22</a:t>
            </a:r>
          </a:p>
        </p:txBody>
      </p:sp>
      <p:sp>
        <p:nvSpPr>
          <p:cNvPr id="5" name="TextBox 4"/>
          <p:cNvSpPr txBox="1"/>
          <p:nvPr/>
        </p:nvSpPr>
        <p:spPr>
          <a:xfrm>
            <a:off x="502920" y="420624"/>
            <a:ext cx="8412480" cy="365760"/>
          </a:xfrm>
          <a:prstGeom prst="rect">
            <a:avLst/>
          </a:prstGeom>
          <a:noFill/>
        </p:spPr>
        <p:txBody>
          <a:bodyPr wrap="square" anchor="t" lIns="0" rIns="0" tIns="0" bIns="0">
            <a:spAutoFit/>
          </a:bodyPr>
          <a:lstStyle/>
          <a:p>
            <a:pPr algn="l">
              <a:lnSpc>
                <a:spcPct val="115000"/>
              </a:lnSpc>
            </a:pPr>
            <a:r>
              <a:rPr sz="2000" b="1">
                <a:solidFill>
                  <a:srgbClr val="FFFFFF"/>
                </a:solidFill>
                <a:latin typeface="Calibri"/>
              </a:rPr>
              <a:t>Maintain the branch network</a:t>
            </a:r>
          </a:p>
        </p:txBody>
      </p:sp>
      <p:sp>
        <p:nvSpPr>
          <p:cNvPr id="6" name="TextBox 5"/>
          <p:cNvSpPr txBox="1"/>
          <p:nvPr/>
        </p:nvSpPr>
        <p:spPr>
          <a:xfrm>
            <a:off x="9174175" y="320040"/>
            <a:ext cx="2514600" cy="274320"/>
          </a:xfrm>
          <a:prstGeom prst="rect">
            <a:avLst/>
          </a:prstGeom>
          <a:noFill/>
        </p:spPr>
        <p:txBody>
          <a:bodyPr wrap="square" anchor="t" lIns="0" rIns="0" tIns="0" bIns="0">
            <a:spAutoFit/>
          </a:bodyPr>
          <a:lstStyle/>
          <a:p>
            <a:pPr algn="r">
              <a:lnSpc>
                <a:spcPct val="115000"/>
              </a:lnSpc>
            </a:pPr>
            <a:r>
              <a:rPr sz="1100" b="1">
                <a:solidFill>
                  <a:srgbClr val="F3ECE0"/>
                </a:solidFill>
                <a:latin typeface="Calibri"/>
              </a:rPr>
              <a:t>ADMIN</a:t>
            </a:r>
          </a:p>
        </p:txBody>
      </p:sp>
      <p:sp>
        <p:nvSpPr>
          <p:cNvPr id="7" name="Rectangle 6"/>
          <p:cNvSpPr/>
          <p:nvPr/>
        </p:nvSpPr>
        <p:spPr>
          <a:xfrm>
            <a:off x="388620" y="1165860"/>
            <a:ext cx="7818120" cy="4903470"/>
          </a:xfrm>
          <a:prstGeom prst="rect">
            <a:avLst/>
          </a:prstGeom>
          <a:solidFill>
            <a:srgbClr val="D6CE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411480" y="1188720"/>
            <a:ext cx="7772400" cy="4855464"/>
          </a:xfrm>
          <a:prstGeom prst="rect">
            <a:avLst/>
          </a:prstGeom>
        </p:spPr>
      </p:pic>
      <p:sp>
        <p:nvSpPr>
          <p:cNvPr id="9" name="Rectangle 8"/>
          <p:cNvSpPr/>
          <p:nvPr/>
        </p:nvSpPr>
        <p:spPr>
          <a:xfrm>
            <a:off x="8458200" y="1188720"/>
            <a:ext cx="45720" cy="502920"/>
          </a:xfrm>
          <a:prstGeom prst="rect">
            <a:avLst/>
          </a:prstGeom>
          <a:solidFill>
            <a:srgbClr val="0E4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22792" y="1188720"/>
            <a:ext cx="3127248" cy="164592"/>
          </a:xfrm>
          <a:prstGeom prst="rect">
            <a:avLst/>
          </a:prstGeom>
          <a:noFill/>
        </p:spPr>
        <p:txBody>
          <a:bodyPr wrap="square" anchor="t" lIns="0" rIns="0" tIns="0" bIns="0">
            <a:spAutoFit/>
          </a:bodyPr>
          <a:lstStyle/>
          <a:p>
            <a:pPr algn="l">
              <a:lnSpc>
                <a:spcPct val="115000"/>
              </a:lnSpc>
            </a:pPr>
            <a:r>
              <a:rPr sz="950" b="1">
                <a:solidFill>
                  <a:srgbClr val="0E4F4A"/>
                </a:solidFill>
                <a:latin typeface="Calibri"/>
              </a:rPr>
              <a:t>ACTION</a:t>
            </a:r>
          </a:p>
        </p:txBody>
      </p:sp>
      <p:sp>
        <p:nvSpPr>
          <p:cNvPr id="11" name="TextBox 10"/>
          <p:cNvSpPr txBox="1"/>
          <p:nvPr/>
        </p:nvSpPr>
        <p:spPr>
          <a:xfrm>
            <a:off x="8622792" y="1380744"/>
            <a:ext cx="3127248" cy="320040"/>
          </a:xfrm>
          <a:prstGeom prst="rect">
            <a:avLst/>
          </a:prstGeom>
          <a:noFill/>
        </p:spPr>
        <p:txBody>
          <a:bodyPr wrap="square" anchor="t" lIns="0" rIns="0" tIns="0" bIns="0">
            <a:spAutoFit/>
          </a:bodyPr>
          <a:lstStyle/>
          <a:p>
            <a:pPr algn="l">
              <a:lnSpc>
                <a:spcPct val="108000"/>
              </a:lnSpc>
            </a:pPr>
            <a:r>
              <a:rPr sz="1100" b="0">
                <a:solidFill>
                  <a:srgbClr val="1B2A33"/>
                </a:solidFill>
                <a:latin typeface="Calibri"/>
              </a:rPr>
              <a:t>Add branches, set managers and capacity, and mark degraded ones.</a:t>
            </a:r>
          </a:p>
        </p:txBody>
      </p:sp>
      <p:sp>
        <p:nvSpPr>
          <p:cNvPr id="12" name="Rectangle 11"/>
          <p:cNvSpPr/>
          <p:nvPr/>
        </p:nvSpPr>
        <p:spPr>
          <a:xfrm>
            <a:off x="8458200" y="1892808"/>
            <a:ext cx="45720" cy="662940"/>
          </a:xfrm>
          <a:prstGeom prst="rect">
            <a:avLst/>
          </a:prstGeom>
          <a:solidFill>
            <a:srgbClr val="1E7A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22792" y="1892808"/>
            <a:ext cx="3127248" cy="164592"/>
          </a:xfrm>
          <a:prstGeom prst="rect">
            <a:avLst/>
          </a:prstGeom>
          <a:noFill/>
        </p:spPr>
        <p:txBody>
          <a:bodyPr wrap="square" anchor="t" lIns="0" rIns="0" tIns="0" bIns="0">
            <a:spAutoFit/>
          </a:bodyPr>
          <a:lstStyle/>
          <a:p>
            <a:pPr algn="l">
              <a:lnSpc>
                <a:spcPct val="115000"/>
              </a:lnSpc>
            </a:pPr>
            <a:r>
              <a:rPr sz="950" b="1">
                <a:solidFill>
                  <a:srgbClr val="1E7A53"/>
                </a:solidFill>
                <a:latin typeface="Calibri"/>
              </a:rPr>
              <a:t>RESULT</a:t>
            </a:r>
          </a:p>
        </p:txBody>
      </p:sp>
      <p:sp>
        <p:nvSpPr>
          <p:cNvPr id="14" name="TextBox 13"/>
          <p:cNvSpPr txBox="1"/>
          <p:nvPr/>
        </p:nvSpPr>
        <p:spPr>
          <a:xfrm>
            <a:off x="8622792" y="2084832"/>
            <a:ext cx="3127248" cy="480060"/>
          </a:xfrm>
          <a:prstGeom prst="rect">
            <a:avLst/>
          </a:prstGeom>
          <a:noFill/>
        </p:spPr>
        <p:txBody>
          <a:bodyPr wrap="square" anchor="t" lIns="0" rIns="0" tIns="0" bIns="0">
            <a:spAutoFit/>
          </a:bodyPr>
          <a:lstStyle/>
          <a:p>
            <a:pPr algn="l">
              <a:lnSpc>
                <a:spcPct val="108000"/>
              </a:lnSpc>
            </a:pPr>
            <a:r>
              <a:rPr sz="1100" b="0">
                <a:solidFill>
                  <a:srgbClr val="1B2A33"/>
                </a:solidFill>
                <a:latin typeface="Calibri"/>
              </a:rPr>
              <a:t>Ticket counts are computed per request, never stored — a counter that drifts is wrong forever with nothing to reveal it.</a:t>
            </a:r>
          </a:p>
        </p:txBody>
      </p:sp>
      <p:sp>
        <p:nvSpPr>
          <p:cNvPr id="15" name="Rectangle 14"/>
          <p:cNvSpPr/>
          <p:nvPr/>
        </p:nvSpPr>
        <p:spPr>
          <a:xfrm>
            <a:off x="8458200" y="2756916"/>
            <a:ext cx="45720" cy="342900"/>
          </a:xfrm>
          <a:prstGeom prst="rect">
            <a:avLst/>
          </a:prstGeom>
          <a:solidFill>
            <a:srgbClr val="5B6B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22792" y="2756916"/>
            <a:ext cx="3127248" cy="164592"/>
          </a:xfrm>
          <a:prstGeom prst="rect">
            <a:avLst/>
          </a:prstGeom>
          <a:noFill/>
        </p:spPr>
        <p:txBody>
          <a:bodyPr wrap="square" anchor="t" lIns="0" rIns="0" tIns="0" bIns="0">
            <a:spAutoFit/>
          </a:bodyPr>
          <a:lstStyle/>
          <a:p>
            <a:pPr algn="l">
              <a:lnSpc>
                <a:spcPct val="115000"/>
              </a:lnSpc>
            </a:pPr>
            <a:r>
              <a:rPr sz="950" b="1">
                <a:solidFill>
                  <a:srgbClr val="5B6B75"/>
                </a:solidFill>
                <a:latin typeface="Calibri"/>
              </a:rPr>
              <a:t>NEXT</a:t>
            </a:r>
          </a:p>
        </p:txBody>
      </p:sp>
      <p:sp>
        <p:nvSpPr>
          <p:cNvPr id="17" name="TextBox 16"/>
          <p:cNvSpPr txBox="1"/>
          <p:nvPr/>
        </p:nvSpPr>
        <p:spPr>
          <a:xfrm>
            <a:off x="8622792" y="2948940"/>
            <a:ext cx="3127248" cy="160020"/>
          </a:xfrm>
          <a:prstGeom prst="rect">
            <a:avLst/>
          </a:prstGeom>
          <a:noFill/>
        </p:spPr>
        <p:txBody>
          <a:bodyPr wrap="square" anchor="t" lIns="0" rIns="0" tIns="0" bIns="0">
            <a:spAutoFit/>
          </a:bodyPr>
          <a:lstStyle/>
          <a:p>
            <a:pPr algn="l">
              <a:lnSpc>
                <a:spcPct val="108000"/>
              </a:lnSpc>
            </a:pPr>
            <a:r>
              <a:rPr sz="1100" b="0">
                <a:solidFill>
                  <a:srgbClr val="1B2A33"/>
                </a:solidFill>
                <a:latin typeface="Calibri"/>
              </a:rPr>
              <a:t>Step 23 — pull reports.</a:t>
            </a:r>
          </a:p>
        </p:txBody>
      </p:sp>
      <p:sp>
        <p:nvSpPr>
          <p:cNvPr id="18" name="Rectangle 17"/>
          <p:cNvSpPr/>
          <p:nvPr/>
        </p:nvSpPr>
        <p:spPr>
          <a:xfrm>
            <a:off x="0" y="6473952"/>
            <a:ext cx="12191695" cy="384048"/>
          </a:xfrm>
          <a:prstGeom prst="rect">
            <a:avLst/>
          </a:prstGeom>
          <a:solidFill>
            <a:srgbClr val="F3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6547104"/>
            <a:ext cx="8229600" cy="228600"/>
          </a:xfrm>
          <a:prstGeom prst="rect">
            <a:avLst/>
          </a:prstGeom>
          <a:noFill/>
        </p:spPr>
        <p:txBody>
          <a:bodyPr wrap="square" anchor="t" lIns="0" rIns="0" tIns="0" bIns="0">
            <a:spAutoFit/>
          </a:bodyPr>
          <a:lstStyle/>
          <a:p>
            <a:pPr algn="l">
              <a:lnSpc>
                <a:spcPct val="115000"/>
              </a:lnSpc>
            </a:pPr>
            <a:r>
              <a:rPr sz="900" b="0">
                <a:solidFill>
                  <a:srgbClr val="5B6B75"/>
                </a:solidFill>
                <a:latin typeface="Calibri"/>
              </a:rPr>
              <a:t>SUCCESS Bank — Internal Ticketing · Standard Operating Procedure</a:t>
            </a:r>
          </a:p>
        </p:txBody>
      </p:sp>
      <p:sp>
        <p:nvSpPr>
          <p:cNvPr id="20" name="TextBox 19"/>
          <p:cNvSpPr txBox="1"/>
          <p:nvPr/>
        </p:nvSpPr>
        <p:spPr>
          <a:xfrm>
            <a:off x="9997135" y="6547104"/>
            <a:ext cx="1691640" cy="228600"/>
          </a:xfrm>
          <a:prstGeom prst="rect">
            <a:avLst/>
          </a:prstGeom>
          <a:noFill/>
        </p:spPr>
        <p:txBody>
          <a:bodyPr wrap="square" anchor="t" lIns="0" rIns="0" tIns="0" bIns="0">
            <a:spAutoFit/>
          </a:bodyPr>
          <a:lstStyle/>
          <a:p>
            <a:pPr algn="r">
              <a:lnSpc>
                <a:spcPct val="115000"/>
              </a:lnSpc>
            </a:pPr>
            <a:r>
              <a:rPr sz="900" b="0">
                <a:solidFill>
                  <a:srgbClr val="5B6B75"/>
                </a:solidFill>
                <a:latin typeface="Calibri"/>
              </a:rPr>
              <a:t>Step 22</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0E4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36576"/>
          </a:xfrm>
          <a:prstGeom prst="rect">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55448"/>
            <a:ext cx="1371600" cy="274320"/>
          </a:xfrm>
          <a:prstGeom prst="rect">
            <a:avLst/>
          </a:prstGeom>
          <a:noFill/>
        </p:spPr>
        <p:txBody>
          <a:bodyPr wrap="square" anchor="t" lIns="0" rIns="0" tIns="0" bIns="0">
            <a:spAutoFit/>
          </a:bodyPr>
          <a:lstStyle/>
          <a:p>
            <a:pPr algn="l">
              <a:lnSpc>
                <a:spcPct val="115000"/>
              </a:lnSpc>
            </a:pPr>
            <a:r>
              <a:rPr sz="1200" b="1">
                <a:solidFill>
                  <a:srgbClr val="C25B2E"/>
                </a:solidFill>
                <a:latin typeface="Calibri"/>
              </a:rPr>
              <a:t>STEP 23</a:t>
            </a:r>
          </a:p>
        </p:txBody>
      </p:sp>
      <p:sp>
        <p:nvSpPr>
          <p:cNvPr id="5" name="TextBox 4"/>
          <p:cNvSpPr txBox="1"/>
          <p:nvPr/>
        </p:nvSpPr>
        <p:spPr>
          <a:xfrm>
            <a:off x="502920" y="420624"/>
            <a:ext cx="8412480" cy="365760"/>
          </a:xfrm>
          <a:prstGeom prst="rect">
            <a:avLst/>
          </a:prstGeom>
          <a:noFill/>
        </p:spPr>
        <p:txBody>
          <a:bodyPr wrap="square" anchor="t" lIns="0" rIns="0" tIns="0" bIns="0">
            <a:spAutoFit/>
          </a:bodyPr>
          <a:lstStyle/>
          <a:p>
            <a:pPr algn="l">
              <a:lnSpc>
                <a:spcPct val="115000"/>
              </a:lnSpc>
            </a:pPr>
            <a:r>
              <a:rPr sz="2000" b="1">
                <a:solidFill>
                  <a:srgbClr val="FFFFFF"/>
                </a:solidFill>
                <a:latin typeface="Calibri"/>
              </a:rPr>
              <a:t>Pull reports</a:t>
            </a:r>
          </a:p>
        </p:txBody>
      </p:sp>
      <p:sp>
        <p:nvSpPr>
          <p:cNvPr id="6" name="TextBox 5"/>
          <p:cNvSpPr txBox="1"/>
          <p:nvPr/>
        </p:nvSpPr>
        <p:spPr>
          <a:xfrm>
            <a:off x="9174175" y="320040"/>
            <a:ext cx="2514600" cy="274320"/>
          </a:xfrm>
          <a:prstGeom prst="rect">
            <a:avLst/>
          </a:prstGeom>
          <a:noFill/>
        </p:spPr>
        <p:txBody>
          <a:bodyPr wrap="square" anchor="t" lIns="0" rIns="0" tIns="0" bIns="0">
            <a:spAutoFit/>
          </a:bodyPr>
          <a:lstStyle/>
          <a:p>
            <a:pPr algn="r">
              <a:lnSpc>
                <a:spcPct val="115000"/>
              </a:lnSpc>
            </a:pPr>
            <a:r>
              <a:rPr sz="1100" b="1">
                <a:solidFill>
                  <a:srgbClr val="F3ECE0"/>
                </a:solidFill>
                <a:latin typeface="Calibri"/>
              </a:rPr>
              <a:t>ADMIN</a:t>
            </a:r>
          </a:p>
        </p:txBody>
      </p:sp>
      <p:sp>
        <p:nvSpPr>
          <p:cNvPr id="7" name="Rectangle 6"/>
          <p:cNvSpPr/>
          <p:nvPr/>
        </p:nvSpPr>
        <p:spPr>
          <a:xfrm>
            <a:off x="388620" y="1165860"/>
            <a:ext cx="7818120" cy="4903470"/>
          </a:xfrm>
          <a:prstGeom prst="rect">
            <a:avLst/>
          </a:prstGeom>
          <a:solidFill>
            <a:srgbClr val="D6CE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411480" y="1188720"/>
            <a:ext cx="7772400" cy="4855464"/>
          </a:xfrm>
          <a:prstGeom prst="rect">
            <a:avLst/>
          </a:prstGeom>
        </p:spPr>
      </p:pic>
      <p:sp>
        <p:nvSpPr>
          <p:cNvPr id="9" name="Rectangle 8"/>
          <p:cNvSpPr/>
          <p:nvPr/>
        </p:nvSpPr>
        <p:spPr>
          <a:xfrm>
            <a:off x="8458200" y="1188720"/>
            <a:ext cx="45720" cy="342900"/>
          </a:xfrm>
          <a:prstGeom prst="rect">
            <a:avLst/>
          </a:prstGeom>
          <a:solidFill>
            <a:srgbClr val="0E4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22792" y="1188720"/>
            <a:ext cx="3127248" cy="164592"/>
          </a:xfrm>
          <a:prstGeom prst="rect">
            <a:avLst/>
          </a:prstGeom>
          <a:noFill/>
        </p:spPr>
        <p:txBody>
          <a:bodyPr wrap="square" anchor="t" lIns="0" rIns="0" tIns="0" bIns="0">
            <a:spAutoFit/>
          </a:bodyPr>
          <a:lstStyle/>
          <a:p>
            <a:pPr algn="l">
              <a:lnSpc>
                <a:spcPct val="115000"/>
              </a:lnSpc>
            </a:pPr>
            <a:r>
              <a:rPr sz="950" b="1">
                <a:solidFill>
                  <a:srgbClr val="0E4F4A"/>
                </a:solidFill>
                <a:latin typeface="Calibri"/>
              </a:rPr>
              <a:t>ACTION</a:t>
            </a:r>
          </a:p>
        </p:txBody>
      </p:sp>
      <p:sp>
        <p:nvSpPr>
          <p:cNvPr id="11" name="TextBox 10"/>
          <p:cNvSpPr txBox="1"/>
          <p:nvPr/>
        </p:nvSpPr>
        <p:spPr>
          <a:xfrm>
            <a:off x="8622792" y="1380744"/>
            <a:ext cx="3127248" cy="160020"/>
          </a:xfrm>
          <a:prstGeom prst="rect">
            <a:avLst/>
          </a:prstGeom>
          <a:noFill/>
        </p:spPr>
        <p:txBody>
          <a:bodyPr wrap="square" anchor="t" lIns="0" rIns="0" tIns="0" bIns="0">
            <a:spAutoFit/>
          </a:bodyPr>
          <a:lstStyle/>
          <a:p>
            <a:pPr algn="l">
              <a:lnSpc>
                <a:spcPct val="108000"/>
              </a:lnSpc>
            </a:pPr>
            <a:r>
              <a:rPr sz="1100" b="0">
                <a:solidFill>
                  <a:srgbClr val="1B2A33"/>
                </a:solidFill>
                <a:latin typeface="Calibri"/>
              </a:rPr>
              <a:t>Choose a period, then export.</a:t>
            </a:r>
          </a:p>
        </p:txBody>
      </p:sp>
      <p:sp>
        <p:nvSpPr>
          <p:cNvPr id="12" name="Rectangle 11"/>
          <p:cNvSpPr/>
          <p:nvPr/>
        </p:nvSpPr>
        <p:spPr>
          <a:xfrm>
            <a:off x="8458200" y="1732788"/>
            <a:ext cx="45720" cy="822960"/>
          </a:xfrm>
          <a:prstGeom prst="rect">
            <a:avLst/>
          </a:prstGeom>
          <a:solidFill>
            <a:srgbClr val="1E7A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22792" y="1732788"/>
            <a:ext cx="3127248" cy="164592"/>
          </a:xfrm>
          <a:prstGeom prst="rect">
            <a:avLst/>
          </a:prstGeom>
          <a:noFill/>
        </p:spPr>
        <p:txBody>
          <a:bodyPr wrap="square" anchor="t" lIns="0" rIns="0" tIns="0" bIns="0">
            <a:spAutoFit/>
          </a:bodyPr>
          <a:lstStyle/>
          <a:p>
            <a:pPr algn="l">
              <a:lnSpc>
                <a:spcPct val="115000"/>
              </a:lnSpc>
            </a:pPr>
            <a:r>
              <a:rPr sz="950" b="1">
                <a:solidFill>
                  <a:srgbClr val="1E7A53"/>
                </a:solidFill>
                <a:latin typeface="Calibri"/>
              </a:rPr>
              <a:t>RESULT</a:t>
            </a:r>
          </a:p>
        </p:txBody>
      </p:sp>
      <p:sp>
        <p:nvSpPr>
          <p:cNvPr id="14" name="TextBox 13"/>
          <p:cNvSpPr txBox="1"/>
          <p:nvPr/>
        </p:nvSpPr>
        <p:spPr>
          <a:xfrm>
            <a:off x="8622792" y="1924812"/>
            <a:ext cx="3127248" cy="640080"/>
          </a:xfrm>
          <a:prstGeom prst="rect">
            <a:avLst/>
          </a:prstGeom>
          <a:noFill/>
        </p:spPr>
        <p:txBody>
          <a:bodyPr wrap="square" anchor="t" lIns="0" rIns="0" tIns="0" bIns="0">
            <a:spAutoFit/>
          </a:bodyPr>
          <a:lstStyle/>
          <a:p>
            <a:pPr algn="l">
              <a:lnSpc>
                <a:spcPct val="108000"/>
              </a:lnSpc>
            </a:pPr>
            <a:r>
              <a:rPr sz="1100" b="0">
                <a:solidFill>
                  <a:srgbClr val="1B2A33"/>
                </a:solidFill>
                <a:latin typeface="Calibri"/>
              </a:rPr>
              <a:t>The export is generated from what is on screen, so it matches the filters you applied rather than silently re-running an unfiltered query.</a:t>
            </a:r>
          </a:p>
        </p:txBody>
      </p:sp>
      <p:sp>
        <p:nvSpPr>
          <p:cNvPr id="15" name="Rectangle 14"/>
          <p:cNvSpPr/>
          <p:nvPr/>
        </p:nvSpPr>
        <p:spPr>
          <a:xfrm>
            <a:off x="8458200" y="2756916"/>
            <a:ext cx="45720" cy="342900"/>
          </a:xfrm>
          <a:prstGeom prst="rect">
            <a:avLst/>
          </a:prstGeom>
          <a:solidFill>
            <a:srgbClr val="5B6B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22792" y="2756916"/>
            <a:ext cx="3127248" cy="164592"/>
          </a:xfrm>
          <a:prstGeom prst="rect">
            <a:avLst/>
          </a:prstGeom>
          <a:noFill/>
        </p:spPr>
        <p:txBody>
          <a:bodyPr wrap="square" anchor="t" lIns="0" rIns="0" tIns="0" bIns="0">
            <a:spAutoFit/>
          </a:bodyPr>
          <a:lstStyle/>
          <a:p>
            <a:pPr algn="l">
              <a:lnSpc>
                <a:spcPct val="115000"/>
              </a:lnSpc>
            </a:pPr>
            <a:r>
              <a:rPr sz="950" b="1">
                <a:solidFill>
                  <a:srgbClr val="5B6B75"/>
                </a:solidFill>
                <a:latin typeface="Calibri"/>
              </a:rPr>
              <a:t>NEXT</a:t>
            </a:r>
          </a:p>
        </p:txBody>
      </p:sp>
      <p:sp>
        <p:nvSpPr>
          <p:cNvPr id="17" name="TextBox 16"/>
          <p:cNvSpPr txBox="1"/>
          <p:nvPr/>
        </p:nvSpPr>
        <p:spPr>
          <a:xfrm>
            <a:off x="8622792" y="2948940"/>
            <a:ext cx="3127248" cy="160020"/>
          </a:xfrm>
          <a:prstGeom prst="rect">
            <a:avLst/>
          </a:prstGeom>
          <a:noFill/>
        </p:spPr>
        <p:txBody>
          <a:bodyPr wrap="square" anchor="t" lIns="0" rIns="0" tIns="0" bIns="0">
            <a:spAutoFit/>
          </a:bodyPr>
          <a:lstStyle/>
          <a:p>
            <a:pPr algn="l">
              <a:lnSpc>
                <a:spcPct val="108000"/>
              </a:lnSpc>
            </a:pPr>
            <a:r>
              <a:rPr sz="1100" b="0">
                <a:solidFill>
                  <a:srgbClr val="1B2A33"/>
                </a:solidFill>
                <a:latin typeface="Calibri"/>
              </a:rPr>
              <a:t>Step 24 — protect your own account.</a:t>
            </a:r>
          </a:p>
        </p:txBody>
      </p:sp>
      <p:sp>
        <p:nvSpPr>
          <p:cNvPr id="18" name="Rectangle 17"/>
          <p:cNvSpPr/>
          <p:nvPr/>
        </p:nvSpPr>
        <p:spPr>
          <a:xfrm>
            <a:off x="0" y="6473952"/>
            <a:ext cx="12191695" cy="384048"/>
          </a:xfrm>
          <a:prstGeom prst="rect">
            <a:avLst/>
          </a:prstGeom>
          <a:solidFill>
            <a:srgbClr val="F3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6547104"/>
            <a:ext cx="8229600" cy="228600"/>
          </a:xfrm>
          <a:prstGeom prst="rect">
            <a:avLst/>
          </a:prstGeom>
          <a:noFill/>
        </p:spPr>
        <p:txBody>
          <a:bodyPr wrap="square" anchor="t" lIns="0" rIns="0" tIns="0" bIns="0">
            <a:spAutoFit/>
          </a:bodyPr>
          <a:lstStyle/>
          <a:p>
            <a:pPr algn="l">
              <a:lnSpc>
                <a:spcPct val="115000"/>
              </a:lnSpc>
            </a:pPr>
            <a:r>
              <a:rPr sz="900" b="0">
                <a:solidFill>
                  <a:srgbClr val="5B6B75"/>
                </a:solidFill>
                <a:latin typeface="Calibri"/>
              </a:rPr>
              <a:t>SUCCESS Bank — Internal Ticketing · Standard Operating Procedure</a:t>
            </a:r>
          </a:p>
        </p:txBody>
      </p:sp>
      <p:sp>
        <p:nvSpPr>
          <p:cNvPr id="20" name="TextBox 19"/>
          <p:cNvSpPr txBox="1"/>
          <p:nvPr/>
        </p:nvSpPr>
        <p:spPr>
          <a:xfrm>
            <a:off x="9997135" y="6547104"/>
            <a:ext cx="1691640" cy="228600"/>
          </a:xfrm>
          <a:prstGeom prst="rect">
            <a:avLst/>
          </a:prstGeom>
          <a:noFill/>
        </p:spPr>
        <p:txBody>
          <a:bodyPr wrap="square" anchor="t" lIns="0" rIns="0" tIns="0" bIns="0">
            <a:spAutoFit/>
          </a:bodyPr>
          <a:lstStyle/>
          <a:p>
            <a:pPr algn="r">
              <a:lnSpc>
                <a:spcPct val="115000"/>
              </a:lnSpc>
            </a:pPr>
            <a:r>
              <a:rPr sz="900" b="0">
                <a:solidFill>
                  <a:srgbClr val="5B6B75"/>
                </a:solidFill>
                <a:latin typeface="Calibri"/>
              </a:rPr>
              <a:t>Step 23</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0E4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36576"/>
          </a:xfrm>
          <a:prstGeom prst="rect">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55448"/>
            <a:ext cx="1371600" cy="274320"/>
          </a:xfrm>
          <a:prstGeom prst="rect">
            <a:avLst/>
          </a:prstGeom>
          <a:noFill/>
        </p:spPr>
        <p:txBody>
          <a:bodyPr wrap="square" anchor="t" lIns="0" rIns="0" tIns="0" bIns="0">
            <a:spAutoFit/>
          </a:bodyPr>
          <a:lstStyle/>
          <a:p>
            <a:pPr algn="l">
              <a:lnSpc>
                <a:spcPct val="115000"/>
              </a:lnSpc>
            </a:pPr>
            <a:r>
              <a:rPr sz="1200" b="1">
                <a:solidFill>
                  <a:srgbClr val="C25B2E"/>
                </a:solidFill>
                <a:latin typeface="Calibri"/>
              </a:rPr>
              <a:t>STEP 24</a:t>
            </a:r>
          </a:p>
        </p:txBody>
      </p:sp>
      <p:sp>
        <p:nvSpPr>
          <p:cNvPr id="5" name="TextBox 4"/>
          <p:cNvSpPr txBox="1"/>
          <p:nvPr/>
        </p:nvSpPr>
        <p:spPr>
          <a:xfrm>
            <a:off x="502920" y="420624"/>
            <a:ext cx="8412480" cy="365760"/>
          </a:xfrm>
          <a:prstGeom prst="rect">
            <a:avLst/>
          </a:prstGeom>
          <a:noFill/>
        </p:spPr>
        <p:txBody>
          <a:bodyPr wrap="square" anchor="t" lIns="0" rIns="0" tIns="0" bIns="0">
            <a:spAutoFit/>
          </a:bodyPr>
          <a:lstStyle/>
          <a:p>
            <a:pPr algn="l">
              <a:lnSpc>
                <a:spcPct val="115000"/>
              </a:lnSpc>
            </a:pPr>
            <a:r>
              <a:rPr sz="2000" b="1">
                <a:solidFill>
                  <a:srgbClr val="FFFFFF"/>
                </a:solidFill>
                <a:latin typeface="Calibri"/>
              </a:rPr>
              <a:t>Turn on your second factor</a:t>
            </a:r>
          </a:p>
        </p:txBody>
      </p:sp>
      <p:sp>
        <p:nvSpPr>
          <p:cNvPr id="6" name="TextBox 5"/>
          <p:cNvSpPr txBox="1"/>
          <p:nvPr/>
        </p:nvSpPr>
        <p:spPr>
          <a:xfrm>
            <a:off x="9174175" y="320040"/>
            <a:ext cx="2514600" cy="274320"/>
          </a:xfrm>
          <a:prstGeom prst="rect">
            <a:avLst/>
          </a:prstGeom>
          <a:noFill/>
        </p:spPr>
        <p:txBody>
          <a:bodyPr wrap="square" anchor="t" lIns="0" rIns="0" tIns="0" bIns="0">
            <a:spAutoFit/>
          </a:bodyPr>
          <a:lstStyle/>
          <a:p>
            <a:pPr algn="r">
              <a:lnSpc>
                <a:spcPct val="115000"/>
              </a:lnSpc>
            </a:pPr>
            <a:r>
              <a:rPr sz="1100" b="1">
                <a:solidFill>
                  <a:srgbClr val="F3ECE0"/>
                </a:solidFill>
                <a:latin typeface="Calibri"/>
              </a:rPr>
              <a:t>ADMIN</a:t>
            </a:r>
          </a:p>
        </p:txBody>
      </p:sp>
      <p:sp>
        <p:nvSpPr>
          <p:cNvPr id="7" name="Rectangle 6"/>
          <p:cNvSpPr/>
          <p:nvPr/>
        </p:nvSpPr>
        <p:spPr>
          <a:xfrm>
            <a:off x="388620" y="1165860"/>
            <a:ext cx="7818120" cy="4903470"/>
          </a:xfrm>
          <a:prstGeom prst="rect">
            <a:avLst/>
          </a:prstGeom>
          <a:solidFill>
            <a:srgbClr val="D6CE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411480" y="1188720"/>
            <a:ext cx="7772400" cy="4855464"/>
          </a:xfrm>
          <a:prstGeom prst="rect">
            <a:avLst/>
          </a:prstGeom>
        </p:spPr>
      </p:pic>
      <p:sp>
        <p:nvSpPr>
          <p:cNvPr id="9" name="Rectangle 8"/>
          <p:cNvSpPr/>
          <p:nvPr/>
        </p:nvSpPr>
        <p:spPr>
          <a:xfrm>
            <a:off x="8458200" y="1188720"/>
            <a:ext cx="45720" cy="502920"/>
          </a:xfrm>
          <a:prstGeom prst="rect">
            <a:avLst/>
          </a:prstGeom>
          <a:solidFill>
            <a:srgbClr val="0E4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22792" y="1188720"/>
            <a:ext cx="3127248" cy="164592"/>
          </a:xfrm>
          <a:prstGeom prst="rect">
            <a:avLst/>
          </a:prstGeom>
          <a:noFill/>
        </p:spPr>
        <p:txBody>
          <a:bodyPr wrap="square" anchor="t" lIns="0" rIns="0" tIns="0" bIns="0">
            <a:spAutoFit/>
          </a:bodyPr>
          <a:lstStyle/>
          <a:p>
            <a:pPr algn="l">
              <a:lnSpc>
                <a:spcPct val="115000"/>
              </a:lnSpc>
            </a:pPr>
            <a:r>
              <a:rPr sz="950" b="1">
                <a:solidFill>
                  <a:srgbClr val="0E4F4A"/>
                </a:solidFill>
                <a:latin typeface="Calibri"/>
              </a:rPr>
              <a:t>ACTION</a:t>
            </a:r>
          </a:p>
        </p:txBody>
      </p:sp>
      <p:sp>
        <p:nvSpPr>
          <p:cNvPr id="11" name="TextBox 10"/>
          <p:cNvSpPr txBox="1"/>
          <p:nvPr/>
        </p:nvSpPr>
        <p:spPr>
          <a:xfrm>
            <a:off x="8622792" y="1380744"/>
            <a:ext cx="3127248" cy="320040"/>
          </a:xfrm>
          <a:prstGeom prst="rect">
            <a:avLst/>
          </a:prstGeom>
          <a:noFill/>
        </p:spPr>
        <p:txBody>
          <a:bodyPr wrap="square" anchor="t" lIns="0" rIns="0" tIns="0" bIns="0">
            <a:spAutoFit/>
          </a:bodyPr>
          <a:lstStyle/>
          <a:p>
            <a:pPr algn="l">
              <a:lnSpc>
                <a:spcPct val="108000"/>
              </a:lnSpc>
            </a:pPr>
            <a:r>
              <a:rPr sz="1100" b="0">
                <a:solidFill>
                  <a:srgbClr val="1B2A33"/>
                </a:solidFill>
                <a:latin typeface="Calibri"/>
              </a:rPr>
              <a:t>Open Security, scan the QR code, and enter one code to confirm.</a:t>
            </a:r>
          </a:p>
        </p:txBody>
      </p:sp>
      <p:sp>
        <p:nvSpPr>
          <p:cNvPr id="12" name="Rectangle 11"/>
          <p:cNvSpPr/>
          <p:nvPr/>
        </p:nvSpPr>
        <p:spPr>
          <a:xfrm>
            <a:off x="8458200" y="1892808"/>
            <a:ext cx="45720" cy="982980"/>
          </a:xfrm>
          <a:prstGeom prst="rect">
            <a:avLst/>
          </a:prstGeom>
          <a:solidFill>
            <a:srgbClr val="1E7A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22792" y="1892808"/>
            <a:ext cx="3127248" cy="164592"/>
          </a:xfrm>
          <a:prstGeom prst="rect">
            <a:avLst/>
          </a:prstGeom>
          <a:noFill/>
        </p:spPr>
        <p:txBody>
          <a:bodyPr wrap="square" anchor="t" lIns="0" rIns="0" tIns="0" bIns="0">
            <a:spAutoFit/>
          </a:bodyPr>
          <a:lstStyle/>
          <a:p>
            <a:pPr algn="l">
              <a:lnSpc>
                <a:spcPct val="115000"/>
              </a:lnSpc>
            </a:pPr>
            <a:r>
              <a:rPr sz="950" b="1">
                <a:solidFill>
                  <a:srgbClr val="1E7A53"/>
                </a:solidFill>
                <a:latin typeface="Calibri"/>
              </a:rPr>
              <a:t>RESULT</a:t>
            </a:r>
          </a:p>
        </p:txBody>
      </p:sp>
      <p:sp>
        <p:nvSpPr>
          <p:cNvPr id="14" name="TextBox 13"/>
          <p:cNvSpPr txBox="1"/>
          <p:nvPr/>
        </p:nvSpPr>
        <p:spPr>
          <a:xfrm>
            <a:off x="8622792" y="2084832"/>
            <a:ext cx="3127248" cy="800100"/>
          </a:xfrm>
          <a:prstGeom prst="rect">
            <a:avLst/>
          </a:prstGeom>
          <a:noFill/>
        </p:spPr>
        <p:txBody>
          <a:bodyPr wrap="square" anchor="t" lIns="0" rIns="0" tIns="0" bIns="0">
            <a:spAutoFit/>
          </a:bodyPr>
          <a:lstStyle/>
          <a:p>
            <a:pPr algn="l">
              <a:lnSpc>
                <a:spcPct val="108000"/>
              </a:lnSpc>
            </a:pPr>
            <a:r>
              <a:rPr sz="1100" b="0">
                <a:solidFill>
                  <a:srgbClr val="1B2A33"/>
                </a:solidFill>
                <a:latin typeface="Calibri"/>
              </a:rPr>
              <a:t>MFA is only switched on once a correct code proves the app is working — so a failed scan cannot lock you out. Ten single-use recovery codes are shown once, and never again.</a:t>
            </a:r>
          </a:p>
        </p:txBody>
      </p:sp>
      <p:sp>
        <p:nvSpPr>
          <p:cNvPr id="15" name="Rectangle 14"/>
          <p:cNvSpPr/>
          <p:nvPr/>
        </p:nvSpPr>
        <p:spPr>
          <a:xfrm>
            <a:off x="8458200" y="3076956"/>
            <a:ext cx="45720" cy="502920"/>
          </a:xfrm>
          <a:prstGeom prst="rect">
            <a:avLst/>
          </a:prstGeom>
          <a:solidFill>
            <a:srgbClr val="5B6B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22792" y="3076956"/>
            <a:ext cx="3127248" cy="164592"/>
          </a:xfrm>
          <a:prstGeom prst="rect">
            <a:avLst/>
          </a:prstGeom>
          <a:noFill/>
        </p:spPr>
        <p:txBody>
          <a:bodyPr wrap="square" anchor="t" lIns="0" rIns="0" tIns="0" bIns="0">
            <a:spAutoFit/>
          </a:bodyPr>
          <a:lstStyle/>
          <a:p>
            <a:pPr algn="l">
              <a:lnSpc>
                <a:spcPct val="115000"/>
              </a:lnSpc>
            </a:pPr>
            <a:r>
              <a:rPr sz="950" b="1">
                <a:solidFill>
                  <a:srgbClr val="5B6B75"/>
                </a:solidFill>
                <a:latin typeface="Calibri"/>
              </a:rPr>
              <a:t>NEXT</a:t>
            </a:r>
          </a:p>
        </p:txBody>
      </p:sp>
      <p:sp>
        <p:nvSpPr>
          <p:cNvPr id="17" name="TextBox 16"/>
          <p:cNvSpPr txBox="1"/>
          <p:nvPr/>
        </p:nvSpPr>
        <p:spPr>
          <a:xfrm>
            <a:off x="8622792" y="3268980"/>
            <a:ext cx="3127248" cy="320040"/>
          </a:xfrm>
          <a:prstGeom prst="rect">
            <a:avLst/>
          </a:prstGeom>
          <a:noFill/>
        </p:spPr>
        <p:txBody>
          <a:bodyPr wrap="square" anchor="t" lIns="0" rIns="0" tIns="0" bIns="0">
            <a:spAutoFit/>
          </a:bodyPr>
          <a:lstStyle/>
          <a:p>
            <a:pPr algn="l">
              <a:lnSpc>
                <a:spcPct val="108000"/>
              </a:lnSpc>
            </a:pPr>
            <a:r>
              <a:rPr sz="1100" b="0">
                <a:solidFill>
                  <a:srgbClr val="1B2A33"/>
                </a:solidFill>
                <a:latin typeface="Calibri"/>
              </a:rPr>
              <a:t>Save the recovery codes somewhere safe before leaving this screen.</a:t>
            </a:r>
          </a:p>
        </p:txBody>
      </p:sp>
      <p:sp>
        <p:nvSpPr>
          <p:cNvPr id="18" name="Rectangle 17"/>
          <p:cNvSpPr/>
          <p:nvPr/>
        </p:nvSpPr>
        <p:spPr>
          <a:xfrm>
            <a:off x="0" y="6473952"/>
            <a:ext cx="12191695" cy="384048"/>
          </a:xfrm>
          <a:prstGeom prst="rect">
            <a:avLst/>
          </a:prstGeom>
          <a:solidFill>
            <a:srgbClr val="F3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6547104"/>
            <a:ext cx="8229600" cy="228600"/>
          </a:xfrm>
          <a:prstGeom prst="rect">
            <a:avLst/>
          </a:prstGeom>
          <a:noFill/>
        </p:spPr>
        <p:txBody>
          <a:bodyPr wrap="square" anchor="t" lIns="0" rIns="0" tIns="0" bIns="0">
            <a:spAutoFit/>
          </a:bodyPr>
          <a:lstStyle/>
          <a:p>
            <a:pPr algn="l">
              <a:lnSpc>
                <a:spcPct val="115000"/>
              </a:lnSpc>
            </a:pPr>
            <a:r>
              <a:rPr sz="900" b="0">
                <a:solidFill>
                  <a:srgbClr val="5B6B75"/>
                </a:solidFill>
                <a:latin typeface="Calibri"/>
              </a:rPr>
              <a:t>SUCCESS Bank — Internal Ticketing · Standard Operating Procedure</a:t>
            </a:r>
          </a:p>
        </p:txBody>
      </p:sp>
      <p:sp>
        <p:nvSpPr>
          <p:cNvPr id="20" name="TextBox 19"/>
          <p:cNvSpPr txBox="1"/>
          <p:nvPr/>
        </p:nvSpPr>
        <p:spPr>
          <a:xfrm>
            <a:off x="9997135" y="6547104"/>
            <a:ext cx="1691640" cy="228600"/>
          </a:xfrm>
          <a:prstGeom prst="rect">
            <a:avLst/>
          </a:prstGeom>
          <a:noFill/>
        </p:spPr>
        <p:txBody>
          <a:bodyPr wrap="square" anchor="t" lIns="0" rIns="0" tIns="0" bIns="0">
            <a:spAutoFit/>
          </a:bodyPr>
          <a:lstStyle/>
          <a:p>
            <a:pPr algn="r">
              <a:lnSpc>
                <a:spcPct val="115000"/>
              </a:lnSpc>
            </a:pPr>
            <a:r>
              <a:rPr sz="900" b="0">
                <a:solidFill>
                  <a:srgbClr val="5B6B75"/>
                </a:solidFill>
                <a:latin typeface="Calibri"/>
              </a:rPr>
              <a:t>Step 24</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0E4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82880"/>
            <a:ext cx="10515600" cy="320040"/>
          </a:xfrm>
          <a:prstGeom prst="rect">
            <a:avLst/>
          </a:prstGeom>
          <a:noFill/>
        </p:spPr>
        <p:txBody>
          <a:bodyPr wrap="square" anchor="t" lIns="0" rIns="0" tIns="0" bIns="0">
            <a:spAutoFit/>
          </a:bodyPr>
          <a:lstStyle/>
          <a:p>
            <a:pPr algn="l">
              <a:lnSpc>
                <a:spcPct val="115000"/>
              </a:lnSpc>
            </a:pPr>
            <a:r>
              <a:rPr sz="2300" b="1">
                <a:solidFill>
                  <a:srgbClr val="FFFFFF"/>
                </a:solidFill>
                <a:latin typeface="Calibri"/>
              </a:rPr>
              <a:t>Save the recovery codes</a:t>
            </a:r>
          </a:p>
        </p:txBody>
      </p:sp>
      <p:sp>
        <p:nvSpPr>
          <p:cNvPr id="4" name="TextBox 3"/>
          <p:cNvSpPr txBox="1"/>
          <p:nvPr/>
        </p:nvSpPr>
        <p:spPr>
          <a:xfrm>
            <a:off x="502920" y="548640"/>
            <a:ext cx="10515600" cy="256032"/>
          </a:xfrm>
          <a:prstGeom prst="rect">
            <a:avLst/>
          </a:prstGeom>
          <a:noFill/>
        </p:spPr>
        <p:txBody>
          <a:bodyPr wrap="square" anchor="t" lIns="0" rIns="0" tIns="0" bIns="0">
            <a:spAutoFit/>
          </a:bodyPr>
          <a:lstStyle/>
          <a:p>
            <a:pPr algn="l">
              <a:lnSpc>
                <a:spcPct val="115000"/>
              </a:lnSpc>
            </a:pPr>
            <a:r>
              <a:rPr sz="1150" b="0">
                <a:solidFill>
                  <a:srgbClr val="F3ECE0"/>
                </a:solidFill>
                <a:latin typeface="Calibri"/>
              </a:rPr>
              <a:t>This is the one screen you cannot go back to</a:t>
            </a:r>
          </a:p>
        </p:txBody>
      </p:sp>
      <p:sp>
        <p:nvSpPr>
          <p:cNvPr id="5" name="Rectangle 4"/>
          <p:cNvSpPr/>
          <p:nvPr/>
        </p:nvSpPr>
        <p:spPr>
          <a:xfrm>
            <a:off x="548640" y="1280160"/>
            <a:ext cx="11064240" cy="1463040"/>
          </a:xfrm>
          <a:prstGeom prst="rect">
            <a:avLst/>
          </a:prstGeom>
          <a:solidFill>
            <a:srgbClr val="F3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280160"/>
            <a:ext cx="54864" cy="1463040"/>
          </a:xfrm>
          <a:prstGeom prst="rect">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536192"/>
            <a:ext cx="10424160" cy="1051560"/>
          </a:xfrm>
          <a:prstGeom prst="rect">
            <a:avLst/>
          </a:prstGeom>
          <a:noFill/>
        </p:spPr>
        <p:txBody>
          <a:bodyPr wrap="square" anchor="t" lIns="0" rIns="0" tIns="0" bIns="0">
            <a:spAutoFit/>
          </a:bodyPr>
          <a:lstStyle/>
          <a:p>
            <a:pPr algn="l">
              <a:lnSpc>
                <a:spcPct val="135000"/>
              </a:lnSpc>
            </a:pPr>
            <a:r>
              <a:rPr sz="1400" b="0">
                <a:solidFill>
                  <a:srgbClr val="1B2A33"/>
                </a:solidFill>
                <a:latin typeface="Calibri"/>
              </a:rPr>
              <a:t>Ten recovery codes are shown once, when you switch MFA on. Only their hashes are stored, so nobody — including an administrator — can show them to you again. Each works once, in place of a code from your app.</a:t>
            </a:r>
          </a:p>
        </p:txBody>
      </p:sp>
      <p:sp>
        <p:nvSpPr>
          <p:cNvPr id="8" name="Rectangle 7"/>
          <p:cNvSpPr/>
          <p:nvPr/>
        </p:nvSpPr>
        <p:spPr>
          <a:xfrm>
            <a:off x="548640" y="3017520"/>
            <a:ext cx="11064240" cy="731520"/>
          </a:xfrm>
          <a:prstGeom prst="rect">
            <a:avLst/>
          </a:prstGeom>
          <a:solidFill>
            <a:srgbClr val="FFFFFF"/>
          </a:solidFill>
          <a:ln w="12700">
            <a:solidFill>
              <a:srgbClr val="D6CE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3127248"/>
            <a:ext cx="3931920" cy="256032"/>
          </a:xfrm>
          <a:prstGeom prst="rect">
            <a:avLst/>
          </a:prstGeom>
          <a:noFill/>
        </p:spPr>
        <p:txBody>
          <a:bodyPr wrap="square" anchor="t" lIns="0" rIns="0" tIns="0" bIns="0">
            <a:spAutoFit/>
          </a:bodyPr>
          <a:lstStyle/>
          <a:p>
            <a:pPr algn="l">
              <a:lnSpc>
                <a:spcPct val="115000"/>
              </a:lnSpc>
            </a:pPr>
            <a:r>
              <a:rPr sz="1250" b="1">
                <a:solidFill>
                  <a:srgbClr val="0E4F4A"/>
                </a:solidFill>
                <a:latin typeface="Calibri"/>
              </a:rPr>
              <a:t>Lost your phone, still have codes</a:t>
            </a:r>
          </a:p>
        </p:txBody>
      </p:sp>
      <p:sp>
        <p:nvSpPr>
          <p:cNvPr id="10" name="TextBox 9"/>
          <p:cNvSpPr txBox="1"/>
          <p:nvPr/>
        </p:nvSpPr>
        <p:spPr>
          <a:xfrm>
            <a:off x="4937760" y="3127248"/>
            <a:ext cx="6400800" cy="548640"/>
          </a:xfrm>
          <a:prstGeom prst="rect">
            <a:avLst/>
          </a:prstGeom>
          <a:noFill/>
        </p:spPr>
        <p:txBody>
          <a:bodyPr wrap="square" anchor="t" lIns="0" rIns="0" tIns="0" bIns="0">
            <a:spAutoFit/>
          </a:bodyPr>
          <a:lstStyle/>
          <a:p>
            <a:pPr algn="l">
              <a:lnSpc>
                <a:spcPct val="120000"/>
              </a:lnSpc>
            </a:pPr>
            <a:r>
              <a:rPr sz="1150" b="0">
                <a:solidFill>
                  <a:srgbClr val="1B2A33"/>
                </a:solidFill>
                <a:latin typeface="Calibri"/>
              </a:rPr>
              <a:t>Use any unused recovery code at sign-in. It works once, then it is spent.</a:t>
            </a:r>
          </a:p>
        </p:txBody>
      </p:sp>
      <p:sp>
        <p:nvSpPr>
          <p:cNvPr id="11" name="Rectangle 10"/>
          <p:cNvSpPr/>
          <p:nvPr/>
        </p:nvSpPr>
        <p:spPr>
          <a:xfrm>
            <a:off x="548640" y="3886200"/>
            <a:ext cx="11064240" cy="731520"/>
          </a:xfrm>
          <a:prstGeom prst="rect">
            <a:avLst/>
          </a:prstGeom>
          <a:solidFill>
            <a:srgbClr val="FFFFFF"/>
          </a:solidFill>
          <a:ln w="12700">
            <a:solidFill>
              <a:srgbClr val="D6CE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3995928"/>
            <a:ext cx="3931920" cy="256032"/>
          </a:xfrm>
          <a:prstGeom prst="rect">
            <a:avLst/>
          </a:prstGeom>
          <a:noFill/>
        </p:spPr>
        <p:txBody>
          <a:bodyPr wrap="square" anchor="t" lIns="0" rIns="0" tIns="0" bIns="0">
            <a:spAutoFit/>
          </a:bodyPr>
          <a:lstStyle/>
          <a:p>
            <a:pPr algn="l">
              <a:lnSpc>
                <a:spcPct val="115000"/>
              </a:lnSpc>
            </a:pPr>
            <a:r>
              <a:rPr sz="1250" b="1">
                <a:solidFill>
                  <a:srgbClr val="0E4F4A"/>
                </a:solidFill>
                <a:latin typeface="Calibri"/>
              </a:rPr>
              <a:t>Lost both</a:t>
            </a:r>
          </a:p>
        </p:txBody>
      </p:sp>
      <p:sp>
        <p:nvSpPr>
          <p:cNvPr id="13" name="TextBox 12"/>
          <p:cNvSpPr txBox="1"/>
          <p:nvPr/>
        </p:nvSpPr>
        <p:spPr>
          <a:xfrm>
            <a:off x="4937760" y="3995928"/>
            <a:ext cx="6400800" cy="548640"/>
          </a:xfrm>
          <a:prstGeom prst="rect">
            <a:avLst/>
          </a:prstGeom>
          <a:noFill/>
        </p:spPr>
        <p:txBody>
          <a:bodyPr wrap="square" anchor="t" lIns="0" rIns="0" tIns="0" bIns="0">
            <a:spAutoFit/>
          </a:bodyPr>
          <a:lstStyle/>
          <a:p>
            <a:pPr algn="l">
              <a:lnSpc>
                <a:spcPct val="120000"/>
              </a:lnSpc>
            </a:pPr>
            <a:r>
              <a:rPr sz="1150" b="0">
                <a:solidFill>
                  <a:srgbClr val="1B2A33"/>
                </a:solidFill>
                <a:latin typeface="Calibri"/>
              </a:rPr>
              <a:t>An administrator clears your enrolment, and you set it up again from scratch.</a:t>
            </a:r>
          </a:p>
        </p:txBody>
      </p:sp>
      <p:sp>
        <p:nvSpPr>
          <p:cNvPr id="14" name="Rectangle 13"/>
          <p:cNvSpPr/>
          <p:nvPr/>
        </p:nvSpPr>
        <p:spPr>
          <a:xfrm>
            <a:off x="548640" y="4754880"/>
            <a:ext cx="11064240" cy="731520"/>
          </a:xfrm>
          <a:prstGeom prst="rect">
            <a:avLst/>
          </a:prstGeom>
          <a:solidFill>
            <a:srgbClr val="FFFFFF"/>
          </a:solidFill>
          <a:ln w="12700">
            <a:solidFill>
              <a:srgbClr val="D6CE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4864608"/>
            <a:ext cx="3931920" cy="256032"/>
          </a:xfrm>
          <a:prstGeom prst="rect">
            <a:avLst/>
          </a:prstGeom>
          <a:noFill/>
        </p:spPr>
        <p:txBody>
          <a:bodyPr wrap="square" anchor="t" lIns="0" rIns="0" tIns="0" bIns="0">
            <a:spAutoFit/>
          </a:bodyPr>
          <a:lstStyle/>
          <a:p>
            <a:pPr algn="l">
              <a:lnSpc>
                <a:spcPct val="115000"/>
              </a:lnSpc>
            </a:pPr>
            <a:r>
              <a:rPr sz="1250" b="1">
                <a:solidFill>
                  <a:srgbClr val="0E4F4A"/>
                </a:solidFill>
                <a:latin typeface="Calibri"/>
              </a:rPr>
              <a:t>Lost the only super admin</a:t>
            </a:r>
          </a:p>
        </p:txBody>
      </p:sp>
      <p:sp>
        <p:nvSpPr>
          <p:cNvPr id="16" name="TextBox 15"/>
          <p:cNvSpPr txBox="1"/>
          <p:nvPr/>
        </p:nvSpPr>
        <p:spPr>
          <a:xfrm>
            <a:off x="4937760" y="4864608"/>
            <a:ext cx="6400800" cy="548640"/>
          </a:xfrm>
          <a:prstGeom prst="rect">
            <a:avLst/>
          </a:prstGeom>
          <a:noFill/>
        </p:spPr>
        <p:txBody>
          <a:bodyPr wrap="square" anchor="t" lIns="0" rIns="0" tIns="0" bIns="0">
            <a:spAutoFit/>
          </a:bodyPr>
          <a:lstStyle/>
          <a:p>
            <a:pPr algn="l">
              <a:lnSpc>
                <a:spcPct val="120000"/>
              </a:lnSpc>
            </a:pPr>
            <a:r>
              <a:rPr sz="1150" b="0">
                <a:solidFill>
                  <a:srgbClr val="1B2A33"/>
                </a:solidFill>
                <a:latin typeface="Calibri"/>
              </a:rPr>
              <a:t>There is no route through the interface, by design. The flag has to be set on the database row.</a:t>
            </a:r>
          </a:p>
        </p:txBody>
      </p:sp>
      <p:sp>
        <p:nvSpPr>
          <p:cNvPr id="17" name="Rectangle 16"/>
          <p:cNvSpPr/>
          <p:nvPr/>
        </p:nvSpPr>
        <p:spPr>
          <a:xfrm>
            <a:off x="0" y="6473952"/>
            <a:ext cx="12191695" cy="384048"/>
          </a:xfrm>
          <a:prstGeom prst="rect">
            <a:avLst/>
          </a:prstGeom>
          <a:solidFill>
            <a:srgbClr val="F3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547104"/>
            <a:ext cx="8229600" cy="228600"/>
          </a:xfrm>
          <a:prstGeom prst="rect">
            <a:avLst/>
          </a:prstGeom>
          <a:noFill/>
        </p:spPr>
        <p:txBody>
          <a:bodyPr wrap="square" anchor="t" lIns="0" rIns="0" tIns="0" bIns="0">
            <a:spAutoFit/>
          </a:bodyPr>
          <a:lstStyle/>
          <a:p>
            <a:pPr algn="l">
              <a:lnSpc>
                <a:spcPct val="115000"/>
              </a:lnSpc>
            </a:pPr>
            <a:r>
              <a:rPr sz="900" b="0">
                <a:solidFill>
                  <a:srgbClr val="5B6B75"/>
                </a:solidFill>
                <a:latin typeface="Calibri"/>
              </a:rPr>
              <a:t>SUCCESS Bank — Internal Ticketing · Standard Operating Procedure</a:t>
            </a:r>
          </a:p>
        </p:txBody>
      </p:sp>
      <p:sp>
        <p:nvSpPr>
          <p:cNvPr id="19" name="TextBox 18"/>
          <p:cNvSpPr txBox="1"/>
          <p:nvPr/>
        </p:nvSpPr>
        <p:spPr>
          <a:xfrm>
            <a:off x="9997135" y="6547104"/>
            <a:ext cx="1691640" cy="228600"/>
          </a:xfrm>
          <a:prstGeom prst="rect">
            <a:avLst/>
          </a:prstGeom>
          <a:noFill/>
        </p:spPr>
        <p:txBody>
          <a:bodyPr wrap="square" anchor="t" lIns="0" rIns="0" tIns="0" bIns="0">
            <a:spAutoFit/>
          </a:bodyPr>
          <a:lstStyle/>
          <a:p>
            <a:pPr algn="r">
              <a:lnSpc>
                <a:spcPct val="115000"/>
              </a:lnSpc>
            </a:pPr>
            <a:r>
              <a:rPr sz="900" b="0">
                <a:solidFill>
                  <a:srgbClr val="5B6B75"/>
                </a:solidFill>
                <a:latin typeface="Calibri"/>
              </a:rPr>
              <a:t>Admin</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3ECE0"/>
        </a:solidFill>
        <a:effectLst/>
      </p:bgPr>
    </p:bg>
    <p:spTree>
      <p:nvGrpSpPr>
        <p:cNvPr id="1" name=""/>
        <p:cNvGrpSpPr/>
        <p:nvPr/>
      </p:nvGrpSpPr>
      <p:grpSpPr/>
      <p:sp>
        <p:nvSpPr>
          <p:cNvPr id="2" name="Rectangle 1"/>
          <p:cNvSpPr/>
          <p:nvPr/>
        </p:nvSpPr>
        <p:spPr>
          <a:xfrm>
            <a:off x="0" y="0"/>
            <a:ext cx="256032" cy="6858000"/>
          </a:xfrm>
          <a:prstGeom prst="rect">
            <a:avLst/>
          </a:prstGeom>
          <a:solidFill>
            <a:srgbClr val="0E4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2377440"/>
            <a:ext cx="1828800" cy="548640"/>
          </a:xfrm>
          <a:prstGeom prst="rect">
            <a:avLst/>
          </a:prstGeom>
          <a:noFill/>
        </p:spPr>
        <p:txBody>
          <a:bodyPr wrap="square" anchor="t" lIns="0" rIns="0" tIns="0" bIns="0">
            <a:spAutoFit/>
          </a:bodyPr>
          <a:lstStyle/>
          <a:p>
            <a:pPr algn="l">
              <a:lnSpc>
                <a:spcPct val="115000"/>
              </a:lnSpc>
            </a:pPr>
            <a:r>
              <a:rPr sz="1300" b="1">
                <a:solidFill>
                  <a:srgbClr val="C25B2E"/>
                </a:solidFill>
                <a:latin typeface="Calibri"/>
              </a:rPr>
              <a:t>SECTION 10</a:t>
            </a:r>
          </a:p>
        </p:txBody>
      </p:sp>
      <p:sp>
        <p:nvSpPr>
          <p:cNvPr id="4" name="TextBox 3"/>
          <p:cNvSpPr txBox="1"/>
          <p:nvPr/>
        </p:nvSpPr>
        <p:spPr>
          <a:xfrm>
            <a:off x="1005840" y="2788920"/>
            <a:ext cx="9601200" cy="822960"/>
          </a:xfrm>
          <a:prstGeom prst="rect">
            <a:avLst/>
          </a:prstGeom>
          <a:noFill/>
        </p:spPr>
        <p:txBody>
          <a:bodyPr wrap="square" anchor="t" lIns="0" rIns="0" tIns="0" bIns="0">
            <a:spAutoFit/>
          </a:bodyPr>
          <a:lstStyle/>
          <a:p>
            <a:pPr algn="l">
              <a:lnSpc>
                <a:spcPct val="115000"/>
              </a:lnSpc>
            </a:pPr>
            <a:r>
              <a:rPr sz="3400" b="1">
                <a:solidFill>
                  <a:srgbClr val="0E4F4A"/>
                </a:solidFill>
                <a:latin typeface="Calibri"/>
              </a:rPr>
              <a:t>Auditor workflow</a:t>
            </a:r>
          </a:p>
        </p:txBody>
      </p:sp>
      <p:sp>
        <p:nvSpPr>
          <p:cNvPr id="5" name="TextBox 4"/>
          <p:cNvSpPr txBox="1"/>
          <p:nvPr/>
        </p:nvSpPr>
        <p:spPr>
          <a:xfrm>
            <a:off x="1005840" y="3794760"/>
            <a:ext cx="8686800" cy="914400"/>
          </a:xfrm>
          <a:prstGeom prst="rect">
            <a:avLst/>
          </a:prstGeom>
          <a:noFill/>
        </p:spPr>
        <p:txBody>
          <a:bodyPr wrap="square" anchor="t" lIns="0" rIns="0" tIns="0" bIns="0">
            <a:spAutoFit/>
          </a:bodyPr>
          <a:lstStyle/>
          <a:p>
            <a:pPr algn="l">
              <a:lnSpc>
                <a:spcPct val="130000"/>
              </a:lnSpc>
            </a:pPr>
            <a:r>
              <a:rPr sz="1500" b="0">
                <a:solidFill>
                  <a:srgbClr val="5B6B75"/>
                </a:solidFill>
                <a:latin typeface="Calibri"/>
              </a:rPr>
              <a:t>You can open everything and change nothing. Every write is refused by the server.</a:t>
            </a:r>
          </a:p>
        </p:txBody>
      </p:sp>
      <p:sp>
        <p:nvSpPr>
          <p:cNvPr id="6" name="Rectangle 5"/>
          <p:cNvSpPr/>
          <p:nvPr/>
        </p:nvSpPr>
        <p:spPr>
          <a:xfrm>
            <a:off x="0" y="6473952"/>
            <a:ext cx="12191695" cy="384048"/>
          </a:xfrm>
          <a:prstGeom prst="rect">
            <a:avLst/>
          </a:prstGeom>
          <a:solidFill>
            <a:srgbClr val="F3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47104"/>
            <a:ext cx="8229600" cy="228600"/>
          </a:xfrm>
          <a:prstGeom prst="rect">
            <a:avLst/>
          </a:prstGeom>
          <a:noFill/>
        </p:spPr>
        <p:txBody>
          <a:bodyPr wrap="square" anchor="t" lIns="0" rIns="0" tIns="0" bIns="0">
            <a:spAutoFit/>
          </a:bodyPr>
          <a:lstStyle/>
          <a:p>
            <a:pPr algn="l">
              <a:lnSpc>
                <a:spcPct val="115000"/>
              </a:lnSpc>
            </a:pPr>
            <a:r>
              <a:rPr sz="900" b="0">
                <a:solidFill>
                  <a:srgbClr val="5B6B75"/>
                </a:solidFill>
                <a:latin typeface="Calibri"/>
              </a:rPr>
              <a:t>SUCCESS Bank — Internal Ticketing · Standard Operating Procedure</a:t>
            </a:r>
          </a:p>
        </p:txBody>
      </p:sp>
      <p:sp>
        <p:nvSpPr>
          <p:cNvPr id="8" name="TextBox 7"/>
          <p:cNvSpPr txBox="1"/>
          <p:nvPr/>
        </p:nvSpPr>
        <p:spPr>
          <a:xfrm>
            <a:off x="9997135" y="6547104"/>
            <a:ext cx="1691640" cy="228600"/>
          </a:xfrm>
          <a:prstGeom prst="rect">
            <a:avLst/>
          </a:prstGeom>
          <a:noFill/>
        </p:spPr>
        <p:txBody>
          <a:bodyPr wrap="square" anchor="t" lIns="0" rIns="0" tIns="0" bIns="0">
            <a:spAutoFit/>
          </a:bodyPr>
          <a:lstStyle/>
          <a:p>
            <a:pPr algn="r">
              <a:lnSpc>
                <a:spcPct val="115000"/>
              </a:lnSpc>
            </a:pPr>
            <a:r>
              <a:rPr sz="900" b="0">
                <a:solidFill>
                  <a:srgbClr val="5B6B75"/>
                </a:solidFill>
                <a:latin typeface="Calibri"/>
              </a:rPr>
              <a:t>Section 10</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0E4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36576"/>
          </a:xfrm>
          <a:prstGeom prst="rect">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55448"/>
            <a:ext cx="1371600" cy="274320"/>
          </a:xfrm>
          <a:prstGeom prst="rect">
            <a:avLst/>
          </a:prstGeom>
          <a:noFill/>
        </p:spPr>
        <p:txBody>
          <a:bodyPr wrap="square" anchor="t" lIns="0" rIns="0" tIns="0" bIns="0">
            <a:spAutoFit/>
          </a:bodyPr>
          <a:lstStyle/>
          <a:p>
            <a:pPr algn="l">
              <a:lnSpc>
                <a:spcPct val="115000"/>
              </a:lnSpc>
            </a:pPr>
            <a:r>
              <a:rPr sz="1200" b="1">
                <a:solidFill>
                  <a:srgbClr val="C25B2E"/>
                </a:solidFill>
                <a:latin typeface="Calibri"/>
              </a:rPr>
              <a:t>STEP 25</a:t>
            </a:r>
          </a:p>
        </p:txBody>
      </p:sp>
      <p:sp>
        <p:nvSpPr>
          <p:cNvPr id="5" name="TextBox 4"/>
          <p:cNvSpPr txBox="1"/>
          <p:nvPr/>
        </p:nvSpPr>
        <p:spPr>
          <a:xfrm>
            <a:off x="502920" y="420624"/>
            <a:ext cx="8412480" cy="365760"/>
          </a:xfrm>
          <a:prstGeom prst="rect">
            <a:avLst/>
          </a:prstGeom>
          <a:noFill/>
        </p:spPr>
        <p:txBody>
          <a:bodyPr wrap="square" anchor="t" lIns="0" rIns="0" tIns="0" bIns="0">
            <a:spAutoFit/>
          </a:bodyPr>
          <a:lstStyle/>
          <a:p>
            <a:pPr algn="l">
              <a:lnSpc>
                <a:spcPct val="115000"/>
              </a:lnSpc>
            </a:pPr>
            <a:r>
              <a:rPr sz="2000" b="1">
                <a:solidFill>
                  <a:srgbClr val="FFFFFF"/>
                </a:solidFill>
                <a:latin typeface="Calibri"/>
              </a:rPr>
              <a:t>See the whole picture</a:t>
            </a:r>
          </a:p>
        </p:txBody>
      </p:sp>
      <p:sp>
        <p:nvSpPr>
          <p:cNvPr id="6" name="TextBox 5"/>
          <p:cNvSpPr txBox="1"/>
          <p:nvPr/>
        </p:nvSpPr>
        <p:spPr>
          <a:xfrm>
            <a:off x="9174175" y="320040"/>
            <a:ext cx="2514600" cy="274320"/>
          </a:xfrm>
          <a:prstGeom prst="rect">
            <a:avLst/>
          </a:prstGeom>
          <a:noFill/>
        </p:spPr>
        <p:txBody>
          <a:bodyPr wrap="square" anchor="t" lIns="0" rIns="0" tIns="0" bIns="0">
            <a:spAutoFit/>
          </a:bodyPr>
          <a:lstStyle/>
          <a:p>
            <a:pPr algn="r">
              <a:lnSpc>
                <a:spcPct val="115000"/>
              </a:lnSpc>
            </a:pPr>
            <a:r>
              <a:rPr sz="1100" b="1">
                <a:solidFill>
                  <a:srgbClr val="F3ECE0"/>
                </a:solidFill>
                <a:latin typeface="Calibri"/>
              </a:rPr>
              <a:t>AUDITOR</a:t>
            </a:r>
          </a:p>
        </p:txBody>
      </p:sp>
      <p:sp>
        <p:nvSpPr>
          <p:cNvPr id="7" name="Rectangle 6"/>
          <p:cNvSpPr/>
          <p:nvPr/>
        </p:nvSpPr>
        <p:spPr>
          <a:xfrm>
            <a:off x="388620" y="1165860"/>
            <a:ext cx="7818120" cy="4903470"/>
          </a:xfrm>
          <a:prstGeom prst="rect">
            <a:avLst/>
          </a:prstGeom>
          <a:solidFill>
            <a:srgbClr val="D6CE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411480" y="1188720"/>
            <a:ext cx="7772400" cy="4855464"/>
          </a:xfrm>
          <a:prstGeom prst="rect">
            <a:avLst/>
          </a:prstGeom>
        </p:spPr>
      </p:pic>
      <p:sp>
        <p:nvSpPr>
          <p:cNvPr id="9" name="Rectangle 8"/>
          <p:cNvSpPr/>
          <p:nvPr/>
        </p:nvSpPr>
        <p:spPr>
          <a:xfrm>
            <a:off x="8458200" y="1188720"/>
            <a:ext cx="45720" cy="342900"/>
          </a:xfrm>
          <a:prstGeom prst="rect">
            <a:avLst/>
          </a:prstGeom>
          <a:solidFill>
            <a:srgbClr val="0E4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22792" y="1188720"/>
            <a:ext cx="3127248" cy="164592"/>
          </a:xfrm>
          <a:prstGeom prst="rect">
            <a:avLst/>
          </a:prstGeom>
          <a:noFill/>
        </p:spPr>
        <p:txBody>
          <a:bodyPr wrap="square" anchor="t" lIns="0" rIns="0" tIns="0" bIns="0">
            <a:spAutoFit/>
          </a:bodyPr>
          <a:lstStyle/>
          <a:p>
            <a:pPr algn="l">
              <a:lnSpc>
                <a:spcPct val="115000"/>
              </a:lnSpc>
            </a:pPr>
            <a:r>
              <a:rPr sz="950" b="1">
                <a:solidFill>
                  <a:srgbClr val="0E4F4A"/>
                </a:solidFill>
                <a:latin typeface="Calibri"/>
              </a:rPr>
              <a:t>ACTION</a:t>
            </a:r>
          </a:p>
        </p:txBody>
      </p:sp>
      <p:sp>
        <p:nvSpPr>
          <p:cNvPr id="11" name="TextBox 10"/>
          <p:cNvSpPr txBox="1"/>
          <p:nvPr/>
        </p:nvSpPr>
        <p:spPr>
          <a:xfrm>
            <a:off x="8622792" y="1380744"/>
            <a:ext cx="3127248" cy="160020"/>
          </a:xfrm>
          <a:prstGeom prst="rect">
            <a:avLst/>
          </a:prstGeom>
          <a:noFill/>
        </p:spPr>
        <p:txBody>
          <a:bodyPr wrap="square" anchor="t" lIns="0" rIns="0" tIns="0" bIns="0">
            <a:spAutoFit/>
          </a:bodyPr>
          <a:lstStyle/>
          <a:p>
            <a:pPr algn="l">
              <a:lnSpc>
                <a:spcPct val="108000"/>
              </a:lnSpc>
            </a:pPr>
            <a:r>
              <a:rPr sz="1100" b="0">
                <a:solidFill>
                  <a:srgbClr val="1B2A33"/>
                </a:solidFill>
                <a:latin typeface="Calibri"/>
              </a:rPr>
              <a:t>Sign in and read the dashboard.</a:t>
            </a:r>
          </a:p>
        </p:txBody>
      </p:sp>
      <p:sp>
        <p:nvSpPr>
          <p:cNvPr id="12" name="Rectangle 11"/>
          <p:cNvSpPr/>
          <p:nvPr/>
        </p:nvSpPr>
        <p:spPr>
          <a:xfrm>
            <a:off x="8458200" y="1732788"/>
            <a:ext cx="45720" cy="662940"/>
          </a:xfrm>
          <a:prstGeom prst="rect">
            <a:avLst/>
          </a:prstGeom>
          <a:solidFill>
            <a:srgbClr val="1E7A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22792" y="1732788"/>
            <a:ext cx="3127248" cy="164592"/>
          </a:xfrm>
          <a:prstGeom prst="rect">
            <a:avLst/>
          </a:prstGeom>
          <a:noFill/>
        </p:spPr>
        <p:txBody>
          <a:bodyPr wrap="square" anchor="t" lIns="0" rIns="0" tIns="0" bIns="0">
            <a:spAutoFit/>
          </a:bodyPr>
          <a:lstStyle/>
          <a:p>
            <a:pPr algn="l">
              <a:lnSpc>
                <a:spcPct val="115000"/>
              </a:lnSpc>
            </a:pPr>
            <a:r>
              <a:rPr sz="950" b="1">
                <a:solidFill>
                  <a:srgbClr val="1E7A53"/>
                </a:solidFill>
                <a:latin typeface="Calibri"/>
              </a:rPr>
              <a:t>RESULT</a:t>
            </a:r>
          </a:p>
        </p:txBody>
      </p:sp>
      <p:sp>
        <p:nvSpPr>
          <p:cNvPr id="14" name="TextBox 13"/>
          <p:cNvSpPr txBox="1"/>
          <p:nvPr/>
        </p:nvSpPr>
        <p:spPr>
          <a:xfrm>
            <a:off x="8622792" y="1924812"/>
            <a:ext cx="3127248" cy="480060"/>
          </a:xfrm>
          <a:prstGeom prst="rect">
            <a:avLst/>
          </a:prstGeom>
          <a:noFill/>
        </p:spPr>
        <p:txBody>
          <a:bodyPr wrap="square" anchor="t" lIns="0" rIns="0" tIns="0" bIns="0">
            <a:spAutoFit/>
          </a:bodyPr>
          <a:lstStyle/>
          <a:p>
            <a:pPr algn="l">
              <a:lnSpc>
                <a:spcPct val="108000"/>
              </a:lnSpc>
            </a:pPr>
            <a:r>
              <a:rPr sz="1100" b="0">
                <a:solidFill>
                  <a:srgbClr val="1B2A33"/>
                </a:solidFill>
                <a:latin typeface="Calibri"/>
              </a:rPr>
              <a:t>Auditors have full visibility. What they do not have is any way to change what they are looking at.</a:t>
            </a:r>
          </a:p>
        </p:txBody>
      </p:sp>
      <p:sp>
        <p:nvSpPr>
          <p:cNvPr id="15" name="Rectangle 14"/>
          <p:cNvSpPr/>
          <p:nvPr/>
        </p:nvSpPr>
        <p:spPr>
          <a:xfrm>
            <a:off x="8458200" y="2596896"/>
            <a:ext cx="45720" cy="342900"/>
          </a:xfrm>
          <a:prstGeom prst="rect">
            <a:avLst/>
          </a:prstGeom>
          <a:solidFill>
            <a:srgbClr val="5B6B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22792" y="2596896"/>
            <a:ext cx="3127248" cy="164592"/>
          </a:xfrm>
          <a:prstGeom prst="rect">
            <a:avLst/>
          </a:prstGeom>
          <a:noFill/>
        </p:spPr>
        <p:txBody>
          <a:bodyPr wrap="square" anchor="t" lIns="0" rIns="0" tIns="0" bIns="0">
            <a:spAutoFit/>
          </a:bodyPr>
          <a:lstStyle/>
          <a:p>
            <a:pPr algn="l">
              <a:lnSpc>
                <a:spcPct val="115000"/>
              </a:lnSpc>
            </a:pPr>
            <a:r>
              <a:rPr sz="950" b="1">
                <a:solidFill>
                  <a:srgbClr val="5B6B75"/>
                </a:solidFill>
                <a:latin typeface="Calibri"/>
              </a:rPr>
              <a:t>NEXT</a:t>
            </a:r>
          </a:p>
        </p:txBody>
      </p:sp>
      <p:sp>
        <p:nvSpPr>
          <p:cNvPr id="17" name="TextBox 16"/>
          <p:cNvSpPr txBox="1"/>
          <p:nvPr/>
        </p:nvSpPr>
        <p:spPr>
          <a:xfrm>
            <a:off x="8622792" y="2788920"/>
            <a:ext cx="3127248" cy="160020"/>
          </a:xfrm>
          <a:prstGeom prst="rect">
            <a:avLst/>
          </a:prstGeom>
          <a:noFill/>
        </p:spPr>
        <p:txBody>
          <a:bodyPr wrap="square" anchor="t" lIns="0" rIns="0" tIns="0" bIns="0">
            <a:spAutoFit/>
          </a:bodyPr>
          <a:lstStyle/>
          <a:p>
            <a:pPr algn="l">
              <a:lnSpc>
                <a:spcPct val="108000"/>
              </a:lnSpc>
            </a:pPr>
            <a:r>
              <a:rPr sz="1100" b="0">
                <a:solidFill>
                  <a:srgbClr val="1B2A33"/>
                </a:solidFill>
                <a:latin typeface="Calibri"/>
              </a:rPr>
              <a:t>Step 26 — open the audit trail.</a:t>
            </a:r>
          </a:p>
        </p:txBody>
      </p:sp>
      <p:sp>
        <p:nvSpPr>
          <p:cNvPr id="18" name="Rectangle 17"/>
          <p:cNvSpPr/>
          <p:nvPr/>
        </p:nvSpPr>
        <p:spPr>
          <a:xfrm>
            <a:off x="0" y="6473952"/>
            <a:ext cx="12191695" cy="384048"/>
          </a:xfrm>
          <a:prstGeom prst="rect">
            <a:avLst/>
          </a:prstGeom>
          <a:solidFill>
            <a:srgbClr val="F3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6547104"/>
            <a:ext cx="8229600" cy="228600"/>
          </a:xfrm>
          <a:prstGeom prst="rect">
            <a:avLst/>
          </a:prstGeom>
          <a:noFill/>
        </p:spPr>
        <p:txBody>
          <a:bodyPr wrap="square" anchor="t" lIns="0" rIns="0" tIns="0" bIns="0">
            <a:spAutoFit/>
          </a:bodyPr>
          <a:lstStyle/>
          <a:p>
            <a:pPr algn="l">
              <a:lnSpc>
                <a:spcPct val="115000"/>
              </a:lnSpc>
            </a:pPr>
            <a:r>
              <a:rPr sz="900" b="0">
                <a:solidFill>
                  <a:srgbClr val="5B6B75"/>
                </a:solidFill>
                <a:latin typeface="Calibri"/>
              </a:rPr>
              <a:t>SUCCESS Bank — Internal Ticketing · Standard Operating Procedure</a:t>
            </a:r>
          </a:p>
        </p:txBody>
      </p:sp>
      <p:sp>
        <p:nvSpPr>
          <p:cNvPr id="20" name="TextBox 19"/>
          <p:cNvSpPr txBox="1"/>
          <p:nvPr/>
        </p:nvSpPr>
        <p:spPr>
          <a:xfrm>
            <a:off x="9997135" y="6547104"/>
            <a:ext cx="1691640" cy="228600"/>
          </a:xfrm>
          <a:prstGeom prst="rect">
            <a:avLst/>
          </a:prstGeom>
          <a:noFill/>
        </p:spPr>
        <p:txBody>
          <a:bodyPr wrap="square" anchor="t" lIns="0" rIns="0" tIns="0" bIns="0">
            <a:spAutoFit/>
          </a:bodyPr>
          <a:lstStyle/>
          <a:p>
            <a:pPr algn="r">
              <a:lnSpc>
                <a:spcPct val="115000"/>
              </a:lnSpc>
            </a:pPr>
            <a:r>
              <a:rPr sz="900" b="0">
                <a:solidFill>
                  <a:srgbClr val="5B6B75"/>
                </a:solidFill>
                <a:latin typeface="Calibri"/>
              </a:rPr>
              <a:t>Step 25</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0E4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36576"/>
          </a:xfrm>
          <a:prstGeom prst="rect">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55448"/>
            <a:ext cx="1371600" cy="274320"/>
          </a:xfrm>
          <a:prstGeom prst="rect">
            <a:avLst/>
          </a:prstGeom>
          <a:noFill/>
        </p:spPr>
        <p:txBody>
          <a:bodyPr wrap="square" anchor="t" lIns="0" rIns="0" tIns="0" bIns="0">
            <a:spAutoFit/>
          </a:bodyPr>
          <a:lstStyle/>
          <a:p>
            <a:pPr algn="l">
              <a:lnSpc>
                <a:spcPct val="115000"/>
              </a:lnSpc>
            </a:pPr>
            <a:r>
              <a:rPr sz="1200" b="1">
                <a:solidFill>
                  <a:srgbClr val="C25B2E"/>
                </a:solidFill>
                <a:latin typeface="Calibri"/>
              </a:rPr>
              <a:t>STEP 26</a:t>
            </a:r>
          </a:p>
        </p:txBody>
      </p:sp>
      <p:sp>
        <p:nvSpPr>
          <p:cNvPr id="5" name="TextBox 4"/>
          <p:cNvSpPr txBox="1"/>
          <p:nvPr/>
        </p:nvSpPr>
        <p:spPr>
          <a:xfrm>
            <a:off x="502920" y="420624"/>
            <a:ext cx="8412480" cy="365760"/>
          </a:xfrm>
          <a:prstGeom prst="rect">
            <a:avLst/>
          </a:prstGeom>
          <a:noFill/>
        </p:spPr>
        <p:txBody>
          <a:bodyPr wrap="square" anchor="t" lIns="0" rIns="0" tIns="0" bIns="0">
            <a:spAutoFit/>
          </a:bodyPr>
          <a:lstStyle/>
          <a:p>
            <a:pPr algn="l">
              <a:lnSpc>
                <a:spcPct val="115000"/>
              </a:lnSpc>
            </a:pPr>
            <a:r>
              <a:rPr sz="2000" b="1">
                <a:solidFill>
                  <a:srgbClr val="FFFFFF"/>
                </a:solidFill>
                <a:latin typeface="Calibri"/>
              </a:rPr>
              <a:t>Read the audit trail</a:t>
            </a:r>
          </a:p>
        </p:txBody>
      </p:sp>
      <p:sp>
        <p:nvSpPr>
          <p:cNvPr id="6" name="TextBox 5"/>
          <p:cNvSpPr txBox="1"/>
          <p:nvPr/>
        </p:nvSpPr>
        <p:spPr>
          <a:xfrm>
            <a:off x="9174175" y="320040"/>
            <a:ext cx="2514600" cy="274320"/>
          </a:xfrm>
          <a:prstGeom prst="rect">
            <a:avLst/>
          </a:prstGeom>
          <a:noFill/>
        </p:spPr>
        <p:txBody>
          <a:bodyPr wrap="square" anchor="t" lIns="0" rIns="0" tIns="0" bIns="0">
            <a:spAutoFit/>
          </a:bodyPr>
          <a:lstStyle/>
          <a:p>
            <a:pPr algn="r">
              <a:lnSpc>
                <a:spcPct val="115000"/>
              </a:lnSpc>
            </a:pPr>
            <a:r>
              <a:rPr sz="1100" b="1">
                <a:solidFill>
                  <a:srgbClr val="F3ECE0"/>
                </a:solidFill>
                <a:latin typeface="Calibri"/>
              </a:rPr>
              <a:t>AUDITOR</a:t>
            </a:r>
          </a:p>
        </p:txBody>
      </p:sp>
      <p:sp>
        <p:nvSpPr>
          <p:cNvPr id="7" name="Rectangle 6"/>
          <p:cNvSpPr/>
          <p:nvPr/>
        </p:nvSpPr>
        <p:spPr>
          <a:xfrm>
            <a:off x="388620" y="1165860"/>
            <a:ext cx="7818120" cy="4903470"/>
          </a:xfrm>
          <a:prstGeom prst="rect">
            <a:avLst/>
          </a:prstGeom>
          <a:solidFill>
            <a:srgbClr val="D6CE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411480" y="1188720"/>
            <a:ext cx="7772400" cy="4855464"/>
          </a:xfrm>
          <a:prstGeom prst="rect">
            <a:avLst/>
          </a:prstGeom>
        </p:spPr>
      </p:pic>
      <p:sp>
        <p:nvSpPr>
          <p:cNvPr id="9" name="Rectangle 8"/>
          <p:cNvSpPr/>
          <p:nvPr/>
        </p:nvSpPr>
        <p:spPr>
          <a:xfrm>
            <a:off x="8458200" y="1188720"/>
            <a:ext cx="45720" cy="502920"/>
          </a:xfrm>
          <a:prstGeom prst="rect">
            <a:avLst/>
          </a:prstGeom>
          <a:solidFill>
            <a:srgbClr val="0E4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22792" y="1188720"/>
            <a:ext cx="3127248" cy="164592"/>
          </a:xfrm>
          <a:prstGeom prst="rect">
            <a:avLst/>
          </a:prstGeom>
          <a:noFill/>
        </p:spPr>
        <p:txBody>
          <a:bodyPr wrap="square" anchor="t" lIns="0" rIns="0" tIns="0" bIns="0">
            <a:spAutoFit/>
          </a:bodyPr>
          <a:lstStyle/>
          <a:p>
            <a:pPr algn="l">
              <a:lnSpc>
                <a:spcPct val="115000"/>
              </a:lnSpc>
            </a:pPr>
            <a:r>
              <a:rPr sz="950" b="1">
                <a:solidFill>
                  <a:srgbClr val="0E4F4A"/>
                </a:solidFill>
                <a:latin typeface="Calibri"/>
              </a:rPr>
              <a:t>ACTION</a:t>
            </a:r>
          </a:p>
        </p:txBody>
      </p:sp>
      <p:sp>
        <p:nvSpPr>
          <p:cNvPr id="11" name="TextBox 10"/>
          <p:cNvSpPr txBox="1"/>
          <p:nvPr/>
        </p:nvSpPr>
        <p:spPr>
          <a:xfrm>
            <a:off x="8622792" y="1380744"/>
            <a:ext cx="3127248" cy="320040"/>
          </a:xfrm>
          <a:prstGeom prst="rect">
            <a:avLst/>
          </a:prstGeom>
          <a:noFill/>
        </p:spPr>
        <p:txBody>
          <a:bodyPr wrap="square" anchor="t" lIns="0" rIns="0" tIns="0" bIns="0">
            <a:spAutoFit/>
          </a:bodyPr>
          <a:lstStyle/>
          <a:p>
            <a:pPr algn="l">
              <a:lnSpc>
                <a:spcPct val="108000"/>
              </a:lnSpc>
            </a:pPr>
            <a:r>
              <a:rPr sz="1100" b="0">
                <a:solidFill>
                  <a:srgbClr val="1B2A33"/>
                </a:solidFill>
                <a:latin typeface="Calibri"/>
              </a:rPr>
              <a:t>Filter to the entity or person you are reviewing.</a:t>
            </a:r>
          </a:p>
        </p:txBody>
      </p:sp>
      <p:sp>
        <p:nvSpPr>
          <p:cNvPr id="12" name="Rectangle 11"/>
          <p:cNvSpPr/>
          <p:nvPr/>
        </p:nvSpPr>
        <p:spPr>
          <a:xfrm>
            <a:off x="8458200" y="1892808"/>
            <a:ext cx="45720" cy="662940"/>
          </a:xfrm>
          <a:prstGeom prst="rect">
            <a:avLst/>
          </a:prstGeom>
          <a:solidFill>
            <a:srgbClr val="1E7A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22792" y="1892808"/>
            <a:ext cx="3127248" cy="164592"/>
          </a:xfrm>
          <a:prstGeom prst="rect">
            <a:avLst/>
          </a:prstGeom>
          <a:noFill/>
        </p:spPr>
        <p:txBody>
          <a:bodyPr wrap="square" anchor="t" lIns="0" rIns="0" tIns="0" bIns="0">
            <a:spAutoFit/>
          </a:bodyPr>
          <a:lstStyle/>
          <a:p>
            <a:pPr algn="l">
              <a:lnSpc>
                <a:spcPct val="115000"/>
              </a:lnSpc>
            </a:pPr>
            <a:r>
              <a:rPr sz="950" b="1">
                <a:solidFill>
                  <a:srgbClr val="1E7A53"/>
                </a:solidFill>
                <a:latin typeface="Calibri"/>
              </a:rPr>
              <a:t>RESULT</a:t>
            </a:r>
          </a:p>
        </p:txBody>
      </p:sp>
      <p:sp>
        <p:nvSpPr>
          <p:cNvPr id="14" name="TextBox 13"/>
          <p:cNvSpPr txBox="1"/>
          <p:nvPr/>
        </p:nvSpPr>
        <p:spPr>
          <a:xfrm>
            <a:off x="8622792" y="2084832"/>
            <a:ext cx="3127248" cy="480060"/>
          </a:xfrm>
          <a:prstGeom prst="rect">
            <a:avLst/>
          </a:prstGeom>
          <a:noFill/>
        </p:spPr>
        <p:txBody>
          <a:bodyPr wrap="square" anchor="t" lIns="0" rIns="0" tIns="0" bIns="0">
            <a:spAutoFit/>
          </a:bodyPr>
          <a:lstStyle/>
          <a:p>
            <a:pPr algn="l">
              <a:lnSpc>
                <a:spcPct val="108000"/>
              </a:lnSpc>
            </a:pPr>
            <a:r>
              <a:rPr sz="1100" b="0">
                <a:solidFill>
                  <a:srgbClr val="1B2A33"/>
                </a:solidFill>
                <a:latin typeface="Calibri"/>
              </a:rPr>
              <a:t>Every state change writes a row: actor, role, IP, request id, and the values before and after.</a:t>
            </a:r>
          </a:p>
        </p:txBody>
      </p:sp>
      <p:sp>
        <p:nvSpPr>
          <p:cNvPr id="15" name="Rectangle 14"/>
          <p:cNvSpPr/>
          <p:nvPr/>
        </p:nvSpPr>
        <p:spPr>
          <a:xfrm>
            <a:off x="8458200" y="2756916"/>
            <a:ext cx="45720" cy="342900"/>
          </a:xfrm>
          <a:prstGeom prst="rect">
            <a:avLst/>
          </a:prstGeom>
          <a:solidFill>
            <a:srgbClr val="5B6B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22792" y="2756916"/>
            <a:ext cx="3127248" cy="164592"/>
          </a:xfrm>
          <a:prstGeom prst="rect">
            <a:avLst/>
          </a:prstGeom>
          <a:noFill/>
        </p:spPr>
        <p:txBody>
          <a:bodyPr wrap="square" anchor="t" lIns="0" rIns="0" tIns="0" bIns="0">
            <a:spAutoFit/>
          </a:bodyPr>
          <a:lstStyle/>
          <a:p>
            <a:pPr algn="l">
              <a:lnSpc>
                <a:spcPct val="115000"/>
              </a:lnSpc>
            </a:pPr>
            <a:r>
              <a:rPr sz="950" b="1">
                <a:solidFill>
                  <a:srgbClr val="5B6B75"/>
                </a:solidFill>
                <a:latin typeface="Calibri"/>
              </a:rPr>
              <a:t>NEXT</a:t>
            </a:r>
          </a:p>
        </p:txBody>
      </p:sp>
      <p:sp>
        <p:nvSpPr>
          <p:cNvPr id="17" name="TextBox 16"/>
          <p:cNvSpPr txBox="1"/>
          <p:nvPr/>
        </p:nvSpPr>
        <p:spPr>
          <a:xfrm>
            <a:off x="8622792" y="2948940"/>
            <a:ext cx="3127248" cy="160020"/>
          </a:xfrm>
          <a:prstGeom prst="rect">
            <a:avLst/>
          </a:prstGeom>
          <a:noFill/>
        </p:spPr>
        <p:txBody>
          <a:bodyPr wrap="square" anchor="t" lIns="0" rIns="0" tIns="0" bIns="0">
            <a:spAutoFit/>
          </a:bodyPr>
          <a:lstStyle/>
          <a:p>
            <a:pPr algn="l">
              <a:lnSpc>
                <a:spcPct val="108000"/>
              </a:lnSpc>
            </a:pPr>
            <a:r>
              <a:rPr sz="1100" b="0">
                <a:solidFill>
                  <a:srgbClr val="1B2A33"/>
                </a:solidFill>
                <a:latin typeface="Calibri"/>
              </a:rPr>
              <a:t>Step 27 — inspect any ticket.</a:t>
            </a:r>
          </a:p>
        </p:txBody>
      </p:sp>
      <p:sp>
        <p:nvSpPr>
          <p:cNvPr id="18" name="Rectangle 17"/>
          <p:cNvSpPr/>
          <p:nvPr/>
        </p:nvSpPr>
        <p:spPr>
          <a:xfrm>
            <a:off x="0" y="6473952"/>
            <a:ext cx="12191695" cy="384048"/>
          </a:xfrm>
          <a:prstGeom prst="rect">
            <a:avLst/>
          </a:prstGeom>
          <a:solidFill>
            <a:srgbClr val="F3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6547104"/>
            <a:ext cx="8229600" cy="228600"/>
          </a:xfrm>
          <a:prstGeom prst="rect">
            <a:avLst/>
          </a:prstGeom>
          <a:noFill/>
        </p:spPr>
        <p:txBody>
          <a:bodyPr wrap="square" anchor="t" lIns="0" rIns="0" tIns="0" bIns="0">
            <a:spAutoFit/>
          </a:bodyPr>
          <a:lstStyle/>
          <a:p>
            <a:pPr algn="l">
              <a:lnSpc>
                <a:spcPct val="115000"/>
              </a:lnSpc>
            </a:pPr>
            <a:r>
              <a:rPr sz="900" b="0">
                <a:solidFill>
                  <a:srgbClr val="5B6B75"/>
                </a:solidFill>
                <a:latin typeface="Calibri"/>
              </a:rPr>
              <a:t>SUCCESS Bank — Internal Ticketing · Standard Operating Procedure</a:t>
            </a:r>
          </a:p>
        </p:txBody>
      </p:sp>
      <p:sp>
        <p:nvSpPr>
          <p:cNvPr id="20" name="TextBox 19"/>
          <p:cNvSpPr txBox="1"/>
          <p:nvPr/>
        </p:nvSpPr>
        <p:spPr>
          <a:xfrm>
            <a:off x="9997135" y="6547104"/>
            <a:ext cx="1691640" cy="228600"/>
          </a:xfrm>
          <a:prstGeom prst="rect">
            <a:avLst/>
          </a:prstGeom>
          <a:noFill/>
        </p:spPr>
        <p:txBody>
          <a:bodyPr wrap="square" anchor="t" lIns="0" rIns="0" tIns="0" bIns="0">
            <a:spAutoFit/>
          </a:bodyPr>
          <a:lstStyle/>
          <a:p>
            <a:pPr algn="r">
              <a:lnSpc>
                <a:spcPct val="115000"/>
              </a:lnSpc>
            </a:pPr>
            <a:r>
              <a:rPr sz="900" b="0">
                <a:solidFill>
                  <a:srgbClr val="5B6B75"/>
                </a:solidFill>
                <a:latin typeface="Calibri"/>
              </a:rPr>
              <a:t>Step 26</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0E4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36576"/>
          </a:xfrm>
          <a:prstGeom prst="rect">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55448"/>
            <a:ext cx="1371600" cy="274320"/>
          </a:xfrm>
          <a:prstGeom prst="rect">
            <a:avLst/>
          </a:prstGeom>
          <a:noFill/>
        </p:spPr>
        <p:txBody>
          <a:bodyPr wrap="square" anchor="t" lIns="0" rIns="0" tIns="0" bIns="0">
            <a:spAutoFit/>
          </a:bodyPr>
          <a:lstStyle/>
          <a:p>
            <a:pPr algn="l">
              <a:lnSpc>
                <a:spcPct val="115000"/>
              </a:lnSpc>
            </a:pPr>
            <a:r>
              <a:rPr sz="1200" b="1">
                <a:solidFill>
                  <a:srgbClr val="C25B2E"/>
                </a:solidFill>
                <a:latin typeface="Calibri"/>
              </a:rPr>
              <a:t>STEP 27</a:t>
            </a:r>
          </a:p>
        </p:txBody>
      </p:sp>
      <p:sp>
        <p:nvSpPr>
          <p:cNvPr id="5" name="TextBox 4"/>
          <p:cNvSpPr txBox="1"/>
          <p:nvPr/>
        </p:nvSpPr>
        <p:spPr>
          <a:xfrm>
            <a:off x="502920" y="420624"/>
            <a:ext cx="8412480" cy="365760"/>
          </a:xfrm>
          <a:prstGeom prst="rect">
            <a:avLst/>
          </a:prstGeom>
          <a:noFill/>
        </p:spPr>
        <p:txBody>
          <a:bodyPr wrap="square" anchor="t" lIns="0" rIns="0" tIns="0" bIns="0">
            <a:spAutoFit/>
          </a:bodyPr>
          <a:lstStyle/>
          <a:p>
            <a:pPr algn="l">
              <a:lnSpc>
                <a:spcPct val="115000"/>
              </a:lnSpc>
            </a:pPr>
            <a:r>
              <a:rPr sz="2000" b="1">
                <a:solidFill>
                  <a:srgbClr val="FFFFFF"/>
                </a:solidFill>
                <a:latin typeface="Calibri"/>
              </a:rPr>
              <a:t>Inspect any ticket</a:t>
            </a:r>
          </a:p>
        </p:txBody>
      </p:sp>
      <p:sp>
        <p:nvSpPr>
          <p:cNvPr id="6" name="TextBox 5"/>
          <p:cNvSpPr txBox="1"/>
          <p:nvPr/>
        </p:nvSpPr>
        <p:spPr>
          <a:xfrm>
            <a:off x="9174175" y="320040"/>
            <a:ext cx="2514600" cy="274320"/>
          </a:xfrm>
          <a:prstGeom prst="rect">
            <a:avLst/>
          </a:prstGeom>
          <a:noFill/>
        </p:spPr>
        <p:txBody>
          <a:bodyPr wrap="square" anchor="t" lIns="0" rIns="0" tIns="0" bIns="0">
            <a:spAutoFit/>
          </a:bodyPr>
          <a:lstStyle/>
          <a:p>
            <a:pPr algn="r">
              <a:lnSpc>
                <a:spcPct val="115000"/>
              </a:lnSpc>
            </a:pPr>
            <a:r>
              <a:rPr sz="1100" b="1">
                <a:solidFill>
                  <a:srgbClr val="F3ECE0"/>
                </a:solidFill>
                <a:latin typeface="Calibri"/>
              </a:rPr>
              <a:t>AUDITOR</a:t>
            </a:r>
          </a:p>
        </p:txBody>
      </p:sp>
      <p:sp>
        <p:nvSpPr>
          <p:cNvPr id="7" name="Rectangle 6"/>
          <p:cNvSpPr/>
          <p:nvPr/>
        </p:nvSpPr>
        <p:spPr>
          <a:xfrm>
            <a:off x="388620" y="1165860"/>
            <a:ext cx="7818120" cy="4903470"/>
          </a:xfrm>
          <a:prstGeom prst="rect">
            <a:avLst/>
          </a:prstGeom>
          <a:solidFill>
            <a:srgbClr val="D6CE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411480" y="1188720"/>
            <a:ext cx="7772400" cy="4855464"/>
          </a:xfrm>
          <a:prstGeom prst="rect">
            <a:avLst/>
          </a:prstGeom>
        </p:spPr>
      </p:pic>
      <p:sp>
        <p:nvSpPr>
          <p:cNvPr id="9" name="Rectangle 8"/>
          <p:cNvSpPr/>
          <p:nvPr/>
        </p:nvSpPr>
        <p:spPr>
          <a:xfrm>
            <a:off x="8458200" y="1188720"/>
            <a:ext cx="45720" cy="502920"/>
          </a:xfrm>
          <a:prstGeom prst="rect">
            <a:avLst/>
          </a:prstGeom>
          <a:solidFill>
            <a:srgbClr val="0E4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22792" y="1188720"/>
            <a:ext cx="3127248" cy="164592"/>
          </a:xfrm>
          <a:prstGeom prst="rect">
            <a:avLst/>
          </a:prstGeom>
          <a:noFill/>
        </p:spPr>
        <p:txBody>
          <a:bodyPr wrap="square" anchor="t" lIns="0" rIns="0" tIns="0" bIns="0">
            <a:spAutoFit/>
          </a:bodyPr>
          <a:lstStyle/>
          <a:p>
            <a:pPr algn="l">
              <a:lnSpc>
                <a:spcPct val="115000"/>
              </a:lnSpc>
            </a:pPr>
            <a:r>
              <a:rPr sz="950" b="1">
                <a:solidFill>
                  <a:srgbClr val="0E4F4A"/>
                </a:solidFill>
                <a:latin typeface="Calibri"/>
              </a:rPr>
              <a:t>ACTION</a:t>
            </a:r>
          </a:p>
        </p:txBody>
      </p:sp>
      <p:sp>
        <p:nvSpPr>
          <p:cNvPr id="11" name="TextBox 10"/>
          <p:cNvSpPr txBox="1"/>
          <p:nvPr/>
        </p:nvSpPr>
        <p:spPr>
          <a:xfrm>
            <a:off x="8622792" y="1380744"/>
            <a:ext cx="3127248" cy="320040"/>
          </a:xfrm>
          <a:prstGeom prst="rect">
            <a:avLst/>
          </a:prstGeom>
          <a:noFill/>
        </p:spPr>
        <p:txBody>
          <a:bodyPr wrap="square" anchor="t" lIns="0" rIns="0" tIns="0" bIns="0">
            <a:spAutoFit/>
          </a:bodyPr>
          <a:lstStyle/>
          <a:p>
            <a:pPr algn="l">
              <a:lnSpc>
                <a:spcPct val="108000"/>
              </a:lnSpc>
            </a:pPr>
            <a:r>
              <a:rPr sz="1100" b="0">
                <a:solidFill>
                  <a:srgbClr val="1B2A33"/>
                </a:solidFill>
                <a:latin typeface="Calibri"/>
              </a:rPr>
              <a:t>Open any ticket and read its comments, attachments and timeline.</a:t>
            </a:r>
          </a:p>
        </p:txBody>
      </p:sp>
      <p:sp>
        <p:nvSpPr>
          <p:cNvPr id="12" name="Rectangle 11"/>
          <p:cNvSpPr/>
          <p:nvPr/>
        </p:nvSpPr>
        <p:spPr>
          <a:xfrm>
            <a:off x="8458200" y="1892808"/>
            <a:ext cx="45720" cy="982980"/>
          </a:xfrm>
          <a:prstGeom prst="rect">
            <a:avLst/>
          </a:prstGeom>
          <a:solidFill>
            <a:srgbClr val="1E7A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22792" y="1892808"/>
            <a:ext cx="3127248" cy="164592"/>
          </a:xfrm>
          <a:prstGeom prst="rect">
            <a:avLst/>
          </a:prstGeom>
          <a:noFill/>
        </p:spPr>
        <p:txBody>
          <a:bodyPr wrap="square" anchor="t" lIns="0" rIns="0" tIns="0" bIns="0">
            <a:spAutoFit/>
          </a:bodyPr>
          <a:lstStyle/>
          <a:p>
            <a:pPr algn="l">
              <a:lnSpc>
                <a:spcPct val="115000"/>
              </a:lnSpc>
            </a:pPr>
            <a:r>
              <a:rPr sz="950" b="1">
                <a:solidFill>
                  <a:srgbClr val="1E7A53"/>
                </a:solidFill>
                <a:latin typeface="Calibri"/>
              </a:rPr>
              <a:t>RESULT</a:t>
            </a:r>
          </a:p>
        </p:txBody>
      </p:sp>
      <p:sp>
        <p:nvSpPr>
          <p:cNvPr id="14" name="TextBox 13"/>
          <p:cNvSpPr txBox="1"/>
          <p:nvPr/>
        </p:nvSpPr>
        <p:spPr>
          <a:xfrm>
            <a:off x="8622792" y="2084832"/>
            <a:ext cx="3127248" cy="800100"/>
          </a:xfrm>
          <a:prstGeom prst="rect">
            <a:avLst/>
          </a:prstGeom>
          <a:noFill/>
        </p:spPr>
        <p:txBody>
          <a:bodyPr wrap="square" anchor="t" lIns="0" rIns="0" tIns="0" bIns="0">
            <a:spAutoFit/>
          </a:bodyPr>
          <a:lstStyle/>
          <a:p>
            <a:pPr algn="l">
              <a:lnSpc>
                <a:spcPct val="108000"/>
              </a:lnSpc>
            </a:pPr>
            <a:r>
              <a:rPr sz="1100" b="0">
                <a:solidFill>
                  <a:srgbClr val="1B2A33"/>
                </a:solidFill>
                <a:latin typeface="Calibri"/>
              </a:rPr>
              <a:t>There is no scope limit — an auditor sees every ticket, not a subset. Internal notes are visible to them too. Write controls are not offered, and would be refused if called directly.</a:t>
            </a:r>
          </a:p>
        </p:txBody>
      </p:sp>
      <p:sp>
        <p:nvSpPr>
          <p:cNvPr id="15" name="Rectangle 14"/>
          <p:cNvSpPr/>
          <p:nvPr/>
        </p:nvSpPr>
        <p:spPr>
          <a:xfrm>
            <a:off x="8458200" y="3076956"/>
            <a:ext cx="45720" cy="502920"/>
          </a:xfrm>
          <a:prstGeom prst="rect">
            <a:avLst/>
          </a:prstGeom>
          <a:solidFill>
            <a:srgbClr val="5B6B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22792" y="3076956"/>
            <a:ext cx="3127248" cy="164592"/>
          </a:xfrm>
          <a:prstGeom prst="rect">
            <a:avLst/>
          </a:prstGeom>
          <a:noFill/>
        </p:spPr>
        <p:txBody>
          <a:bodyPr wrap="square" anchor="t" lIns="0" rIns="0" tIns="0" bIns="0">
            <a:spAutoFit/>
          </a:bodyPr>
          <a:lstStyle/>
          <a:p>
            <a:pPr algn="l">
              <a:lnSpc>
                <a:spcPct val="115000"/>
              </a:lnSpc>
            </a:pPr>
            <a:r>
              <a:rPr sz="950" b="1">
                <a:solidFill>
                  <a:srgbClr val="5B6B75"/>
                </a:solidFill>
                <a:latin typeface="Calibri"/>
              </a:rPr>
              <a:t>NEXT</a:t>
            </a:r>
          </a:p>
        </p:txBody>
      </p:sp>
      <p:sp>
        <p:nvSpPr>
          <p:cNvPr id="17" name="TextBox 16"/>
          <p:cNvSpPr txBox="1"/>
          <p:nvPr/>
        </p:nvSpPr>
        <p:spPr>
          <a:xfrm>
            <a:off x="8622792" y="3268980"/>
            <a:ext cx="3127248" cy="320040"/>
          </a:xfrm>
          <a:prstGeom prst="rect">
            <a:avLst/>
          </a:prstGeom>
          <a:noFill/>
        </p:spPr>
        <p:txBody>
          <a:bodyPr wrap="square" anchor="t" lIns="0" rIns="0" tIns="0" bIns="0">
            <a:spAutoFit/>
          </a:bodyPr>
          <a:lstStyle/>
          <a:p>
            <a:pPr algn="l">
              <a:lnSpc>
                <a:spcPct val="108000"/>
              </a:lnSpc>
            </a:pPr>
            <a:r>
              <a:rPr sz="1100" b="0">
                <a:solidFill>
                  <a:srgbClr val="1B2A33"/>
                </a:solidFill>
                <a:latin typeface="Calibri"/>
              </a:rPr>
              <a:t>This is the end of the auditor's workflow — there is nothing to submit.</a:t>
            </a:r>
          </a:p>
        </p:txBody>
      </p:sp>
      <p:sp>
        <p:nvSpPr>
          <p:cNvPr id="18" name="Rectangle 17"/>
          <p:cNvSpPr/>
          <p:nvPr/>
        </p:nvSpPr>
        <p:spPr>
          <a:xfrm>
            <a:off x="0" y="6473952"/>
            <a:ext cx="12191695" cy="384048"/>
          </a:xfrm>
          <a:prstGeom prst="rect">
            <a:avLst/>
          </a:prstGeom>
          <a:solidFill>
            <a:srgbClr val="F3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6547104"/>
            <a:ext cx="8229600" cy="228600"/>
          </a:xfrm>
          <a:prstGeom prst="rect">
            <a:avLst/>
          </a:prstGeom>
          <a:noFill/>
        </p:spPr>
        <p:txBody>
          <a:bodyPr wrap="square" anchor="t" lIns="0" rIns="0" tIns="0" bIns="0">
            <a:spAutoFit/>
          </a:bodyPr>
          <a:lstStyle/>
          <a:p>
            <a:pPr algn="l">
              <a:lnSpc>
                <a:spcPct val="115000"/>
              </a:lnSpc>
            </a:pPr>
            <a:r>
              <a:rPr sz="900" b="0">
                <a:solidFill>
                  <a:srgbClr val="5B6B75"/>
                </a:solidFill>
                <a:latin typeface="Calibri"/>
              </a:rPr>
              <a:t>SUCCESS Bank — Internal Ticketing · Standard Operating Procedure</a:t>
            </a:r>
          </a:p>
        </p:txBody>
      </p:sp>
      <p:sp>
        <p:nvSpPr>
          <p:cNvPr id="20" name="TextBox 19"/>
          <p:cNvSpPr txBox="1"/>
          <p:nvPr/>
        </p:nvSpPr>
        <p:spPr>
          <a:xfrm>
            <a:off x="9997135" y="6547104"/>
            <a:ext cx="1691640" cy="228600"/>
          </a:xfrm>
          <a:prstGeom prst="rect">
            <a:avLst/>
          </a:prstGeom>
          <a:noFill/>
        </p:spPr>
        <p:txBody>
          <a:bodyPr wrap="square" anchor="t" lIns="0" rIns="0" tIns="0" bIns="0">
            <a:spAutoFit/>
          </a:bodyPr>
          <a:lstStyle/>
          <a:p>
            <a:pPr algn="r">
              <a:lnSpc>
                <a:spcPct val="115000"/>
              </a:lnSpc>
            </a:pPr>
            <a:r>
              <a:rPr sz="900" b="0">
                <a:solidFill>
                  <a:srgbClr val="5B6B75"/>
                </a:solidFill>
                <a:latin typeface="Calibri"/>
              </a:rPr>
              <a:t>Step 27</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0E4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82880"/>
            <a:ext cx="10515600" cy="320040"/>
          </a:xfrm>
          <a:prstGeom prst="rect">
            <a:avLst/>
          </a:prstGeom>
          <a:noFill/>
        </p:spPr>
        <p:txBody>
          <a:bodyPr wrap="square" anchor="t" lIns="0" rIns="0" tIns="0" bIns="0">
            <a:spAutoFit/>
          </a:bodyPr>
          <a:lstStyle/>
          <a:p>
            <a:pPr algn="l">
              <a:lnSpc>
                <a:spcPct val="115000"/>
              </a:lnSpc>
            </a:pPr>
            <a:r>
              <a:rPr sz="2300" b="1">
                <a:solidFill>
                  <a:srgbClr val="FFFFFF"/>
                </a:solidFill>
                <a:latin typeface="Calibri"/>
              </a:rPr>
              <a:t>A caveat worth recording</a:t>
            </a:r>
          </a:p>
        </p:txBody>
      </p:sp>
      <p:sp>
        <p:nvSpPr>
          <p:cNvPr id="4" name="TextBox 3"/>
          <p:cNvSpPr txBox="1"/>
          <p:nvPr/>
        </p:nvSpPr>
        <p:spPr>
          <a:xfrm>
            <a:off x="502920" y="548640"/>
            <a:ext cx="10515600" cy="256032"/>
          </a:xfrm>
          <a:prstGeom prst="rect">
            <a:avLst/>
          </a:prstGeom>
          <a:noFill/>
        </p:spPr>
        <p:txBody>
          <a:bodyPr wrap="square" anchor="t" lIns="0" rIns="0" tIns="0" bIns="0">
            <a:spAutoFit/>
          </a:bodyPr>
          <a:lstStyle/>
          <a:p>
            <a:pPr algn="l">
              <a:lnSpc>
                <a:spcPct val="115000"/>
              </a:lnSpc>
            </a:pPr>
            <a:r>
              <a:rPr sz="1150" b="0">
                <a:solidFill>
                  <a:srgbClr val="F3ECE0"/>
                </a:solidFill>
                <a:latin typeface="Calibri"/>
              </a:rPr>
              <a:t>Honest limitation of the audit trail as it stands today</a:t>
            </a:r>
          </a:p>
        </p:txBody>
      </p:sp>
      <p:sp>
        <p:nvSpPr>
          <p:cNvPr id="5" name="Rectangle 4"/>
          <p:cNvSpPr/>
          <p:nvPr/>
        </p:nvSpPr>
        <p:spPr>
          <a:xfrm>
            <a:off x="548640" y="1371600"/>
            <a:ext cx="11064240" cy="1828800"/>
          </a:xfrm>
          <a:prstGeom prst="rect">
            <a:avLst/>
          </a:prstGeom>
          <a:solidFill>
            <a:srgbClr val="F3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371600"/>
            <a:ext cx="54864" cy="1828800"/>
          </a:xfrm>
          <a:prstGeom prst="rect">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645920"/>
            <a:ext cx="10424160" cy="320040"/>
          </a:xfrm>
          <a:prstGeom prst="rect">
            <a:avLst/>
          </a:prstGeom>
          <a:noFill/>
        </p:spPr>
        <p:txBody>
          <a:bodyPr wrap="square" anchor="t" lIns="0" rIns="0" tIns="0" bIns="0">
            <a:spAutoFit/>
          </a:bodyPr>
          <a:lstStyle/>
          <a:p>
            <a:pPr algn="l">
              <a:lnSpc>
                <a:spcPct val="115000"/>
              </a:lnSpc>
            </a:pPr>
            <a:r>
              <a:rPr sz="1600" b="1">
                <a:solidFill>
                  <a:srgbClr val="C25B2E"/>
                </a:solidFill>
                <a:latin typeface="Calibri"/>
              </a:rPr>
              <a:t>The audit trail is append-only by convention, not by enforcement.</a:t>
            </a:r>
          </a:p>
        </p:txBody>
      </p:sp>
      <p:sp>
        <p:nvSpPr>
          <p:cNvPr id="8" name="TextBox 7"/>
          <p:cNvSpPr txBox="1"/>
          <p:nvPr/>
        </p:nvSpPr>
        <p:spPr>
          <a:xfrm>
            <a:off x="868680" y="2103120"/>
            <a:ext cx="10424160" cy="1005840"/>
          </a:xfrm>
          <a:prstGeom prst="rect">
            <a:avLst/>
          </a:prstGeom>
          <a:noFill/>
        </p:spPr>
        <p:txBody>
          <a:bodyPr wrap="square" anchor="t" lIns="0" rIns="0" tIns="0" bIns="0">
            <a:spAutoFit/>
          </a:bodyPr>
          <a:lstStyle/>
          <a:p>
            <a:pPr algn="l">
              <a:lnSpc>
                <a:spcPct val="135000"/>
              </a:lnSpc>
            </a:pPr>
            <a:r>
              <a:rPr sz="1300" b="0">
                <a:solidFill>
                  <a:srgbClr val="1B2A33"/>
                </a:solidFill>
                <a:latin typeface="Calibri"/>
              </a:rPr>
              <a:t>The application only ever inserts rows. But there is no database trigger and no revoked permission, so anything holding the database credentials could alter history. Closing this is the first item on the outstanding work list.</a:t>
            </a:r>
          </a:p>
        </p:txBody>
      </p:sp>
      <p:sp>
        <p:nvSpPr>
          <p:cNvPr id="9" name="TextBox 8"/>
          <p:cNvSpPr txBox="1"/>
          <p:nvPr/>
        </p:nvSpPr>
        <p:spPr>
          <a:xfrm>
            <a:off x="548640" y="3566160"/>
            <a:ext cx="11064240" cy="822960"/>
          </a:xfrm>
          <a:prstGeom prst="rect">
            <a:avLst/>
          </a:prstGeom>
          <a:noFill/>
        </p:spPr>
        <p:txBody>
          <a:bodyPr wrap="square" anchor="t" lIns="0" rIns="0" tIns="0" bIns="0">
            <a:spAutoFit/>
          </a:bodyPr>
          <a:lstStyle/>
          <a:p>
            <a:pPr algn="l">
              <a:lnSpc>
                <a:spcPct val="130000"/>
              </a:lnSpc>
            </a:pPr>
            <a:r>
              <a:rPr sz="1250" b="0">
                <a:solidFill>
                  <a:srgbClr val="5B6B75"/>
                </a:solidFill>
                <a:latin typeface="Calibri"/>
              </a:rPr>
              <a:t>It is recorded here rather than left out, because an auditor is exactly the person who needs to know how much weight the trail can carry.</a:t>
            </a:r>
          </a:p>
        </p:txBody>
      </p:sp>
      <p:sp>
        <p:nvSpPr>
          <p:cNvPr id="10" name="Rectangle 9"/>
          <p:cNvSpPr/>
          <p:nvPr/>
        </p:nvSpPr>
        <p:spPr>
          <a:xfrm>
            <a:off x="0" y="6473952"/>
            <a:ext cx="12191695" cy="384048"/>
          </a:xfrm>
          <a:prstGeom prst="rect">
            <a:avLst/>
          </a:prstGeom>
          <a:solidFill>
            <a:srgbClr val="F3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6547104"/>
            <a:ext cx="8229600" cy="228600"/>
          </a:xfrm>
          <a:prstGeom prst="rect">
            <a:avLst/>
          </a:prstGeom>
          <a:noFill/>
        </p:spPr>
        <p:txBody>
          <a:bodyPr wrap="square" anchor="t" lIns="0" rIns="0" tIns="0" bIns="0">
            <a:spAutoFit/>
          </a:bodyPr>
          <a:lstStyle/>
          <a:p>
            <a:pPr algn="l">
              <a:lnSpc>
                <a:spcPct val="115000"/>
              </a:lnSpc>
            </a:pPr>
            <a:r>
              <a:rPr sz="900" b="0">
                <a:solidFill>
                  <a:srgbClr val="5B6B75"/>
                </a:solidFill>
                <a:latin typeface="Calibri"/>
              </a:rPr>
              <a:t>SUCCESS Bank — Internal Ticketing · Standard Operating Procedure</a:t>
            </a:r>
          </a:p>
        </p:txBody>
      </p:sp>
      <p:sp>
        <p:nvSpPr>
          <p:cNvPr id="12" name="TextBox 11"/>
          <p:cNvSpPr txBox="1"/>
          <p:nvPr/>
        </p:nvSpPr>
        <p:spPr>
          <a:xfrm>
            <a:off x="9997135" y="6547104"/>
            <a:ext cx="1691640" cy="228600"/>
          </a:xfrm>
          <a:prstGeom prst="rect">
            <a:avLst/>
          </a:prstGeom>
          <a:noFill/>
        </p:spPr>
        <p:txBody>
          <a:bodyPr wrap="square" anchor="t" lIns="0" rIns="0" tIns="0" bIns="0">
            <a:spAutoFit/>
          </a:bodyPr>
          <a:lstStyle/>
          <a:p>
            <a:pPr algn="r">
              <a:lnSpc>
                <a:spcPct val="115000"/>
              </a:lnSpc>
            </a:pPr>
            <a:r>
              <a:rPr sz="900" b="0">
                <a:solidFill>
                  <a:srgbClr val="5B6B75"/>
                </a:solidFill>
                <a:latin typeface="Calibri"/>
              </a:rPr>
              <a:t>Auditor</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3ECE0"/>
        </a:solidFill>
        <a:effectLst/>
      </p:bgPr>
    </p:bg>
    <p:spTree>
      <p:nvGrpSpPr>
        <p:cNvPr id="1" name=""/>
        <p:cNvGrpSpPr/>
        <p:nvPr/>
      </p:nvGrpSpPr>
      <p:grpSpPr/>
      <p:sp>
        <p:nvSpPr>
          <p:cNvPr id="2" name="Rectangle 1"/>
          <p:cNvSpPr/>
          <p:nvPr/>
        </p:nvSpPr>
        <p:spPr>
          <a:xfrm>
            <a:off x="0" y="0"/>
            <a:ext cx="256032" cy="6858000"/>
          </a:xfrm>
          <a:prstGeom prst="rect">
            <a:avLst/>
          </a:prstGeom>
          <a:solidFill>
            <a:srgbClr val="0E4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2377440"/>
            <a:ext cx="1828800" cy="548640"/>
          </a:xfrm>
          <a:prstGeom prst="rect">
            <a:avLst/>
          </a:prstGeom>
          <a:noFill/>
        </p:spPr>
        <p:txBody>
          <a:bodyPr wrap="square" anchor="t" lIns="0" rIns="0" tIns="0" bIns="0">
            <a:spAutoFit/>
          </a:bodyPr>
          <a:lstStyle/>
          <a:p>
            <a:pPr algn="l">
              <a:lnSpc>
                <a:spcPct val="115000"/>
              </a:lnSpc>
            </a:pPr>
            <a:r>
              <a:rPr sz="1300" b="1">
                <a:solidFill>
                  <a:srgbClr val="C25B2E"/>
                </a:solidFill>
                <a:latin typeface="Calibri"/>
              </a:rPr>
              <a:t>SECTION 11</a:t>
            </a:r>
          </a:p>
        </p:txBody>
      </p:sp>
      <p:sp>
        <p:nvSpPr>
          <p:cNvPr id="4" name="TextBox 3"/>
          <p:cNvSpPr txBox="1"/>
          <p:nvPr/>
        </p:nvSpPr>
        <p:spPr>
          <a:xfrm>
            <a:off x="1005840" y="2788920"/>
            <a:ext cx="9601200" cy="822960"/>
          </a:xfrm>
          <a:prstGeom prst="rect">
            <a:avLst/>
          </a:prstGeom>
          <a:noFill/>
        </p:spPr>
        <p:txBody>
          <a:bodyPr wrap="square" anchor="t" lIns="0" rIns="0" tIns="0" bIns="0">
            <a:spAutoFit/>
          </a:bodyPr>
          <a:lstStyle/>
          <a:p>
            <a:pPr algn="l">
              <a:lnSpc>
                <a:spcPct val="115000"/>
              </a:lnSpc>
            </a:pPr>
            <a:r>
              <a:rPr sz="3400" b="1">
                <a:solidFill>
                  <a:srgbClr val="0E4F4A"/>
                </a:solidFill>
                <a:latin typeface="Calibri"/>
              </a:rPr>
              <a:t>Attachments</a:t>
            </a:r>
          </a:p>
        </p:txBody>
      </p:sp>
      <p:sp>
        <p:nvSpPr>
          <p:cNvPr id="5" name="TextBox 4"/>
          <p:cNvSpPr txBox="1"/>
          <p:nvPr/>
        </p:nvSpPr>
        <p:spPr>
          <a:xfrm>
            <a:off x="1005840" y="3794760"/>
            <a:ext cx="8686800" cy="914400"/>
          </a:xfrm>
          <a:prstGeom prst="rect">
            <a:avLst/>
          </a:prstGeom>
          <a:noFill/>
        </p:spPr>
        <p:txBody>
          <a:bodyPr wrap="square" anchor="t" lIns="0" rIns="0" tIns="0" bIns="0">
            <a:spAutoFit/>
          </a:bodyPr>
          <a:lstStyle/>
          <a:p>
            <a:pPr algn="l">
              <a:lnSpc>
                <a:spcPct val="130000"/>
              </a:lnSpc>
            </a:pPr>
            <a:r>
              <a:rPr sz="1500" b="0">
                <a:solidFill>
                  <a:srgbClr val="5B6B75"/>
                </a:solidFill>
                <a:latin typeface="Calibri"/>
              </a:rPr>
              <a:t>Where files can be added, who can see them, and the one rule people assume wrong.</a:t>
            </a:r>
          </a:p>
        </p:txBody>
      </p:sp>
      <p:sp>
        <p:nvSpPr>
          <p:cNvPr id="6" name="Rectangle 5"/>
          <p:cNvSpPr/>
          <p:nvPr/>
        </p:nvSpPr>
        <p:spPr>
          <a:xfrm>
            <a:off x="0" y="6473952"/>
            <a:ext cx="12191695" cy="384048"/>
          </a:xfrm>
          <a:prstGeom prst="rect">
            <a:avLst/>
          </a:prstGeom>
          <a:solidFill>
            <a:srgbClr val="F3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47104"/>
            <a:ext cx="8229600" cy="228600"/>
          </a:xfrm>
          <a:prstGeom prst="rect">
            <a:avLst/>
          </a:prstGeom>
          <a:noFill/>
        </p:spPr>
        <p:txBody>
          <a:bodyPr wrap="square" anchor="t" lIns="0" rIns="0" tIns="0" bIns="0">
            <a:spAutoFit/>
          </a:bodyPr>
          <a:lstStyle/>
          <a:p>
            <a:pPr algn="l">
              <a:lnSpc>
                <a:spcPct val="115000"/>
              </a:lnSpc>
            </a:pPr>
            <a:r>
              <a:rPr sz="900" b="0">
                <a:solidFill>
                  <a:srgbClr val="5B6B75"/>
                </a:solidFill>
                <a:latin typeface="Calibri"/>
              </a:rPr>
              <a:t>SUCCESS Bank — Internal Ticketing · Standard Operating Procedure</a:t>
            </a:r>
          </a:p>
        </p:txBody>
      </p:sp>
      <p:sp>
        <p:nvSpPr>
          <p:cNvPr id="8" name="TextBox 7"/>
          <p:cNvSpPr txBox="1"/>
          <p:nvPr/>
        </p:nvSpPr>
        <p:spPr>
          <a:xfrm>
            <a:off x="9997135" y="6547104"/>
            <a:ext cx="1691640" cy="228600"/>
          </a:xfrm>
          <a:prstGeom prst="rect">
            <a:avLst/>
          </a:prstGeom>
          <a:noFill/>
        </p:spPr>
        <p:txBody>
          <a:bodyPr wrap="square" anchor="t" lIns="0" rIns="0" tIns="0" bIns="0">
            <a:spAutoFit/>
          </a:bodyPr>
          <a:lstStyle/>
          <a:p>
            <a:pPr algn="r">
              <a:lnSpc>
                <a:spcPct val="115000"/>
              </a:lnSpc>
            </a:pPr>
            <a:r>
              <a:rPr sz="900" b="0">
                <a:solidFill>
                  <a:srgbClr val="5B6B75"/>
                </a:solidFill>
                <a:latin typeface="Calibri"/>
              </a:rPr>
              <a:t>Section 11</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0E4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82880"/>
            <a:ext cx="10515600" cy="320040"/>
          </a:xfrm>
          <a:prstGeom prst="rect">
            <a:avLst/>
          </a:prstGeom>
          <a:noFill/>
        </p:spPr>
        <p:txBody>
          <a:bodyPr wrap="square" anchor="t" lIns="0" rIns="0" tIns="0" bIns="0">
            <a:spAutoFit/>
          </a:bodyPr>
          <a:lstStyle/>
          <a:p>
            <a:pPr algn="l">
              <a:lnSpc>
                <a:spcPct val="115000"/>
              </a:lnSpc>
            </a:pPr>
            <a:r>
              <a:rPr sz="2300" b="1">
                <a:solidFill>
                  <a:srgbClr val="FFFFFF"/>
                </a:solidFill>
                <a:latin typeface="Calibri"/>
              </a:rPr>
              <a:t>Three places a file can be attached</a:t>
            </a:r>
          </a:p>
        </p:txBody>
      </p:sp>
      <p:sp>
        <p:nvSpPr>
          <p:cNvPr id="4" name="TextBox 3"/>
          <p:cNvSpPr txBox="1"/>
          <p:nvPr/>
        </p:nvSpPr>
        <p:spPr>
          <a:xfrm>
            <a:off x="502920" y="548640"/>
            <a:ext cx="10515600" cy="256032"/>
          </a:xfrm>
          <a:prstGeom prst="rect">
            <a:avLst/>
          </a:prstGeom>
          <a:noFill/>
        </p:spPr>
        <p:txBody>
          <a:bodyPr wrap="square" anchor="t" lIns="0" rIns="0" tIns="0" bIns="0">
            <a:spAutoFit/>
          </a:bodyPr>
          <a:lstStyle/>
          <a:p>
            <a:pPr algn="l">
              <a:lnSpc>
                <a:spcPct val="115000"/>
              </a:lnSpc>
            </a:pPr>
            <a:r>
              <a:rPr sz="1150" b="0">
                <a:solidFill>
                  <a:srgbClr val="F3ECE0"/>
                </a:solidFill>
                <a:latin typeface="Calibri"/>
              </a:rPr>
              <a:t>The flow is the same in each: choose the files, then they upload once the thing they belong to exists</a:t>
            </a:r>
          </a:p>
        </p:txBody>
      </p:sp>
      <p:sp>
        <p:nvSpPr>
          <p:cNvPr id="5" name="Rectangle 4"/>
          <p:cNvSpPr/>
          <p:nvPr/>
        </p:nvSpPr>
        <p:spPr>
          <a:xfrm>
            <a:off x="548640" y="1280160"/>
            <a:ext cx="11064240" cy="987552"/>
          </a:xfrm>
          <a:prstGeom prst="rect">
            <a:avLst/>
          </a:prstGeom>
          <a:solidFill>
            <a:srgbClr val="F3ECE0"/>
          </a:solidFill>
          <a:ln w="12700">
            <a:solidFill>
              <a:srgbClr val="D6CE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426464"/>
            <a:ext cx="5852160" cy="274320"/>
          </a:xfrm>
          <a:prstGeom prst="rect">
            <a:avLst/>
          </a:prstGeom>
          <a:noFill/>
        </p:spPr>
        <p:txBody>
          <a:bodyPr wrap="square" anchor="t" lIns="0" rIns="0" tIns="0" bIns="0">
            <a:spAutoFit/>
          </a:bodyPr>
          <a:lstStyle/>
          <a:p>
            <a:pPr algn="l">
              <a:lnSpc>
                <a:spcPct val="115000"/>
              </a:lnSpc>
            </a:pPr>
            <a:r>
              <a:rPr sz="1350" b="1">
                <a:solidFill>
                  <a:srgbClr val="0E4F4A"/>
                </a:solidFill>
                <a:latin typeface="Calibri"/>
              </a:rPr>
              <a:t>With the ticket, when it is raised</a:t>
            </a:r>
          </a:p>
        </p:txBody>
      </p:sp>
      <p:sp>
        <p:nvSpPr>
          <p:cNvPr id="7" name="TextBox 6"/>
          <p:cNvSpPr txBox="1"/>
          <p:nvPr/>
        </p:nvSpPr>
        <p:spPr>
          <a:xfrm>
            <a:off x="868680" y="1755648"/>
            <a:ext cx="5852160" cy="411480"/>
          </a:xfrm>
          <a:prstGeom prst="rect">
            <a:avLst/>
          </a:prstGeom>
          <a:noFill/>
        </p:spPr>
        <p:txBody>
          <a:bodyPr wrap="square" anchor="t" lIns="0" rIns="0" tIns="0" bIns="0">
            <a:spAutoFit/>
          </a:bodyPr>
          <a:lstStyle/>
          <a:p>
            <a:pPr algn="l">
              <a:lnSpc>
                <a:spcPct val="120000"/>
              </a:lnSpc>
            </a:pPr>
            <a:r>
              <a:rPr sz="1150" b="0">
                <a:solidFill>
                  <a:srgbClr val="1B2A33"/>
                </a:solidFill>
                <a:latin typeface="Calibri"/>
              </a:rPr>
              <a:t>Evidence travels with the report rather than arriving afterwards.</a:t>
            </a:r>
          </a:p>
        </p:txBody>
      </p:sp>
      <p:sp>
        <p:nvSpPr>
          <p:cNvPr id="8" name="TextBox 7"/>
          <p:cNvSpPr txBox="1"/>
          <p:nvPr/>
        </p:nvSpPr>
        <p:spPr>
          <a:xfrm>
            <a:off x="7040880" y="1426464"/>
            <a:ext cx="4297680" cy="274320"/>
          </a:xfrm>
          <a:prstGeom prst="rect">
            <a:avLst/>
          </a:prstGeom>
          <a:noFill/>
        </p:spPr>
        <p:txBody>
          <a:bodyPr wrap="square" anchor="t" lIns="0" rIns="0" tIns="0" bIns="0">
            <a:spAutoFit/>
          </a:bodyPr>
          <a:lstStyle/>
          <a:p>
            <a:pPr algn="l">
              <a:lnSpc>
                <a:spcPct val="115000"/>
              </a:lnSpc>
            </a:pPr>
            <a:r>
              <a:rPr sz="950" b="1">
                <a:solidFill>
                  <a:srgbClr val="C25B2E"/>
                </a:solidFill>
                <a:latin typeface="Calibri"/>
              </a:rPr>
              <a:t>WHO</a:t>
            </a:r>
          </a:p>
        </p:txBody>
      </p:sp>
      <p:sp>
        <p:nvSpPr>
          <p:cNvPr id="9" name="TextBox 8"/>
          <p:cNvSpPr txBox="1"/>
          <p:nvPr/>
        </p:nvSpPr>
        <p:spPr>
          <a:xfrm>
            <a:off x="7040880" y="1682496"/>
            <a:ext cx="4297680" cy="365760"/>
          </a:xfrm>
          <a:prstGeom prst="rect">
            <a:avLst/>
          </a:prstGeom>
          <a:noFill/>
        </p:spPr>
        <p:txBody>
          <a:bodyPr wrap="square" anchor="t" lIns="0" rIns="0" tIns="0" bIns="0">
            <a:spAutoFit/>
          </a:bodyPr>
          <a:lstStyle/>
          <a:p>
            <a:pPr algn="l">
              <a:lnSpc>
                <a:spcPct val="115000"/>
              </a:lnSpc>
            </a:pPr>
            <a:r>
              <a:rPr sz="1150" b="0">
                <a:solidFill>
                  <a:srgbClr val="1B2A33"/>
                </a:solidFill>
                <a:latin typeface="Calibri"/>
              </a:rPr>
              <a:t>Branch user, agent</a:t>
            </a:r>
          </a:p>
        </p:txBody>
      </p:sp>
      <p:sp>
        <p:nvSpPr>
          <p:cNvPr id="10" name="Rectangle 9"/>
          <p:cNvSpPr/>
          <p:nvPr/>
        </p:nvSpPr>
        <p:spPr>
          <a:xfrm>
            <a:off x="548640" y="2450592"/>
            <a:ext cx="11064240" cy="987552"/>
          </a:xfrm>
          <a:prstGeom prst="rect">
            <a:avLst/>
          </a:prstGeom>
          <a:solidFill>
            <a:srgbClr val="F3ECE0"/>
          </a:solidFill>
          <a:ln w="12700">
            <a:solidFill>
              <a:srgbClr val="D6CE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596896"/>
            <a:ext cx="5852160" cy="274320"/>
          </a:xfrm>
          <a:prstGeom prst="rect">
            <a:avLst/>
          </a:prstGeom>
          <a:noFill/>
        </p:spPr>
        <p:txBody>
          <a:bodyPr wrap="square" anchor="t" lIns="0" rIns="0" tIns="0" bIns="0">
            <a:spAutoFit/>
          </a:bodyPr>
          <a:lstStyle/>
          <a:p>
            <a:pPr algn="l">
              <a:lnSpc>
                <a:spcPct val="115000"/>
              </a:lnSpc>
            </a:pPr>
            <a:r>
              <a:rPr sz="1350" b="1">
                <a:solidFill>
                  <a:srgbClr val="0E4F4A"/>
                </a:solidFill>
                <a:latin typeface="Calibri"/>
              </a:rPr>
              <a:t>With a reply</a:t>
            </a:r>
          </a:p>
        </p:txBody>
      </p:sp>
      <p:sp>
        <p:nvSpPr>
          <p:cNvPr id="12" name="TextBox 11"/>
          <p:cNvSpPr txBox="1"/>
          <p:nvPr/>
        </p:nvSpPr>
        <p:spPr>
          <a:xfrm>
            <a:off x="868680" y="2926080"/>
            <a:ext cx="5852160" cy="411480"/>
          </a:xfrm>
          <a:prstGeom prst="rect">
            <a:avLst/>
          </a:prstGeom>
          <a:noFill/>
        </p:spPr>
        <p:txBody>
          <a:bodyPr wrap="square" anchor="t" lIns="0" rIns="0" tIns="0" bIns="0">
            <a:spAutoFit/>
          </a:bodyPr>
          <a:lstStyle/>
          <a:p>
            <a:pPr algn="l">
              <a:lnSpc>
                <a:spcPct val="120000"/>
              </a:lnSpc>
            </a:pPr>
            <a:r>
              <a:rPr sz="1150" b="0">
                <a:solidFill>
                  <a:srgbClr val="1B2A33"/>
                </a:solidFill>
                <a:latin typeface="Calibri"/>
              </a:rPr>
              <a:t>The file belongs to that reply, so a fix sits beside the answer explaining it.</a:t>
            </a:r>
          </a:p>
        </p:txBody>
      </p:sp>
      <p:sp>
        <p:nvSpPr>
          <p:cNvPr id="13" name="TextBox 12"/>
          <p:cNvSpPr txBox="1"/>
          <p:nvPr/>
        </p:nvSpPr>
        <p:spPr>
          <a:xfrm>
            <a:off x="7040880" y="2596896"/>
            <a:ext cx="4297680" cy="274320"/>
          </a:xfrm>
          <a:prstGeom prst="rect">
            <a:avLst/>
          </a:prstGeom>
          <a:noFill/>
        </p:spPr>
        <p:txBody>
          <a:bodyPr wrap="square" anchor="t" lIns="0" rIns="0" tIns="0" bIns="0">
            <a:spAutoFit/>
          </a:bodyPr>
          <a:lstStyle/>
          <a:p>
            <a:pPr algn="l">
              <a:lnSpc>
                <a:spcPct val="115000"/>
              </a:lnSpc>
            </a:pPr>
            <a:r>
              <a:rPr sz="950" b="1">
                <a:solidFill>
                  <a:srgbClr val="C25B2E"/>
                </a:solidFill>
                <a:latin typeface="Calibri"/>
              </a:rPr>
              <a:t>WHO</a:t>
            </a:r>
          </a:p>
        </p:txBody>
      </p:sp>
      <p:sp>
        <p:nvSpPr>
          <p:cNvPr id="14" name="TextBox 13"/>
          <p:cNvSpPr txBox="1"/>
          <p:nvPr/>
        </p:nvSpPr>
        <p:spPr>
          <a:xfrm>
            <a:off x="7040880" y="2852928"/>
            <a:ext cx="4297680" cy="365760"/>
          </a:xfrm>
          <a:prstGeom prst="rect">
            <a:avLst/>
          </a:prstGeom>
          <a:noFill/>
        </p:spPr>
        <p:txBody>
          <a:bodyPr wrap="square" anchor="t" lIns="0" rIns="0" tIns="0" bIns="0">
            <a:spAutoFit/>
          </a:bodyPr>
          <a:lstStyle/>
          <a:p>
            <a:pPr algn="l">
              <a:lnSpc>
                <a:spcPct val="115000"/>
              </a:lnSpc>
            </a:pPr>
            <a:r>
              <a:rPr sz="1150" b="0">
                <a:solidFill>
                  <a:srgbClr val="1B2A33"/>
                </a:solidFill>
                <a:latin typeface="Calibri"/>
              </a:rPr>
              <a:t>Anyone who can comment</a:t>
            </a:r>
          </a:p>
        </p:txBody>
      </p:sp>
      <p:sp>
        <p:nvSpPr>
          <p:cNvPr id="15" name="Rectangle 14"/>
          <p:cNvSpPr/>
          <p:nvPr/>
        </p:nvSpPr>
        <p:spPr>
          <a:xfrm>
            <a:off x="548640" y="3621024"/>
            <a:ext cx="11064240" cy="987552"/>
          </a:xfrm>
          <a:prstGeom prst="rect">
            <a:avLst/>
          </a:prstGeom>
          <a:solidFill>
            <a:srgbClr val="F3ECE0"/>
          </a:solidFill>
          <a:ln w="12700">
            <a:solidFill>
              <a:srgbClr val="D6CE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3767328"/>
            <a:ext cx="5852160" cy="274320"/>
          </a:xfrm>
          <a:prstGeom prst="rect">
            <a:avLst/>
          </a:prstGeom>
          <a:noFill/>
        </p:spPr>
        <p:txBody>
          <a:bodyPr wrap="square" anchor="t" lIns="0" rIns="0" tIns="0" bIns="0">
            <a:spAutoFit/>
          </a:bodyPr>
          <a:lstStyle/>
          <a:p>
            <a:pPr algn="l">
              <a:lnSpc>
                <a:spcPct val="115000"/>
              </a:lnSpc>
            </a:pPr>
            <a:r>
              <a:rPr sz="1350" b="1">
                <a:solidFill>
                  <a:srgbClr val="0E4F4A"/>
                </a:solidFill>
                <a:latin typeface="Calibri"/>
              </a:rPr>
              <a:t>From the attachments panel</a:t>
            </a:r>
          </a:p>
        </p:txBody>
      </p:sp>
      <p:sp>
        <p:nvSpPr>
          <p:cNvPr id="17" name="TextBox 16"/>
          <p:cNvSpPr txBox="1"/>
          <p:nvPr/>
        </p:nvSpPr>
        <p:spPr>
          <a:xfrm>
            <a:off x="868680" y="4096512"/>
            <a:ext cx="5852160" cy="411480"/>
          </a:xfrm>
          <a:prstGeom prst="rect">
            <a:avLst/>
          </a:prstGeom>
          <a:noFill/>
        </p:spPr>
        <p:txBody>
          <a:bodyPr wrap="square" anchor="t" lIns="0" rIns="0" tIns="0" bIns="0">
            <a:spAutoFit/>
          </a:bodyPr>
          <a:lstStyle/>
          <a:p>
            <a:pPr algn="l">
              <a:lnSpc>
                <a:spcPct val="120000"/>
              </a:lnSpc>
            </a:pPr>
            <a:r>
              <a:rPr sz="1150" b="0">
                <a:solidFill>
                  <a:srgbClr val="1B2A33"/>
                </a:solidFill>
                <a:latin typeface="Calibri"/>
              </a:rPr>
              <a:t>The file index for the whole ticket; files from replies are marked as such.</a:t>
            </a:r>
          </a:p>
        </p:txBody>
      </p:sp>
      <p:sp>
        <p:nvSpPr>
          <p:cNvPr id="18" name="TextBox 17"/>
          <p:cNvSpPr txBox="1"/>
          <p:nvPr/>
        </p:nvSpPr>
        <p:spPr>
          <a:xfrm>
            <a:off x="7040880" y="3767328"/>
            <a:ext cx="4297680" cy="274320"/>
          </a:xfrm>
          <a:prstGeom prst="rect">
            <a:avLst/>
          </a:prstGeom>
          <a:noFill/>
        </p:spPr>
        <p:txBody>
          <a:bodyPr wrap="square" anchor="t" lIns="0" rIns="0" tIns="0" bIns="0">
            <a:spAutoFit/>
          </a:bodyPr>
          <a:lstStyle/>
          <a:p>
            <a:pPr algn="l">
              <a:lnSpc>
                <a:spcPct val="115000"/>
              </a:lnSpc>
            </a:pPr>
            <a:r>
              <a:rPr sz="950" b="1">
                <a:solidFill>
                  <a:srgbClr val="C25B2E"/>
                </a:solidFill>
                <a:latin typeface="Calibri"/>
              </a:rPr>
              <a:t>WHO</a:t>
            </a:r>
          </a:p>
        </p:txBody>
      </p:sp>
      <p:sp>
        <p:nvSpPr>
          <p:cNvPr id="19" name="TextBox 18"/>
          <p:cNvSpPr txBox="1"/>
          <p:nvPr/>
        </p:nvSpPr>
        <p:spPr>
          <a:xfrm>
            <a:off x="7040880" y="4023360"/>
            <a:ext cx="4297680" cy="365760"/>
          </a:xfrm>
          <a:prstGeom prst="rect">
            <a:avLst/>
          </a:prstGeom>
          <a:noFill/>
        </p:spPr>
        <p:txBody>
          <a:bodyPr wrap="square" anchor="t" lIns="0" rIns="0" tIns="0" bIns="0">
            <a:spAutoFit/>
          </a:bodyPr>
          <a:lstStyle/>
          <a:p>
            <a:pPr algn="l">
              <a:lnSpc>
                <a:spcPct val="115000"/>
              </a:lnSpc>
            </a:pPr>
            <a:r>
              <a:rPr sz="1150" b="0">
                <a:solidFill>
                  <a:srgbClr val="1B2A33"/>
                </a:solidFill>
                <a:latin typeface="Calibri"/>
              </a:rPr>
              <a:t>Anyone who can write</a:t>
            </a:r>
          </a:p>
        </p:txBody>
      </p:sp>
      <p:sp>
        <p:nvSpPr>
          <p:cNvPr id="20" name="TextBox 19"/>
          <p:cNvSpPr txBox="1"/>
          <p:nvPr/>
        </p:nvSpPr>
        <p:spPr>
          <a:xfrm>
            <a:off x="548640" y="4937760"/>
            <a:ext cx="11064240" cy="1188720"/>
          </a:xfrm>
          <a:prstGeom prst="rect">
            <a:avLst/>
          </a:prstGeom>
          <a:noFill/>
        </p:spPr>
        <p:txBody>
          <a:bodyPr wrap="square" anchor="t" lIns="0" rIns="0" tIns="0" bIns="0">
            <a:spAutoFit/>
          </a:bodyPr>
          <a:lstStyle/>
          <a:p>
            <a:pPr algn="l">
              <a:lnSpc>
                <a:spcPct val="130000"/>
              </a:lnSpc>
            </a:pPr>
            <a:r>
              <a:rPr sz="1250" b="0">
                <a:solidFill>
                  <a:srgbClr val="5B6B75"/>
                </a:solidFill>
                <a:latin typeface="Calibri"/>
              </a:rPr>
              <a:t>Limits: 15 MB per file. Images, PDF, Word, Excel, text and CSV are accepted. Executables and archives are refused outright — there is no malware scanner, and an unscanned archive is the usual way something nasty arrives.</a:t>
            </a:r>
          </a:p>
        </p:txBody>
      </p:sp>
      <p:sp>
        <p:nvSpPr>
          <p:cNvPr id="21" name="Rectangle 20"/>
          <p:cNvSpPr/>
          <p:nvPr/>
        </p:nvSpPr>
        <p:spPr>
          <a:xfrm>
            <a:off x="0" y="6473952"/>
            <a:ext cx="12191695" cy="384048"/>
          </a:xfrm>
          <a:prstGeom prst="rect">
            <a:avLst/>
          </a:prstGeom>
          <a:solidFill>
            <a:srgbClr val="F3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2920" y="6547104"/>
            <a:ext cx="8229600" cy="228600"/>
          </a:xfrm>
          <a:prstGeom prst="rect">
            <a:avLst/>
          </a:prstGeom>
          <a:noFill/>
        </p:spPr>
        <p:txBody>
          <a:bodyPr wrap="square" anchor="t" lIns="0" rIns="0" tIns="0" bIns="0">
            <a:spAutoFit/>
          </a:bodyPr>
          <a:lstStyle/>
          <a:p>
            <a:pPr algn="l">
              <a:lnSpc>
                <a:spcPct val="115000"/>
              </a:lnSpc>
            </a:pPr>
            <a:r>
              <a:rPr sz="900" b="0">
                <a:solidFill>
                  <a:srgbClr val="5B6B75"/>
                </a:solidFill>
                <a:latin typeface="Calibri"/>
              </a:rPr>
              <a:t>SUCCESS Bank — Internal Ticketing · Standard Operating Procedure</a:t>
            </a:r>
          </a:p>
        </p:txBody>
      </p:sp>
      <p:sp>
        <p:nvSpPr>
          <p:cNvPr id="23" name="TextBox 22"/>
          <p:cNvSpPr txBox="1"/>
          <p:nvPr/>
        </p:nvSpPr>
        <p:spPr>
          <a:xfrm>
            <a:off x="9997135" y="6547104"/>
            <a:ext cx="1691640" cy="228600"/>
          </a:xfrm>
          <a:prstGeom prst="rect">
            <a:avLst/>
          </a:prstGeom>
          <a:noFill/>
        </p:spPr>
        <p:txBody>
          <a:bodyPr wrap="square" anchor="t" lIns="0" rIns="0" tIns="0" bIns="0">
            <a:spAutoFit/>
          </a:bodyPr>
          <a:lstStyle/>
          <a:p>
            <a:pPr algn="r">
              <a:lnSpc>
                <a:spcPct val="115000"/>
              </a:lnSpc>
            </a:pPr>
            <a:r>
              <a:rPr sz="900" b="0">
                <a:solidFill>
                  <a:srgbClr val="5B6B75"/>
                </a:solidFill>
                <a:latin typeface="Calibri"/>
              </a:rPr>
              <a:t>Attachments</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0E4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82880"/>
            <a:ext cx="10515600" cy="320040"/>
          </a:xfrm>
          <a:prstGeom prst="rect">
            <a:avLst/>
          </a:prstGeom>
          <a:noFill/>
        </p:spPr>
        <p:txBody>
          <a:bodyPr wrap="square" anchor="t" lIns="0" rIns="0" tIns="0" bIns="0">
            <a:spAutoFit/>
          </a:bodyPr>
          <a:lstStyle/>
          <a:p>
            <a:pPr algn="l">
              <a:lnSpc>
                <a:spcPct val="115000"/>
              </a:lnSpc>
            </a:pPr>
            <a:r>
              <a:rPr sz="2300" b="1">
                <a:solidFill>
                  <a:srgbClr val="FFFFFF"/>
                </a:solidFill>
                <a:latin typeface="Calibri"/>
              </a:rPr>
              <a:t>The rule people get wrong</a:t>
            </a:r>
          </a:p>
        </p:txBody>
      </p:sp>
      <p:sp>
        <p:nvSpPr>
          <p:cNvPr id="4" name="TextBox 3"/>
          <p:cNvSpPr txBox="1"/>
          <p:nvPr/>
        </p:nvSpPr>
        <p:spPr>
          <a:xfrm>
            <a:off x="502920" y="548640"/>
            <a:ext cx="10515600" cy="256032"/>
          </a:xfrm>
          <a:prstGeom prst="rect">
            <a:avLst/>
          </a:prstGeom>
          <a:noFill/>
        </p:spPr>
        <p:txBody>
          <a:bodyPr wrap="square" anchor="t" lIns="0" rIns="0" tIns="0" bIns="0">
            <a:spAutoFit/>
          </a:bodyPr>
          <a:lstStyle/>
          <a:p>
            <a:pPr algn="l">
              <a:lnSpc>
                <a:spcPct val="115000"/>
              </a:lnSpc>
            </a:pPr>
            <a:r>
              <a:rPr sz="1150" b="0">
                <a:solidFill>
                  <a:srgbClr val="F3ECE0"/>
                </a:solidFill>
                <a:latin typeface="Calibri"/>
              </a:rPr>
              <a:t>An internal note's attachment is as invisible as the note</a:t>
            </a:r>
          </a:p>
        </p:txBody>
      </p:sp>
      <p:sp>
        <p:nvSpPr>
          <p:cNvPr id="5" name="Rectangle 4"/>
          <p:cNvSpPr/>
          <p:nvPr/>
        </p:nvSpPr>
        <p:spPr>
          <a:xfrm>
            <a:off x="548640" y="1280160"/>
            <a:ext cx="5349240" cy="2194560"/>
          </a:xfrm>
          <a:prstGeom prst="rect">
            <a:avLst/>
          </a:prstGeom>
          <a:solidFill>
            <a:srgbClr val="F3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280160"/>
            <a:ext cx="54864" cy="2194560"/>
          </a:xfrm>
          <a:prstGeom prst="rect">
            <a:avLst/>
          </a:prstGeom>
          <a:solidFill>
            <a:srgbClr val="0E4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508760"/>
            <a:ext cx="4754880" cy="292608"/>
          </a:xfrm>
          <a:prstGeom prst="rect">
            <a:avLst/>
          </a:prstGeom>
          <a:noFill/>
        </p:spPr>
        <p:txBody>
          <a:bodyPr wrap="square" anchor="t" lIns="0" rIns="0" tIns="0" bIns="0">
            <a:spAutoFit/>
          </a:bodyPr>
          <a:lstStyle/>
          <a:p>
            <a:pPr algn="l">
              <a:lnSpc>
                <a:spcPct val="115000"/>
              </a:lnSpc>
            </a:pPr>
            <a:r>
              <a:rPr sz="1400" b="1">
                <a:solidFill>
                  <a:srgbClr val="0E4F4A"/>
                </a:solidFill>
                <a:latin typeface="Calibri"/>
              </a:rPr>
              <a:t>What agents assume</a:t>
            </a:r>
          </a:p>
        </p:txBody>
      </p:sp>
      <p:sp>
        <p:nvSpPr>
          <p:cNvPr id="8" name="TextBox 7"/>
          <p:cNvSpPr txBox="1"/>
          <p:nvPr/>
        </p:nvSpPr>
        <p:spPr>
          <a:xfrm>
            <a:off x="868680" y="1901952"/>
            <a:ext cx="4754880" cy="1371600"/>
          </a:xfrm>
          <a:prstGeom prst="rect">
            <a:avLst/>
          </a:prstGeom>
          <a:noFill/>
        </p:spPr>
        <p:txBody>
          <a:bodyPr wrap="square" anchor="t" lIns="0" rIns="0" tIns="0" bIns="0">
            <a:spAutoFit/>
          </a:bodyPr>
          <a:lstStyle/>
          <a:p>
            <a:pPr algn="l">
              <a:lnSpc>
                <a:spcPct val="130000"/>
              </a:lnSpc>
            </a:pPr>
            <a:r>
              <a:rPr sz="1250" b="0">
                <a:solidFill>
                  <a:srgbClr val="1B2A33"/>
                </a:solidFill>
                <a:latin typeface="Calibri"/>
              </a:rPr>
              <a:t>"The note is internal, so the requester will not read my text — but the file I attached is just a file on the ticket."</a:t>
            </a:r>
          </a:p>
        </p:txBody>
      </p:sp>
      <p:sp>
        <p:nvSpPr>
          <p:cNvPr id="9" name="Rectangle 8"/>
          <p:cNvSpPr/>
          <p:nvPr/>
        </p:nvSpPr>
        <p:spPr>
          <a:xfrm>
            <a:off x="6309360" y="1280160"/>
            <a:ext cx="5349240" cy="2194560"/>
          </a:xfrm>
          <a:prstGeom prst="rect">
            <a:avLst/>
          </a:prstGeom>
          <a:solidFill>
            <a:srgbClr val="F3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280160"/>
            <a:ext cx="54864" cy="2194560"/>
          </a:xfrm>
          <a:prstGeom prst="rect">
            <a:avLst/>
          </a:prstGeom>
          <a:solidFill>
            <a:srgbClr val="1E7A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29400" y="1508760"/>
            <a:ext cx="4754880" cy="292608"/>
          </a:xfrm>
          <a:prstGeom prst="rect">
            <a:avLst/>
          </a:prstGeom>
          <a:noFill/>
        </p:spPr>
        <p:txBody>
          <a:bodyPr wrap="square" anchor="t" lIns="0" rIns="0" tIns="0" bIns="0">
            <a:spAutoFit/>
          </a:bodyPr>
          <a:lstStyle/>
          <a:p>
            <a:pPr algn="l">
              <a:lnSpc>
                <a:spcPct val="115000"/>
              </a:lnSpc>
            </a:pPr>
            <a:r>
              <a:rPr sz="1400" b="1">
                <a:solidFill>
                  <a:srgbClr val="1E7A53"/>
                </a:solidFill>
                <a:latin typeface="Calibri"/>
              </a:rPr>
              <a:t>What actually happens</a:t>
            </a:r>
          </a:p>
        </p:txBody>
      </p:sp>
      <p:sp>
        <p:nvSpPr>
          <p:cNvPr id="12" name="TextBox 11"/>
          <p:cNvSpPr txBox="1"/>
          <p:nvPr/>
        </p:nvSpPr>
        <p:spPr>
          <a:xfrm>
            <a:off x="6629400" y="1901952"/>
            <a:ext cx="4754880" cy="1371600"/>
          </a:xfrm>
          <a:prstGeom prst="rect">
            <a:avLst/>
          </a:prstGeom>
          <a:noFill/>
        </p:spPr>
        <p:txBody>
          <a:bodyPr wrap="square" anchor="t" lIns="0" rIns="0" tIns="0" bIns="0">
            <a:spAutoFit/>
          </a:bodyPr>
          <a:lstStyle/>
          <a:p>
            <a:pPr algn="l">
              <a:lnSpc>
                <a:spcPct val="130000"/>
              </a:lnSpc>
            </a:pPr>
            <a:r>
              <a:rPr sz="1250" b="0">
                <a:solidFill>
                  <a:srgbClr val="1B2A33"/>
                </a:solidFill>
                <a:latin typeface="Calibri"/>
              </a:rPr>
              <a:t>The file is hidden too. It is filtered from the list and refused on download — and the refusal is a 404, so the response does not even confirm the note exists.</a:t>
            </a:r>
          </a:p>
        </p:txBody>
      </p:sp>
      <p:sp>
        <p:nvSpPr>
          <p:cNvPr id="13" name="TextBox 12"/>
          <p:cNvSpPr txBox="1"/>
          <p:nvPr/>
        </p:nvSpPr>
        <p:spPr>
          <a:xfrm>
            <a:off x="548640" y="3794760"/>
            <a:ext cx="11064240" cy="1097280"/>
          </a:xfrm>
          <a:prstGeom prst="rect">
            <a:avLst/>
          </a:prstGeom>
          <a:noFill/>
        </p:spPr>
        <p:txBody>
          <a:bodyPr wrap="square" anchor="t" lIns="0" rIns="0" tIns="0" bIns="0">
            <a:spAutoFit/>
          </a:bodyPr>
          <a:lstStyle/>
          <a:p>
            <a:pPr algn="l">
              <a:lnSpc>
                <a:spcPct val="130000"/>
              </a:lnSpc>
            </a:pPr>
            <a:r>
              <a:rPr sz="1300" b="0">
                <a:solidFill>
                  <a:srgbClr val="1B2A33"/>
                </a:solidFill>
                <a:latin typeface="Calibri"/>
              </a:rPr>
              <a:t>This matters because the file is usually the sensitive part. Hiding the note while serving its attachment would leak exactly what the flag exists to withhold.</a:t>
            </a:r>
          </a:p>
        </p:txBody>
      </p:sp>
      <p:sp>
        <p:nvSpPr>
          <p:cNvPr id="14" name="Rectangle 13"/>
          <p:cNvSpPr/>
          <p:nvPr/>
        </p:nvSpPr>
        <p:spPr>
          <a:xfrm>
            <a:off x="548640" y="4846320"/>
            <a:ext cx="11064240" cy="914400"/>
          </a:xfrm>
          <a:prstGeom prst="rect">
            <a:avLst/>
          </a:prstGeom>
          <a:solidFill>
            <a:srgbClr val="FFFFFF"/>
          </a:solidFill>
          <a:ln w="12700">
            <a:solidFill>
              <a:srgbClr val="D6CE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5029200"/>
            <a:ext cx="10424160" cy="594360"/>
          </a:xfrm>
          <a:prstGeom prst="rect">
            <a:avLst/>
          </a:prstGeom>
          <a:noFill/>
        </p:spPr>
        <p:txBody>
          <a:bodyPr wrap="square" anchor="t" lIns="0" rIns="0" tIns="0" bIns="0">
            <a:spAutoFit/>
          </a:bodyPr>
          <a:lstStyle/>
          <a:p>
            <a:pPr algn="l">
              <a:lnSpc>
                <a:spcPct val="125000"/>
              </a:lnSpc>
            </a:pPr>
            <a:r>
              <a:rPr sz="1150" b="0">
                <a:solidFill>
                  <a:srgbClr val="5B6B75"/>
                </a:solidFill>
                <a:latin typeface="Calibri"/>
              </a:rPr>
              <a:t>Related: you cannot attach a file to somebody else's comment. Without that rule an agent could hang a file off the requester's own message, where it would read as something they had sent.</a:t>
            </a:r>
          </a:p>
        </p:txBody>
      </p:sp>
      <p:sp>
        <p:nvSpPr>
          <p:cNvPr id="16" name="Rectangle 15"/>
          <p:cNvSpPr/>
          <p:nvPr/>
        </p:nvSpPr>
        <p:spPr>
          <a:xfrm>
            <a:off x="0" y="6473952"/>
            <a:ext cx="12191695" cy="384048"/>
          </a:xfrm>
          <a:prstGeom prst="rect">
            <a:avLst/>
          </a:prstGeom>
          <a:solidFill>
            <a:srgbClr val="F3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6547104"/>
            <a:ext cx="8229600" cy="228600"/>
          </a:xfrm>
          <a:prstGeom prst="rect">
            <a:avLst/>
          </a:prstGeom>
          <a:noFill/>
        </p:spPr>
        <p:txBody>
          <a:bodyPr wrap="square" anchor="t" lIns="0" rIns="0" tIns="0" bIns="0">
            <a:spAutoFit/>
          </a:bodyPr>
          <a:lstStyle/>
          <a:p>
            <a:pPr algn="l">
              <a:lnSpc>
                <a:spcPct val="115000"/>
              </a:lnSpc>
            </a:pPr>
            <a:r>
              <a:rPr sz="900" b="0">
                <a:solidFill>
                  <a:srgbClr val="5B6B75"/>
                </a:solidFill>
                <a:latin typeface="Calibri"/>
              </a:rPr>
              <a:t>SUCCESS Bank — Internal Ticketing · Standard Operating Procedure</a:t>
            </a:r>
          </a:p>
        </p:txBody>
      </p:sp>
      <p:sp>
        <p:nvSpPr>
          <p:cNvPr id="18" name="TextBox 17"/>
          <p:cNvSpPr txBox="1"/>
          <p:nvPr/>
        </p:nvSpPr>
        <p:spPr>
          <a:xfrm>
            <a:off x="9997135" y="6547104"/>
            <a:ext cx="1691640" cy="228600"/>
          </a:xfrm>
          <a:prstGeom prst="rect">
            <a:avLst/>
          </a:prstGeom>
          <a:noFill/>
        </p:spPr>
        <p:txBody>
          <a:bodyPr wrap="square" anchor="t" lIns="0" rIns="0" tIns="0" bIns="0">
            <a:spAutoFit/>
          </a:bodyPr>
          <a:lstStyle/>
          <a:p>
            <a:pPr algn="r">
              <a:lnSpc>
                <a:spcPct val="115000"/>
              </a:lnSpc>
            </a:pPr>
            <a:r>
              <a:rPr sz="900" b="0">
                <a:solidFill>
                  <a:srgbClr val="5B6B75"/>
                </a:solidFill>
                <a:latin typeface="Calibri"/>
              </a:rPr>
              <a:t>Attachments</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3ECE0"/>
        </a:solidFill>
        <a:effectLst/>
      </p:bgPr>
    </p:bg>
    <p:spTree>
      <p:nvGrpSpPr>
        <p:cNvPr id="1" name=""/>
        <p:cNvGrpSpPr/>
        <p:nvPr/>
      </p:nvGrpSpPr>
      <p:grpSpPr/>
      <p:sp>
        <p:nvSpPr>
          <p:cNvPr id="2" name="Rectangle 1"/>
          <p:cNvSpPr/>
          <p:nvPr/>
        </p:nvSpPr>
        <p:spPr>
          <a:xfrm>
            <a:off x="0" y="0"/>
            <a:ext cx="256032" cy="6858000"/>
          </a:xfrm>
          <a:prstGeom prst="rect">
            <a:avLst/>
          </a:prstGeom>
          <a:solidFill>
            <a:srgbClr val="0E4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2377440"/>
            <a:ext cx="1828800" cy="548640"/>
          </a:xfrm>
          <a:prstGeom prst="rect">
            <a:avLst/>
          </a:prstGeom>
          <a:noFill/>
        </p:spPr>
        <p:txBody>
          <a:bodyPr wrap="square" anchor="t" lIns="0" rIns="0" tIns="0" bIns="0">
            <a:spAutoFit/>
          </a:bodyPr>
          <a:lstStyle/>
          <a:p>
            <a:pPr algn="l">
              <a:lnSpc>
                <a:spcPct val="115000"/>
              </a:lnSpc>
            </a:pPr>
            <a:r>
              <a:rPr sz="1300" b="1">
                <a:solidFill>
                  <a:srgbClr val="C25B2E"/>
                </a:solidFill>
                <a:latin typeface="Calibri"/>
              </a:rPr>
              <a:t>SECTION 12</a:t>
            </a:r>
          </a:p>
        </p:txBody>
      </p:sp>
      <p:sp>
        <p:nvSpPr>
          <p:cNvPr id="4" name="TextBox 3"/>
          <p:cNvSpPr txBox="1"/>
          <p:nvPr/>
        </p:nvSpPr>
        <p:spPr>
          <a:xfrm>
            <a:off x="1005840" y="2788920"/>
            <a:ext cx="9601200" cy="822960"/>
          </a:xfrm>
          <a:prstGeom prst="rect">
            <a:avLst/>
          </a:prstGeom>
          <a:noFill/>
        </p:spPr>
        <p:txBody>
          <a:bodyPr wrap="square" anchor="t" lIns="0" rIns="0" tIns="0" bIns="0">
            <a:spAutoFit/>
          </a:bodyPr>
          <a:lstStyle/>
          <a:p>
            <a:pPr algn="l">
              <a:lnSpc>
                <a:spcPct val="115000"/>
              </a:lnSpc>
            </a:pPr>
            <a:r>
              <a:rPr sz="3400" b="1">
                <a:solidFill>
                  <a:srgbClr val="0E4F4A"/>
                </a:solidFill>
                <a:latin typeface="Calibri"/>
              </a:rPr>
              <a:t>The AI assistant</a:t>
            </a:r>
          </a:p>
        </p:txBody>
      </p:sp>
      <p:sp>
        <p:nvSpPr>
          <p:cNvPr id="5" name="TextBox 4"/>
          <p:cNvSpPr txBox="1"/>
          <p:nvPr/>
        </p:nvSpPr>
        <p:spPr>
          <a:xfrm>
            <a:off x="1005840" y="3794760"/>
            <a:ext cx="8686800" cy="914400"/>
          </a:xfrm>
          <a:prstGeom prst="rect">
            <a:avLst/>
          </a:prstGeom>
          <a:noFill/>
        </p:spPr>
        <p:txBody>
          <a:bodyPr wrap="square" anchor="t" lIns="0" rIns="0" tIns="0" bIns="0">
            <a:spAutoFit/>
          </a:bodyPr>
          <a:lstStyle/>
          <a:p>
            <a:pPr algn="l">
              <a:lnSpc>
                <a:spcPct val="130000"/>
              </a:lnSpc>
            </a:pPr>
            <a:r>
              <a:rPr sz="1500" b="0">
                <a:solidFill>
                  <a:srgbClr val="5B6B75"/>
                </a:solidFill>
                <a:latin typeface="Calibri"/>
              </a:rPr>
              <a:t>It answers questions about the work in front of you. It cannot change anything.</a:t>
            </a:r>
          </a:p>
        </p:txBody>
      </p:sp>
      <p:sp>
        <p:nvSpPr>
          <p:cNvPr id="6" name="Rectangle 5"/>
          <p:cNvSpPr/>
          <p:nvPr/>
        </p:nvSpPr>
        <p:spPr>
          <a:xfrm>
            <a:off x="0" y="6473952"/>
            <a:ext cx="12191695" cy="384048"/>
          </a:xfrm>
          <a:prstGeom prst="rect">
            <a:avLst/>
          </a:prstGeom>
          <a:solidFill>
            <a:srgbClr val="F3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47104"/>
            <a:ext cx="8229600" cy="228600"/>
          </a:xfrm>
          <a:prstGeom prst="rect">
            <a:avLst/>
          </a:prstGeom>
          <a:noFill/>
        </p:spPr>
        <p:txBody>
          <a:bodyPr wrap="square" anchor="t" lIns="0" rIns="0" tIns="0" bIns="0">
            <a:spAutoFit/>
          </a:bodyPr>
          <a:lstStyle/>
          <a:p>
            <a:pPr algn="l">
              <a:lnSpc>
                <a:spcPct val="115000"/>
              </a:lnSpc>
            </a:pPr>
            <a:r>
              <a:rPr sz="900" b="0">
                <a:solidFill>
                  <a:srgbClr val="5B6B75"/>
                </a:solidFill>
                <a:latin typeface="Calibri"/>
              </a:rPr>
              <a:t>SUCCESS Bank — Internal Ticketing · Standard Operating Procedure</a:t>
            </a:r>
          </a:p>
        </p:txBody>
      </p:sp>
      <p:sp>
        <p:nvSpPr>
          <p:cNvPr id="8" name="TextBox 7"/>
          <p:cNvSpPr txBox="1"/>
          <p:nvPr/>
        </p:nvSpPr>
        <p:spPr>
          <a:xfrm>
            <a:off x="9997135" y="6547104"/>
            <a:ext cx="1691640" cy="228600"/>
          </a:xfrm>
          <a:prstGeom prst="rect">
            <a:avLst/>
          </a:prstGeom>
          <a:noFill/>
        </p:spPr>
        <p:txBody>
          <a:bodyPr wrap="square" anchor="t" lIns="0" rIns="0" tIns="0" bIns="0">
            <a:spAutoFit/>
          </a:bodyPr>
          <a:lstStyle/>
          <a:p>
            <a:pPr algn="r">
              <a:lnSpc>
                <a:spcPct val="115000"/>
              </a:lnSpc>
            </a:pPr>
            <a:r>
              <a:rPr sz="900" b="0">
                <a:solidFill>
                  <a:srgbClr val="5B6B75"/>
                </a:solidFill>
                <a:latin typeface="Calibri"/>
              </a:rPr>
              <a:t>Section 12</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0E4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82880"/>
            <a:ext cx="10515600" cy="320040"/>
          </a:xfrm>
          <a:prstGeom prst="rect">
            <a:avLst/>
          </a:prstGeom>
          <a:noFill/>
        </p:spPr>
        <p:txBody>
          <a:bodyPr wrap="square" anchor="t" lIns="0" rIns="0" tIns="0" bIns="0">
            <a:spAutoFit/>
          </a:bodyPr>
          <a:lstStyle/>
          <a:p>
            <a:pPr algn="l">
              <a:lnSpc>
                <a:spcPct val="115000"/>
              </a:lnSpc>
            </a:pPr>
            <a:r>
              <a:rPr sz="2300" b="1">
                <a:solidFill>
                  <a:srgbClr val="FFFFFF"/>
                </a:solidFill>
                <a:latin typeface="Calibri"/>
              </a:rPr>
              <a:t>What it can and cannot do</a:t>
            </a:r>
          </a:p>
        </p:txBody>
      </p:sp>
      <p:sp>
        <p:nvSpPr>
          <p:cNvPr id="4" name="TextBox 3"/>
          <p:cNvSpPr txBox="1"/>
          <p:nvPr/>
        </p:nvSpPr>
        <p:spPr>
          <a:xfrm>
            <a:off x="502920" y="548640"/>
            <a:ext cx="10515600" cy="256032"/>
          </a:xfrm>
          <a:prstGeom prst="rect">
            <a:avLst/>
          </a:prstGeom>
          <a:noFill/>
        </p:spPr>
        <p:txBody>
          <a:bodyPr wrap="square" anchor="t" lIns="0" rIns="0" tIns="0" bIns="0">
            <a:spAutoFit/>
          </a:bodyPr>
          <a:lstStyle/>
          <a:p>
            <a:pPr algn="l">
              <a:lnSpc>
                <a:spcPct val="115000"/>
              </a:lnSpc>
            </a:pPr>
            <a:r>
              <a:rPr sz="1150" b="0">
                <a:solidFill>
                  <a:srgbClr val="F3ECE0"/>
                </a:solidFill>
                <a:latin typeface="Calibri"/>
              </a:rPr>
              <a:t>Three properties are enforced by the server, not by the prompt</a:t>
            </a:r>
          </a:p>
        </p:txBody>
      </p:sp>
      <p:sp>
        <p:nvSpPr>
          <p:cNvPr id="5" name="Rectangle 4"/>
          <p:cNvSpPr/>
          <p:nvPr/>
        </p:nvSpPr>
        <p:spPr>
          <a:xfrm>
            <a:off x="548640" y="1280160"/>
            <a:ext cx="11064240" cy="1207008"/>
          </a:xfrm>
          <a:prstGeom prst="rect">
            <a:avLst/>
          </a:prstGeom>
          <a:solidFill>
            <a:srgbClr val="F3ECE0"/>
          </a:solidFill>
          <a:ln w="12700">
            <a:solidFill>
              <a:srgbClr val="D6CE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280160"/>
            <a:ext cx="54864" cy="1207008"/>
          </a:xfrm>
          <a:prstGeom prst="rect">
            <a:avLst/>
          </a:prstGeom>
          <a:solidFill>
            <a:srgbClr val="1E7A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444752"/>
            <a:ext cx="10424160" cy="274320"/>
          </a:xfrm>
          <a:prstGeom prst="rect">
            <a:avLst/>
          </a:prstGeom>
          <a:noFill/>
        </p:spPr>
        <p:txBody>
          <a:bodyPr wrap="square" anchor="t" lIns="0" rIns="0" tIns="0" bIns="0">
            <a:spAutoFit/>
          </a:bodyPr>
          <a:lstStyle/>
          <a:p>
            <a:pPr algn="l">
              <a:lnSpc>
                <a:spcPct val="115000"/>
              </a:lnSpc>
            </a:pPr>
            <a:r>
              <a:rPr sz="1400" b="1">
                <a:solidFill>
                  <a:srgbClr val="1E7A53"/>
                </a:solidFill>
                <a:latin typeface="Calibri"/>
              </a:rPr>
              <a:t>It cannot see more than you can</a:t>
            </a:r>
          </a:p>
        </p:txBody>
      </p:sp>
      <p:sp>
        <p:nvSpPr>
          <p:cNvPr id="8" name="TextBox 7"/>
          <p:cNvSpPr txBox="1"/>
          <p:nvPr/>
        </p:nvSpPr>
        <p:spPr>
          <a:xfrm>
            <a:off x="868680" y="1792224"/>
            <a:ext cx="10424160" cy="640080"/>
          </a:xfrm>
          <a:prstGeom prst="rect">
            <a:avLst/>
          </a:prstGeom>
          <a:noFill/>
        </p:spPr>
        <p:txBody>
          <a:bodyPr wrap="square" anchor="t" lIns="0" rIns="0" tIns="0" bIns="0">
            <a:spAutoFit/>
          </a:bodyPr>
          <a:lstStyle/>
          <a:p>
            <a:pPr algn="l">
              <a:lnSpc>
                <a:spcPct val="125000"/>
              </a:lnSpc>
            </a:pPr>
            <a:r>
              <a:rPr sz="1200" b="0">
                <a:solidFill>
                  <a:srgbClr val="1B2A33"/>
                </a:solidFill>
                <a:latin typeface="Calibri"/>
              </a:rPr>
              <a:t>Context is fetched through the same visibility rules as the rest of the application. Point it at a ticket your role cannot open and it is told the ticket is unavailable — no title, no number, nothing.</a:t>
            </a:r>
          </a:p>
        </p:txBody>
      </p:sp>
      <p:sp>
        <p:nvSpPr>
          <p:cNvPr id="9" name="Rectangle 8"/>
          <p:cNvSpPr/>
          <p:nvPr/>
        </p:nvSpPr>
        <p:spPr>
          <a:xfrm>
            <a:off x="548640" y="2697480"/>
            <a:ext cx="11064240" cy="1207008"/>
          </a:xfrm>
          <a:prstGeom prst="rect">
            <a:avLst/>
          </a:prstGeom>
          <a:solidFill>
            <a:srgbClr val="F3ECE0"/>
          </a:solidFill>
          <a:ln w="12700">
            <a:solidFill>
              <a:srgbClr val="D6CE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697480"/>
            <a:ext cx="54864" cy="1207008"/>
          </a:xfrm>
          <a:prstGeom prst="rect">
            <a:avLst/>
          </a:prstGeom>
          <a:solidFill>
            <a:srgbClr val="1E7A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862072"/>
            <a:ext cx="10424160" cy="274320"/>
          </a:xfrm>
          <a:prstGeom prst="rect">
            <a:avLst/>
          </a:prstGeom>
          <a:noFill/>
        </p:spPr>
        <p:txBody>
          <a:bodyPr wrap="square" anchor="t" lIns="0" rIns="0" tIns="0" bIns="0">
            <a:spAutoFit/>
          </a:bodyPr>
          <a:lstStyle/>
          <a:p>
            <a:pPr algn="l">
              <a:lnSpc>
                <a:spcPct val="115000"/>
              </a:lnSpc>
            </a:pPr>
            <a:r>
              <a:rPr sz="1400" b="1">
                <a:solidFill>
                  <a:srgbClr val="1E7A53"/>
                </a:solidFill>
                <a:latin typeface="Calibri"/>
              </a:rPr>
              <a:t>It says when it does not know</a:t>
            </a:r>
          </a:p>
        </p:txBody>
      </p:sp>
      <p:sp>
        <p:nvSpPr>
          <p:cNvPr id="12" name="TextBox 11"/>
          <p:cNvSpPr txBox="1"/>
          <p:nvPr/>
        </p:nvSpPr>
        <p:spPr>
          <a:xfrm>
            <a:off x="868680" y="3209544"/>
            <a:ext cx="10424160" cy="640080"/>
          </a:xfrm>
          <a:prstGeom prst="rect">
            <a:avLst/>
          </a:prstGeom>
          <a:noFill/>
        </p:spPr>
        <p:txBody>
          <a:bodyPr wrap="square" anchor="t" lIns="0" rIns="0" tIns="0" bIns="0">
            <a:spAutoFit/>
          </a:bodyPr>
          <a:lstStyle/>
          <a:p>
            <a:pPr algn="l">
              <a:lnSpc>
                <a:spcPct val="125000"/>
              </a:lnSpc>
            </a:pPr>
            <a:r>
              <a:rPr sz="1200" b="0">
                <a:solidFill>
                  <a:srgbClr val="1B2A33"/>
                </a:solidFill>
                <a:latin typeface="Calibri"/>
              </a:rPr>
              <a:t>Rather than producing generic advice. An assistant that invents ticket facts in a bank is worse than one that declines.</a:t>
            </a:r>
          </a:p>
        </p:txBody>
      </p:sp>
      <p:sp>
        <p:nvSpPr>
          <p:cNvPr id="13" name="Rectangle 12"/>
          <p:cNvSpPr/>
          <p:nvPr/>
        </p:nvSpPr>
        <p:spPr>
          <a:xfrm>
            <a:off x="548640" y="4114800"/>
            <a:ext cx="11064240" cy="1207008"/>
          </a:xfrm>
          <a:prstGeom prst="rect">
            <a:avLst/>
          </a:prstGeom>
          <a:solidFill>
            <a:srgbClr val="F3ECE0"/>
          </a:solidFill>
          <a:ln w="12700">
            <a:solidFill>
              <a:srgbClr val="D6CE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4114800"/>
            <a:ext cx="54864" cy="1207008"/>
          </a:xfrm>
          <a:prstGeom prst="rect">
            <a:avLst/>
          </a:prstGeom>
          <a:solidFill>
            <a:srgbClr val="C25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4279392"/>
            <a:ext cx="10424160" cy="274320"/>
          </a:xfrm>
          <a:prstGeom prst="rect">
            <a:avLst/>
          </a:prstGeom>
          <a:noFill/>
        </p:spPr>
        <p:txBody>
          <a:bodyPr wrap="square" anchor="t" lIns="0" rIns="0" tIns="0" bIns="0">
            <a:spAutoFit/>
          </a:bodyPr>
          <a:lstStyle/>
          <a:p>
            <a:pPr algn="l">
              <a:lnSpc>
                <a:spcPct val="115000"/>
              </a:lnSpc>
            </a:pPr>
            <a:r>
              <a:rPr sz="1400" b="1">
                <a:solidFill>
                  <a:srgbClr val="C25B2E"/>
                </a:solidFill>
                <a:latin typeface="Calibri"/>
              </a:rPr>
              <a:t>It cannot act</a:t>
            </a:r>
          </a:p>
        </p:txBody>
      </p:sp>
      <p:sp>
        <p:nvSpPr>
          <p:cNvPr id="16" name="TextBox 15"/>
          <p:cNvSpPr txBox="1"/>
          <p:nvPr/>
        </p:nvSpPr>
        <p:spPr>
          <a:xfrm>
            <a:off x="868680" y="4626864"/>
            <a:ext cx="10424160" cy="640080"/>
          </a:xfrm>
          <a:prstGeom prst="rect">
            <a:avLst/>
          </a:prstGeom>
          <a:noFill/>
        </p:spPr>
        <p:txBody>
          <a:bodyPr wrap="square" anchor="t" lIns="0" rIns="0" tIns="0" bIns="0">
            <a:spAutoFit/>
          </a:bodyPr>
          <a:lstStyle/>
          <a:p>
            <a:pPr algn="l">
              <a:lnSpc>
                <a:spcPct val="125000"/>
              </a:lnSpc>
            </a:pPr>
            <a:r>
              <a:rPr sz="1200" b="0">
                <a:solidFill>
                  <a:srgbClr val="1B2A33"/>
                </a:solidFill>
                <a:latin typeface="Calibri"/>
              </a:rPr>
              <a:t>It has no write access. It will not change a status, assign a ticket or post a comment. Everything it produces is for you to act on.</a:t>
            </a:r>
          </a:p>
        </p:txBody>
      </p:sp>
      <p:sp>
        <p:nvSpPr>
          <p:cNvPr id="17" name="TextBox 16"/>
          <p:cNvSpPr txBox="1"/>
          <p:nvPr/>
        </p:nvSpPr>
        <p:spPr>
          <a:xfrm>
            <a:off x="548640" y="5623560"/>
            <a:ext cx="11064240" cy="640080"/>
          </a:xfrm>
          <a:prstGeom prst="rect">
            <a:avLst/>
          </a:prstGeom>
          <a:noFill/>
        </p:spPr>
        <p:txBody>
          <a:bodyPr wrap="square" anchor="t" lIns="0" rIns="0" tIns="0" bIns="0">
            <a:spAutoFit/>
          </a:bodyPr>
          <a:lstStyle/>
          <a:p>
            <a:pPr algn="l">
              <a:lnSpc>
                <a:spcPct val="125000"/>
              </a:lnSpc>
            </a:pPr>
            <a:r>
              <a:rPr sz="1150" b="0">
                <a:solidFill>
                  <a:srgbClr val="5B6B75"/>
                </a:solidFill>
                <a:latin typeface="Calibri"/>
              </a:rPr>
              <a:t>If it reports that it cannot connect, the cause is almost always the local model rather than the application. The message it shows includes the specific fix.</a:t>
            </a:r>
          </a:p>
        </p:txBody>
      </p:sp>
      <p:sp>
        <p:nvSpPr>
          <p:cNvPr id="18" name="Rectangle 17"/>
          <p:cNvSpPr/>
          <p:nvPr/>
        </p:nvSpPr>
        <p:spPr>
          <a:xfrm>
            <a:off x="0" y="6473952"/>
            <a:ext cx="12191695" cy="384048"/>
          </a:xfrm>
          <a:prstGeom prst="rect">
            <a:avLst/>
          </a:prstGeom>
          <a:solidFill>
            <a:srgbClr val="F3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6547104"/>
            <a:ext cx="8229600" cy="228600"/>
          </a:xfrm>
          <a:prstGeom prst="rect">
            <a:avLst/>
          </a:prstGeom>
          <a:noFill/>
        </p:spPr>
        <p:txBody>
          <a:bodyPr wrap="square" anchor="t" lIns="0" rIns="0" tIns="0" bIns="0">
            <a:spAutoFit/>
          </a:bodyPr>
          <a:lstStyle/>
          <a:p>
            <a:pPr algn="l">
              <a:lnSpc>
                <a:spcPct val="115000"/>
              </a:lnSpc>
            </a:pPr>
            <a:r>
              <a:rPr sz="900" b="0">
                <a:solidFill>
                  <a:srgbClr val="5B6B75"/>
                </a:solidFill>
                <a:latin typeface="Calibri"/>
              </a:rPr>
              <a:t>SUCCESS Bank — Internal Ticketing · Standard Operating Procedure</a:t>
            </a:r>
          </a:p>
        </p:txBody>
      </p:sp>
      <p:sp>
        <p:nvSpPr>
          <p:cNvPr id="20" name="TextBox 19"/>
          <p:cNvSpPr txBox="1"/>
          <p:nvPr/>
        </p:nvSpPr>
        <p:spPr>
          <a:xfrm>
            <a:off x="9997135" y="6547104"/>
            <a:ext cx="1691640" cy="228600"/>
          </a:xfrm>
          <a:prstGeom prst="rect">
            <a:avLst/>
          </a:prstGeom>
          <a:noFill/>
        </p:spPr>
        <p:txBody>
          <a:bodyPr wrap="square" anchor="t" lIns="0" rIns="0" tIns="0" bIns="0">
            <a:spAutoFit/>
          </a:bodyPr>
          <a:lstStyle/>
          <a:p>
            <a:pPr algn="r">
              <a:lnSpc>
                <a:spcPct val="115000"/>
              </a:lnSpc>
            </a:pPr>
            <a:r>
              <a:rPr sz="900" b="0">
                <a:solidFill>
                  <a:srgbClr val="5B6B75"/>
                </a:solidFill>
                <a:latin typeface="Calibri"/>
              </a:rPr>
              <a:t>Assistant</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3ECE0"/>
        </a:solidFill>
        <a:effectLst/>
      </p:bgPr>
    </p:bg>
    <p:spTree>
      <p:nvGrpSpPr>
        <p:cNvPr id="1" name=""/>
        <p:cNvGrpSpPr/>
        <p:nvPr/>
      </p:nvGrpSpPr>
      <p:grpSpPr/>
      <p:sp>
        <p:nvSpPr>
          <p:cNvPr id="2" name="Rectangle 1"/>
          <p:cNvSpPr/>
          <p:nvPr/>
        </p:nvSpPr>
        <p:spPr>
          <a:xfrm>
            <a:off x="0" y="0"/>
            <a:ext cx="256032" cy="6858000"/>
          </a:xfrm>
          <a:prstGeom prst="rect">
            <a:avLst/>
          </a:prstGeom>
          <a:solidFill>
            <a:srgbClr val="0E4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2377440"/>
            <a:ext cx="1828800" cy="548640"/>
          </a:xfrm>
          <a:prstGeom prst="rect">
            <a:avLst/>
          </a:prstGeom>
          <a:noFill/>
        </p:spPr>
        <p:txBody>
          <a:bodyPr wrap="square" anchor="t" lIns="0" rIns="0" tIns="0" bIns="0">
            <a:spAutoFit/>
          </a:bodyPr>
          <a:lstStyle/>
          <a:p>
            <a:pPr algn="l">
              <a:lnSpc>
                <a:spcPct val="115000"/>
              </a:lnSpc>
            </a:pPr>
            <a:r>
              <a:rPr sz="1300" b="1">
                <a:solidFill>
                  <a:srgbClr val="C25B2E"/>
                </a:solidFill>
                <a:latin typeface="Calibri"/>
              </a:rPr>
              <a:t>SECTION 13</a:t>
            </a:r>
          </a:p>
        </p:txBody>
      </p:sp>
      <p:sp>
        <p:nvSpPr>
          <p:cNvPr id="4" name="TextBox 3"/>
          <p:cNvSpPr txBox="1"/>
          <p:nvPr/>
        </p:nvSpPr>
        <p:spPr>
          <a:xfrm>
            <a:off x="1005840" y="2788920"/>
            <a:ext cx="9601200" cy="822960"/>
          </a:xfrm>
          <a:prstGeom prst="rect">
            <a:avLst/>
          </a:prstGeom>
          <a:noFill/>
        </p:spPr>
        <p:txBody>
          <a:bodyPr wrap="square" anchor="t" lIns="0" rIns="0" tIns="0" bIns="0">
            <a:spAutoFit/>
          </a:bodyPr>
          <a:lstStyle/>
          <a:p>
            <a:pPr algn="l">
              <a:lnSpc>
                <a:spcPct val="115000"/>
              </a:lnSpc>
            </a:pPr>
            <a:r>
              <a:rPr sz="3400" b="1">
                <a:solidFill>
                  <a:srgbClr val="0E4F4A"/>
                </a:solidFill>
                <a:latin typeface="Calibri"/>
              </a:rPr>
              <a:t>Common scenarios</a:t>
            </a:r>
          </a:p>
        </p:txBody>
      </p:sp>
      <p:sp>
        <p:nvSpPr>
          <p:cNvPr id="5" name="TextBox 4"/>
          <p:cNvSpPr txBox="1"/>
          <p:nvPr/>
        </p:nvSpPr>
        <p:spPr>
          <a:xfrm>
            <a:off x="1005840" y="3794760"/>
            <a:ext cx="8686800" cy="914400"/>
          </a:xfrm>
          <a:prstGeom prst="rect">
            <a:avLst/>
          </a:prstGeom>
          <a:noFill/>
        </p:spPr>
        <p:txBody>
          <a:bodyPr wrap="square" anchor="t" lIns="0" rIns="0" tIns="0" bIns="0">
            <a:spAutoFit/>
          </a:bodyPr>
          <a:lstStyle/>
          <a:p>
            <a:pPr algn="l">
              <a:lnSpc>
                <a:spcPct val="130000"/>
              </a:lnSpc>
            </a:pPr>
            <a:r>
              <a:rPr sz="1500" b="0">
                <a:solidFill>
                  <a:srgbClr val="5B6B75"/>
                </a:solidFill>
                <a:latin typeface="Calibri"/>
              </a:rPr>
              <a:t>Four situations, start to finish, naming who does what at each hop.</a:t>
            </a:r>
          </a:p>
        </p:txBody>
      </p:sp>
      <p:sp>
        <p:nvSpPr>
          <p:cNvPr id="6" name="Rectangle 5"/>
          <p:cNvSpPr/>
          <p:nvPr/>
        </p:nvSpPr>
        <p:spPr>
          <a:xfrm>
            <a:off x="0" y="6473952"/>
            <a:ext cx="12191695" cy="384048"/>
          </a:xfrm>
          <a:prstGeom prst="rect">
            <a:avLst/>
          </a:prstGeom>
          <a:solidFill>
            <a:srgbClr val="F3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47104"/>
            <a:ext cx="8229600" cy="228600"/>
          </a:xfrm>
          <a:prstGeom prst="rect">
            <a:avLst/>
          </a:prstGeom>
          <a:noFill/>
        </p:spPr>
        <p:txBody>
          <a:bodyPr wrap="square" anchor="t" lIns="0" rIns="0" tIns="0" bIns="0">
            <a:spAutoFit/>
          </a:bodyPr>
          <a:lstStyle/>
          <a:p>
            <a:pPr algn="l">
              <a:lnSpc>
                <a:spcPct val="115000"/>
              </a:lnSpc>
            </a:pPr>
            <a:r>
              <a:rPr sz="900" b="0">
                <a:solidFill>
                  <a:srgbClr val="5B6B75"/>
                </a:solidFill>
                <a:latin typeface="Calibri"/>
              </a:rPr>
              <a:t>SUCCESS Bank — Internal Ticketing · Standard Operating Procedure</a:t>
            </a:r>
          </a:p>
        </p:txBody>
      </p:sp>
      <p:sp>
        <p:nvSpPr>
          <p:cNvPr id="8" name="TextBox 7"/>
          <p:cNvSpPr txBox="1"/>
          <p:nvPr/>
        </p:nvSpPr>
        <p:spPr>
          <a:xfrm>
            <a:off x="9997135" y="6547104"/>
            <a:ext cx="1691640" cy="228600"/>
          </a:xfrm>
          <a:prstGeom prst="rect">
            <a:avLst/>
          </a:prstGeom>
          <a:noFill/>
        </p:spPr>
        <p:txBody>
          <a:bodyPr wrap="square" anchor="t" lIns="0" rIns="0" tIns="0" bIns="0">
            <a:spAutoFit/>
          </a:bodyPr>
          <a:lstStyle/>
          <a:p>
            <a:pPr algn="r">
              <a:lnSpc>
                <a:spcPct val="115000"/>
              </a:lnSpc>
            </a:pPr>
            <a:r>
              <a:rPr sz="900" b="0">
                <a:solidFill>
                  <a:srgbClr val="5B6B75"/>
                </a:solidFill>
                <a:latin typeface="Calibri"/>
              </a:rPr>
              <a:t>Section 13</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0E4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82880"/>
            <a:ext cx="10515600" cy="320040"/>
          </a:xfrm>
          <a:prstGeom prst="rect">
            <a:avLst/>
          </a:prstGeom>
          <a:noFill/>
        </p:spPr>
        <p:txBody>
          <a:bodyPr wrap="square" anchor="t" lIns="0" rIns="0" tIns="0" bIns="0">
            <a:spAutoFit/>
          </a:bodyPr>
          <a:lstStyle/>
          <a:p>
            <a:pPr algn="l">
              <a:lnSpc>
                <a:spcPct val="115000"/>
              </a:lnSpc>
            </a:pPr>
            <a:r>
              <a:rPr sz="2300" b="1">
                <a:solidFill>
                  <a:srgbClr val="FFFFFF"/>
                </a:solidFill>
                <a:latin typeface="Calibri"/>
              </a:rPr>
              <a:t>Scenario A — a duplicated debit</a:t>
            </a:r>
          </a:p>
        </p:txBody>
      </p:sp>
      <p:sp>
        <p:nvSpPr>
          <p:cNvPr id="4" name="TextBox 3"/>
          <p:cNvSpPr txBox="1"/>
          <p:nvPr/>
        </p:nvSpPr>
        <p:spPr>
          <a:xfrm>
            <a:off x="502920" y="548640"/>
            <a:ext cx="10515600" cy="256032"/>
          </a:xfrm>
          <a:prstGeom prst="rect">
            <a:avLst/>
          </a:prstGeom>
          <a:noFill/>
        </p:spPr>
        <p:txBody>
          <a:bodyPr wrap="square" anchor="t" lIns="0" rIns="0" tIns="0" bIns="0">
            <a:spAutoFit/>
          </a:bodyPr>
          <a:lstStyle/>
          <a:p>
            <a:pPr algn="l">
              <a:lnSpc>
                <a:spcPct val="115000"/>
              </a:lnSpc>
            </a:pPr>
            <a:r>
              <a:rPr sz="1150" b="0">
                <a:solidFill>
                  <a:srgbClr val="F3ECE0"/>
                </a:solidFill>
                <a:latin typeface="Calibri"/>
              </a:rPr>
              <a:t>The everyday case: raised with evidence, worked, resolved</a:t>
            </a:r>
          </a:p>
        </p:txBody>
      </p:sp>
      <p:sp>
        <p:nvSpPr>
          <p:cNvPr id="5" name="Rectangle 4"/>
          <p:cNvSpPr/>
          <p:nvPr/>
        </p:nvSpPr>
        <p:spPr>
          <a:xfrm>
            <a:off x="548640" y="1207008"/>
            <a:ext cx="2057400" cy="701040"/>
          </a:xfrm>
          <a:prstGeom prst="rect">
            <a:avLst/>
          </a:prstGeom>
          <a:solidFill>
            <a:srgbClr val="0E4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1207008"/>
            <a:ext cx="1828800" cy="701040"/>
          </a:xfrm>
          <a:prstGeom prst="rect">
            <a:avLst/>
          </a:prstGeom>
          <a:noFill/>
        </p:spPr>
        <p:txBody>
          <a:bodyPr wrap="square" anchor="ctr" lIns="0" rIns="0" tIns="0" bIns="0">
            <a:spAutoFit/>
          </a:bodyPr>
          <a:lstStyle/>
          <a:p>
            <a:pPr algn="l">
              <a:lnSpc>
                <a:spcPct val="115000"/>
              </a:lnSpc>
            </a:pPr>
            <a:r>
              <a:rPr sz="1200" b="1">
                <a:solidFill>
                  <a:srgbClr val="FFFFFF"/>
                </a:solidFill>
                <a:latin typeface="Calibri"/>
              </a:rPr>
              <a:t>Branch user</a:t>
            </a:r>
          </a:p>
        </p:txBody>
      </p:sp>
      <p:sp>
        <p:nvSpPr>
          <p:cNvPr id="7" name="Rectangle 6"/>
          <p:cNvSpPr/>
          <p:nvPr/>
        </p:nvSpPr>
        <p:spPr>
          <a:xfrm>
            <a:off x="2697480" y="1207008"/>
            <a:ext cx="8942832" cy="701040"/>
          </a:xfrm>
          <a:prstGeom prst="rect">
            <a:avLst/>
          </a:prstGeom>
          <a:solidFill>
            <a:srgbClr val="F3ECE0"/>
          </a:solidFill>
          <a:ln w="12700">
            <a:solidFill>
              <a:srgbClr val="D6CE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971800" y="1207008"/>
            <a:ext cx="8412480" cy="701040"/>
          </a:xfrm>
          <a:prstGeom prst="rect">
            <a:avLst/>
          </a:prstGeom>
          <a:noFill/>
        </p:spPr>
        <p:txBody>
          <a:bodyPr wrap="square" anchor="ctr" lIns="0" rIns="0" tIns="0" bIns="0">
            <a:spAutoFit/>
          </a:bodyPr>
          <a:lstStyle/>
          <a:p>
            <a:pPr algn="l">
              <a:lnSpc>
                <a:spcPct val="120000"/>
              </a:lnSpc>
            </a:pPr>
            <a:r>
              <a:rPr sz="1200" b="0">
                <a:solidFill>
                  <a:srgbClr val="1B2A33"/>
                </a:solidFill>
                <a:latin typeface="Calibri"/>
              </a:rPr>
              <a:t>Raises the ticket with a screenshot, the statement and a CSV of the transactions</a:t>
            </a:r>
          </a:p>
        </p:txBody>
      </p:sp>
      <p:sp>
        <p:nvSpPr>
          <p:cNvPr id="9" name="Rectangle 8"/>
          <p:cNvSpPr/>
          <p:nvPr/>
        </p:nvSpPr>
        <p:spPr>
          <a:xfrm>
            <a:off x="548640" y="2054352"/>
            <a:ext cx="2057400" cy="701040"/>
          </a:xfrm>
          <a:prstGeom prst="rect">
            <a:avLst/>
          </a:prstGeom>
          <a:solidFill>
            <a:srgbClr val="5B6B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2054352"/>
            <a:ext cx="1828800" cy="701040"/>
          </a:xfrm>
          <a:prstGeom prst="rect">
            <a:avLst/>
          </a:prstGeom>
          <a:noFill/>
        </p:spPr>
        <p:txBody>
          <a:bodyPr wrap="square" anchor="ctr" lIns="0" rIns="0" tIns="0" bIns="0">
            <a:spAutoFit/>
          </a:bodyPr>
          <a:lstStyle/>
          <a:p>
            <a:pPr algn="l">
              <a:lnSpc>
                <a:spcPct val="115000"/>
              </a:lnSpc>
            </a:pPr>
            <a:r>
              <a:rPr sz="1200" b="1">
                <a:solidFill>
                  <a:srgbClr val="FFFFFF"/>
                </a:solidFill>
                <a:latin typeface="Calibri"/>
              </a:rPr>
              <a:t>System</a:t>
            </a:r>
          </a:p>
        </p:txBody>
      </p:sp>
      <p:sp>
        <p:nvSpPr>
          <p:cNvPr id="11" name="Rectangle 10"/>
          <p:cNvSpPr/>
          <p:nvPr/>
        </p:nvSpPr>
        <p:spPr>
          <a:xfrm>
            <a:off x="2697480" y="2054352"/>
            <a:ext cx="8942832" cy="701040"/>
          </a:xfrm>
          <a:prstGeom prst="rect">
            <a:avLst/>
          </a:prstGeom>
          <a:solidFill>
            <a:srgbClr val="F3ECE0"/>
          </a:solidFill>
          <a:ln w="12700">
            <a:solidFill>
              <a:srgbClr val="D6CE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71800" y="2054352"/>
            <a:ext cx="8412480" cy="701040"/>
          </a:xfrm>
          <a:prstGeom prst="rect">
            <a:avLst/>
          </a:prstGeom>
          <a:noFill/>
        </p:spPr>
        <p:txBody>
          <a:bodyPr wrap="square" anchor="ctr" lIns="0" rIns="0" tIns="0" bIns="0">
            <a:spAutoFit/>
          </a:bodyPr>
          <a:lstStyle/>
          <a:p>
            <a:pPr algn="l">
              <a:lnSpc>
                <a:spcPct val="120000"/>
              </a:lnSpc>
            </a:pPr>
            <a:r>
              <a:rPr sz="1200" b="0">
                <a:solidFill>
                  <a:srgbClr val="1B2A33"/>
                </a:solidFill>
                <a:latin typeface="Calibri"/>
              </a:rPr>
              <a:t>Numbers it and stamps both SLA deadlines. It does not pick an owner</a:t>
            </a:r>
          </a:p>
        </p:txBody>
      </p:sp>
      <p:sp>
        <p:nvSpPr>
          <p:cNvPr id="13" name="Rectangle 12"/>
          <p:cNvSpPr/>
          <p:nvPr/>
        </p:nvSpPr>
        <p:spPr>
          <a:xfrm>
            <a:off x="548640" y="2901696"/>
            <a:ext cx="2057400" cy="701040"/>
          </a:xfrm>
          <a:prstGeom prst="rect">
            <a:avLst/>
          </a:prstGeom>
          <a:solidFill>
            <a:srgbClr val="0E4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2901696"/>
            <a:ext cx="1828800" cy="701040"/>
          </a:xfrm>
          <a:prstGeom prst="rect">
            <a:avLst/>
          </a:prstGeom>
          <a:noFill/>
        </p:spPr>
        <p:txBody>
          <a:bodyPr wrap="square" anchor="ctr" lIns="0" rIns="0" tIns="0" bIns="0">
            <a:spAutoFit/>
          </a:bodyPr>
          <a:lstStyle/>
          <a:p>
            <a:pPr algn="l">
              <a:lnSpc>
                <a:spcPct val="115000"/>
              </a:lnSpc>
            </a:pPr>
            <a:r>
              <a:rPr sz="1200" b="1">
                <a:solidFill>
                  <a:srgbClr val="FFFFFF"/>
                </a:solidFill>
                <a:latin typeface="Calibri"/>
              </a:rPr>
              <a:t>Supervisor</a:t>
            </a:r>
          </a:p>
        </p:txBody>
      </p:sp>
      <p:sp>
        <p:nvSpPr>
          <p:cNvPr id="15" name="Rectangle 14"/>
          <p:cNvSpPr/>
          <p:nvPr/>
        </p:nvSpPr>
        <p:spPr>
          <a:xfrm>
            <a:off x="2697480" y="2901696"/>
            <a:ext cx="8942832" cy="701040"/>
          </a:xfrm>
          <a:prstGeom prst="rect">
            <a:avLst/>
          </a:prstGeom>
          <a:solidFill>
            <a:srgbClr val="F3ECE0"/>
          </a:solidFill>
          <a:ln w="12700">
            <a:solidFill>
              <a:srgbClr val="D6CE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71800" y="2901696"/>
            <a:ext cx="8412480" cy="701040"/>
          </a:xfrm>
          <a:prstGeom prst="rect">
            <a:avLst/>
          </a:prstGeom>
          <a:noFill/>
        </p:spPr>
        <p:txBody>
          <a:bodyPr wrap="square" anchor="ctr" lIns="0" rIns="0" tIns="0" bIns="0">
            <a:spAutoFit/>
          </a:bodyPr>
          <a:lstStyle/>
          <a:p>
            <a:pPr algn="l">
              <a:lnSpc>
                <a:spcPct val="120000"/>
              </a:lnSpc>
            </a:pPr>
            <a:r>
              <a:rPr sz="1200" b="0">
                <a:solidFill>
                  <a:srgbClr val="1B2A33"/>
                </a:solidFill>
                <a:latin typeface="Calibri"/>
              </a:rPr>
              <a:t>Assigns it — by hand, or with Auto-assign to take the lightest queue</a:t>
            </a:r>
          </a:p>
        </p:txBody>
      </p:sp>
      <p:sp>
        <p:nvSpPr>
          <p:cNvPr id="17" name="Rectangle 16"/>
          <p:cNvSpPr/>
          <p:nvPr/>
        </p:nvSpPr>
        <p:spPr>
          <a:xfrm>
            <a:off x="548640" y="3749040"/>
            <a:ext cx="2057400" cy="701040"/>
          </a:xfrm>
          <a:prstGeom prst="rect">
            <a:avLst/>
          </a:prstGeom>
          <a:solidFill>
            <a:srgbClr val="0E4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13232" y="3749040"/>
            <a:ext cx="1828800" cy="701040"/>
          </a:xfrm>
          <a:prstGeom prst="rect">
            <a:avLst/>
          </a:prstGeom>
          <a:noFill/>
        </p:spPr>
        <p:txBody>
          <a:bodyPr wrap="square" anchor="ctr" lIns="0" rIns="0" tIns="0" bIns="0">
            <a:spAutoFit/>
          </a:bodyPr>
          <a:lstStyle/>
          <a:p>
            <a:pPr algn="l">
              <a:lnSpc>
                <a:spcPct val="115000"/>
              </a:lnSpc>
            </a:pPr>
            <a:r>
              <a:rPr sz="1200" b="1">
                <a:solidFill>
                  <a:srgbClr val="FFFFFF"/>
                </a:solidFill>
                <a:latin typeface="Calibri"/>
              </a:rPr>
              <a:t>Agent</a:t>
            </a:r>
          </a:p>
        </p:txBody>
      </p:sp>
      <p:sp>
        <p:nvSpPr>
          <p:cNvPr id="19" name="Rectangle 18"/>
          <p:cNvSpPr/>
          <p:nvPr/>
        </p:nvSpPr>
        <p:spPr>
          <a:xfrm>
            <a:off x="2697480" y="3749040"/>
            <a:ext cx="8942832" cy="701040"/>
          </a:xfrm>
          <a:prstGeom prst="rect">
            <a:avLst/>
          </a:prstGeom>
          <a:solidFill>
            <a:srgbClr val="F3ECE0"/>
          </a:solidFill>
          <a:ln w="12700">
            <a:solidFill>
              <a:srgbClr val="D6CE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971800" y="3749040"/>
            <a:ext cx="8412480" cy="701040"/>
          </a:xfrm>
          <a:prstGeom prst="rect">
            <a:avLst/>
          </a:prstGeom>
          <a:noFill/>
        </p:spPr>
        <p:txBody>
          <a:bodyPr wrap="square" anchor="ctr" lIns="0" rIns="0" tIns="0" bIns="0">
            <a:spAutoFit/>
          </a:bodyPr>
          <a:lstStyle/>
          <a:p>
            <a:pPr algn="l">
              <a:lnSpc>
                <a:spcPct val="120000"/>
              </a:lnSpc>
            </a:pPr>
            <a:r>
              <a:rPr sz="1200" b="0">
                <a:solidFill>
                  <a:srgbClr val="1B2A33"/>
                </a:solidFill>
                <a:latin typeface="Calibri"/>
              </a:rPr>
              <a:t>Moves it to In Progress, checks the evidence, confirms the duplicate</a:t>
            </a:r>
          </a:p>
        </p:txBody>
      </p:sp>
      <p:sp>
        <p:nvSpPr>
          <p:cNvPr id="21" name="Rectangle 20"/>
          <p:cNvSpPr/>
          <p:nvPr/>
        </p:nvSpPr>
        <p:spPr>
          <a:xfrm>
            <a:off x="548640" y="4596384"/>
            <a:ext cx="2057400" cy="701040"/>
          </a:xfrm>
          <a:prstGeom prst="rect">
            <a:avLst/>
          </a:prstGeom>
          <a:solidFill>
            <a:srgbClr val="0E4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3232" y="4596384"/>
            <a:ext cx="1828800" cy="701040"/>
          </a:xfrm>
          <a:prstGeom prst="rect">
            <a:avLst/>
          </a:prstGeom>
          <a:noFill/>
        </p:spPr>
        <p:txBody>
          <a:bodyPr wrap="square" anchor="ctr" lIns="0" rIns="0" tIns="0" bIns="0">
            <a:spAutoFit/>
          </a:bodyPr>
          <a:lstStyle/>
          <a:p>
            <a:pPr algn="l">
              <a:lnSpc>
                <a:spcPct val="115000"/>
              </a:lnSpc>
            </a:pPr>
            <a:r>
              <a:rPr sz="1200" b="1">
                <a:solidFill>
                  <a:srgbClr val="FFFFFF"/>
                </a:solidFill>
                <a:latin typeface="Calibri"/>
              </a:rPr>
              <a:t>Agent</a:t>
            </a:r>
          </a:p>
        </p:txBody>
      </p:sp>
      <p:sp>
        <p:nvSpPr>
          <p:cNvPr id="23" name="Rectangle 22"/>
          <p:cNvSpPr/>
          <p:nvPr/>
        </p:nvSpPr>
        <p:spPr>
          <a:xfrm>
            <a:off x="2697480" y="4596384"/>
            <a:ext cx="8942832" cy="701040"/>
          </a:xfrm>
          <a:prstGeom prst="rect">
            <a:avLst/>
          </a:prstGeom>
          <a:solidFill>
            <a:srgbClr val="F3ECE0"/>
          </a:solidFill>
          <a:ln w="12700">
            <a:solidFill>
              <a:srgbClr val="D6CE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971800" y="4596384"/>
            <a:ext cx="8412480" cy="701040"/>
          </a:xfrm>
          <a:prstGeom prst="rect">
            <a:avLst/>
          </a:prstGeom>
          <a:noFill/>
        </p:spPr>
        <p:txBody>
          <a:bodyPr wrap="square" anchor="ctr" lIns="0" rIns="0" tIns="0" bIns="0">
            <a:spAutoFit/>
          </a:bodyPr>
          <a:lstStyle/>
          <a:p>
            <a:pPr algn="l">
              <a:lnSpc>
                <a:spcPct val="120000"/>
              </a:lnSpc>
            </a:pPr>
            <a:r>
              <a:rPr sz="1200" b="0">
                <a:solidFill>
                  <a:srgbClr val="1B2A33"/>
                </a:solidFill>
                <a:latin typeface="Calibri"/>
              </a:rPr>
              <a:t>Replies with the corrected statement attached to that reply, then resolves</a:t>
            </a:r>
          </a:p>
        </p:txBody>
      </p:sp>
      <p:sp>
        <p:nvSpPr>
          <p:cNvPr id="25" name="Rectangle 24"/>
          <p:cNvSpPr/>
          <p:nvPr/>
        </p:nvSpPr>
        <p:spPr>
          <a:xfrm>
            <a:off x="548640" y="5443728"/>
            <a:ext cx="2057400" cy="701040"/>
          </a:xfrm>
          <a:prstGeom prst="rect">
            <a:avLst/>
          </a:prstGeom>
          <a:solidFill>
            <a:srgbClr val="0E4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13232" y="5443728"/>
            <a:ext cx="1828800" cy="701040"/>
          </a:xfrm>
          <a:prstGeom prst="rect">
            <a:avLst/>
          </a:prstGeom>
          <a:noFill/>
        </p:spPr>
        <p:txBody>
          <a:bodyPr wrap="square" anchor="ctr" lIns="0" rIns="0" tIns="0" bIns="0">
            <a:spAutoFit/>
          </a:bodyPr>
          <a:lstStyle/>
          <a:p>
            <a:pPr algn="l">
              <a:lnSpc>
                <a:spcPct val="115000"/>
              </a:lnSpc>
            </a:pPr>
            <a:r>
              <a:rPr sz="1200" b="1">
                <a:solidFill>
                  <a:srgbClr val="FFFFFF"/>
                </a:solidFill>
                <a:latin typeface="Calibri"/>
              </a:rPr>
              <a:t>Branch user</a:t>
            </a:r>
          </a:p>
        </p:txBody>
      </p:sp>
      <p:sp>
        <p:nvSpPr>
          <p:cNvPr id="27" name="Rectangle 26"/>
          <p:cNvSpPr/>
          <p:nvPr/>
        </p:nvSpPr>
        <p:spPr>
          <a:xfrm>
            <a:off x="2697480" y="5443728"/>
            <a:ext cx="8942832" cy="701040"/>
          </a:xfrm>
          <a:prstGeom prst="rect">
            <a:avLst/>
          </a:prstGeom>
          <a:solidFill>
            <a:srgbClr val="F3ECE0"/>
          </a:solidFill>
          <a:ln w="12700">
            <a:solidFill>
              <a:srgbClr val="D6CE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971800" y="5443728"/>
            <a:ext cx="8412480" cy="701040"/>
          </a:xfrm>
          <a:prstGeom prst="rect">
            <a:avLst/>
          </a:prstGeom>
          <a:noFill/>
        </p:spPr>
        <p:txBody>
          <a:bodyPr wrap="square" anchor="ctr" lIns="0" rIns="0" tIns="0" bIns="0">
            <a:spAutoFit/>
          </a:bodyPr>
          <a:lstStyle/>
          <a:p>
            <a:pPr algn="l">
              <a:lnSpc>
                <a:spcPct val="120000"/>
              </a:lnSpc>
            </a:pPr>
            <a:r>
              <a:rPr sz="1200" b="0">
                <a:solidFill>
                  <a:srgbClr val="1B2A33"/>
                </a:solidFill>
                <a:latin typeface="Calibri"/>
              </a:rPr>
              <a:t>Sees the explanation and the corrected file together, and the ticket closes</a:t>
            </a:r>
          </a:p>
        </p:txBody>
      </p:sp>
      <p:sp>
        <p:nvSpPr>
          <p:cNvPr id="29" name="Rectangle 28"/>
          <p:cNvSpPr/>
          <p:nvPr/>
        </p:nvSpPr>
        <p:spPr>
          <a:xfrm>
            <a:off x="0" y="6473952"/>
            <a:ext cx="12191695" cy="384048"/>
          </a:xfrm>
          <a:prstGeom prst="rect">
            <a:avLst/>
          </a:prstGeom>
          <a:solidFill>
            <a:srgbClr val="F3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02920" y="6547104"/>
            <a:ext cx="8229600" cy="228600"/>
          </a:xfrm>
          <a:prstGeom prst="rect">
            <a:avLst/>
          </a:prstGeom>
          <a:noFill/>
        </p:spPr>
        <p:txBody>
          <a:bodyPr wrap="square" anchor="t" lIns="0" rIns="0" tIns="0" bIns="0">
            <a:spAutoFit/>
          </a:bodyPr>
          <a:lstStyle/>
          <a:p>
            <a:pPr algn="l">
              <a:lnSpc>
                <a:spcPct val="115000"/>
              </a:lnSpc>
            </a:pPr>
            <a:r>
              <a:rPr sz="900" b="0">
                <a:solidFill>
                  <a:srgbClr val="5B6B75"/>
                </a:solidFill>
                <a:latin typeface="Calibri"/>
              </a:rPr>
              <a:t>SUCCESS Bank — Internal Ticketing · Standard Operating Procedure</a:t>
            </a:r>
          </a:p>
        </p:txBody>
      </p:sp>
      <p:sp>
        <p:nvSpPr>
          <p:cNvPr id="31" name="TextBox 30"/>
          <p:cNvSpPr txBox="1"/>
          <p:nvPr/>
        </p:nvSpPr>
        <p:spPr>
          <a:xfrm>
            <a:off x="9997135" y="6547104"/>
            <a:ext cx="1691640" cy="228600"/>
          </a:xfrm>
          <a:prstGeom prst="rect">
            <a:avLst/>
          </a:prstGeom>
          <a:noFill/>
        </p:spPr>
        <p:txBody>
          <a:bodyPr wrap="square" anchor="t" lIns="0" rIns="0" tIns="0" bIns="0">
            <a:spAutoFit/>
          </a:bodyPr>
          <a:lstStyle/>
          <a:p>
            <a:pPr algn="r">
              <a:lnSpc>
                <a:spcPct val="115000"/>
              </a:lnSpc>
            </a:pPr>
            <a:r>
              <a:rPr sz="900" b="0">
                <a:solidFill>
                  <a:srgbClr val="5B6B75"/>
                </a:solidFill>
                <a:latin typeface="Calibri"/>
              </a:rPr>
              <a:t>Scenarios</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0E4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82880"/>
            <a:ext cx="10515600" cy="320040"/>
          </a:xfrm>
          <a:prstGeom prst="rect">
            <a:avLst/>
          </a:prstGeom>
          <a:noFill/>
        </p:spPr>
        <p:txBody>
          <a:bodyPr wrap="square" anchor="t" lIns="0" rIns="0" tIns="0" bIns="0">
            <a:spAutoFit/>
          </a:bodyPr>
          <a:lstStyle/>
          <a:p>
            <a:pPr algn="l">
              <a:lnSpc>
                <a:spcPct val="115000"/>
              </a:lnSpc>
            </a:pPr>
            <a:r>
              <a:rPr sz="2300" b="1">
                <a:solidFill>
                  <a:srgbClr val="FFFFFF"/>
                </a:solidFill>
                <a:latin typeface="Calibri"/>
              </a:rPr>
              <a:t>Scenario B — nobody picked it up</a:t>
            </a:r>
          </a:p>
        </p:txBody>
      </p:sp>
      <p:sp>
        <p:nvSpPr>
          <p:cNvPr id="4" name="TextBox 3"/>
          <p:cNvSpPr txBox="1"/>
          <p:nvPr/>
        </p:nvSpPr>
        <p:spPr>
          <a:xfrm>
            <a:off x="502920" y="548640"/>
            <a:ext cx="10515600" cy="256032"/>
          </a:xfrm>
          <a:prstGeom prst="rect">
            <a:avLst/>
          </a:prstGeom>
          <a:noFill/>
        </p:spPr>
        <p:txBody>
          <a:bodyPr wrap="square" anchor="t" lIns="0" rIns="0" tIns="0" bIns="0">
            <a:spAutoFit/>
          </a:bodyPr>
          <a:lstStyle/>
          <a:p>
            <a:pPr algn="l">
              <a:lnSpc>
                <a:spcPct val="115000"/>
              </a:lnSpc>
            </a:pPr>
            <a:r>
              <a:rPr sz="1150" b="0">
                <a:solidFill>
                  <a:srgbClr val="F3ECE0"/>
                </a:solidFill>
                <a:latin typeface="Calibri"/>
              </a:rPr>
              <a:t>What happens when a deadline passes and no one is watching</a:t>
            </a:r>
          </a:p>
        </p:txBody>
      </p:sp>
      <p:sp>
        <p:nvSpPr>
          <p:cNvPr id="5" name="Rectangle 4"/>
          <p:cNvSpPr/>
          <p:nvPr/>
        </p:nvSpPr>
        <p:spPr>
          <a:xfrm>
            <a:off x="548640" y="1207008"/>
            <a:ext cx="2057400" cy="786384"/>
          </a:xfrm>
          <a:prstGeom prst="rect">
            <a:avLst/>
          </a:prstGeom>
          <a:solidFill>
            <a:srgbClr val="5B6B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1207008"/>
            <a:ext cx="1828800" cy="786384"/>
          </a:xfrm>
          <a:prstGeom prst="rect">
            <a:avLst/>
          </a:prstGeom>
          <a:noFill/>
        </p:spPr>
        <p:txBody>
          <a:bodyPr wrap="square" anchor="ctr" lIns="0" rIns="0" tIns="0" bIns="0">
            <a:spAutoFit/>
          </a:bodyPr>
          <a:lstStyle/>
          <a:p>
            <a:pPr algn="l">
              <a:lnSpc>
                <a:spcPct val="115000"/>
              </a:lnSpc>
            </a:pPr>
            <a:r>
              <a:rPr sz="1200" b="1">
                <a:solidFill>
                  <a:srgbClr val="FFFFFF"/>
                </a:solidFill>
                <a:latin typeface="Calibri"/>
              </a:rPr>
              <a:t>System</a:t>
            </a:r>
          </a:p>
        </p:txBody>
      </p:sp>
      <p:sp>
        <p:nvSpPr>
          <p:cNvPr id="7" name="Rectangle 6"/>
          <p:cNvSpPr/>
          <p:nvPr/>
        </p:nvSpPr>
        <p:spPr>
          <a:xfrm>
            <a:off x="2697480" y="1207008"/>
            <a:ext cx="8942832" cy="786384"/>
          </a:xfrm>
          <a:prstGeom prst="rect">
            <a:avLst/>
          </a:prstGeom>
          <a:solidFill>
            <a:srgbClr val="F3ECE0"/>
          </a:solidFill>
          <a:ln w="12700">
            <a:solidFill>
              <a:srgbClr val="D6CE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971800" y="1207008"/>
            <a:ext cx="8412480" cy="786384"/>
          </a:xfrm>
          <a:prstGeom prst="rect">
            <a:avLst/>
          </a:prstGeom>
          <a:noFill/>
        </p:spPr>
        <p:txBody>
          <a:bodyPr wrap="square" anchor="ctr" lIns="0" rIns="0" tIns="0" bIns="0">
            <a:spAutoFit/>
          </a:bodyPr>
          <a:lstStyle/>
          <a:p>
            <a:pPr algn="l">
              <a:lnSpc>
                <a:spcPct val="120000"/>
              </a:lnSpc>
            </a:pPr>
            <a:r>
              <a:rPr sz="1200" b="0">
                <a:solidFill>
                  <a:srgbClr val="1B2A33"/>
                </a:solidFill>
                <a:latin typeface="Calibri"/>
              </a:rPr>
              <a:t>The SLA worker finds the ticket past its resolution deadline</a:t>
            </a:r>
          </a:p>
        </p:txBody>
      </p:sp>
      <p:sp>
        <p:nvSpPr>
          <p:cNvPr id="9" name="Rectangle 8"/>
          <p:cNvSpPr/>
          <p:nvPr/>
        </p:nvSpPr>
        <p:spPr>
          <a:xfrm>
            <a:off x="548640" y="2139696"/>
            <a:ext cx="2057400" cy="786384"/>
          </a:xfrm>
          <a:prstGeom prst="rect">
            <a:avLst/>
          </a:prstGeom>
          <a:solidFill>
            <a:srgbClr val="5B6B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2139696"/>
            <a:ext cx="1828800" cy="786384"/>
          </a:xfrm>
          <a:prstGeom prst="rect">
            <a:avLst/>
          </a:prstGeom>
          <a:noFill/>
        </p:spPr>
        <p:txBody>
          <a:bodyPr wrap="square" anchor="ctr" lIns="0" rIns="0" tIns="0" bIns="0">
            <a:spAutoFit/>
          </a:bodyPr>
          <a:lstStyle/>
          <a:p>
            <a:pPr algn="l">
              <a:lnSpc>
                <a:spcPct val="115000"/>
              </a:lnSpc>
            </a:pPr>
            <a:r>
              <a:rPr sz="1200" b="1">
                <a:solidFill>
                  <a:srgbClr val="FFFFFF"/>
                </a:solidFill>
                <a:latin typeface="Calibri"/>
              </a:rPr>
              <a:t>System</a:t>
            </a:r>
          </a:p>
        </p:txBody>
      </p:sp>
      <p:sp>
        <p:nvSpPr>
          <p:cNvPr id="11" name="Rectangle 10"/>
          <p:cNvSpPr/>
          <p:nvPr/>
        </p:nvSpPr>
        <p:spPr>
          <a:xfrm>
            <a:off x="2697480" y="2139696"/>
            <a:ext cx="8942832" cy="786384"/>
          </a:xfrm>
          <a:prstGeom prst="rect">
            <a:avLst/>
          </a:prstGeom>
          <a:solidFill>
            <a:srgbClr val="F3ECE0"/>
          </a:solidFill>
          <a:ln w="12700">
            <a:solidFill>
              <a:srgbClr val="D6CE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71800" y="2139696"/>
            <a:ext cx="8412480" cy="786384"/>
          </a:xfrm>
          <a:prstGeom prst="rect">
            <a:avLst/>
          </a:prstGeom>
          <a:noFill/>
        </p:spPr>
        <p:txBody>
          <a:bodyPr wrap="square" anchor="ctr" lIns="0" rIns="0" tIns="0" bIns="0">
            <a:spAutoFit/>
          </a:bodyPr>
          <a:lstStyle/>
          <a:p>
            <a:pPr algn="l">
              <a:lnSpc>
                <a:spcPct val="120000"/>
              </a:lnSpc>
            </a:pPr>
            <a:r>
              <a:rPr sz="1200" b="0">
                <a:solidFill>
                  <a:srgbClr val="1B2A33"/>
                </a:solidFill>
                <a:latin typeface="Calibri"/>
              </a:rPr>
              <a:t>Marks the breach, matches the most specific escalation rule</a:t>
            </a:r>
          </a:p>
        </p:txBody>
      </p:sp>
      <p:sp>
        <p:nvSpPr>
          <p:cNvPr id="13" name="Rectangle 12"/>
          <p:cNvSpPr/>
          <p:nvPr/>
        </p:nvSpPr>
        <p:spPr>
          <a:xfrm>
            <a:off x="548640" y="3072384"/>
            <a:ext cx="2057400" cy="786384"/>
          </a:xfrm>
          <a:prstGeom prst="rect">
            <a:avLst/>
          </a:prstGeom>
          <a:solidFill>
            <a:srgbClr val="5B6B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3072384"/>
            <a:ext cx="1828800" cy="786384"/>
          </a:xfrm>
          <a:prstGeom prst="rect">
            <a:avLst/>
          </a:prstGeom>
          <a:noFill/>
        </p:spPr>
        <p:txBody>
          <a:bodyPr wrap="square" anchor="ctr" lIns="0" rIns="0" tIns="0" bIns="0">
            <a:spAutoFit/>
          </a:bodyPr>
          <a:lstStyle/>
          <a:p>
            <a:pPr algn="l">
              <a:lnSpc>
                <a:spcPct val="115000"/>
              </a:lnSpc>
            </a:pPr>
            <a:r>
              <a:rPr sz="1200" b="1">
                <a:solidFill>
                  <a:srgbClr val="FFFFFF"/>
                </a:solidFill>
                <a:latin typeface="Calibri"/>
              </a:rPr>
              <a:t>System</a:t>
            </a:r>
          </a:p>
        </p:txBody>
      </p:sp>
      <p:sp>
        <p:nvSpPr>
          <p:cNvPr id="15" name="Rectangle 14"/>
          <p:cNvSpPr/>
          <p:nvPr/>
        </p:nvSpPr>
        <p:spPr>
          <a:xfrm>
            <a:off x="2697480" y="3072384"/>
            <a:ext cx="8942832" cy="786384"/>
          </a:xfrm>
          <a:prstGeom prst="rect">
            <a:avLst/>
          </a:prstGeom>
          <a:solidFill>
            <a:srgbClr val="F3ECE0"/>
          </a:solidFill>
          <a:ln w="12700">
            <a:solidFill>
              <a:srgbClr val="D6CE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71800" y="3072384"/>
            <a:ext cx="8412480" cy="786384"/>
          </a:xfrm>
          <a:prstGeom prst="rect">
            <a:avLst/>
          </a:prstGeom>
          <a:noFill/>
        </p:spPr>
        <p:txBody>
          <a:bodyPr wrap="square" anchor="ctr" lIns="0" rIns="0" tIns="0" bIns="0">
            <a:spAutoFit/>
          </a:bodyPr>
          <a:lstStyle/>
          <a:p>
            <a:pPr algn="l">
              <a:lnSpc>
                <a:spcPct val="120000"/>
              </a:lnSpc>
            </a:pPr>
            <a:r>
              <a:rPr sz="1200" b="0">
                <a:solidFill>
                  <a:srgbClr val="1B2A33"/>
                </a:solidFill>
                <a:latin typeface="Calibri"/>
              </a:rPr>
              <a:t>Moves it to Escalated, reassigns to the least-loaded holder of the target role</a:t>
            </a:r>
          </a:p>
        </p:txBody>
      </p:sp>
      <p:sp>
        <p:nvSpPr>
          <p:cNvPr id="17" name="Rectangle 16"/>
          <p:cNvSpPr/>
          <p:nvPr/>
        </p:nvSpPr>
        <p:spPr>
          <a:xfrm>
            <a:off x="548640" y="4005072"/>
            <a:ext cx="2057400" cy="786384"/>
          </a:xfrm>
          <a:prstGeom prst="rect">
            <a:avLst/>
          </a:prstGeom>
          <a:solidFill>
            <a:srgbClr val="5B6B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13232" y="4005072"/>
            <a:ext cx="1828800" cy="786384"/>
          </a:xfrm>
          <a:prstGeom prst="rect">
            <a:avLst/>
          </a:prstGeom>
          <a:noFill/>
        </p:spPr>
        <p:txBody>
          <a:bodyPr wrap="square" anchor="ctr" lIns="0" rIns="0" tIns="0" bIns="0">
            <a:spAutoFit/>
          </a:bodyPr>
          <a:lstStyle/>
          <a:p>
            <a:pPr algn="l">
              <a:lnSpc>
                <a:spcPct val="115000"/>
              </a:lnSpc>
            </a:pPr>
            <a:r>
              <a:rPr sz="1200" b="1">
                <a:solidFill>
                  <a:srgbClr val="FFFFFF"/>
                </a:solidFill>
                <a:latin typeface="Calibri"/>
              </a:rPr>
              <a:t>System</a:t>
            </a:r>
          </a:p>
        </p:txBody>
      </p:sp>
      <p:sp>
        <p:nvSpPr>
          <p:cNvPr id="19" name="Rectangle 18"/>
          <p:cNvSpPr/>
          <p:nvPr/>
        </p:nvSpPr>
        <p:spPr>
          <a:xfrm>
            <a:off x="2697480" y="4005072"/>
            <a:ext cx="8942832" cy="786384"/>
          </a:xfrm>
          <a:prstGeom prst="rect">
            <a:avLst/>
          </a:prstGeom>
          <a:solidFill>
            <a:srgbClr val="F3ECE0"/>
          </a:solidFill>
          <a:ln w="12700">
            <a:solidFill>
              <a:srgbClr val="D6CE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971800" y="4005072"/>
            <a:ext cx="8412480" cy="786384"/>
          </a:xfrm>
          <a:prstGeom prst="rect">
            <a:avLst/>
          </a:prstGeom>
          <a:noFill/>
        </p:spPr>
        <p:txBody>
          <a:bodyPr wrap="square" anchor="ctr" lIns="0" rIns="0" tIns="0" bIns="0">
            <a:spAutoFit/>
          </a:bodyPr>
          <a:lstStyle/>
          <a:p>
            <a:pPr algn="l">
              <a:lnSpc>
                <a:spcPct val="120000"/>
              </a:lnSpc>
            </a:pPr>
            <a:r>
              <a:rPr sz="1200" b="0">
                <a:solidFill>
                  <a:srgbClr val="1B2A33"/>
                </a:solidFill>
                <a:latin typeface="Calibri"/>
              </a:rPr>
              <a:t>Writes an escalation event, then emails the target and the managers</a:t>
            </a:r>
          </a:p>
        </p:txBody>
      </p:sp>
      <p:sp>
        <p:nvSpPr>
          <p:cNvPr id="21" name="Rectangle 20"/>
          <p:cNvSpPr/>
          <p:nvPr/>
        </p:nvSpPr>
        <p:spPr>
          <a:xfrm>
            <a:off x="548640" y="4937760"/>
            <a:ext cx="2057400" cy="786384"/>
          </a:xfrm>
          <a:prstGeom prst="rect">
            <a:avLst/>
          </a:prstGeom>
          <a:solidFill>
            <a:srgbClr val="0E4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3232" y="4937760"/>
            <a:ext cx="1828800" cy="786384"/>
          </a:xfrm>
          <a:prstGeom prst="rect">
            <a:avLst/>
          </a:prstGeom>
          <a:noFill/>
        </p:spPr>
        <p:txBody>
          <a:bodyPr wrap="square" anchor="ctr" lIns="0" rIns="0" tIns="0" bIns="0">
            <a:spAutoFit/>
          </a:bodyPr>
          <a:lstStyle/>
          <a:p>
            <a:pPr algn="l">
              <a:lnSpc>
                <a:spcPct val="115000"/>
              </a:lnSpc>
            </a:pPr>
            <a:r>
              <a:rPr sz="1200" b="1">
                <a:solidFill>
                  <a:srgbClr val="FFFFFF"/>
                </a:solidFill>
                <a:latin typeface="Calibri"/>
              </a:rPr>
              <a:t>Supervisor</a:t>
            </a:r>
          </a:p>
        </p:txBody>
      </p:sp>
      <p:sp>
        <p:nvSpPr>
          <p:cNvPr id="23" name="Rectangle 22"/>
          <p:cNvSpPr/>
          <p:nvPr/>
        </p:nvSpPr>
        <p:spPr>
          <a:xfrm>
            <a:off x="2697480" y="4937760"/>
            <a:ext cx="8942832" cy="786384"/>
          </a:xfrm>
          <a:prstGeom prst="rect">
            <a:avLst/>
          </a:prstGeom>
          <a:solidFill>
            <a:srgbClr val="F3ECE0"/>
          </a:solidFill>
          <a:ln w="12700">
            <a:solidFill>
              <a:srgbClr val="D6CE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971800" y="4937760"/>
            <a:ext cx="8412480" cy="786384"/>
          </a:xfrm>
          <a:prstGeom prst="rect">
            <a:avLst/>
          </a:prstGeom>
          <a:noFill/>
        </p:spPr>
        <p:txBody>
          <a:bodyPr wrap="square" anchor="ctr" lIns="0" rIns="0" tIns="0" bIns="0">
            <a:spAutoFit/>
          </a:bodyPr>
          <a:lstStyle/>
          <a:p>
            <a:pPr algn="l">
              <a:lnSpc>
                <a:spcPct val="120000"/>
              </a:lnSpc>
            </a:pPr>
            <a:r>
              <a:rPr sz="1200" b="0">
                <a:solidFill>
                  <a:srgbClr val="1B2A33"/>
                </a:solidFill>
                <a:latin typeface="Calibri"/>
              </a:rPr>
              <a:t>Sees it in the escalation queue and confirms someone is on it</a:t>
            </a:r>
          </a:p>
        </p:txBody>
      </p:sp>
      <p:sp>
        <p:nvSpPr>
          <p:cNvPr id="25" name="Rectangle 24"/>
          <p:cNvSpPr/>
          <p:nvPr/>
        </p:nvSpPr>
        <p:spPr>
          <a:xfrm>
            <a:off x="0" y="6473952"/>
            <a:ext cx="12191695" cy="384048"/>
          </a:xfrm>
          <a:prstGeom prst="rect">
            <a:avLst/>
          </a:prstGeom>
          <a:solidFill>
            <a:srgbClr val="F3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2920" y="6547104"/>
            <a:ext cx="8229600" cy="228600"/>
          </a:xfrm>
          <a:prstGeom prst="rect">
            <a:avLst/>
          </a:prstGeom>
          <a:noFill/>
        </p:spPr>
        <p:txBody>
          <a:bodyPr wrap="square" anchor="t" lIns="0" rIns="0" tIns="0" bIns="0">
            <a:spAutoFit/>
          </a:bodyPr>
          <a:lstStyle/>
          <a:p>
            <a:pPr algn="l">
              <a:lnSpc>
                <a:spcPct val="115000"/>
              </a:lnSpc>
            </a:pPr>
            <a:r>
              <a:rPr sz="900" b="0">
                <a:solidFill>
                  <a:srgbClr val="5B6B75"/>
                </a:solidFill>
                <a:latin typeface="Calibri"/>
              </a:rPr>
              <a:t>SUCCESS Bank — Internal Ticketing · Standard Operating Procedure</a:t>
            </a:r>
          </a:p>
        </p:txBody>
      </p:sp>
      <p:sp>
        <p:nvSpPr>
          <p:cNvPr id="27" name="TextBox 26"/>
          <p:cNvSpPr txBox="1"/>
          <p:nvPr/>
        </p:nvSpPr>
        <p:spPr>
          <a:xfrm>
            <a:off x="9997135" y="6547104"/>
            <a:ext cx="1691640" cy="228600"/>
          </a:xfrm>
          <a:prstGeom prst="rect">
            <a:avLst/>
          </a:prstGeom>
          <a:noFill/>
        </p:spPr>
        <p:txBody>
          <a:bodyPr wrap="square" anchor="t" lIns="0" rIns="0" tIns="0" bIns="0">
            <a:spAutoFit/>
          </a:bodyPr>
          <a:lstStyle/>
          <a:p>
            <a:pPr algn="r">
              <a:lnSpc>
                <a:spcPct val="115000"/>
              </a:lnSpc>
            </a:pPr>
            <a:r>
              <a:rPr sz="900" b="0">
                <a:solidFill>
                  <a:srgbClr val="5B6B75"/>
                </a:solidFill>
                <a:latin typeface="Calibri"/>
              </a:rPr>
              <a:t>Scenarios</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0E4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82880"/>
            <a:ext cx="10515600" cy="320040"/>
          </a:xfrm>
          <a:prstGeom prst="rect">
            <a:avLst/>
          </a:prstGeom>
          <a:noFill/>
        </p:spPr>
        <p:txBody>
          <a:bodyPr wrap="square" anchor="t" lIns="0" rIns="0" tIns="0" bIns="0">
            <a:spAutoFit/>
          </a:bodyPr>
          <a:lstStyle/>
          <a:p>
            <a:pPr algn="l">
              <a:lnSpc>
                <a:spcPct val="115000"/>
              </a:lnSpc>
            </a:pPr>
            <a:r>
              <a:rPr sz="2300" b="1">
                <a:solidFill>
                  <a:srgbClr val="FFFFFF"/>
                </a:solidFill>
                <a:latin typeface="Calibri"/>
              </a:rPr>
              <a:t>Scenario C — the agent needs more information</a:t>
            </a:r>
          </a:p>
        </p:txBody>
      </p:sp>
      <p:sp>
        <p:nvSpPr>
          <p:cNvPr id="4" name="TextBox 3"/>
          <p:cNvSpPr txBox="1"/>
          <p:nvPr/>
        </p:nvSpPr>
        <p:spPr>
          <a:xfrm>
            <a:off x="502920" y="548640"/>
            <a:ext cx="10515600" cy="256032"/>
          </a:xfrm>
          <a:prstGeom prst="rect">
            <a:avLst/>
          </a:prstGeom>
          <a:noFill/>
        </p:spPr>
        <p:txBody>
          <a:bodyPr wrap="square" anchor="t" lIns="0" rIns="0" tIns="0" bIns="0">
            <a:spAutoFit/>
          </a:bodyPr>
          <a:lstStyle/>
          <a:p>
            <a:pPr algn="l">
              <a:lnSpc>
                <a:spcPct val="115000"/>
              </a:lnSpc>
            </a:pPr>
            <a:r>
              <a:rPr sz="1150" b="0">
                <a:solidFill>
                  <a:srgbClr val="F3ECE0"/>
                </a:solidFill>
                <a:latin typeface="Calibri"/>
              </a:rPr>
              <a:t>The two-way exchange that used to happen over email</a:t>
            </a:r>
          </a:p>
        </p:txBody>
      </p:sp>
      <p:sp>
        <p:nvSpPr>
          <p:cNvPr id="5" name="Rectangle 4"/>
          <p:cNvSpPr/>
          <p:nvPr/>
        </p:nvSpPr>
        <p:spPr>
          <a:xfrm>
            <a:off x="548640" y="1207008"/>
            <a:ext cx="2057400" cy="786384"/>
          </a:xfrm>
          <a:prstGeom prst="rect">
            <a:avLst/>
          </a:prstGeom>
          <a:solidFill>
            <a:srgbClr val="0E4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1207008"/>
            <a:ext cx="1828800" cy="786384"/>
          </a:xfrm>
          <a:prstGeom prst="rect">
            <a:avLst/>
          </a:prstGeom>
          <a:noFill/>
        </p:spPr>
        <p:txBody>
          <a:bodyPr wrap="square" anchor="ctr" lIns="0" rIns="0" tIns="0" bIns="0">
            <a:spAutoFit/>
          </a:bodyPr>
          <a:lstStyle/>
          <a:p>
            <a:pPr algn="l">
              <a:lnSpc>
                <a:spcPct val="115000"/>
              </a:lnSpc>
            </a:pPr>
            <a:r>
              <a:rPr sz="1200" b="1">
                <a:solidFill>
                  <a:srgbClr val="FFFFFF"/>
                </a:solidFill>
                <a:latin typeface="Calibri"/>
              </a:rPr>
              <a:t>Agent</a:t>
            </a:r>
          </a:p>
        </p:txBody>
      </p:sp>
      <p:sp>
        <p:nvSpPr>
          <p:cNvPr id="7" name="Rectangle 6"/>
          <p:cNvSpPr/>
          <p:nvPr/>
        </p:nvSpPr>
        <p:spPr>
          <a:xfrm>
            <a:off x="2697480" y="1207008"/>
            <a:ext cx="8942832" cy="786384"/>
          </a:xfrm>
          <a:prstGeom prst="rect">
            <a:avLst/>
          </a:prstGeom>
          <a:solidFill>
            <a:srgbClr val="F3ECE0"/>
          </a:solidFill>
          <a:ln w="12700">
            <a:solidFill>
              <a:srgbClr val="D6CE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971800" y="1207008"/>
            <a:ext cx="8412480" cy="786384"/>
          </a:xfrm>
          <a:prstGeom prst="rect">
            <a:avLst/>
          </a:prstGeom>
          <a:noFill/>
        </p:spPr>
        <p:txBody>
          <a:bodyPr wrap="square" anchor="ctr" lIns="0" rIns="0" tIns="0" bIns="0">
            <a:spAutoFit/>
          </a:bodyPr>
          <a:lstStyle/>
          <a:p>
            <a:pPr algn="l">
              <a:lnSpc>
                <a:spcPct val="120000"/>
              </a:lnSpc>
            </a:pPr>
            <a:r>
              <a:rPr sz="1200" b="0">
                <a:solidFill>
                  <a:srgbClr val="1B2A33"/>
                </a:solidFill>
                <a:latin typeface="Calibri"/>
              </a:rPr>
              <a:t>Replies asking for the account number and a clearer screenshot</a:t>
            </a:r>
          </a:p>
        </p:txBody>
      </p:sp>
      <p:sp>
        <p:nvSpPr>
          <p:cNvPr id="9" name="Rectangle 8"/>
          <p:cNvSpPr/>
          <p:nvPr/>
        </p:nvSpPr>
        <p:spPr>
          <a:xfrm>
            <a:off x="548640" y="2139696"/>
            <a:ext cx="2057400" cy="786384"/>
          </a:xfrm>
          <a:prstGeom prst="rect">
            <a:avLst/>
          </a:prstGeom>
          <a:solidFill>
            <a:srgbClr val="0E4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2139696"/>
            <a:ext cx="1828800" cy="786384"/>
          </a:xfrm>
          <a:prstGeom prst="rect">
            <a:avLst/>
          </a:prstGeom>
          <a:noFill/>
        </p:spPr>
        <p:txBody>
          <a:bodyPr wrap="square" anchor="ctr" lIns="0" rIns="0" tIns="0" bIns="0">
            <a:spAutoFit/>
          </a:bodyPr>
          <a:lstStyle/>
          <a:p>
            <a:pPr algn="l">
              <a:lnSpc>
                <a:spcPct val="115000"/>
              </a:lnSpc>
            </a:pPr>
            <a:r>
              <a:rPr sz="1200" b="1">
                <a:solidFill>
                  <a:srgbClr val="FFFFFF"/>
                </a:solidFill>
                <a:latin typeface="Calibri"/>
              </a:rPr>
              <a:t>Branch user</a:t>
            </a:r>
          </a:p>
        </p:txBody>
      </p:sp>
      <p:sp>
        <p:nvSpPr>
          <p:cNvPr id="11" name="Rectangle 10"/>
          <p:cNvSpPr/>
          <p:nvPr/>
        </p:nvSpPr>
        <p:spPr>
          <a:xfrm>
            <a:off x="2697480" y="2139696"/>
            <a:ext cx="8942832" cy="786384"/>
          </a:xfrm>
          <a:prstGeom prst="rect">
            <a:avLst/>
          </a:prstGeom>
          <a:solidFill>
            <a:srgbClr val="F3ECE0"/>
          </a:solidFill>
          <a:ln w="12700">
            <a:solidFill>
              <a:srgbClr val="D6CE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71800" y="2139696"/>
            <a:ext cx="8412480" cy="786384"/>
          </a:xfrm>
          <a:prstGeom prst="rect">
            <a:avLst/>
          </a:prstGeom>
          <a:noFill/>
        </p:spPr>
        <p:txBody>
          <a:bodyPr wrap="square" anchor="ctr" lIns="0" rIns="0" tIns="0" bIns="0">
            <a:spAutoFit/>
          </a:bodyPr>
          <a:lstStyle/>
          <a:p>
            <a:pPr algn="l">
              <a:lnSpc>
                <a:spcPct val="120000"/>
              </a:lnSpc>
            </a:pPr>
            <a:r>
              <a:rPr sz="1200" b="0">
                <a:solidFill>
                  <a:srgbClr val="1B2A33"/>
                </a:solidFill>
                <a:latin typeface="Calibri"/>
              </a:rPr>
              <a:t>Answers on the ticket and attaches the new screenshot</a:t>
            </a:r>
          </a:p>
        </p:txBody>
      </p:sp>
      <p:sp>
        <p:nvSpPr>
          <p:cNvPr id="13" name="Rectangle 12"/>
          <p:cNvSpPr/>
          <p:nvPr/>
        </p:nvSpPr>
        <p:spPr>
          <a:xfrm>
            <a:off x="548640" y="3072384"/>
            <a:ext cx="2057400" cy="786384"/>
          </a:xfrm>
          <a:prstGeom prst="rect">
            <a:avLst/>
          </a:prstGeom>
          <a:solidFill>
            <a:srgbClr val="0E4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3072384"/>
            <a:ext cx="1828800" cy="786384"/>
          </a:xfrm>
          <a:prstGeom prst="rect">
            <a:avLst/>
          </a:prstGeom>
          <a:noFill/>
        </p:spPr>
        <p:txBody>
          <a:bodyPr wrap="square" anchor="ctr" lIns="0" rIns="0" tIns="0" bIns="0">
            <a:spAutoFit/>
          </a:bodyPr>
          <a:lstStyle/>
          <a:p>
            <a:pPr algn="l">
              <a:lnSpc>
                <a:spcPct val="115000"/>
              </a:lnSpc>
            </a:pPr>
            <a:r>
              <a:rPr sz="1200" b="1">
                <a:solidFill>
                  <a:srgbClr val="FFFFFF"/>
                </a:solidFill>
                <a:latin typeface="Calibri"/>
              </a:rPr>
              <a:t>Agent</a:t>
            </a:r>
          </a:p>
        </p:txBody>
      </p:sp>
      <p:sp>
        <p:nvSpPr>
          <p:cNvPr id="15" name="Rectangle 14"/>
          <p:cNvSpPr/>
          <p:nvPr/>
        </p:nvSpPr>
        <p:spPr>
          <a:xfrm>
            <a:off x="2697480" y="3072384"/>
            <a:ext cx="8942832" cy="786384"/>
          </a:xfrm>
          <a:prstGeom prst="rect">
            <a:avLst/>
          </a:prstGeom>
          <a:solidFill>
            <a:srgbClr val="F3ECE0"/>
          </a:solidFill>
          <a:ln w="12700">
            <a:solidFill>
              <a:srgbClr val="D6CE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71800" y="3072384"/>
            <a:ext cx="8412480" cy="786384"/>
          </a:xfrm>
          <a:prstGeom prst="rect">
            <a:avLst/>
          </a:prstGeom>
          <a:noFill/>
        </p:spPr>
        <p:txBody>
          <a:bodyPr wrap="square" anchor="ctr" lIns="0" rIns="0" tIns="0" bIns="0">
            <a:spAutoFit/>
          </a:bodyPr>
          <a:lstStyle/>
          <a:p>
            <a:pPr algn="l">
              <a:lnSpc>
                <a:spcPct val="120000"/>
              </a:lnSpc>
            </a:pPr>
            <a:r>
              <a:rPr sz="1200" b="0">
                <a:solidFill>
                  <a:srgbClr val="1B2A33"/>
                </a:solidFill>
                <a:latin typeface="Calibri"/>
              </a:rPr>
              <a:t>Continues, adding an internal note with findings the requester should not see</a:t>
            </a:r>
          </a:p>
        </p:txBody>
      </p:sp>
      <p:sp>
        <p:nvSpPr>
          <p:cNvPr id="17" name="Rectangle 16"/>
          <p:cNvSpPr/>
          <p:nvPr/>
        </p:nvSpPr>
        <p:spPr>
          <a:xfrm>
            <a:off x="548640" y="4005072"/>
            <a:ext cx="2057400" cy="786384"/>
          </a:xfrm>
          <a:prstGeom prst="rect">
            <a:avLst/>
          </a:prstGeom>
          <a:solidFill>
            <a:srgbClr val="0E4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13232" y="4005072"/>
            <a:ext cx="1828800" cy="786384"/>
          </a:xfrm>
          <a:prstGeom prst="rect">
            <a:avLst/>
          </a:prstGeom>
          <a:noFill/>
        </p:spPr>
        <p:txBody>
          <a:bodyPr wrap="square" anchor="ctr" lIns="0" rIns="0" tIns="0" bIns="0">
            <a:spAutoFit/>
          </a:bodyPr>
          <a:lstStyle/>
          <a:p>
            <a:pPr algn="l">
              <a:lnSpc>
                <a:spcPct val="115000"/>
              </a:lnSpc>
            </a:pPr>
            <a:r>
              <a:rPr sz="1200" b="1">
                <a:solidFill>
                  <a:srgbClr val="FFFFFF"/>
                </a:solidFill>
                <a:latin typeface="Calibri"/>
              </a:rPr>
              <a:t>Branch user</a:t>
            </a:r>
          </a:p>
        </p:txBody>
      </p:sp>
      <p:sp>
        <p:nvSpPr>
          <p:cNvPr id="19" name="Rectangle 18"/>
          <p:cNvSpPr/>
          <p:nvPr/>
        </p:nvSpPr>
        <p:spPr>
          <a:xfrm>
            <a:off x="2697480" y="4005072"/>
            <a:ext cx="8942832" cy="786384"/>
          </a:xfrm>
          <a:prstGeom prst="rect">
            <a:avLst/>
          </a:prstGeom>
          <a:solidFill>
            <a:srgbClr val="F3ECE0"/>
          </a:solidFill>
          <a:ln w="12700">
            <a:solidFill>
              <a:srgbClr val="D6CE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971800" y="4005072"/>
            <a:ext cx="8412480" cy="786384"/>
          </a:xfrm>
          <a:prstGeom prst="rect">
            <a:avLst/>
          </a:prstGeom>
          <a:noFill/>
        </p:spPr>
        <p:txBody>
          <a:bodyPr wrap="square" anchor="ctr" lIns="0" rIns="0" tIns="0" bIns="0">
            <a:spAutoFit/>
          </a:bodyPr>
          <a:lstStyle/>
          <a:p>
            <a:pPr algn="l">
              <a:lnSpc>
                <a:spcPct val="120000"/>
              </a:lnSpc>
            </a:pPr>
            <a:r>
              <a:rPr sz="1200" b="0">
                <a:solidFill>
                  <a:srgbClr val="1B2A33"/>
                </a:solidFill>
                <a:latin typeface="Calibri"/>
              </a:rPr>
              <a:t>Sees neither the internal note nor the file attached to it</a:t>
            </a:r>
          </a:p>
        </p:txBody>
      </p:sp>
      <p:sp>
        <p:nvSpPr>
          <p:cNvPr id="21" name="Rectangle 20"/>
          <p:cNvSpPr/>
          <p:nvPr/>
        </p:nvSpPr>
        <p:spPr>
          <a:xfrm>
            <a:off x="548640" y="4937760"/>
            <a:ext cx="2057400" cy="786384"/>
          </a:xfrm>
          <a:prstGeom prst="rect">
            <a:avLst/>
          </a:prstGeom>
          <a:solidFill>
            <a:srgbClr val="0E4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3232" y="4937760"/>
            <a:ext cx="1828800" cy="786384"/>
          </a:xfrm>
          <a:prstGeom prst="rect">
            <a:avLst/>
          </a:prstGeom>
          <a:noFill/>
        </p:spPr>
        <p:txBody>
          <a:bodyPr wrap="square" anchor="ctr" lIns="0" rIns="0" tIns="0" bIns="0">
            <a:spAutoFit/>
          </a:bodyPr>
          <a:lstStyle/>
          <a:p>
            <a:pPr algn="l">
              <a:lnSpc>
                <a:spcPct val="115000"/>
              </a:lnSpc>
            </a:pPr>
            <a:r>
              <a:rPr sz="1200" b="1">
                <a:solidFill>
                  <a:srgbClr val="FFFFFF"/>
                </a:solidFill>
                <a:latin typeface="Calibri"/>
              </a:rPr>
              <a:t>Agent</a:t>
            </a:r>
          </a:p>
        </p:txBody>
      </p:sp>
      <p:sp>
        <p:nvSpPr>
          <p:cNvPr id="23" name="Rectangle 22"/>
          <p:cNvSpPr/>
          <p:nvPr/>
        </p:nvSpPr>
        <p:spPr>
          <a:xfrm>
            <a:off x="2697480" y="4937760"/>
            <a:ext cx="8942832" cy="786384"/>
          </a:xfrm>
          <a:prstGeom prst="rect">
            <a:avLst/>
          </a:prstGeom>
          <a:solidFill>
            <a:srgbClr val="F3ECE0"/>
          </a:solidFill>
          <a:ln w="12700">
            <a:solidFill>
              <a:srgbClr val="D6CE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971800" y="4937760"/>
            <a:ext cx="8412480" cy="786384"/>
          </a:xfrm>
          <a:prstGeom prst="rect">
            <a:avLst/>
          </a:prstGeom>
          <a:noFill/>
        </p:spPr>
        <p:txBody>
          <a:bodyPr wrap="square" anchor="ctr" lIns="0" rIns="0" tIns="0" bIns="0">
            <a:spAutoFit/>
          </a:bodyPr>
          <a:lstStyle/>
          <a:p>
            <a:pPr algn="l">
              <a:lnSpc>
                <a:spcPct val="120000"/>
              </a:lnSpc>
            </a:pPr>
            <a:r>
              <a:rPr sz="1200" b="0">
                <a:solidFill>
                  <a:srgbClr val="1B2A33"/>
                </a:solidFill>
                <a:latin typeface="Calibri"/>
              </a:rPr>
              <a:t>Resolves with a public explanation</a:t>
            </a:r>
          </a:p>
        </p:txBody>
      </p:sp>
      <p:sp>
        <p:nvSpPr>
          <p:cNvPr id="25" name="Rectangle 24"/>
          <p:cNvSpPr/>
          <p:nvPr/>
        </p:nvSpPr>
        <p:spPr>
          <a:xfrm>
            <a:off x="0" y="6473952"/>
            <a:ext cx="12191695" cy="384048"/>
          </a:xfrm>
          <a:prstGeom prst="rect">
            <a:avLst/>
          </a:prstGeom>
          <a:solidFill>
            <a:srgbClr val="F3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2920" y="6547104"/>
            <a:ext cx="8229600" cy="228600"/>
          </a:xfrm>
          <a:prstGeom prst="rect">
            <a:avLst/>
          </a:prstGeom>
          <a:noFill/>
        </p:spPr>
        <p:txBody>
          <a:bodyPr wrap="square" anchor="t" lIns="0" rIns="0" tIns="0" bIns="0">
            <a:spAutoFit/>
          </a:bodyPr>
          <a:lstStyle/>
          <a:p>
            <a:pPr algn="l">
              <a:lnSpc>
                <a:spcPct val="115000"/>
              </a:lnSpc>
            </a:pPr>
            <a:r>
              <a:rPr sz="900" b="0">
                <a:solidFill>
                  <a:srgbClr val="5B6B75"/>
                </a:solidFill>
                <a:latin typeface="Calibri"/>
              </a:rPr>
              <a:t>SUCCESS Bank — Internal Ticketing · Standard Operating Procedure</a:t>
            </a:r>
          </a:p>
        </p:txBody>
      </p:sp>
      <p:sp>
        <p:nvSpPr>
          <p:cNvPr id="27" name="TextBox 26"/>
          <p:cNvSpPr txBox="1"/>
          <p:nvPr/>
        </p:nvSpPr>
        <p:spPr>
          <a:xfrm>
            <a:off x="9997135" y="6547104"/>
            <a:ext cx="1691640" cy="228600"/>
          </a:xfrm>
          <a:prstGeom prst="rect">
            <a:avLst/>
          </a:prstGeom>
          <a:noFill/>
        </p:spPr>
        <p:txBody>
          <a:bodyPr wrap="square" anchor="t" lIns="0" rIns="0" tIns="0" bIns="0">
            <a:spAutoFit/>
          </a:bodyPr>
          <a:lstStyle/>
          <a:p>
            <a:pPr algn="r">
              <a:lnSpc>
                <a:spcPct val="115000"/>
              </a:lnSpc>
            </a:pPr>
            <a:r>
              <a:rPr sz="900" b="0">
                <a:solidFill>
                  <a:srgbClr val="5B6B75"/>
                </a:solidFill>
                <a:latin typeface="Calibri"/>
              </a:rPr>
              <a:t>Scenarios</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0E4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82880"/>
            <a:ext cx="10515600" cy="320040"/>
          </a:xfrm>
          <a:prstGeom prst="rect">
            <a:avLst/>
          </a:prstGeom>
          <a:noFill/>
        </p:spPr>
        <p:txBody>
          <a:bodyPr wrap="square" anchor="t" lIns="0" rIns="0" tIns="0" bIns="0">
            <a:spAutoFit/>
          </a:bodyPr>
          <a:lstStyle/>
          <a:p>
            <a:pPr algn="l">
              <a:lnSpc>
                <a:spcPct val="115000"/>
              </a:lnSpc>
            </a:pPr>
            <a:r>
              <a:rPr sz="2300" b="1">
                <a:solidFill>
                  <a:srgbClr val="FFFFFF"/>
                </a:solidFill>
                <a:latin typeface="Calibri"/>
              </a:rPr>
              <a:t>Scenario D — it was not actually fixed</a:t>
            </a:r>
          </a:p>
        </p:txBody>
      </p:sp>
      <p:sp>
        <p:nvSpPr>
          <p:cNvPr id="4" name="TextBox 3"/>
          <p:cNvSpPr txBox="1"/>
          <p:nvPr/>
        </p:nvSpPr>
        <p:spPr>
          <a:xfrm>
            <a:off x="502920" y="548640"/>
            <a:ext cx="10515600" cy="256032"/>
          </a:xfrm>
          <a:prstGeom prst="rect">
            <a:avLst/>
          </a:prstGeom>
          <a:noFill/>
        </p:spPr>
        <p:txBody>
          <a:bodyPr wrap="square" anchor="t" lIns="0" rIns="0" tIns="0" bIns="0">
            <a:spAutoFit/>
          </a:bodyPr>
          <a:lstStyle/>
          <a:p>
            <a:pPr algn="l">
              <a:lnSpc>
                <a:spcPct val="115000"/>
              </a:lnSpc>
            </a:pPr>
            <a:r>
              <a:rPr sz="1150" b="0">
                <a:solidFill>
                  <a:srgbClr val="F3ECE0"/>
                </a:solidFill>
                <a:latin typeface="Calibri"/>
              </a:rPr>
              <a:t>Reopening, and what it does to the counts</a:t>
            </a:r>
          </a:p>
        </p:txBody>
      </p:sp>
      <p:sp>
        <p:nvSpPr>
          <p:cNvPr id="5" name="Rectangle 4"/>
          <p:cNvSpPr/>
          <p:nvPr/>
        </p:nvSpPr>
        <p:spPr>
          <a:xfrm>
            <a:off x="548640" y="1207008"/>
            <a:ext cx="2057400" cy="786384"/>
          </a:xfrm>
          <a:prstGeom prst="rect">
            <a:avLst/>
          </a:prstGeom>
          <a:solidFill>
            <a:srgbClr val="0E4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1207008"/>
            <a:ext cx="1828800" cy="786384"/>
          </a:xfrm>
          <a:prstGeom prst="rect">
            <a:avLst/>
          </a:prstGeom>
          <a:noFill/>
        </p:spPr>
        <p:txBody>
          <a:bodyPr wrap="square" anchor="ctr" lIns="0" rIns="0" tIns="0" bIns="0">
            <a:spAutoFit/>
          </a:bodyPr>
          <a:lstStyle/>
          <a:p>
            <a:pPr algn="l">
              <a:lnSpc>
                <a:spcPct val="115000"/>
              </a:lnSpc>
            </a:pPr>
            <a:r>
              <a:rPr sz="1200" b="1">
                <a:solidFill>
                  <a:srgbClr val="FFFFFF"/>
                </a:solidFill>
                <a:latin typeface="Calibri"/>
              </a:rPr>
              <a:t>Branch user</a:t>
            </a:r>
          </a:p>
        </p:txBody>
      </p:sp>
      <p:sp>
        <p:nvSpPr>
          <p:cNvPr id="7" name="Rectangle 6"/>
          <p:cNvSpPr/>
          <p:nvPr/>
        </p:nvSpPr>
        <p:spPr>
          <a:xfrm>
            <a:off x="2697480" y="1207008"/>
            <a:ext cx="8942832" cy="786384"/>
          </a:xfrm>
          <a:prstGeom prst="rect">
            <a:avLst/>
          </a:prstGeom>
          <a:solidFill>
            <a:srgbClr val="F3ECE0"/>
          </a:solidFill>
          <a:ln w="12700">
            <a:solidFill>
              <a:srgbClr val="D6CE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971800" y="1207008"/>
            <a:ext cx="8412480" cy="786384"/>
          </a:xfrm>
          <a:prstGeom prst="rect">
            <a:avLst/>
          </a:prstGeom>
          <a:noFill/>
        </p:spPr>
        <p:txBody>
          <a:bodyPr wrap="square" anchor="ctr" lIns="0" rIns="0" tIns="0" bIns="0">
            <a:spAutoFit/>
          </a:bodyPr>
          <a:lstStyle/>
          <a:p>
            <a:pPr algn="l">
              <a:lnSpc>
                <a:spcPct val="120000"/>
              </a:lnSpc>
            </a:pPr>
            <a:r>
              <a:rPr sz="1200" b="0">
                <a:solidFill>
                  <a:srgbClr val="1B2A33"/>
                </a:solidFill>
                <a:latin typeface="Calibri"/>
              </a:rPr>
              <a:t>Reads the resolution and finds the problem still occurring</a:t>
            </a:r>
          </a:p>
        </p:txBody>
      </p:sp>
      <p:sp>
        <p:nvSpPr>
          <p:cNvPr id="9" name="Rectangle 8"/>
          <p:cNvSpPr/>
          <p:nvPr/>
        </p:nvSpPr>
        <p:spPr>
          <a:xfrm>
            <a:off x="548640" y="2139696"/>
            <a:ext cx="2057400" cy="786384"/>
          </a:xfrm>
          <a:prstGeom prst="rect">
            <a:avLst/>
          </a:prstGeom>
          <a:solidFill>
            <a:srgbClr val="0E4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2139696"/>
            <a:ext cx="1828800" cy="786384"/>
          </a:xfrm>
          <a:prstGeom prst="rect">
            <a:avLst/>
          </a:prstGeom>
          <a:noFill/>
        </p:spPr>
        <p:txBody>
          <a:bodyPr wrap="square" anchor="ctr" lIns="0" rIns="0" tIns="0" bIns="0">
            <a:spAutoFit/>
          </a:bodyPr>
          <a:lstStyle/>
          <a:p>
            <a:pPr algn="l">
              <a:lnSpc>
                <a:spcPct val="115000"/>
              </a:lnSpc>
            </a:pPr>
            <a:r>
              <a:rPr sz="1200" b="1">
                <a:solidFill>
                  <a:srgbClr val="FFFFFF"/>
                </a:solidFill>
                <a:latin typeface="Calibri"/>
              </a:rPr>
              <a:t>Branch user</a:t>
            </a:r>
          </a:p>
        </p:txBody>
      </p:sp>
      <p:sp>
        <p:nvSpPr>
          <p:cNvPr id="11" name="Rectangle 10"/>
          <p:cNvSpPr/>
          <p:nvPr/>
        </p:nvSpPr>
        <p:spPr>
          <a:xfrm>
            <a:off x="2697480" y="2139696"/>
            <a:ext cx="8942832" cy="786384"/>
          </a:xfrm>
          <a:prstGeom prst="rect">
            <a:avLst/>
          </a:prstGeom>
          <a:solidFill>
            <a:srgbClr val="F3ECE0"/>
          </a:solidFill>
          <a:ln w="12700">
            <a:solidFill>
              <a:srgbClr val="D6CE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71800" y="2139696"/>
            <a:ext cx="8412480" cy="786384"/>
          </a:xfrm>
          <a:prstGeom prst="rect">
            <a:avLst/>
          </a:prstGeom>
          <a:noFill/>
        </p:spPr>
        <p:txBody>
          <a:bodyPr wrap="square" anchor="ctr" lIns="0" rIns="0" tIns="0" bIns="0">
            <a:spAutoFit/>
          </a:bodyPr>
          <a:lstStyle/>
          <a:p>
            <a:pPr algn="l">
              <a:lnSpc>
                <a:spcPct val="120000"/>
              </a:lnSpc>
            </a:pPr>
            <a:r>
              <a:rPr sz="1200" b="0">
                <a:solidFill>
                  <a:srgbClr val="1B2A33"/>
                </a:solidFill>
                <a:latin typeface="Calibri"/>
              </a:rPr>
              <a:t>Reopens the ticket, explaining what is still wrong</a:t>
            </a:r>
          </a:p>
        </p:txBody>
      </p:sp>
      <p:sp>
        <p:nvSpPr>
          <p:cNvPr id="13" name="Rectangle 12"/>
          <p:cNvSpPr/>
          <p:nvPr/>
        </p:nvSpPr>
        <p:spPr>
          <a:xfrm>
            <a:off x="548640" y="3072384"/>
            <a:ext cx="2057400" cy="786384"/>
          </a:xfrm>
          <a:prstGeom prst="rect">
            <a:avLst/>
          </a:prstGeom>
          <a:solidFill>
            <a:srgbClr val="5B6B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3072384"/>
            <a:ext cx="1828800" cy="786384"/>
          </a:xfrm>
          <a:prstGeom prst="rect">
            <a:avLst/>
          </a:prstGeom>
          <a:noFill/>
        </p:spPr>
        <p:txBody>
          <a:bodyPr wrap="square" anchor="ctr" lIns="0" rIns="0" tIns="0" bIns="0">
            <a:spAutoFit/>
          </a:bodyPr>
          <a:lstStyle/>
          <a:p>
            <a:pPr algn="l">
              <a:lnSpc>
                <a:spcPct val="115000"/>
              </a:lnSpc>
            </a:pPr>
            <a:r>
              <a:rPr sz="1200" b="1">
                <a:solidFill>
                  <a:srgbClr val="FFFFFF"/>
                </a:solidFill>
                <a:latin typeface="Calibri"/>
              </a:rPr>
              <a:t>System</a:t>
            </a:r>
          </a:p>
        </p:txBody>
      </p:sp>
      <p:sp>
        <p:nvSpPr>
          <p:cNvPr id="15" name="Rectangle 14"/>
          <p:cNvSpPr/>
          <p:nvPr/>
        </p:nvSpPr>
        <p:spPr>
          <a:xfrm>
            <a:off x="2697480" y="3072384"/>
            <a:ext cx="8942832" cy="786384"/>
          </a:xfrm>
          <a:prstGeom prst="rect">
            <a:avLst/>
          </a:prstGeom>
          <a:solidFill>
            <a:srgbClr val="F3ECE0"/>
          </a:solidFill>
          <a:ln w="12700">
            <a:solidFill>
              <a:srgbClr val="D6CE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71800" y="3072384"/>
            <a:ext cx="8412480" cy="786384"/>
          </a:xfrm>
          <a:prstGeom prst="rect">
            <a:avLst/>
          </a:prstGeom>
          <a:noFill/>
        </p:spPr>
        <p:txBody>
          <a:bodyPr wrap="square" anchor="ctr" lIns="0" rIns="0" tIns="0" bIns="0">
            <a:spAutoFit/>
          </a:bodyPr>
          <a:lstStyle/>
          <a:p>
            <a:pPr algn="l">
              <a:lnSpc>
                <a:spcPct val="120000"/>
              </a:lnSpc>
            </a:pPr>
            <a:r>
              <a:rPr sz="1200" b="0">
                <a:solidFill>
                  <a:srgbClr val="1B2A33"/>
                </a:solidFill>
                <a:latin typeface="Calibri"/>
              </a:rPr>
              <a:t>The ticket returns to the open set and counts against the dashboard again</a:t>
            </a:r>
          </a:p>
        </p:txBody>
      </p:sp>
      <p:sp>
        <p:nvSpPr>
          <p:cNvPr id="17" name="Rectangle 16"/>
          <p:cNvSpPr/>
          <p:nvPr/>
        </p:nvSpPr>
        <p:spPr>
          <a:xfrm>
            <a:off x="548640" y="4005072"/>
            <a:ext cx="2057400" cy="786384"/>
          </a:xfrm>
          <a:prstGeom prst="rect">
            <a:avLst/>
          </a:prstGeom>
          <a:solidFill>
            <a:srgbClr val="0E4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13232" y="4005072"/>
            <a:ext cx="1828800" cy="786384"/>
          </a:xfrm>
          <a:prstGeom prst="rect">
            <a:avLst/>
          </a:prstGeom>
          <a:noFill/>
        </p:spPr>
        <p:txBody>
          <a:bodyPr wrap="square" anchor="ctr" lIns="0" rIns="0" tIns="0" bIns="0">
            <a:spAutoFit/>
          </a:bodyPr>
          <a:lstStyle/>
          <a:p>
            <a:pPr algn="l">
              <a:lnSpc>
                <a:spcPct val="115000"/>
              </a:lnSpc>
            </a:pPr>
            <a:r>
              <a:rPr sz="1200" b="1">
                <a:solidFill>
                  <a:srgbClr val="FFFFFF"/>
                </a:solidFill>
                <a:latin typeface="Calibri"/>
              </a:rPr>
              <a:t>Agent</a:t>
            </a:r>
          </a:p>
        </p:txBody>
      </p:sp>
      <p:sp>
        <p:nvSpPr>
          <p:cNvPr id="19" name="Rectangle 18"/>
          <p:cNvSpPr/>
          <p:nvPr/>
        </p:nvSpPr>
        <p:spPr>
          <a:xfrm>
            <a:off x="2697480" y="4005072"/>
            <a:ext cx="8942832" cy="786384"/>
          </a:xfrm>
          <a:prstGeom prst="rect">
            <a:avLst/>
          </a:prstGeom>
          <a:solidFill>
            <a:srgbClr val="F3ECE0"/>
          </a:solidFill>
          <a:ln w="12700">
            <a:solidFill>
              <a:srgbClr val="D6CE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971800" y="4005072"/>
            <a:ext cx="8412480" cy="786384"/>
          </a:xfrm>
          <a:prstGeom prst="rect">
            <a:avLst/>
          </a:prstGeom>
          <a:noFill/>
        </p:spPr>
        <p:txBody>
          <a:bodyPr wrap="square" anchor="ctr" lIns="0" rIns="0" tIns="0" bIns="0">
            <a:spAutoFit/>
          </a:bodyPr>
          <a:lstStyle/>
          <a:p>
            <a:pPr algn="l">
              <a:lnSpc>
                <a:spcPct val="120000"/>
              </a:lnSpc>
            </a:pPr>
            <a:r>
              <a:rPr sz="1200" b="0">
                <a:solidFill>
                  <a:srgbClr val="1B2A33"/>
                </a:solidFill>
                <a:latin typeface="Calibri"/>
              </a:rPr>
              <a:t>Picks it back up from Assigned and works it a second time</a:t>
            </a:r>
          </a:p>
        </p:txBody>
      </p:sp>
      <p:sp>
        <p:nvSpPr>
          <p:cNvPr id="21" name="Rectangle 20"/>
          <p:cNvSpPr/>
          <p:nvPr/>
        </p:nvSpPr>
        <p:spPr>
          <a:xfrm>
            <a:off x="548640" y="4937760"/>
            <a:ext cx="2057400" cy="786384"/>
          </a:xfrm>
          <a:prstGeom prst="rect">
            <a:avLst/>
          </a:prstGeom>
          <a:solidFill>
            <a:srgbClr val="0E4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3232" y="4937760"/>
            <a:ext cx="1828800" cy="786384"/>
          </a:xfrm>
          <a:prstGeom prst="rect">
            <a:avLst/>
          </a:prstGeom>
          <a:noFill/>
        </p:spPr>
        <p:txBody>
          <a:bodyPr wrap="square" anchor="ctr" lIns="0" rIns="0" tIns="0" bIns="0">
            <a:spAutoFit/>
          </a:bodyPr>
          <a:lstStyle/>
          <a:p>
            <a:pPr algn="l">
              <a:lnSpc>
                <a:spcPct val="115000"/>
              </a:lnSpc>
            </a:pPr>
            <a:r>
              <a:rPr sz="1200" b="1">
                <a:solidFill>
                  <a:srgbClr val="FFFFFF"/>
                </a:solidFill>
                <a:latin typeface="Calibri"/>
              </a:rPr>
              <a:t>Agent</a:t>
            </a:r>
          </a:p>
        </p:txBody>
      </p:sp>
      <p:sp>
        <p:nvSpPr>
          <p:cNvPr id="23" name="Rectangle 22"/>
          <p:cNvSpPr/>
          <p:nvPr/>
        </p:nvSpPr>
        <p:spPr>
          <a:xfrm>
            <a:off x="2697480" y="4937760"/>
            <a:ext cx="8942832" cy="786384"/>
          </a:xfrm>
          <a:prstGeom prst="rect">
            <a:avLst/>
          </a:prstGeom>
          <a:solidFill>
            <a:srgbClr val="F3ECE0"/>
          </a:solidFill>
          <a:ln w="12700">
            <a:solidFill>
              <a:srgbClr val="D6CE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971800" y="4937760"/>
            <a:ext cx="8412480" cy="786384"/>
          </a:xfrm>
          <a:prstGeom prst="rect">
            <a:avLst/>
          </a:prstGeom>
          <a:noFill/>
        </p:spPr>
        <p:txBody>
          <a:bodyPr wrap="square" anchor="ctr" lIns="0" rIns="0" tIns="0" bIns="0">
            <a:spAutoFit/>
          </a:bodyPr>
          <a:lstStyle/>
          <a:p>
            <a:pPr algn="l">
              <a:lnSpc>
                <a:spcPct val="120000"/>
              </a:lnSpc>
            </a:pPr>
            <a:r>
              <a:rPr sz="1200" b="0">
                <a:solidFill>
                  <a:srgbClr val="1B2A33"/>
                </a:solidFill>
                <a:latin typeface="Calibri"/>
              </a:rPr>
              <a:t>Resolves again — the whole history stays on the one ticket</a:t>
            </a:r>
          </a:p>
        </p:txBody>
      </p:sp>
      <p:sp>
        <p:nvSpPr>
          <p:cNvPr id="25" name="Rectangle 24"/>
          <p:cNvSpPr/>
          <p:nvPr/>
        </p:nvSpPr>
        <p:spPr>
          <a:xfrm>
            <a:off x="0" y="6473952"/>
            <a:ext cx="12191695" cy="384048"/>
          </a:xfrm>
          <a:prstGeom prst="rect">
            <a:avLst/>
          </a:prstGeom>
          <a:solidFill>
            <a:srgbClr val="F3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2920" y="6547104"/>
            <a:ext cx="8229600" cy="228600"/>
          </a:xfrm>
          <a:prstGeom prst="rect">
            <a:avLst/>
          </a:prstGeom>
          <a:noFill/>
        </p:spPr>
        <p:txBody>
          <a:bodyPr wrap="square" anchor="t" lIns="0" rIns="0" tIns="0" bIns="0">
            <a:spAutoFit/>
          </a:bodyPr>
          <a:lstStyle/>
          <a:p>
            <a:pPr algn="l">
              <a:lnSpc>
                <a:spcPct val="115000"/>
              </a:lnSpc>
            </a:pPr>
            <a:r>
              <a:rPr sz="900" b="0">
                <a:solidFill>
                  <a:srgbClr val="5B6B75"/>
                </a:solidFill>
                <a:latin typeface="Calibri"/>
              </a:rPr>
              <a:t>SUCCESS Bank — Internal Ticketing · Standard Operating Procedure</a:t>
            </a:r>
          </a:p>
        </p:txBody>
      </p:sp>
      <p:sp>
        <p:nvSpPr>
          <p:cNvPr id="27" name="TextBox 26"/>
          <p:cNvSpPr txBox="1"/>
          <p:nvPr/>
        </p:nvSpPr>
        <p:spPr>
          <a:xfrm>
            <a:off x="9997135" y="6547104"/>
            <a:ext cx="1691640" cy="228600"/>
          </a:xfrm>
          <a:prstGeom prst="rect">
            <a:avLst/>
          </a:prstGeom>
          <a:noFill/>
        </p:spPr>
        <p:txBody>
          <a:bodyPr wrap="square" anchor="t" lIns="0" rIns="0" tIns="0" bIns="0">
            <a:spAutoFit/>
          </a:bodyPr>
          <a:lstStyle/>
          <a:p>
            <a:pPr algn="r">
              <a:lnSpc>
                <a:spcPct val="115000"/>
              </a:lnSpc>
            </a:pPr>
            <a:r>
              <a:rPr sz="900" b="0">
                <a:solidFill>
                  <a:srgbClr val="5B6B75"/>
                </a:solidFill>
                <a:latin typeface="Calibri"/>
              </a:rPr>
              <a:t>Scenarios</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3ECE0"/>
        </a:solidFill>
        <a:effectLst/>
      </p:bgPr>
    </p:bg>
    <p:spTree>
      <p:nvGrpSpPr>
        <p:cNvPr id="1" name=""/>
        <p:cNvGrpSpPr/>
        <p:nvPr/>
      </p:nvGrpSpPr>
      <p:grpSpPr/>
      <p:sp>
        <p:nvSpPr>
          <p:cNvPr id="2" name="Rectangle 1"/>
          <p:cNvSpPr/>
          <p:nvPr/>
        </p:nvSpPr>
        <p:spPr>
          <a:xfrm>
            <a:off x="0" y="0"/>
            <a:ext cx="256032" cy="6858000"/>
          </a:xfrm>
          <a:prstGeom prst="rect">
            <a:avLst/>
          </a:prstGeom>
          <a:solidFill>
            <a:srgbClr val="0E4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2377440"/>
            <a:ext cx="1828800" cy="548640"/>
          </a:xfrm>
          <a:prstGeom prst="rect">
            <a:avLst/>
          </a:prstGeom>
          <a:noFill/>
        </p:spPr>
        <p:txBody>
          <a:bodyPr wrap="square" anchor="t" lIns="0" rIns="0" tIns="0" bIns="0">
            <a:spAutoFit/>
          </a:bodyPr>
          <a:lstStyle/>
          <a:p>
            <a:pPr algn="l">
              <a:lnSpc>
                <a:spcPct val="115000"/>
              </a:lnSpc>
            </a:pPr>
            <a:r>
              <a:rPr sz="1300" b="1">
                <a:solidFill>
                  <a:srgbClr val="C25B2E"/>
                </a:solidFill>
                <a:latin typeface="Calibri"/>
              </a:rPr>
              <a:t>SECTION 14</a:t>
            </a:r>
          </a:p>
        </p:txBody>
      </p:sp>
      <p:sp>
        <p:nvSpPr>
          <p:cNvPr id="4" name="TextBox 3"/>
          <p:cNvSpPr txBox="1"/>
          <p:nvPr/>
        </p:nvSpPr>
        <p:spPr>
          <a:xfrm>
            <a:off x="1005840" y="2788920"/>
            <a:ext cx="9601200" cy="822960"/>
          </a:xfrm>
          <a:prstGeom prst="rect">
            <a:avLst/>
          </a:prstGeom>
          <a:noFill/>
        </p:spPr>
        <p:txBody>
          <a:bodyPr wrap="square" anchor="t" lIns="0" rIns="0" tIns="0" bIns="0">
            <a:spAutoFit/>
          </a:bodyPr>
          <a:lstStyle/>
          <a:p>
            <a:pPr algn="l">
              <a:lnSpc>
                <a:spcPct val="115000"/>
              </a:lnSpc>
            </a:pPr>
            <a:r>
              <a:rPr sz="3400" b="1">
                <a:solidFill>
                  <a:srgbClr val="0E4F4A"/>
                </a:solidFill>
                <a:latin typeface="Calibri"/>
              </a:rPr>
              <a:t>Quick reference</a:t>
            </a:r>
          </a:p>
        </p:txBody>
      </p:sp>
      <p:sp>
        <p:nvSpPr>
          <p:cNvPr id="5" name="TextBox 4"/>
          <p:cNvSpPr txBox="1"/>
          <p:nvPr/>
        </p:nvSpPr>
        <p:spPr>
          <a:xfrm>
            <a:off x="1005840" y="3794760"/>
            <a:ext cx="8686800" cy="914400"/>
          </a:xfrm>
          <a:prstGeom prst="rect">
            <a:avLst/>
          </a:prstGeom>
          <a:noFill/>
        </p:spPr>
        <p:txBody>
          <a:bodyPr wrap="square" anchor="t" lIns="0" rIns="0" tIns="0" bIns="0">
            <a:spAutoFit/>
          </a:bodyPr>
          <a:lstStyle/>
          <a:p>
            <a:pPr algn="l">
              <a:lnSpc>
                <a:spcPct val="130000"/>
              </a:lnSpc>
            </a:pPr>
            <a:r>
              <a:rPr sz="1500" b="0">
                <a:solidFill>
                  <a:srgbClr val="5B6B75"/>
                </a:solidFill>
                <a:latin typeface="Calibri"/>
              </a:rPr>
              <a:t>The desk copy. Statuses, who does what, and where things live.</a:t>
            </a:r>
          </a:p>
        </p:txBody>
      </p:sp>
      <p:sp>
        <p:nvSpPr>
          <p:cNvPr id="6" name="Rectangle 5"/>
          <p:cNvSpPr/>
          <p:nvPr/>
        </p:nvSpPr>
        <p:spPr>
          <a:xfrm>
            <a:off x="0" y="6473952"/>
            <a:ext cx="12191695" cy="384048"/>
          </a:xfrm>
          <a:prstGeom prst="rect">
            <a:avLst/>
          </a:prstGeom>
          <a:solidFill>
            <a:srgbClr val="F3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47104"/>
            <a:ext cx="8229600" cy="228600"/>
          </a:xfrm>
          <a:prstGeom prst="rect">
            <a:avLst/>
          </a:prstGeom>
          <a:noFill/>
        </p:spPr>
        <p:txBody>
          <a:bodyPr wrap="square" anchor="t" lIns="0" rIns="0" tIns="0" bIns="0">
            <a:spAutoFit/>
          </a:bodyPr>
          <a:lstStyle/>
          <a:p>
            <a:pPr algn="l">
              <a:lnSpc>
                <a:spcPct val="115000"/>
              </a:lnSpc>
            </a:pPr>
            <a:r>
              <a:rPr sz="900" b="0">
                <a:solidFill>
                  <a:srgbClr val="5B6B75"/>
                </a:solidFill>
                <a:latin typeface="Calibri"/>
              </a:rPr>
              <a:t>SUCCESS Bank — Internal Ticketing · Standard Operating Procedure</a:t>
            </a:r>
          </a:p>
        </p:txBody>
      </p:sp>
      <p:sp>
        <p:nvSpPr>
          <p:cNvPr id="8" name="TextBox 7"/>
          <p:cNvSpPr txBox="1"/>
          <p:nvPr/>
        </p:nvSpPr>
        <p:spPr>
          <a:xfrm>
            <a:off x="9997135" y="6547104"/>
            <a:ext cx="1691640" cy="228600"/>
          </a:xfrm>
          <a:prstGeom prst="rect">
            <a:avLst/>
          </a:prstGeom>
          <a:noFill/>
        </p:spPr>
        <p:txBody>
          <a:bodyPr wrap="square" anchor="t" lIns="0" rIns="0" tIns="0" bIns="0">
            <a:spAutoFit/>
          </a:bodyPr>
          <a:lstStyle/>
          <a:p>
            <a:pPr algn="r">
              <a:lnSpc>
                <a:spcPct val="115000"/>
              </a:lnSpc>
            </a:pPr>
            <a:r>
              <a:rPr sz="900" b="0">
                <a:solidFill>
                  <a:srgbClr val="5B6B75"/>
                </a:solidFill>
                <a:latin typeface="Calibri"/>
              </a:rPr>
              <a:t>Section 14</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0E4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82880"/>
            <a:ext cx="10515600" cy="320040"/>
          </a:xfrm>
          <a:prstGeom prst="rect">
            <a:avLst/>
          </a:prstGeom>
          <a:noFill/>
        </p:spPr>
        <p:txBody>
          <a:bodyPr wrap="square" anchor="t" lIns="0" rIns="0" tIns="0" bIns="0">
            <a:spAutoFit/>
          </a:bodyPr>
          <a:lstStyle/>
          <a:p>
            <a:pPr algn="l">
              <a:lnSpc>
                <a:spcPct val="115000"/>
              </a:lnSpc>
            </a:pPr>
            <a:r>
              <a:rPr sz="2300" b="1">
                <a:solidFill>
                  <a:srgbClr val="FFFFFF"/>
                </a:solidFill>
                <a:latin typeface="Calibri"/>
              </a:rPr>
              <a:t>Status reference</a:t>
            </a:r>
          </a:p>
        </p:txBody>
      </p:sp>
      <p:sp>
        <p:nvSpPr>
          <p:cNvPr id="4" name="TextBox 3"/>
          <p:cNvSpPr txBox="1"/>
          <p:nvPr/>
        </p:nvSpPr>
        <p:spPr>
          <a:xfrm>
            <a:off x="502920" y="548640"/>
            <a:ext cx="10515600" cy="256032"/>
          </a:xfrm>
          <a:prstGeom prst="rect">
            <a:avLst/>
          </a:prstGeom>
          <a:noFill/>
        </p:spPr>
        <p:txBody>
          <a:bodyPr wrap="square" anchor="t" lIns="0" rIns="0" tIns="0" bIns="0">
            <a:spAutoFit/>
          </a:bodyPr>
          <a:lstStyle/>
          <a:p>
            <a:pPr algn="l">
              <a:lnSpc>
                <a:spcPct val="115000"/>
              </a:lnSpc>
            </a:pPr>
            <a:r>
              <a:rPr sz="1150" b="0">
                <a:solidFill>
                  <a:srgbClr val="F3ECE0"/>
                </a:solidFill>
                <a:latin typeface="Calibri"/>
              </a:rPr>
              <a:t>Who can move a ticket into each state, and what it means</a:t>
            </a:r>
          </a:p>
        </p:txBody>
      </p:sp>
      <p:graphicFrame>
        <p:nvGraphicFramePr>
          <p:cNvPr id="5" name="Table 4"/>
          <p:cNvGraphicFramePr>
            <a:graphicFrameLocks noGrp="1"/>
          </p:cNvGraphicFramePr>
          <p:nvPr/>
        </p:nvGraphicFramePr>
        <p:xfrm>
          <a:off x="457200" y="1143000"/>
          <a:ext cx="11247120" cy="3657600"/>
        </p:xfrm>
        <a:graphic>
          <a:graphicData uri="http://schemas.openxmlformats.org/drawingml/2006/table">
            <a:tbl>
              <a:tblPr firstRow="1" bandRow="1">
                <a:tableStyleId>{5C22544A-7EE6-4342-B048-85BDC9FD1C3A}</a:tableStyleId>
              </a:tblPr>
              <a:tblGrid>
                <a:gridCol w="1920240"/>
                <a:gridCol w="6035040"/>
                <a:gridCol w="3291840"/>
              </a:tblGrid>
              <a:tr h="365760">
                <a:tc>
                  <a:txBody>
                    <a:bodyPr/>
                    <a:lstStyle/>
                    <a:p>
                      <a:r>
                        <a:rPr sz="1100" b="1">
                          <a:solidFill>
                            <a:srgbClr val="FFFFFF"/>
                          </a:solidFill>
                        </a:rPr>
                        <a:t>Status</a:t>
                      </a:r>
                    </a:p>
                  </a:txBody>
                  <a:tcPr>
                    <a:solidFill>
                      <a:srgbClr val="0E4F4A"/>
                    </a:solidFill>
                  </a:tcPr>
                </a:tc>
                <a:tc>
                  <a:txBody>
                    <a:bodyPr/>
                    <a:lstStyle/>
                    <a:p>
                      <a:r>
                        <a:rPr sz="1100" b="1">
                          <a:solidFill>
                            <a:srgbClr val="FFFFFF"/>
                          </a:solidFill>
                        </a:rPr>
                        <a:t>Means</a:t>
                      </a:r>
                    </a:p>
                  </a:txBody>
                  <a:tcPr>
                    <a:solidFill>
                      <a:srgbClr val="0E4F4A"/>
                    </a:solidFill>
                  </a:tcPr>
                </a:tc>
                <a:tc>
                  <a:txBody>
                    <a:bodyPr/>
                    <a:lstStyle/>
                    <a:p>
                      <a:r>
                        <a:rPr sz="1100" b="1">
                          <a:solidFill>
                            <a:srgbClr val="FFFFFF"/>
                          </a:solidFill>
                        </a:rPr>
                        <a:t>Set by</a:t>
                      </a:r>
                    </a:p>
                  </a:txBody>
                  <a:tcPr>
                    <a:solidFill>
                      <a:srgbClr val="0E4F4A"/>
                    </a:solidFill>
                  </a:tcPr>
                </a:tc>
              </a:tr>
              <a:tr h="365760">
                <a:tc>
                  <a:txBody>
                    <a:bodyPr/>
                    <a:lstStyle/>
                    <a:p>
                      <a:r>
                        <a:rPr sz="1050">
                          <a:solidFill>
                            <a:srgbClr val="1B2A33"/>
                          </a:solidFill>
                        </a:rPr>
                        <a:t>new</a:t>
                      </a:r>
                    </a:p>
                  </a:txBody>
                  <a:tcPr>
                    <a:solidFill>
                      <a:srgbClr val="FFFFFF"/>
                    </a:solidFill>
                  </a:tcPr>
                </a:tc>
                <a:tc>
                  <a:txBody>
                    <a:bodyPr/>
                    <a:lstStyle/>
                    <a:p>
                      <a:r>
                        <a:rPr sz="1050">
                          <a:solidFill>
                            <a:srgbClr val="1B2A33"/>
                          </a:solidFill>
                        </a:rPr>
                        <a:t>Raised, not yet looked at</a:t>
                      </a:r>
                    </a:p>
                  </a:txBody>
                  <a:tcPr>
                    <a:solidFill>
                      <a:srgbClr val="FFFFFF"/>
                    </a:solidFill>
                  </a:tcPr>
                </a:tc>
                <a:tc>
                  <a:txBody>
                    <a:bodyPr/>
                    <a:lstStyle/>
                    <a:p>
                      <a:r>
                        <a:rPr sz="1050">
                          <a:solidFill>
                            <a:srgbClr val="1B2A33"/>
                          </a:solidFill>
                        </a:rPr>
                        <a:t>System, on creation</a:t>
                      </a:r>
                    </a:p>
                  </a:txBody>
                  <a:tcPr>
                    <a:solidFill>
                      <a:srgbClr val="FFFFFF"/>
                    </a:solidFill>
                  </a:tcPr>
                </a:tc>
              </a:tr>
              <a:tr h="365760">
                <a:tc>
                  <a:txBody>
                    <a:bodyPr/>
                    <a:lstStyle/>
                    <a:p>
                      <a:r>
                        <a:rPr sz="1050">
                          <a:solidFill>
                            <a:srgbClr val="1B2A33"/>
                          </a:solidFill>
                        </a:rPr>
                        <a:t>acknowledged</a:t>
                      </a:r>
                    </a:p>
                  </a:txBody>
                  <a:tcPr>
                    <a:solidFill>
                      <a:srgbClr val="F3ECE0"/>
                    </a:solidFill>
                  </a:tcPr>
                </a:tc>
                <a:tc>
                  <a:txBody>
                    <a:bodyPr/>
                    <a:lstStyle/>
                    <a:p>
                      <a:r>
                        <a:rPr sz="1050">
                          <a:solidFill>
                            <a:srgbClr val="1B2A33"/>
                          </a:solidFill>
                        </a:rPr>
                        <a:t>Seen, not yet owned</a:t>
                      </a:r>
                    </a:p>
                  </a:txBody>
                  <a:tcPr>
                    <a:solidFill>
                      <a:srgbClr val="F3ECE0"/>
                    </a:solidFill>
                  </a:tcPr>
                </a:tc>
                <a:tc>
                  <a:txBody>
                    <a:bodyPr/>
                    <a:lstStyle/>
                    <a:p>
                      <a:r>
                        <a:rPr sz="1050">
                          <a:solidFill>
                            <a:srgbClr val="1B2A33"/>
                          </a:solidFill>
                        </a:rPr>
                        <a:t>Agent</a:t>
                      </a:r>
                    </a:p>
                  </a:txBody>
                  <a:tcPr>
                    <a:solidFill>
                      <a:srgbClr val="F3ECE0"/>
                    </a:solidFill>
                  </a:tcPr>
                </a:tc>
              </a:tr>
              <a:tr h="365760">
                <a:tc>
                  <a:txBody>
                    <a:bodyPr/>
                    <a:lstStyle/>
                    <a:p>
                      <a:r>
                        <a:rPr sz="1050">
                          <a:solidFill>
                            <a:srgbClr val="1B2A33"/>
                          </a:solidFill>
                        </a:rPr>
                        <a:t>assigned</a:t>
                      </a:r>
                    </a:p>
                  </a:txBody>
                  <a:tcPr>
                    <a:solidFill>
                      <a:srgbClr val="FFFFFF"/>
                    </a:solidFill>
                  </a:tcPr>
                </a:tc>
                <a:tc>
                  <a:txBody>
                    <a:bodyPr/>
                    <a:lstStyle/>
                    <a:p>
                      <a:r>
                        <a:rPr sz="1050">
                          <a:solidFill>
                            <a:srgbClr val="1B2A33"/>
                          </a:solidFill>
                        </a:rPr>
                        <a:t>Has an owner</a:t>
                      </a:r>
                    </a:p>
                  </a:txBody>
                  <a:tcPr>
                    <a:solidFill>
                      <a:srgbClr val="FFFFFF"/>
                    </a:solidFill>
                  </a:tcPr>
                </a:tc>
                <a:tc>
                  <a:txBody>
                    <a:bodyPr/>
                    <a:lstStyle/>
                    <a:p>
                      <a:r>
                        <a:rPr sz="1050">
                          <a:solidFill>
                            <a:srgbClr val="1B2A33"/>
                          </a:solidFill>
                        </a:rPr>
                        <a:t>Supervisor, or agent; system after the delay</a:t>
                      </a:r>
                    </a:p>
                  </a:txBody>
                  <a:tcPr>
                    <a:solidFill>
                      <a:srgbClr val="FFFFFF"/>
                    </a:solidFill>
                  </a:tcPr>
                </a:tc>
              </a:tr>
              <a:tr h="365760">
                <a:tc>
                  <a:txBody>
                    <a:bodyPr/>
                    <a:lstStyle/>
                    <a:p>
                      <a:r>
                        <a:rPr sz="1050">
                          <a:solidFill>
                            <a:srgbClr val="1B2A33"/>
                          </a:solidFill>
                        </a:rPr>
                        <a:t>in_progress</a:t>
                      </a:r>
                    </a:p>
                  </a:txBody>
                  <a:tcPr>
                    <a:solidFill>
                      <a:srgbClr val="F3ECE0"/>
                    </a:solidFill>
                  </a:tcPr>
                </a:tc>
                <a:tc>
                  <a:txBody>
                    <a:bodyPr/>
                    <a:lstStyle/>
                    <a:p>
                      <a:r>
                        <a:rPr sz="1050">
                          <a:solidFill>
                            <a:srgbClr val="1B2A33"/>
                          </a:solidFill>
                        </a:rPr>
                        <a:t>Actively being worked</a:t>
                      </a:r>
                    </a:p>
                  </a:txBody>
                  <a:tcPr>
                    <a:solidFill>
                      <a:srgbClr val="F3ECE0"/>
                    </a:solidFill>
                  </a:tcPr>
                </a:tc>
                <a:tc>
                  <a:txBody>
                    <a:bodyPr/>
                    <a:lstStyle/>
                    <a:p>
                      <a:r>
                        <a:rPr sz="1050">
                          <a:solidFill>
                            <a:srgbClr val="1B2A33"/>
                          </a:solidFill>
                        </a:rPr>
                        <a:t>Agent</a:t>
                      </a:r>
                    </a:p>
                  </a:txBody>
                  <a:tcPr>
                    <a:solidFill>
                      <a:srgbClr val="F3ECE0"/>
                    </a:solidFill>
                  </a:tcPr>
                </a:tc>
              </a:tr>
              <a:tr h="365760">
                <a:tc>
                  <a:txBody>
                    <a:bodyPr/>
                    <a:lstStyle/>
                    <a:p>
                      <a:r>
                        <a:rPr sz="1050">
                          <a:solidFill>
                            <a:srgbClr val="1B2A33"/>
                          </a:solidFill>
                        </a:rPr>
                        <a:t>on_hold</a:t>
                      </a:r>
                    </a:p>
                  </a:txBody>
                  <a:tcPr>
                    <a:solidFill>
                      <a:srgbClr val="FFFFFF"/>
                    </a:solidFill>
                  </a:tcPr>
                </a:tc>
                <a:tc>
                  <a:txBody>
                    <a:bodyPr/>
                    <a:lstStyle/>
                    <a:p>
                      <a:r>
                        <a:rPr sz="1050">
                          <a:solidFill>
                            <a:srgbClr val="1B2A33"/>
                          </a:solidFill>
                        </a:rPr>
                        <a:t>Waiting on someone outside the team</a:t>
                      </a:r>
                    </a:p>
                  </a:txBody>
                  <a:tcPr>
                    <a:solidFill>
                      <a:srgbClr val="FFFFFF"/>
                    </a:solidFill>
                  </a:tcPr>
                </a:tc>
                <a:tc>
                  <a:txBody>
                    <a:bodyPr/>
                    <a:lstStyle/>
                    <a:p>
                      <a:r>
                        <a:rPr sz="1050">
                          <a:solidFill>
                            <a:srgbClr val="1B2A33"/>
                          </a:solidFill>
                        </a:rPr>
                        <a:t>Agent</a:t>
                      </a:r>
                    </a:p>
                  </a:txBody>
                  <a:tcPr>
                    <a:solidFill>
                      <a:srgbClr val="FFFFFF"/>
                    </a:solidFill>
                  </a:tcPr>
                </a:tc>
              </a:tr>
              <a:tr h="365760">
                <a:tc>
                  <a:txBody>
                    <a:bodyPr/>
                    <a:lstStyle/>
                    <a:p>
                      <a:r>
                        <a:rPr sz="1050">
                          <a:solidFill>
                            <a:srgbClr val="1B2A33"/>
                          </a:solidFill>
                        </a:rPr>
                        <a:t>escalated</a:t>
                      </a:r>
                    </a:p>
                  </a:txBody>
                  <a:tcPr>
                    <a:solidFill>
                      <a:srgbClr val="F3ECE0"/>
                    </a:solidFill>
                  </a:tcPr>
                </a:tc>
                <a:tc>
                  <a:txBody>
                    <a:bodyPr/>
                    <a:lstStyle/>
                    <a:p>
                      <a:r>
                        <a:rPr sz="1050">
                          <a:solidFill>
                            <a:srgbClr val="1B2A33"/>
                          </a:solidFill>
                        </a:rPr>
                        <a:t>Handed up — by hand or by SLA breach</a:t>
                      </a:r>
                    </a:p>
                  </a:txBody>
                  <a:tcPr>
                    <a:solidFill>
                      <a:srgbClr val="F3ECE0"/>
                    </a:solidFill>
                  </a:tcPr>
                </a:tc>
                <a:tc>
                  <a:txBody>
                    <a:bodyPr/>
                    <a:lstStyle/>
                    <a:p>
                      <a:r>
                        <a:rPr sz="1050">
                          <a:solidFill>
                            <a:srgbClr val="1B2A33"/>
                          </a:solidFill>
                        </a:rPr>
                        <a:t>Agent, or the SLA worker</a:t>
                      </a:r>
                    </a:p>
                  </a:txBody>
                  <a:tcPr>
                    <a:solidFill>
                      <a:srgbClr val="F3ECE0"/>
                    </a:solidFill>
                  </a:tcPr>
                </a:tc>
              </a:tr>
              <a:tr h="365760">
                <a:tc>
                  <a:txBody>
                    <a:bodyPr/>
                    <a:lstStyle/>
                    <a:p>
                      <a:r>
                        <a:rPr sz="1050">
                          <a:solidFill>
                            <a:srgbClr val="1B2A33"/>
                          </a:solidFill>
                        </a:rPr>
                        <a:t>resolved</a:t>
                      </a:r>
                    </a:p>
                  </a:txBody>
                  <a:tcPr>
                    <a:solidFill>
                      <a:srgbClr val="FFFFFF"/>
                    </a:solidFill>
                  </a:tcPr>
                </a:tc>
                <a:tc>
                  <a:txBody>
                    <a:bodyPr/>
                    <a:lstStyle/>
                    <a:p>
                      <a:r>
                        <a:rPr sz="1050">
                          <a:solidFill>
                            <a:srgbClr val="1B2A33"/>
                          </a:solidFill>
                        </a:rPr>
                        <a:t>Fixed; only from in_progress or escalated</a:t>
                      </a:r>
                    </a:p>
                  </a:txBody>
                  <a:tcPr>
                    <a:solidFill>
                      <a:srgbClr val="FFFFFF"/>
                    </a:solidFill>
                  </a:tcPr>
                </a:tc>
                <a:tc>
                  <a:txBody>
                    <a:bodyPr/>
                    <a:lstStyle/>
                    <a:p>
                      <a:r>
                        <a:rPr sz="1050">
                          <a:solidFill>
                            <a:srgbClr val="1B2A33"/>
                          </a:solidFill>
                        </a:rPr>
                        <a:t>Agent</a:t>
                      </a:r>
                    </a:p>
                  </a:txBody>
                  <a:tcPr>
                    <a:solidFill>
                      <a:srgbClr val="FFFFFF"/>
                    </a:solidFill>
                  </a:tcPr>
                </a:tc>
              </a:tr>
              <a:tr h="365760">
                <a:tc>
                  <a:txBody>
                    <a:bodyPr/>
                    <a:lstStyle/>
                    <a:p>
                      <a:r>
                        <a:rPr sz="1050">
                          <a:solidFill>
                            <a:srgbClr val="1B2A33"/>
                          </a:solidFill>
                        </a:rPr>
                        <a:t>closed</a:t>
                      </a:r>
                    </a:p>
                  </a:txBody>
                  <a:tcPr>
                    <a:solidFill>
                      <a:srgbClr val="F3ECE0"/>
                    </a:solidFill>
                  </a:tcPr>
                </a:tc>
                <a:tc>
                  <a:txBody>
                    <a:bodyPr/>
                    <a:lstStyle/>
                    <a:p>
                      <a:r>
                        <a:rPr sz="1050">
                          <a:solidFill>
                            <a:srgbClr val="1B2A33"/>
                          </a:solidFill>
                        </a:rPr>
                        <a:t>Finished, or withdrawn; reachable from any open state</a:t>
                      </a:r>
                    </a:p>
                  </a:txBody>
                  <a:tcPr>
                    <a:solidFill>
                      <a:srgbClr val="F3ECE0"/>
                    </a:solidFill>
                  </a:tcPr>
                </a:tc>
                <a:tc>
                  <a:txBody>
                    <a:bodyPr/>
                    <a:lstStyle/>
                    <a:p>
                      <a:r>
                        <a:rPr sz="1050">
                          <a:solidFill>
                            <a:srgbClr val="1B2A33"/>
                          </a:solidFill>
                        </a:rPr>
                        <a:t>Agent, or the requester</a:t>
                      </a:r>
                    </a:p>
                  </a:txBody>
                  <a:tcPr>
                    <a:solidFill>
                      <a:srgbClr val="F3ECE0"/>
                    </a:solidFill>
                  </a:tcPr>
                </a:tc>
              </a:tr>
              <a:tr h="365760">
                <a:tc>
                  <a:txBody>
                    <a:bodyPr/>
                    <a:lstStyle/>
                    <a:p>
                      <a:r>
                        <a:rPr sz="1050">
                          <a:solidFill>
                            <a:srgbClr val="1B2A33"/>
                          </a:solidFill>
                        </a:rPr>
                        <a:t>reopened</a:t>
                      </a:r>
                    </a:p>
                  </a:txBody>
                  <a:tcPr>
                    <a:solidFill>
                      <a:srgbClr val="FFFFFF"/>
                    </a:solidFill>
                  </a:tcPr>
                </a:tc>
                <a:tc>
                  <a:txBody>
                    <a:bodyPr/>
                    <a:lstStyle/>
                    <a:p>
                      <a:r>
                        <a:rPr sz="1050">
                          <a:solidFill>
                            <a:srgbClr val="1B2A33"/>
                          </a:solidFill>
                        </a:rPr>
                        <a:t>Was not actually fixed; returns to the open set</a:t>
                      </a:r>
                    </a:p>
                  </a:txBody>
                  <a:tcPr>
                    <a:solidFill>
                      <a:srgbClr val="FFFFFF"/>
                    </a:solidFill>
                  </a:tcPr>
                </a:tc>
                <a:tc>
                  <a:txBody>
                    <a:bodyPr/>
                    <a:lstStyle/>
                    <a:p>
                      <a:r>
                        <a:rPr sz="1050">
                          <a:solidFill>
                            <a:srgbClr val="1B2A33"/>
                          </a:solidFill>
                        </a:rPr>
                        <a:t>Requester or agent</a:t>
                      </a:r>
                    </a:p>
                  </a:txBody>
                  <a:tcPr>
                    <a:solidFill>
                      <a:srgbClr val="FFFFFF"/>
                    </a:solidFill>
                  </a:tcPr>
                </a:tc>
              </a:tr>
            </a:tbl>
          </a:graphicData>
        </a:graphic>
      </p:graphicFrame>
      <p:sp>
        <p:nvSpPr>
          <p:cNvPr id="6" name="Rectangle 5"/>
          <p:cNvSpPr/>
          <p:nvPr/>
        </p:nvSpPr>
        <p:spPr>
          <a:xfrm>
            <a:off x="0" y="6473952"/>
            <a:ext cx="12191695" cy="384048"/>
          </a:xfrm>
          <a:prstGeom prst="rect">
            <a:avLst/>
          </a:prstGeom>
          <a:solidFill>
            <a:srgbClr val="F3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47104"/>
            <a:ext cx="8229600" cy="228600"/>
          </a:xfrm>
          <a:prstGeom prst="rect">
            <a:avLst/>
          </a:prstGeom>
          <a:noFill/>
        </p:spPr>
        <p:txBody>
          <a:bodyPr wrap="square" anchor="t" lIns="0" rIns="0" tIns="0" bIns="0">
            <a:spAutoFit/>
          </a:bodyPr>
          <a:lstStyle/>
          <a:p>
            <a:pPr algn="l">
              <a:lnSpc>
                <a:spcPct val="115000"/>
              </a:lnSpc>
            </a:pPr>
            <a:r>
              <a:rPr sz="900" b="0">
                <a:solidFill>
                  <a:srgbClr val="5B6B75"/>
                </a:solidFill>
                <a:latin typeface="Calibri"/>
              </a:rPr>
              <a:t>SUCCESS Bank — Internal Ticketing · Standard Operating Procedure</a:t>
            </a:r>
          </a:p>
        </p:txBody>
      </p:sp>
      <p:sp>
        <p:nvSpPr>
          <p:cNvPr id="8" name="TextBox 7"/>
          <p:cNvSpPr txBox="1"/>
          <p:nvPr/>
        </p:nvSpPr>
        <p:spPr>
          <a:xfrm>
            <a:off x="9997135" y="6547104"/>
            <a:ext cx="1691640" cy="228600"/>
          </a:xfrm>
          <a:prstGeom prst="rect">
            <a:avLst/>
          </a:prstGeom>
          <a:noFill/>
        </p:spPr>
        <p:txBody>
          <a:bodyPr wrap="square" anchor="t" lIns="0" rIns="0" tIns="0" bIns="0">
            <a:spAutoFit/>
          </a:bodyPr>
          <a:lstStyle/>
          <a:p>
            <a:pPr algn="r">
              <a:lnSpc>
                <a:spcPct val="115000"/>
              </a:lnSpc>
            </a:pPr>
            <a:r>
              <a:rPr sz="900" b="0">
                <a:solidFill>
                  <a:srgbClr val="5B6B75"/>
                </a:solidFill>
                <a:latin typeface="Calibri"/>
              </a:rPr>
              <a:t>Reference</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0E4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82880"/>
            <a:ext cx="10515600" cy="320040"/>
          </a:xfrm>
          <a:prstGeom prst="rect">
            <a:avLst/>
          </a:prstGeom>
          <a:noFill/>
        </p:spPr>
        <p:txBody>
          <a:bodyPr wrap="square" anchor="t" lIns="0" rIns="0" tIns="0" bIns="0">
            <a:spAutoFit/>
          </a:bodyPr>
          <a:lstStyle/>
          <a:p>
            <a:pPr algn="l">
              <a:lnSpc>
                <a:spcPct val="115000"/>
              </a:lnSpc>
            </a:pPr>
            <a:r>
              <a:rPr sz="2300" b="1">
                <a:solidFill>
                  <a:srgbClr val="FFFFFF"/>
                </a:solidFill>
                <a:latin typeface="Calibri"/>
              </a:rPr>
              <a:t>Where to click</a:t>
            </a:r>
          </a:p>
        </p:txBody>
      </p:sp>
      <p:sp>
        <p:nvSpPr>
          <p:cNvPr id="4" name="TextBox 3"/>
          <p:cNvSpPr txBox="1"/>
          <p:nvPr/>
        </p:nvSpPr>
        <p:spPr>
          <a:xfrm>
            <a:off x="502920" y="548640"/>
            <a:ext cx="10515600" cy="256032"/>
          </a:xfrm>
          <a:prstGeom prst="rect">
            <a:avLst/>
          </a:prstGeom>
          <a:noFill/>
        </p:spPr>
        <p:txBody>
          <a:bodyPr wrap="square" anchor="t" lIns="0" rIns="0" tIns="0" bIns="0">
            <a:spAutoFit/>
          </a:bodyPr>
          <a:lstStyle/>
          <a:p>
            <a:pPr algn="l">
              <a:lnSpc>
                <a:spcPct val="115000"/>
              </a:lnSpc>
            </a:pPr>
            <a:r>
              <a:rPr sz="1150" b="0">
                <a:solidFill>
                  <a:srgbClr val="F3ECE0"/>
                </a:solidFill>
                <a:latin typeface="Calibri"/>
              </a:rPr>
              <a:t>The shortest path to the thing you need</a:t>
            </a:r>
          </a:p>
        </p:txBody>
      </p:sp>
      <p:graphicFrame>
        <p:nvGraphicFramePr>
          <p:cNvPr id="5" name="Table 4"/>
          <p:cNvGraphicFramePr>
            <a:graphicFrameLocks noGrp="1"/>
          </p:cNvGraphicFramePr>
          <p:nvPr/>
        </p:nvGraphicFramePr>
        <p:xfrm>
          <a:off x="457200" y="1143000"/>
          <a:ext cx="11247120" cy="5120640"/>
        </p:xfrm>
        <a:graphic>
          <a:graphicData uri="http://schemas.openxmlformats.org/drawingml/2006/table">
            <a:tbl>
              <a:tblPr firstRow="1" bandRow="1">
                <a:tableStyleId>{5C22544A-7EE6-4342-B048-85BDC9FD1C3A}</a:tableStyleId>
              </a:tblPr>
              <a:tblGrid>
                <a:gridCol w="3657600"/>
                <a:gridCol w="3931920"/>
                <a:gridCol w="3657600"/>
              </a:tblGrid>
              <a:tr h="365760">
                <a:tc>
                  <a:txBody>
                    <a:bodyPr/>
                    <a:lstStyle/>
                    <a:p>
                      <a:r>
                        <a:rPr sz="1100" b="1">
                          <a:solidFill>
                            <a:srgbClr val="FFFFFF"/>
                          </a:solidFill>
                        </a:rPr>
                        <a:t>I want to…</a:t>
                      </a:r>
                    </a:p>
                  </a:txBody>
                  <a:tcPr>
                    <a:solidFill>
                      <a:srgbClr val="0E4F4A"/>
                    </a:solidFill>
                  </a:tcPr>
                </a:tc>
                <a:tc>
                  <a:txBody>
                    <a:bodyPr/>
                    <a:lstStyle/>
                    <a:p>
                      <a:r>
                        <a:rPr sz="1100" b="1">
                          <a:solidFill>
                            <a:srgbClr val="FFFFFF"/>
                          </a:solidFill>
                        </a:rPr>
                        <a:t>Go to</a:t>
                      </a:r>
                    </a:p>
                  </a:txBody>
                  <a:tcPr>
                    <a:solidFill>
                      <a:srgbClr val="0E4F4A"/>
                    </a:solidFill>
                  </a:tcPr>
                </a:tc>
                <a:tc>
                  <a:txBody>
                    <a:bodyPr/>
                    <a:lstStyle/>
                    <a:p>
                      <a:r>
                        <a:rPr sz="1100" b="1">
                          <a:solidFill>
                            <a:srgbClr val="FFFFFF"/>
                          </a:solidFill>
                        </a:rPr>
                        <a:t>Who can</a:t>
                      </a:r>
                    </a:p>
                  </a:txBody>
                  <a:tcPr>
                    <a:solidFill>
                      <a:srgbClr val="0E4F4A"/>
                    </a:solidFill>
                  </a:tcPr>
                </a:tc>
              </a:tr>
              <a:tr h="365760">
                <a:tc>
                  <a:txBody>
                    <a:bodyPr/>
                    <a:lstStyle/>
                    <a:p>
                      <a:r>
                        <a:rPr sz="1050">
                          <a:solidFill>
                            <a:srgbClr val="1B2A33"/>
                          </a:solidFill>
                        </a:rPr>
                        <a:t>Raise a problem</a:t>
                      </a:r>
                    </a:p>
                  </a:txBody>
                  <a:tcPr>
                    <a:solidFill>
                      <a:srgbClr val="FFFFFF"/>
                    </a:solidFill>
                  </a:tcPr>
                </a:tc>
                <a:tc>
                  <a:txBody>
                    <a:bodyPr/>
                    <a:lstStyle/>
                    <a:p>
                      <a:r>
                        <a:rPr sz="1050">
                          <a:solidFill>
                            <a:srgbClr val="1B2A33"/>
                          </a:solidFill>
                        </a:rPr>
                        <a:t>Tickets → New Ticket</a:t>
                      </a:r>
                    </a:p>
                  </a:txBody>
                  <a:tcPr>
                    <a:solidFill>
                      <a:srgbClr val="FFFFFF"/>
                    </a:solidFill>
                  </a:tcPr>
                </a:tc>
                <a:tc>
                  <a:txBody>
                    <a:bodyPr/>
                    <a:lstStyle/>
                    <a:p>
                      <a:r>
                        <a:rPr sz="1050">
                          <a:solidFill>
                            <a:srgbClr val="1B2A33"/>
                          </a:solidFill>
                        </a:rPr>
                        <a:t>Everyone</a:t>
                      </a:r>
                    </a:p>
                  </a:txBody>
                  <a:tcPr>
                    <a:solidFill>
                      <a:srgbClr val="FFFFFF"/>
                    </a:solidFill>
                  </a:tcPr>
                </a:tc>
              </a:tr>
              <a:tr h="365760">
                <a:tc>
                  <a:txBody>
                    <a:bodyPr/>
                    <a:lstStyle/>
                    <a:p>
                      <a:r>
                        <a:rPr sz="1050">
                          <a:solidFill>
                            <a:srgbClr val="1B2A33"/>
                          </a:solidFill>
                        </a:rPr>
                        <a:t>Follow my ticket</a:t>
                      </a:r>
                    </a:p>
                  </a:txBody>
                  <a:tcPr>
                    <a:solidFill>
                      <a:srgbClr val="F3ECE0"/>
                    </a:solidFill>
                  </a:tcPr>
                </a:tc>
                <a:tc>
                  <a:txBody>
                    <a:bodyPr/>
                    <a:lstStyle/>
                    <a:p>
                      <a:r>
                        <a:rPr sz="1050">
                          <a:solidFill>
                            <a:srgbClr val="1B2A33"/>
                          </a:solidFill>
                        </a:rPr>
                        <a:t>Tickets → open it</a:t>
                      </a:r>
                    </a:p>
                  </a:txBody>
                  <a:tcPr>
                    <a:solidFill>
                      <a:srgbClr val="F3ECE0"/>
                    </a:solidFill>
                  </a:tcPr>
                </a:tc>
                <a:tc>
                  <a:txBody>
                    <a:bodyPr/>
                    <a:lstStyle/>
                    <a:p>
                      <a:r>
                        <a:rPr sz="1050">
                          <a:solidFill>
                            <a:srgbClr val="1B2A33"/>
                          </a:solidFill>
                        </a:rPr>
                        <a:t>Everyone (own only, for branch users)</a:t>
                      </a:r>
                    </a:p>
                  </a:txBody>
                  <a:tcPr>
                    <a:solidFill>
                      <a:srgbClr val="F3ECE0"/>
                    </a:solidFill>
                  </a:tcPr>
                </a:tc>
              </a:tr>
              <a:tr h="365760">
                <a:tc>
                  <a:txBody>
                    <a:bodyPr/>
                    <a:lstStyle/>
                    <a:p>
                      <a:r>
                        <a:rPr sz="1050">
                          <a:solidFill>
                            <a:srgbClr val="1B2A33"/>
                          </a:solidFill>
                        </a:rPr>
                        <a:t>Find what is breaching</a:t>
                      </a:r>
                    </a:p>
                  </a:txBody>
                  <a:tcPr>
                    <a:solidFill>
                      <a:srgbClr val="FFFFFF"/>
                    </a:solidFill>
                  </a:tcPr>
                </a:tc>
                <a:tc>
                  <a:txBody>
                    <a:bodyPr/>
                    <a:lstStyle/>
                    <a:p>
                      <a:r>
                        <a:rPr sz="1050">
                          <a:solidFill>
                            <a:srgbClr val="1B2A33"/>
                          </a:solidFill>
                        </a:rPr>
                        <a:t>Dashboard → SLA Breached tile</a:t>
                      </a:r>
                    </a:p>
                  </a:txBody>
                  <a:tcPr>
                    <a:solidFill>
                      <a:srgbClr val="FFFFFF"/>
                    </a:solidFill>
                  </a:tcPr>
                </a:tc>
                <a:tc>
                  <a:txBody>
                    <a:bodyPr/>
                    <a:lstStyle/>
                    <a:p>
                      <a:r>
                        <a:rPr sz="1050">
                          <a:solidFill>
                            <a:srgbClr val="1B2A33"/>
                          </a:solidFill>
                        </a:rPr>
                        <a:t>Agent and above</a:t>
                      </a:r>
                    </a:p>
                  </a:txBody>
                  <a:tcPr>
                    <a:solidFill>
                      <a:srgbClr val="FFFFFF"/>
                    </a:solidFill>
                  </a:tcPr>
                </a:tc>
              </a:tr>
              <a:tr h="365760">
                <a:tc>
                  <a:txBody>
                    <a:bodyPr/>
                    <a:lstStyle/>
                    <a:p>
                      <a:r>
                        <a:rPr sz="1050">
                          <a:solidFill>
                            <a:srgbClr val="1B2A33"/>
                          </a:solidFill>
                        </a:rPr>
                        <a:t>Give a ticket an owner</a:t>
                      </a:r>
                    </a:p>
                  </a:txBody>
                  <a:tcPr>
                    <a:solidFill>
                      <a:srgbClr val="F3ECE0"/>
                    </a:solidFill>
                  </a:tcPr>
                </a:tc>
                <a:tc>
                  <a:txBody>
                    <a:bodyPr/>
                    <a:lstStyle/>
                    <a:p>
                      <a:r>
                        <a:rPr sz="1050">
                          <a:solidFill>
                            <a:srgbClr val="1B2A33"/>
                          </a:solidFill>
                        </a:rPr>
                        <a:t>Ticket → Assignee → Assign</a:t>
                      </a:r>
                    </a:p>
                  </a:txBody>
                  <a:tcPr>
                    <a:solidFill>
                      <a:srgbClr val="F3ECE0"/>
                    </a:solidFill>
                  </a:tcPr>
                </a:tc>
                <a:tc>
                  <a:txBody>
                    <a:bodyPr/>
                    <a:lstStyle/>
                    <a:p>
                      <a:r>
                        <a:rPr sz="1050">
                          <a:solidFill>
                            <a:srgbClr val="1B2A33"/>
                          </a:solidFill>
                        </a:rPr>
                        <a:t>Agent and above</a:t>
                      </a:r>
                    </a:p>
                  </a:txBody>
                  <a:tcPr>
                    <a:solidFill>
                      <a:srgbClr val="F3ECE0"/>
                    </a:solidFill>
                  </a:tcPr>
                </a:tc>
              </a:tr>
              <a:tr h="365760">
                <a:tc>
                  <a:txBody>
                    <a:bodyPr/>
                    <a:lstStyle/>
                    <a:p>
                      <a:r>
                        <a:rPr sz="1050">
                          <a:solidFill>
                            <a:srgbClr val="1B2A33"/>
                          </a:solidFill>
                        </a:rPr>
                        <a:t>Let the router choose</a:t>
                      </a:r>
                    </a:p>
                  </a:txBody>
                  <a:tcPr>
                    <a:solidFill>
                      <a:srgbClr val="FFFFFF"/>
                    </a:solidFill>
                  </a:tcPr>
                </a:tc>
                <a:tc>
                  <a:txBody>
                    <a:bodyPr/>
                    <a:lstStyle/>
                    <a:p>
                      <a:r>
                        <a:rPr sz="1050">
                          <a:solidFill>
                            <a:srgbClr val="1B2A33"/>
                          </a:solidFill>
                        </a:rPr>
                        <a:t>Ticket → Assignee → Auto-assign</a:t>
                      </a:r>
                    </a:p>
                  </a:txBody>
                  <a:tcPr>
                    <a:solidFill>
                      <a:srgbClr val="FFFFFF"/>
                    </a:solidFill>
                  </a:tcPr>
                </a:tc>
                <a:tc>
                  <a:txBody>
                    <a:bodyPr/>
                    <a:lstStyle/>
                    <a:p>
                      <a:r>
                        <a:rPr sz="1050">
                          <a:solidFill>
                            <a:srgbClr val="1B2A33"/>
                          </a:solidFill>
                        </a:rPr>
                        <a:t>Supervisor, admin</a:t>
                      </a:r>
                    </a:p>
                  </a:txBody>
                  <a:tcPr>
                    <a:solidFill>
                      <a:srgbClr val="FFFFFF"/>
                    </a:solidFill>
                  </a:tcPr>
                </a:tc>
              </a:tr>
              <a:tr h="365760">
                <a:tc>
                  <a:txBody>
                    <a:bodyPr/>
                    <a:lstStyle/>
                    <a:p>
                      <a:r>
                        <a:rPr sz="1050">
                          <a:solidFill>
                            <a:srgbClr val="1B2A33"/>
                          </a:solidFill>
                        </a:rPr>
                        <a:t>Say someone is away</a:t>
                      </a:r>
                    </a:p>
                  </a:txBody>
                  <a:tcPr>
                    <a:solidFill>
                      <a:srgbClr val="F3ECE0"/>
                    </a:solidFill>
                  </a:tcPr>
                </a:tc>
                <a:tc>
                  <a:txBody>
                    <a:bodyPr/>
                    <a:lstStyle/>
                    <a:p>
                      <a:r>
                        <a:rPr sz="1050">
                          <a:solidFill>
                            <a:srgbClr val="1B2A33"/>
                          </a:solidFill>
                        </a:rPr>
                        <a:t>Users → Leave</a:t>
                      </a:r>
                    </a:p>
                  </a:txBody>
                  <a:tcPr>
                    <a:solidFill>
                      <a:srgbClr val="F3ECE0"/>
                    </a:solidFill>
                  </a:tcPr>
                </a:tc>
                <a:tc>
                  <a:txBody>
                    <a:bodyPr/>
                    <a:lstStyle/>
                    <a:p>
                      <a:r>
                        <a:rPr sz="1050">
                          <a:solidFill>
                            <a:srgbClr val="1B2A33"/>
                          </a:solidFill>
                        </a:rPr>
                        <a:t>Supervisor, admin</a:t>
                      </a:r>
                    </a:p>
                  </a:txBody>
                  <a:tcPr>
                    <a:solidFill>
                      <a:srgbClr val="F3ECE0"/>
                    </a:solidFill>
                  </a:tcPr>
                </a:tc>
              </a:tr>
              <a:tr h="365760">
                <a:tc>
                  <a:txBody>
                    <a:bodyPr/>
                    <a:lstStyle/>
                    <a:p>
                      <a:r>
                        <a:rPr sz="1050">
                          <a:solidFill>
                            <a:srgbClr val="1B2A33"/>
                          </a:solidFill>
                        </a:rPr>
                        <a:t>See what escalated</a:t>
                      </a:r>
                    </a:p>
                  </a:txBody>
                  <a:tcPr>
                    <a:solidFill>
                      <a:srgbClr val="FFFFFF"/>
                    </a:solidFill>
                  </a:tcPr>
                </a:tc>
                <a:tc>
                  <a:txBody>
                    <a:bodyPr/>
                    <a:lstStyle/>
                    <a:p>
                      <a:r>
                        <a:rPr sz="1050">
                          <a:solidFill>
                            <a:srgbClr val="1B2A33"/>
                          </a:solidFill>
                        </a:rPr>
                        <a:t>Escalations</a:t>
                      </a:r>
                    </a:p>
                  </a:txBody>
                  <a:tcPr>
                    <a:solidFill>
                      <a:srgbClr val="FFFFFF"/>
                    </a:solidFill>
                  </a:tcPr>
                </a:tc>
                <a:tc>
                  <a:txBody>
                    <a:bodyPr/>
                    <a:lstStyle/>
                    <a:p>
                      <a:r>
                        <a:rPr sz="1050">
                          <a:solidFill>
                            <a:srgbClr val="1B2A33"/>
                          </a:solidFill>
                        </a:rPr>
                        <a:t>Supervisor, admin</a:t>
                      </a:r>
                    </a:p>
                  </a:txBody>
                  <a:tcPr>
                    <a:solidFill>
                      <a:srgbClr val="FFFFFF"/>
                    </a:solidFill>
                  </a:tcPr>
                </a:tc>
              </a:tr>
              <a:tr h="365760">
                <a:tc>
                  <a:txBody>
                    <a:bodyPr/>
                    <a:lstStyle/>
                    <a:p>
                      <a:r>
                        <a:rPr sz="1050">
                          <a:solidFill>
                            <a:srgbClr val="1B2A33"/>
                          </a:solidFill>
                        </a:rPr>
                        <a:t>Check deadlines</a:t>
                      </a:r>
                    </a:p>
                  </a:txBody>
                  <a:tcPr>
                    <a:solidFill>
                      <a:srgbClr val="F3ECE0"/>
                    </a:solidFill>
                  </a:tcPr>
                </a:tc>
                <a:tc>
                  <a:txBody>
                    <a:bodyPr/>
                    <a:lstStyle/>
                    <a:p>
                      <a:r>
                        <a:rPr sz="1050">
                          <a:solidFill>
                            <a:srgbClr val="1B2A33"/>
                          </a:solidFill>
                        </a:rPr>
                        <a:t>SLA Monitor</a:t>
                      </a:r>
                    </a:p>
                  </a:txBody>
                  <a:tcPr>
                    <a:solidFill>
                      <a:srgbClr val="F3ECE0"/>
                    </a:solidFill>
                  </a:tcPr>
                </a:tc>
                <a:tc>
                  <a:txBody>
                    <a:bodyPr/>
                    <a:lstStyle/>
                    <a:p>
                      <a:r>
                        <a:rPr sz="1050">
                          <a:solidFill>
                            <a:srgbClr val="1B2A33"/>
                          </a:solidFill>
                        </a:rPr>
                        <a:t>Supervisor, admin</a:t>
                      </a:r>
                    </a:p>
                  </a:txBody>
                  <a:tcPr>
                    <a:solidFill>
                      <a:srgbClr val="F3ECE0"/>
                    </a:solidFill>
                  </a:tcPr>
                </a:tc>
              </a:tr>
              <a:tr h="365760">
                <a:tc>
                  <a:txBody>
                    <a:bodyPr/>
                    <a:lstStyle/>
                    <a:p>
                      <a:r>
                        <a:rPr sz="1050">
                          <a:solidFill>
                            <a:srgbClr val="1B2A33"/>
                          </a:solidFill>
                        </a:rPr>
                        <a:t>Add or change a user</a:t>
                      </a:r>
                    </a:p>
                  </a:txBody>
                  <a:tcPr>
                    <a:solidFill>
                      <a:srgbClr val="FFFFFF"/>
                    </a:solidFill>
                  </a:tcPr>
                </a:tc>
                <a:tc>
                  <a:txBody>
                    <a:bodyPr/>
                    <a:lstStyle/>
                    <a:p>
                      <a:r>
                        <a:rPr sz="1050">
                          <a:solidFill>
                            <a:srgbClr val="1B2A33"/>
                          </a:solidFill>
                        </a:rPr>
                        <a:t>Users</a:t>
                      </a:r>
                    </a:p>
                  </a:txBody>
                  <a:tcPr>
                    <a:solidFill>
                      <a:srgbClr val="FFFFFF"/>
                    </a:solidFill>
                  </a:tcPr>
                </a:tc>
                <a:tc>
                  <a:txBody>
                    <a:bodyPr/>
                    <a:lstStyle/>
                    <a:p>
                      <a:r>
                        <a:rPr sz="1050">
                          <a:solidFill>
                            <a:srgbClr val="1B2A33"/>
                          </a:solidFill>
                        </a:rPr>
                        <a:t>Admin</a:t>
                      </a:r>
                    </a:p>
                  </a:txBody>
                  <a:tcPr>
                    <a:solidFill>
                      <a:srgbClr val="FFFFFF"/>
                    </a:solidFill>
                  </a:tcPr>
                </a:tc>
              </a:tr>
              <a:tr h="365760">
                <a:tc>
                  <a:txBody>
                    <a:bodyPr/>
                    <a:lstStyle/>
                    <a:p>
                      <a:r>
                        <a:rPr sz="1050">
                          <a:solidFill>
                            <a:srgbClr val="1B2A33"/>
                          </a:solidFill>
                        </a:rPr>
                        <a:t>Change the org tree</a:t>
                      </a:r>
                    </a:p>
                  </a:txBody>
                  <a:tcPr>
                    <a:solidFill>
                      <a:srgbClr val="F3ECE0"/>
                    </a:solidFill>
                  </a:tcPr>
                </a:tc>
                <a:tc>
                  <a:txBody>
                    <a:bodyPr/>
                    <a:lstStyle/>
                    <a:p>
                      <a:r>
                        <a:rPr sz="1050">
                          <a:solidFill>
                            <a:srgbClr val="1B2A33"/>
                          </a:solidFill>
                        </a:rPr>
                        <a:t>Org Management</a:t>
                      </a:r>
                    </a:p>
                  </a:txBody>
                  <a:tcPr>
                    <a:solidFill>
                      <a:srgbClr val="F3ECE0"/>
                    </a:solidFill>
                  </a:tcPr>
                </a:tc>
                <a:tc>
                  <a:txBody>
                    <a:bodyPr/>
                    <a:lstStyle/>
                    <a:p>
                      <a:r>
                        <a:rPr sz="1050">
                          <a:solidFill>
                            <a:srgbClr val="1B2A33"/>
                          </a:solidFill>
                        </a:rPr>
                        <a:t>Admin</a:t>
                      </a:r>
                    </a:p>
                  </a:txBody>
                  <a:tcPr>
                    <a:solidFill>
                      <a:srgbClr val="F3ECE0"/>
                    </a:solidFill>
                  </a:tcPr>
                </a:tc>
              </a:tr>
              <a:tr h="365760">
                <a:tc>
                  <a:txBody>
                    <a:bodyPr/>
                    <a:lstStyle/>
                    <a:p>
                      <a:r>
                        <a:rPr sz="1050">
                          <a:solidFill>
                            <a:srgbClr val="1B2A33"/>
                          </a:solidFill>
                        </a:rPr>
                        <a:t>Export figures</a:t>
                      </a:r>
                    </a:p>
                  </a:txBody>
                  <a:tcPr>
                    <a:solidFill>
                      <a:srgbClr val="FFFFFF"/>
                    </a:solidFill>
                  </a:tcPr>
                </a:tc>
                <a:tc>
                  <a:txBody>
                    <a:bodyPr/>
                    <a:lstStyle/>
                    <a:p>
                      <a:r>
                        <a:rPr sz="1050">
                          <a:solidFill>
                            <a:srgbClr val="1B2A33"/>
                          </a:solidFill>
                        </a:rPr>
                        <a:t>Reports → CSV / PDF / Excel</a:t>
                      </a:r>
                    </a:p>
                  </a:txBody>
                  <a:tcPr>
                    <a:solidFill>
                      <a:srgbClr val="FFFFFF"/>
                    </a:solidFill>
                  </a:tcPr>
                </a:tc>
                <a:tc>
                  <a:txBody>
                    <a:bodyPr/>
                    <a:lstStyle/>
                    <a:p>
                      <a:r>
                        <a:rPr sz="1050">
                          <a:solidFill>
                            <a:srgbClr val="1B2A33"/>
                          </a:solidFill>
                        </a:rPr>
                        <a:t>Supervisor, admin, auditor</a:t>
                      </a:r>
                    </a:p>
                  </a:txBody>
                  <a:tcPr>
                    <a:solidFill>
                      <a:srgbClr val="FFFFFF"/>
                    </a:solidFill>
                  </a:tcPr>
                </a:tc>
              </a:tr>
              <a:tr h="365760">
                <a:tc>
                  <a:txBody>
                    <a:bodyPr/>
                    <a:lstStyle/>
                    <a:p>
                      <a:r>
                        <a:rPr sz="1050">
                          <a:solidFill>
                            <a:srgbClr val="1B2A33"/>
                          </a:solidFill>
                        </a:rPr>
                        <a:t>Review who changed what</a:t>
                      </a:r>
                    </a:p>
                  </a:txBody>
                  <a:tcPr>
                    <a:solidFill>
                      <a:srgbClr val="F3ECE0"/>
                    </a:solidFill>
                  </a:tcPr>
                </a:tc>
                <a:tc>
                  <a:txBody>
                    <a:bodyPr/>
                    <a:lstStyle/>
                    <a:p>
                      <a:r>
                        <a:rPr sz="1050">
                          <a:solidFill>
                            <a:srgbClr val="1B2A33"/>
                          </a:solidFill>
                        </a:rPr>
                        <a:t>Audit</a:t>
                      </a:r>
                    </a:p>
                  </a:txBody>
                  <a:tcPr>
                    <a:solidFill>
                      <a:srgbClr val="F3ECE0"/>
                    </a:solidFill>
                  </a:tcPr>
                </a:tc>
                <a:tc>
                  <a:txBody>
                    <a:bodyPr/>
                    <a:lstStyle/>
                    <a:p>
                      <a:r>
                        <a:rPr sz="1050">
                          <a:solidFill>
                            <a:srgbClr val="1B2A33"/>
                          </a:solidFill>
                        </a:rPr>
                        <a:t>Admin, auditor</a:t>
                      </a:r>
                    </a:p>
                  </a:txBody>
                  <a:tcPr>
                    <a:solidFill>
                      <a:srgbClr val="F3ECE0"/>
                    </a:solidFill>
                  </a:tcPr>
                </a:tc>
              </a:tr>
              <a:tr h="365760">
                <a:tc>
                  <a:txBody>
                    <a:bodyPr/>
                    <a:lstStyle/>
                    <a:p>
                      <a:r>
                        <a:rPr sz="1050">
                          <a:solidFill>
                            <a:srgbClr val="1B2A33"/>
                          </a:solidFill>
                        </a:rPr>
                        <a:t>Turn on my second factor</a:t>
                      </a:r>
                    </a:p>
                  </a:txBody>
                  <a:tcPr>
                    <a:solidFill>
                      <a:srgbClr val="FFFFFF"/>
                    </a:solidFill>
                  </a:tcPr>
                </a:tc>
                <a:tc>
                  <a:txBody>
                    <a:bodyPr/>
                    <a:lstStyle/>
                    <a:p>
                      <a:r>
                        <a:rPr sz="1050">
                          <a:solidFill>
                            <a:srgbClr val="1B2A33"/>
                          </a:solidFill>
                        </a:rPr>
                        <a:t>Security</a:t>
                      </a:r>
                    </a:p>
                  </a:txBody>
                  <a:tcPr>
                    <a:solidFill>
                      <a:srgbClr val="FFFFFF"/>
                    </a:solidFill>
                  </a:tcPr>
                </a:tc>
                <a:tc>
                  <a:txBody>
                    <a:bodyPr/>
                    <a:lstStyle/>
                    <a:p>
                      <a:r>
                        <a:rPr sz="1050">
                          <a:solidFill>
                            <a:srgbClr val="1B2A33"/>
                          </a:solidFill>
                        </a:rPr>
                        <a:t>Everyone</a:t>
                      </a:r>
                    </a:p>
                  </a:txBody>
                  <a:tcPr>
                    <a:solidFill>
                      <a:srgbClr val="FFFFFF"/>
                    </a:solidFill>
                  </a:tcPr>
                </a:tc>
              </a:tr>
            </a:tbl>
          </a:graphicData>
        </a:graphic>
      </p:graphicFrame>
      <p:sp>
        <p:nvSpPr>
          <p:cNvPr id="6" name="Rectangle 5"/>
          <p:cNvSpPr/>
          <p:nvPr/>
        </p:nvSpPr>
        <p:spPr>
          <a:xfrm>
            <a:off x="0" y="6473952"/>
            <a:ext cx="12191695" cy="384048"/>
          </a:xfrm>
          <a:prstGeom prst="rect">
            <a:avLst/>
          </a:prstGeom>
          <a:solidFill>
            <a:srgbClr val="F3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47104"/>
            <a:ext cx="8229600" cy="228600"/>
          </a:xfrm>
          <a:prstGeom prst="rect">
            <a:avLst/>
          </a:prstGeom>
          <a:noFill/>
        </p:spPr>
        <p:txBody>
          <a:bodyPr wrap="square" anchor="t" lIns="0" rIns="0" tIns="0" bIns="0">
            <a:spAutoFit/>
          </a:bodyPr>
          <a:lstStyle/>
          <a:p>
            <a:pPr algn="l">
              <a:lnSpc>
                <a:spcPct val="115000"/>
              </a:lnSpc>
            </a:pPr>
            <a:r>
              <a:rPr sz="900" b="0">
                <a:solidFill>
                  <a:srgbClr val="5B6B75"/>
                </a:solidFill>
                <a:latin typeface="Calibri"/>
              </a:rPr>
              <a:t>SUCCESS Bank — Internal Ticketing · Standard Operating Procedure</a:t>
            </a:r>
          </a:p>
        </p:txBody>
      </p:sp>
      <p:sp>
        <p:nvSpPr>
          <p:cNvPr id="8" name="TextBox 7"/>
          <p:cNvSpPr txBox="1"/>
          <p:nvPr/>
        </p:nvSpPr>
        <p:spPr>
          <a:xfrm>
            <a:off x="9997135" y="6547104"/>
            <a:ext cx="1691640" cy="228600"/>
          </a:xfrm>
          <a:prstGeom prst="rect">
            <a:avLst/>
          </a:prstGeom>
          <a:noFill/>
        </p:spPr>
        <p:txBody>
          <a:bodyPr wrap="square" anchor="t" lIns="0" rIns="0" tIns="0" bIns="0">
            <a:spAutoFit/>
          </a:bodyPr>
          <a:lstStyle/>
          <a:p>
            <a:pPr algn="r">
              <a:lnSpc>
                <a:spcPct val="115000"/>
              </a:lnSpc>
            </a:pPr>
            <a:r>
              <a:rPr sz="900" b="0">
                <a:solidFill>
                  <a:srgbClr val="5B6B75"/>
                </a:solidFill>
                <a:latin typeface="Calibri"/>
              </a:rPr>
              <a:t>Reference</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0E4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82880"/>
            <a:ext cx="10515600" cy="320040"/>
          </a:xfrm>
          <a:prstGeom prst="rect">
            <a:avLst/>
          </a:prstGeom>
          <a:noFill/>
        </p:spPr>
        <p:txBody>
          <a:bodyPr wrap="square" anchor="t" lIns="0" rIns="0" tIns="0" bIns="0">
            <a:spAutoFit/>
          </a:bodyPr>
          <a:lstStyle/>
          <a:p>
            <a:pPr algn="l">
              <a:lnSpc>
                <a:spcPct val="115000"/>
              </a:lnSpc>
            </a:pPr>
            <a:r>
              <a:rPr sz="2300" b="1">
                <a:solidFill>
                  <a:srgbClr val="FFFFFF"/>
                </a:solidFill>
                <a:latin typeface="Calibri"/>
              </a:rPr>
              <a:t>What this system does not do</a:t>
            </a:r>
          </a:p>
        </p:txBody>
      </p:sp>
      <p:sp>
        <p:nvSpPr>
          <p:cNvPr id="4" name="TextBox 3"/>
          <p:cNvSpPr txBox="1"/>
          <p:nvPr/>
        </p:nvSpPr>
        <p:spPr>
          <a:xfrm>
            <a:off x="502920" y="548640"/>
            <a:ext cx="10515600" cy="256032"/>
          </a:xfrm>
          <a:prstGeom prst="rect">
            <a:avLst/>
          </a:prstGeom>
          <a:noFill/>
        </p:spPr>
        <p:txBody>
          <a:bodyPr wrap="square" anchor="t" lIns="0" rIns="0" tIns="0" bIns="0">
            <a:spAutoFit/>
          </a:bodyPr>
          <a:lstStyle/>
          <a:p>
            <a:pPr algn="l">
              <a:lnSpc>
                <a:spcPct val="115000"/>
              </a:lnSpc>
            </a:pPr>
            <a:r>
              <a:rPr sz="1150" b="0">
                <a:solidFill>
                  <a:srgbClr val="F3ECE0"/>
                </a:solidFill>
                <a:latin typeface="Calibri"/>
              </a:rPr>
              <a:t>Stated plainly, so nobody waits for a feature that is not coming today</a:t>
            </a:r>
          </a:p>
        </p:txBody>
      </p:sp>
      <p:sp>
        <p:nvSpPr>
          <p:cNvPr id="5" name="Rectangle 4"/>
          <p:cNvSpPr/>
          <p:nvPr/>
        </p:nvSpPr>
        <p:spPr>
          <a:xfrm>
            <a:off x="548640" y="1234440"/>
            <a:ext cx="11064240" cy="768096"/>
          </a:xfrm>
          <a:prstGeom prst="rect">
            <a:avLst/>
          </a:prstGeom>
          <a:solidFill>
            <a:srgbClr val="F3ECE0"/>
          </a:solidFill>
          <a:ln w="12700">
            <a:solidFill>
              <a:srgbClr val="D6CE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362456"/>
            <a:ext cx="3657600" cy="274320"/>
          </a:xfrm>
          <a:prstGeom prst="rect">
            <a:avLst/>
          </a:prstGeom>
          <a:noFill/>
        </p:spPr>
        <p:txBody>
          <a:bodyPr wrap="square" anchor="t" lIns="0" rIns="0" tIns="0" bIns="0">
            <a:spAutoFit/>
          </a:bodyPr>
          <a:lstStyle/>
          <a:p>
            <a:pPr algn="l">
              <a:lnSpc>
                <a:spcPct val="115000"/>
              </a:lnSpc>
            </a:pPr>
            <a:r>
              <a:rPr sz="1250" b="1">
                <a:solidFill>
                  <a:srgbClr val="C25B2E"/>
                </a:solidFill>
                <a:latin typeface="Calibri"/>
              </a:rPr>
              <a:t>No approval workflow</a:t>
            </a:r>
          </a:p>
        </p:txBody>
      </p:sp>
      <p:sp>
        <p:nvSpPr>
          <p:cNvPr id="7" name="TextBox 6"/>
          <p:cNvSpPr txBox="1"/>
          <p:nvPr/>
        </p:nvSpPr>
        <p:spPr>
          <a:xfrm>
            <a:off x="4663440" y="1362456"/>
            <a:ext cx="6766560" cy="548640"/>
          </a:xfrm>
          <a:prstGeom prst="rect">
            <a:avLst/>
          </a:prstGeom>
          <a:noFill/>
        </p:spPr>
        <p:txBody>
          <a:bodyPr wrap="square" anchor="t" lIns="0" rIns="0" tIns="0" bIns="0">
            <a:spAutoFit/>
          </a:bodyPr>
          <a:lstStyle/>
          <a:p>
            <a:pPr algn="l">
              <a:lnSpc>
                <a:spcPct val="120000"/>
              </a:lnSpc>
            </a:pPr>
            <a:r>
              <a:rPr sz="1150" b="0">
                <a:solidFill>
                  <a:srgbClr val="1B2A33"/>
                </a:solidFill>
                <a:latin typeface="Calibri"/>
              </a:rPr>
              <a:t>Nothing routes for sign-off before proceeding.</a:t>
            </a:r>
          </a:p>
        </p:txBody>
      </p:sp>
      <p:sp>
        <p:nvSpPr>
          <p:cNvPr id="8" name="Rectangle 7"/>
          <p:cNvSpPr/>
          <p:nvPr/>
        </p:nvSpPr>
        <p:spPr>
          <a:xfrm>
            <a:off x="548640" y="2148840"/>
            <a:ext cx="11064240" cy="768096"/>
          </a:xfrm>
          <a:prstGeom prst="rect">
            <a:avLst/>
          </a:prstGeom>
          <a:solidFill>
            <a:srgbClr val="F3ECE0"/>
          </a:solidFill>
          <a:ln w="12700">
            <a:solidFill>
              <a:srgbClr val="D6CE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276856"/>
            <a:ext cx="3657600" cy="274320"/>
          </a:xfrm>
          <a:prstGeom prst="rect">
            <a:avLst/>
          </a:prstGeom>
          <a:noFill/>
        </p:spPr>
        <p:txBody>
          <a:bodyPr wrap="square" anchor="t" lIns="0" rIns="0" tIns="0" bIns="0">
            <a:spAutoFit/>
          </a:bodyPr>
          <a:lstStyle/>
          <a:p>
            <a:pPr algn="l">
              <a:lnSpc>
                <a:spcPct val="115000"/>
              </a:lnSpc>
            </a:pPr>
            <a:r>
              <a:rPr sz="1250" b="1">
                <a:solidFill>
                  <a:srgbClr val="C25B2E"/>
                </a:solidFill>
                <a:latin typeface="Calibri"/>
              </a:rPr>
              <a:t>No in-app notifications</a:t>
            </a:r>
          </a:p>
        </p:txBody>
      </p:sp>
      <p:sp>
        <p:nvSpPr>
          <p:cNvPr id="10" name="TextBox 9"/>
          <p:cNvSpPr txBox="1"/>
          <p:nvPr/>
        </p:nvSpPr>
        <p:spPr>
          <a:xfrm>
            <a:off x="4663440" y="2276856"/>
            <a:ext cx="6766560" cy="548640"/>
          </a:xfrm>
          <a:prstGeom prst="rect">
            <a:avLst/>
          </a:prstGeom>
          <a:noFill/>
        </p:spPr>
        <p:txBody>
          <a:bodyPr wrap="square" anchor="t" lIns="0" rIns="0" tIns="0" bIns="0">
            <a:spAutoFit/>
          </a:bodyPr>
          <a:lstStyle/>
          <a:p>
            <a:pPr algn="l">
              <a:lnSpc>
                <a:spcPct val="120000"/>
              </a:lnSpc>
            </a:pPr>
            <a:r>
              <a:rPr sz="1150" b="0">
                <a:solidFill>
                  <a:srgbClr val="1B2A33"/>
                </a:solidFill>
                <a:latin typeface="Calibri"/>
              </a:rPr>
              <a:t>Notifications are email only. There is no bell icon.</a:t>
            </a:r>
          </a:p>
        </p:txBody>
      </p:sp>
      <p:sp>
        <p:nvSpPr>
          <p:cNvPr id="11" name="Rectangle 10"/>
          <p:cNvSpPr/>
          <p:nvPr/>
        </p:nvSpPr>
        <p:spPr>
          <a:xfrm>
            <a:off x="548640" y="3063240"/>
            <a:ext cx="11064240" cy="768096"/>
          </a:xfrm>
          <a:prstGeom prst="rect">
            <a:avLst/>
          </a:prstGeom>
          <a:solidFill>
            <a:srgbClr val="F3ECE0"/>
          </a:solidFill>
          <a:ln w="12700">
            <a:solidFill>
              <a:srgbClr val="D6CE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3191256"/>
            <a:ext cx="3657600" cy="274320"/>
          </a:xfrm>
          <a:prstGeom prst="rect">
            <a:avLst/>
          </a:prstGeom>
          <a:noFill/>
        </p:spPr>
        <p:txBody>
          <a:bodyPr wrap="square" anchor="t" lIns="0" rIns="0" tIns="0" bIns="0">
            <a:spAutoFit/>
          </a:bodyPr>
          <a:lstStyle/>
          <a:p>
            <a:pPr algn="l">
              <a:lnSpc>
                <a:spcPct val="115000"/>
              </a:lnSpc>
            </a:pPr>
            <a:r>
              <a:rPr sz="1250" b="1">
                <a:solidFill>
                  <a:srgbClr val="C25B2E"/>
                </a:solidFill>
                <a:latin typeface="Calibri"/>
              </a:rPr>
              <a:t>No ticket merging</a:t>
            </a:r>
          </a:p>
        </p:txBody>
      </p:sp>
      <p:sp>
        <p:nvSpPr>
          <p:cNvPr id="13" name="TextBox 12"/>
          <p:cNvSpPr txBox="1"/>
          <p:nvPr/>
        </p:nvSpPr>
        <p:spPr>
          <a:xfrm>
            <a:off x="4663440" y="3191256"/>
            <a:ext cx="6766560" cy="548640"/>
          </a:xfrm>
          <a:prstGeom prst="rect">
            <a:avLst/>
          </a:prstGeom>
          <a:noFill/>
        </p:spPr>
        <p:txBody>
          <a:bodyPr wrap="square" anchor="t" lIns="0" rIns="0" tIns="0" bIns="0">
            <a:spAutoFit/>
          </a:bodyPr>
          <a:lstStyle/>
          <a:p>
            <a:pPr algn="l">
              <a:lnSpc>
                <a:spcPct val="120000"/>
              </a:lnSpc>
            </a:pPr>
            <a:r>
              <a:rPr sz="1150" b="0">
                <a:solidFill>
                  <a:srgbClr val="1B2A33"/>
                </a:solidFill>
                <a:latin typeface="Calibri"/>
              </a:rPr>
              <a:t>Duplicates can be marked as such, but two tickets cannot be combined into one.</a:t>
            </a:r>
          </a:p>
        </p:txBody>
      </p:sp>
      <p:sp>
        <p:nvSpPr>
          <p:cNvPr id="14" name="Rectangle 13"/>
          <p:cNvSpPr/>
          <p:nvPr/>
        </p:nvSpPr>
        <p:spPr>
          <a:xfrm>
            <a:off x="548640" y="3977640"/>
            <a:ext cx="11064240" cy="768096"/>
          </a:xfrm>
          <a:prstGeom prst="rect">
            <a:avLst/>
          </a:prstGeom>
          <a:solidFill>
            <a:srgbClr val="F3ECE0"/>
          </a:solidFill>
          <a:ln w="12700">
            <a:solidFill>
              <a:srgbClr val="D6CE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4105656"/>
            <a:ext cx="3657600" cy="274320"/>
          </a:xfrm>
          <a:prstGeom prst="rect">
            <a:avLst/>
          </a:prstGeom>
          <a:noFill/>
        </p:spPr>
        <p:txBody>
          <a:bodyPr wrap="square" anchor="t" lIns="0" rIns="0" tIns="0" bIns="0">
            <a:spAutoFit/>
          </a:bodyPr>
          <a:lstStyle/>
          <a:p>
            <a:pPr algn="l">
              <a:lnSpc>
                <a:spcPct val="115000"/>
              </a:lnSpc>
            </a:pPr>
            <a:r>
              <a:rPr sz="1250" b="1">
                <a:solidFill>
                  <a:srgbClr val="C25B2E"/>
                </a:solidFill>
                <a:latin typeface="Calibri"/>
              </a:rPr>
              <a:t>No customer portal</a:t>
            </a:r>
          </a:p>
        </p:txBody>
      </p:sp>
      <p:sp>
        <p:nvSpPr>
          <p:cNvPr id="16" name="TextBox 15"/>
          <p:cNvSpPr txBox="1"/>
          <p:nvPr/>
        </p:nvSpPr>
        <p:spPr>
          <a:xfrm>
            <a:off x="4663440" y="4105656"/>
            <a:ext cx="6766560" cy="548640"/>
          </a:xfrm>
          <a:prstGeom prst="rect">
            <a:avLst/>
          </a:prstGeom>
          <a:noFill/>
        </p:spPr>
        <p:txBody>
          <a:bodyPr wrap="square" anchor="t" lIns="0" rIns="0" tIns="0" bIns="0">
            <a:spAutoFit/>
          </a:bodyPr>
          <a:lstStyle/>
          <a:p>
            <a:pPr algn="l">
              <a:lnSpc>
                <a:spcPct val="120000"/>
              </a:lnSpc>
            </a:pPr>
            <a:r>
              <a:rPr sz="1150" b="0">
                <a:solidFill>
                  <a:srgbClr val="1B2A33"/>
                </a:solidFill>
                <a:latin typeface="Calibri"/>
              </a:rPr>
              <a:t>Every account is an employee account; branch staff raise tickets on customers' behalf.</a:t>
            </a:r>
          </a:p>
        </p:txBody>
      </p:sp>
      <p:sp>
        <p:nvSpPr>
          <p:cNvPr id="17" name="Rectangle 16"/>
          <p:cNvSpPr/>
          <p:nvPr/>
        </p:nvSpPr>
        <p:spPr>
          <a:xfrm>
            <a:off x="548640" y="4892040"/>
            <a:ext cx="11064240" cy="768096"/>
          </a:xfrm>
          <a:prstGeom prst="rect">
            <a:avLst/>
          </a:prstGeom>
          <a:solidFill>
            <a:srgbClr val="F3ECE0"/>
          </a:solidFill>
          <a:ln w="12700">
            <a:solidFill>
              <a:srgbClr val="D6CE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5020056"/>
            <a:ext cx="3657600" cy="274320"/>
          </a:xfrm>
          <a:prstGeom prst="rect">
            <a:avLst/>
          </a:prstGeom>
          <a:noFill/>
        </p:spPr>
        <p:txBody>
          <a:bodyPr wrap="square" anchor="t" lIns="0" rIns="0" tIns="0" bIns="0">
            <a:spAutoFit/>
          </a:bodyPr>
          <a:lstStyle/>
          <a:p>
            <a:pPr algn="l">
              <a:lnSpc>
                <a:spcPct val="115000"/>
              </a:lnSpc>
            </a:pPr>
            <a:r>
              <a:rPr sz="1250" b="1">
                <a:solidFill>
                  <a:srgbClr val="C25B2E"/>
                </a:solidFill>
                <a:latin typeface="Calibri"/>
              </a:rPr>
              <a:t>No per-user permissions</a:t>
            </a:r>
          </a:p>
        </p:txBody>
      </p:sp>
      <p:sp>
        <p:nvSpPr>
          <p:cNvPr id="19" name="TextBox 18"/>
          <p:cNvSpPr txBox="1"/>
          <p:nvPr/>
        </p:nvSpPr>
        <p:spPr>
          <a:xfrm>
            <a:off x="4663440" y="5020056"/>
            <a:ext cx="6766560" cy="548640"/>
          </a:xfrm>
          <a:prstGeom prst="rect">
            <a:avLst/>
          </a:prstGeom>
          <a:noFill/>
        </p:spPr>
        <p:txBody>
          <a:bodyPr wrap="square" anchor="t" lIns="0" rIns="0" tIns="0" bIns="0">
            <a:spAutoFit/>
          </a:bodyPr>
          <a:lstStyle/>
          <a:p>
            <a:pPr algn="l">
              <a:lnSpc>
                <a:spcPct val="120000"/>
              </a:lnSpc>
            </a:pPr>
            <a:r>
              <a:rPr sz="1150" b="0">
                <a:solidFill>
                  <a:srgbClr val="1B2A33"/>
                </a:solidFill>
                <a:latin typeface="Calibri"/>
              </a:rPr>
              <a:t>One role per user. Anything finer is expressed through the org tree.</a:t>
            </a:r>
          </a:p>
        </p:txBody>
      </p:sp>
      <p:sp>
        <p:nvSpPr>
          <p:cNvPr id="20" name="TextBox 19"/>
          <p:cNvSpPr txBox="1"/>
          <p:nvPr/>
        </p:nvSpPr>
        <p:spPr>
          <a:xfrm>
            <a:off x="548640" y="5943600"/>
            <a:ext cx="11064240" cy="365760"/>
          </a:xfrm>
          <a:prstGeom prst="rect">
            <a:avLst/>
          </a:prstGeom>
          <a:noFill/>
        </p:spPr>
        <p:txBody>
          <a:bodyPr wrap="square" anchor="t" lIns="0" rIns="0" tIns="0" bIns="0">
            <a:spAutoFit/>
          </a:bodyPr>
          <a:lstStyle/>
          <a:p>
            <a:pPr algn="l">
              <a:lnSpc>
                <a:spcPct val="115000"/>
              </a:lnSpc>
            </a:pPr>
            <a:r>
              <a:rPr sz="1150" b="0">
                <a:solidFill>
                  <a:srgbClr val="5B6B75"/>
                </a:solidFill>
                <a:latin typeface="Calibri"/>
              </a:rPr>
              <a:t>If one of these would help, it belongs on the ticket list — not in a workaround.</a:t>
            </a:r>
          </a:p>
        </p:txBody>
      </p:sp>
      <p:sp>
        <p:nvSpPr>
          <p:cNvPr id="21" name="Rectangle 20"/>
          <p:cNvSpPr/>
          <p:nvPr/>
        </p:nvSpPr>
        <p:spPr>
          <a:xfrm>
            <a:off x="0" y="6473952"/>
            <a:ext cx="12191695" cy="384048"/>
          </a:xfrm>
          <a:prstGeom prst="rect">
            <a:avLst/>
          </a:prstGeom>
          <a:solidFill>
            <a:srgbClr val="F3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2920" y="6547104"/>
            <a:ext cx="8229600" cy="228600"/>
          </a:xfrm>
          <a:prstGeom prst="rect">
            <a:avLst/>
          </a:prstGeom>
          <a:noFill/>
        </p:spPr>
        <p:txBody>
          <a:bodyPr wrap="square" anchor="t" lIns="0" rIns="0" tIns="0" bIns="0">
            <a:spAutoFit/>
          </a:bodyPr>
          <a:lstStyle/>
          <a:p>
            <a:pPr algn="l">
              <a:lnSpc>
                <a:spcPct val="115000"/>
              </a:lnSpc>
            </a:pPr>
            <a:r>
              <a:rPr sz="900" b="0">
                <a:solidFill>
                  <a:srgbClr val="5B6B75"/>
                </a:solidFill>
                <a:latin typeface="Calibri"/>
              </a:rPr>
              <a:t>SUCCESS Bank — Internal Ticketing · Standard Operating Procedure</a:t>
            </a:r>
          </a:p>
        </p:txBody>
      </p:sp>
      <p:sp>
        <p:nvSpPr>
          <p:cNvPr id="23" name="TextBox 22"/>
          <p:cNvSpPr txBox="1"/>
          <p:nvPr/>
        </p:nvSpPr>
        <p:spPr>
          <a:xfrm>
            <a:off x="9997135" y="6547104"/>
            <a:ext cx="1691640" cy="228600"/>
          </a:xfrm>
          <a:prstGeom prst="rect">
            <a:avLst/>
          </a:prstGeom>
          <a:noFill/>
        </p:spPr>
        <p:txBody>
          <a:bodyPr wrap="square" anchor="t" lIns="0" rIns="0" tIns="0" bIns="0">
            <a:spAutoFit/>
          </a:bodyPr>
          <a:lstStyle/>
          <a:p>
            <a:pPr algn="r">
              <a:lnSpc>
                <a:spcPct val="115000"/>
              </a:lnSpc>
            </a:pPr>
            <a:r>
              <a:rPr sz="900" b="0">
                <a:solidFill>
                  <a:srgbClr val="5B6B75"/>
                </a:solidFill>
                <a:latin typeface="Calibri"/>
              </a:rPr>
              <a:t>Reference</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0E4F4A"/>
        </a:solidFill>
        <a:effectLst/>
      </p:bgPr>
    </p:bg>
    <p:spTree>
      <p:nvGrpSpPr>
        <p:cNvPr id="1" name=""/>
        <p:cNvGrpSpPr/>
        <p:nvPr/>
      </p:nvGrpSpPr>
      <p:grpSpPr/>
      <p:sp>
        <p:nvSpPr>
          <p:cNvPr id="2" name="TextBox 1"/>
          <p:cNvSpPr txBox="1"/>
          <p:nvPr/>
        </p:nvSpPr>
        <p:spPr>
          <a:xfrm>
            <a:off x="914400" y="2377440"/>
            <a:ext cx="10607040" cy="960120"/>
          </a:xfrm>
          <a:prstGeom prst="rect">
            <a:avLst/>
          </a:prstGeom>
          <a:noFill/>
        </p:spPr>
        <p:txBody>
          <a:bodyPr wrap="square" anchor="t" lIns="0" rIns="0" tIns="0" bIns="0">
            <a:spAutoFit/>
          </a:bodyPr>
          <a:lstStyle/>
          <a:p>
            <a:pPr algn="l">
              <a:lnSpc>
                <a:spcPct val="120000"/>
              </a:lnSpc>
            </a:pPr>
            <a:r>
              <a:rPr sz="2600" b="1">
                <a:solidFill>
                  <a:srgbClr val="FFFFFF"/>
                </a:solidFill>
                <a:latin typeface="Calibri"/>
              </a:rPr>
              <a:t>Questions, or something here that does not</a:t>
            </a:r>
          </a:p>
          <a:p>
            <a:pPr algn="l">
              <a:lnSpc>
                <a:spcPct val="120000"/>
              </a:lnSpc>
            </a:pPr>
            <a:r>
              <a:rPr sz="2600" b="1">
                <a:solidFill>
                  <a:srgbClr val="FFFFFF"/>
                </a:solidFill>
                <a:latin typeface="Calibri"/>
              </a:rPr>
              <a:t>match what you see?</a:t>
            </a:r>
          </a:p>
        </p:txBody>
      </p:sp>
      <p:sp>
        <p:nvSpPr>
          <p:cNvPr id="3" name="TextBox 2"/>
          <p:cNvSpPr txBox="1"/>
          <p:nvPr/>
        </p:nvSpPr>
        <p:spPr>
          <a:xfrm>
            <a:off x="914400" y="3520440"/>
            <a:ext cx="10058400" cy="1280160"/>
          </a:xfrm>
          <a:prstGeom prst="rect">
            <a:avLst/>
          </a:prstGeom>
          <a:noFill/>
        </p:spPr>
        <p:txBody>
          <a:bodyPr wrap="square" anchor="t" lIns="0" rIns="0" tIns="0" bIns="0">
            <a:spAutoFit/>
          </a:bodyPr>
          <a:lstStyle/>
          <a:p>
            <a:pPr algn="l">
              <a:lnSpc>
                <a:spcPct val="140000"/>
              </a:lnSpc>
            </a:pPr>
            <a:r>
              <a:rPr sz="1500" b="0">
                <a:solidFill>
                  <a:srgbClr val="F3ECE0"/>
                </a:solidFill>
                <a:latin typeface="Calibri"/>
              </a:rPr>
              <a:t>This deck describes the application at commit 59ff422. If a screen has changed, the deck is wrong and not the application — raise it so this can be recaptured.</a:t>
            </a:r>
          </a:p>
          <a:p>
            <a:pPr algn="l">
              <a:lnSpc>
                <a:spcPct val="140000"/>
              </a:lnSpc>
            </a:pPr>
          </a:p>
          <a:p>
            <a:pPr algn="l">
              <a:lnSpc>
                <a:spcPct val="140000"/>
              </a:lnSpc>
            </a:pPr>
            <a:r>
              <a:rPr sz="1500" b="0">
                <a:solidFill>
                  <a:srgbClr val="F3ECE0"/>
                </a:solidFill>
                <a:latin typeface="Calibri"/>
              </a:rPr>
              <a:t>Operational procedures — deploying, restoring, what to do at 3am — are in docs/runbook.md.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