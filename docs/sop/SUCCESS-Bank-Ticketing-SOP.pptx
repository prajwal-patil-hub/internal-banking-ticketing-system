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999232"/>
            <a:ext cx="12191695" cy="54864"/>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188720"/>
            <a:ext cx="10058400" cy="457200"/>
          </a:xfrm>
          <a:prstGeom prst="rect">
            <a:avLst/>
          </a:prstGeom>
          <a:noFill/>
        </p:spPr>
        <p:txBody>
          <a:bodyPr wrap="square" anchor="t" lIns="0" rIns="0" tIns="0" bIns="0">
            <a:spAutoFit/>
          </a:bodyPr>
          <a:lstStyle/>
          <a:p>
            <a:pPr algn="l">
              <a:lnSpc>
                <a:spcPct val="115000"/>
              </a:lnSpc>
            </a:pPr>
            <a:r>
              <a:rPr sz="1500" b="1">
                <a:solidFill>
                  <a:srgbClr val="F3ECE0"/>
                </a:solidFill>
                <a:latin typeface="Calibri"/>
              </a:rPr>
              <a:t>STANDARD OPERATING PROCEDURE</a:t>
            </a:r>
          </a:p>
        </p:txBody>
      </p:sp>
      <p:sp>
        <p:nvSpPr>
          <p:cNvPr id="5" name="TextBox 4"/>
          <p:cNvSpPr txBox="1"/>
          <p:nvPr/>
        </p:nvSpPr>
        <p:spPr>
          <a:xfrm>
            <a:off x="914400" y="1554480"/>
            <a:ext cx="10607040" cy="1325880"/>
          </a:xfrm>
          <a:prstGeom prst="rect">
            <a:avLst/>
          </a:prstGeom>
          <a:noFill/>
        </p:spPr>
        <p:txBody>
          <a:bodyPr wrap="square" anchor="t" lIns="0" rIns="0" tIns="0" bIns="0">
            <a:spAutoFit/>
          </a:bodyPr>
          <a:lstStyle/>
          <a:p>
            <a:pPr algn="l">
              <a:lnSpc>
                <a:spcPct val="112000"/>
              </a:lnSpc>
            </a:pPr>
            <a:r>
              <a:rPr sz="3800" b="1">
                <a:solidFill>
                  <a:srgbClr val="FFFFFF"/>
                </a:solidFill>
                <a:latin typeface="Calibri"/>
              </a:rPr>
              <a:t>SUCCESS Bank</a:t>
            </a:r>
          </a:p>
          <a:p>
            <a:pPr algn="l">
              <a:lnSpc>
                <a:spcPct val="112000"/>
              </a:lnSpc>
            </a:pPr>
            <a:r>
              <a:rPr sz="3800" b="1">
                <a:solidFill>
                  <a:srgbClr val="FFFFFF"/>
                </a:solidFill>
                <a:latin typeface="Calibri"/>
              </a:rPr>
              <a:t>Internal Ticketing</a:t>
            </a:r>
          </a:p>
        </p:txBody>
      </p:sp>
      <p:sp>
        <p:nvSpPr>
          <p:cNvPr id="6" name="TextBox 5"/>
          <p:cNvSpPr txBox="1"/>
          <p:nvPr/>
        </p:nvSpPr>
        <p:spPr>
          <a:xfrm>
            <a:off x="914400" y="3246120"/>
            <a:ext cx="9144000" cy="1005840"/>
          </a:xfrm>
          <a:prstGeom prst="rect">
            <a:avLst/>
          </a:prstGeom>
          <a:noFill/>
        </p:spPr>
        <p:txBody>
          <a:bodyPr wrap="square" anchor="t" lIns="0" rIns="0" tIns="0" bIns="0">
            <a:spAutoFit/>
          </a:bodyPr>
          <a:lstStyle/>
          <a:p>
            <a:pPr algn="l">
              <a:lnSpc>
                <a:spcPct val="135000"/>
              </a:lnSpc>
            </a:pPr>
            <a:r>
              <a:rPr sz="1700" b="0">
                <a:solidFill>
                  <a:srgbClr val="F3ECE0"/>
                </a:solidFill>
                <a:latin typeface="Calibri"/>
              </a:rPr>
              <a:t>A role-by-role operational guide.</a:t>
            </a:r>
          </a:p>
          <a:p>
            <a:pPr algn="l">
              <a:lnSpc>
                <a:spcPct val="135000"/>
              </a:lnSpc>
            </a:pPr>
            <a:r>
              <a:rPr sz="1700" b="0">
                <a:solidFill>
                  <a:srgbClr val="F3ECE0"/>
                </a:solidFill>
                <a:latin typeface="Calibri"/>
              </a:rPr>
              <a:t>Every screen in this deck was captured from the running application.</a:t>
            </a:r>
          </a:p>
        </p:txBody>
      </p:sp>
      <p:sp>
        <p:nvSpPr>
          <p:cNvPr id="7" name="Rectangle 6"/>
          <p:cNvSpPr/>
          <p:nvPr/>
        </p:nvSpPr>
        <p:spPr>
          <a:xfrm>
            <a:off x="914400" y="4343400"/>
            <a:ext cx="1874519" cy="1051560"/>
          </a:xfrm>
          <a:prstGeom prst="rect">
            <a:avLst/>
          </a:prstGeom>
          <a:solidFill>
            <a:srgbClr val="093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78992" y="4526280"/>
            <a:ext cx="1554480" cy="274320"/>
          </a:xfrm>
          <a:prstGeom prst="rect">
            <a:avLst/>
          </a:prstGeom>
          <a:noFill/>
        </p:spPr>
        <p:txBody>
          <a:bodyPr wrap="square" anchor="t" lIns="0" rIns="0" tIns="0" bIns="0">
            <a:spAutoFit/>
          </a:bodyPr>
          <a:lstStyle/>
          <a:p>
            <a:pPr algn="l">
              <a:lnSpc>
                <a:spcPct val="115000"/>
              </a:lnSpc>
            </a:pPr>
            <a:r>
              <a:rPr sz="1250" b="1">
                <a:solidFill>
                  <a:srgbClr val="FFFFFF"/>
                </a:solidFill>
                <a:latin typeface="Calibri"/>
              </a:rPr>
              <a:t>Branch User</a:t>
            </a:r>
          </a:p>
        </p:txBody>
      </p:sp>
      <p:sp>
        <p:nvSpPr>
          <p:cNvPr id="9" name="TextBox 8"/>
          <p:cNvSpPr txBox="1"/>
          <p:nvPr/>
        </p:nvSpPr>
        <p:spPr>
          <a:xfrm>
            <a:off x="1078992" y="4828032"/>
            <a:ext cx="1572768" cy="502920"/>
          </a:xfrm>
          <a:prstGeom prst="rect">
            <a:avLst/>
          </a:prstGeom>
          <a:noFill/>
        </p:spPr>
        <p:txBody>
          <a:bodyPr wrap="square" anchor="t" lIns="0" rIns="0" tIns="0" bIns="0">
            <a:spAutoFit/>
          </a:bodyPr>
          <a:lstStyle/>
          <a:p>
            <a:pPr algn="l">
              <a:lnSpc>
                <a:spcPct val="110000"/>
              </a:lnSpc>
            </a:pPr>
            <a:r>
              <a:rPr sz="950" b="0">
                <a:solidFill>
                  <a:srgbClr val="F3ECE0"/>
                </a:solidFill>
                <a:latin typeface="Calibri"/>
              </a:rPr>
              <a:t>raises the ticket</a:t>
            </a:r>
          </a:p>
        </p:txBody>
      </p:sp>
      <p:sp>
        <p:nvSpPr>
          <p:cNvPr id="10" name="Rectangle 9"/>
          <p:cNvSpPr/>
          <p:nvPr/>
        </p:nvSpPr>
        <p:spPr>
          <a:xfrm>
            <a:off x="2999231" y="4343400"/>
            <a:ext cx="1874519" cy="1051560"/>
          </a:xfrm>
          <a:prstGeom prst="rect">
            <a:avLst/>
          </a:prstGeom>
          <a:solidFill>
            <a:srgbClr val="093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163823" y="4526280"/>
            <a:ext cx="1554480" cy="274320"/>
          </a:xfrm>
          <a:prstGeom prst="rect">
            <a:avLst/>
          </a:prstGeom>
          <a:noFill/>
        </p:spPr>
        <p:txBody>
          <a:bodyPr wrap="square" anchor="t" lIns="0" rIns="0" tIns="0" bIns="0">
            <a:spAutoFit/>
          </a:bodyPr>
          <a:lstStyle/>
          <a:p>
            <a:pPr algn="l">
              <a:lnSpc>
                <a:spcPct val="115000"/>
              </a:lnSpc>
            </a:pPr>
            <a:r>
              <a:rPr sz="1250" b="1">
                <a:solidFill>
                  <a:srgbClr val="FFFFFF"/>
                </a:solidFill>
                <a:latin typeface="Calibri"/>
              </a:rPr>
              <a:t>Agent</a:t>
            </a:r>
          </a:p>
        </p:txBody>
      </p:sp>
      <p:sp>
        <p:nvSpPr>
          <p:cNvPr id="12" name="TextBox 11"/>
          <p:cNvSpPr txBox="1"/>
          <p:nvPr/>
        </p:nvSpPr>
        <p:spPr>
          <a:xfrm>
            <a:off x="3163823" y="4828032"/>
            <a:ext cx="1572768" cy="502920"/>
          </a:xfrm>
          <a:prstGeom prst="rect">
            <a:avLst/>
          </a:prstGeom>
          <a:noFill/>
        </p:spPr>
        <p:txBody>
          <a:bodyPr wrap="square" anchor="t" lIns="0" rIns="0" tIns="0" bIns="0">
            <a:spAutoFit/>
          </a:bodyPr>
          <a:lstStyle/>
          <a:p>
            <a:pPr algn="l">
              <a:lnSpc>
                <a:spcPct val="110000"/>
              </a:lnSpc>
            </a:pPr>
            <a:r>
              <a:rPr sz="950" b="0">
                <a:solidFill>
                  <a:srgbClr val="F3ECE0"/>
                </a:solidFill>
                <a:latin typeface="Calibri"/>
              </a:rPr>
              <a:t>works and resolves it</a:t>
            </a:r>
          </a:p>
        </p:txBody>
      </p:sp>
      <p:sp>
        <p:nvSpPr>
          <p:cNvPr id="13" name="Rectangle 12"/>
          <p:cNvSpPr/>
          <p:nvPr/>
        </p:nvSpPr>
        <p:spPr>
          <a:xfrm>
            <a:off x="5084062" y="4343400"/>
            <a:ext cx="1874519" cy="1051560"/>
          </a:xfrm>
          <a:prstGeom prst="rect">
            <a:avLst/>
          </a:prstGeom>
          <a:solidFill>
            <a:srgbClr val="093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248654" y="4526280"/>
            <a:ext cx="1554480" cy="274320"/>
          </a:xfrm>
          <a:prstGeom prst="rect">
            <a:avLst/>
          </a:prstGeom>
          <a:noFill/>
        </p:spPr>
        <p:txBody>
          <a:bodyPr wrap="square" anchor="t" lIns="0" rIns="0" tIns="0" bIns="0">
            <a:spAutoFit/>
          </a:bodyPr>
          <a:lstStyle/>
          <a:p>
            <a:pPr algn="l">
              <a:lnSpc>
                <a:spcPct val="115000"/>
              </a:lnSpc>
            </a:pPr>
            <a:r>
              <a:rPr sz="1250" b="1">
                <a:solidFill>
                  <a:srgbClr val="FFFFFF"/>
                </a:solidFill>
                <a:latin typeface="Calibri"/>
              </a:rPr>
              <a:t>Supervisor</a:t>
            </a:r>
          </a:p>
        </p:txBody>
      </p:sp>
      <p:sp>
        <p:nvSpPr>
          <p:cNvPr id="15" name="TextBox 14"/>
          <p:cNvSpPr txBox="1"/>
          <p:nvPr/>
        </p:nvSpPr>
        <p:spPr>
          <a:xfrm>
            <a:off x="5248654" y="4828032"/>
            <a:ext cx="1572768" cy="502920"/>
          </a:xfrm>
          <a:prstGeom prst="rect">
            <a:avLst/>
          </a:prstGeom>
          <a:noFill/>
        </p:spPr>
        <p:txBody>
          <a:bodyPr wrap="square" anchor="t" lIns="0" rIns="0" tIns="0" bIns="0">
            <a:spAutoFit/>
          </a:bodyPr>
          <a:lstStyle/>
          <a:p>
            <a:pPr algn="l">
              <a:lnSpc>
                <a:spcPct val="110000"/>
              </a:lnSpc>
            </a:pPr>
            <a:r>
              <a:rPr sz="950" b="0">
                <a:solidFill>
                  <a:srgbClr val="F3ECE0"/>
                </a:solidFill>
                <a:latin typeface="Calibri"/>
              </a:rPr>
              <a:t>watches SLA and escalations</a:t>
            </a:r>
          </a:p>
        </p:txBody>
      </p:sp>
      <p:sp>
        <p:nvSpPr>
          <p:cNvPr id="16" name="Rectangle 15"/>
          <p:cNvSpPr/>
          <p:nvPr/>
        </p:nvSpPr>
        <p:spPr>
          <a:xfrm>
            <a:off x="7168893" y="4343400"/>
            <a:ext cx="1874519" cy="1051560"/>
          </a:xfrm>
          <a:prstGeom prst="rect">
            <a:avLst/>
          </a:prstGeom>
          <a:solidFill>
            <a:srgbClr val="093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33485" y="4526280"/>
            <a:ext cx="1554480" cy="274320"/>
          </a:xfrm>
          <a:prstGeom prst="rect">
            <a:avLst/>
          </a:prstGeom>
          <a:noFill/>
        </p:spPr>
        <p:txBody>
          <a:bodyPr wrap="square" anchor="t" lIns="0" rIns="0" tIns="0" bIns="0">
            <a:spAutoFit/>
          </a:bodyPr>
          <a:lstStyle/>
          <a:p>
            <a:pPr algn="l">
              <a:lnSpc>
                <a:spcPct val="115000"/>
              </a:lnSpc>
            </a:pPr>
            <a:r>
              <a:rPr sz="1250" b="1">
                <a:solidFill>
                  <a:srgbClr val="FFFFFF"/>
                </a:solidFill>
                <a:latin typeface="Calibri"/>
              </a:rPr>
              <a:t>Admin</a:t>
            </a:r>
          </a:p>
        </p:txBody>
      </p:sp>
      <p:sp>
        <p:nvSpPr>
          <p:cNvPr id="18" name="TextBox 17"/>
          <p:cNvSpPr txBox="1"/>
          <p:nvPr/>
        </p:nvSpPr>
        <p:spPr>
          <a:xfrm>
            <a:off x="7333485" y="4828032"/>
            <a:ext cx="1572768" cy="502920"/>
          </a:xfrm>
          <a:prstGeom prst="rect">
            <a:avLst/>
          </a:prstGeom>
          <a:noFill/>
        </p:spPr>
        <p:txBody>
          <a:bodyPr wrap="square" anchor="t" lIns="0" rIns="0" tIns="0" bIns="0">
            <a:spAutoFit/>
          </a:bodyPr>
          <a:lstStyle/>
          <a:p>
            <a:pPr algn="l">
              <a:lnSpc>
                <a:spcPct val="110000"/>
              </a:lnSpc>
            </a:pPr>
            <a:r>
              <a:rPr sz="950" b="0">
                <a:solidFill>
                  <a:srgbClr val="F3ECE0"/>
                </a:solidFill>
                <a:latin typeface="Calibri"/>
              </a:rPr>
              <a:t>configures the system</a:t>
            </a:r>
          </a:p>
        </p:txBody>
      </p:sp>
      <p:sp>
        <p:nvSpPr>
          <p:cNvPr id="19" name="Rectangle 18"/>
          <p:cNvSpPr/>
          <p:nvPr/>
        </p:nvSpPr>
        <p:spPr>
          <a:xfrm>
            <a:off x="9253724" y="4343400"/>
            <a:ext cx="1874519" cy="1051560"/>
          </a:xfrm>
          <a:prstGeom prst="rect">
            <a:avLst/>
          </a:prstGeom>
          <a:solidFill>
            <a:srgbClr val="093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418316" y="4526280"/>
            <a:ext cx="1554480" cy="274320"/>
          </a:xfrm>
          <a:prstGeom prst="rect">
            <a:avLst/>
          </a:prstGeom>
          <a:noFill/>
        </p:spPr>
        <p:txBody>
          <a:bodyPr wrap="square" anchor="t" lIns="0" rIns="0" tIns="0" bIns="0">
            <a:spAutoFit/>
          </a:bodyPr>
          <a:lstStyle/>
          <a:p>
            <a:pPr algn="l">
              <a:lnSpc>
                <a:spcPct val="115000"/>
              </a:lnSpc>
            </a:pPr>
            <a:r>
              <a:rPr sz="1250" b="1">
                <a:solidFill>
                  <a:srgbClr val="FFFFFF"/>
                </a:solidFill>
                <a:latin typeface="Calibri"/>
              </a:rPr>
              <a:t>Auditor</a:t>
            </a:r>
          </a:p>
        </p:txBody>
      </p:sp>
      <p:sp>
        <p:nvSpPr>
          <p:cNvPr id="21" name="TextBox 20"/>
          <p:cNvSpPr txBox="1"/>
          <p:nvPr/>
        </p:nvSpPr>
        <p:spPr>
          <a:xfrm>
            <a:off x="9418316" y="4828032"/>
            <a:ext cx="1572768" cy="502920"/>
          </a:xfrm>
          <a:prstGeom prst="rect">
            <a:avLst/>
          </a:prstGeom>
          <a:noFill/>
        </p:spPr>
        <p:txBody>
          <a:bodyPr wrap="square" anchor="t" lIns="0" rIns="0" tIns="0" bIns="0">
            <a:spAutoFit/>
          </a:bodyPr>
          <a:lstStyle/>
          <a:p>
            <a:pPr algn="l">
              <a:lnSpc>
                <a:spcPct val="110000"/>
              </a:lnSpc>
            </a:pPr>
            <a:r>
              <a:rPr sz="950" b="0">
                <a:solidFill>
                  <a:srgbClr val="F3ECE0"/>
                </a:solidFill>
                <a:latin typeface="Calibri"/>
              </a:rPr>
              <a:t>reads everything, changes nothing</a:t>
            </a:r>
          </a:p>
        </p:txBody>
      </p:sp>
      <p:sp>
        <p:nvSpPr>
          <p:cNvPr id="22" name="TextBox 21"/>
          <p:cNvSpPr txBox="1"/>
          <p:nvPr/>
        </p:nvSpPr>
        <p:spPr>
          <a:xfrm>
            <a:off x="914400" y="5806440"/>
            <a:ext cx="10058400" cy="274320"/>
          </a:xfrm>
          <a:prstGeom prst="rect">
            <a:avLst/>
          </a:prstGeom>
          <a:noFill/>
        </p:spPr>
        <p:txBody>
          <a:bodyPr wrap="square" anchor="t" lIns="0" rIns="0" tIns="0" bIns="0">
            <a:spAutoFit/>
          </a:bodyPr>
          <a:lstStyle/>
          <a:p>
            <a:pPr algn="l">
              <a:lnSpc>
                <a:spcPct val="115000"/>
              </a:lnSpc>
            </a:pPr>
            <a:r>
              <a:rPr sz="1000" b="0">
                <a:solidFill>
                  <a:srgbClr val="F3ECE0"/>
                </a:solidFill>
                <a:latin typeface="Calibri"/>
              </a:rPr>
              <a:t>Version 1.0  ·  Built at commit 7dda03a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82880"/>
            <a:ext cx="10515600" cy="320040"/>
          </a:xfrm>
          <a:prstGeom prst="rect">
            <a:avLst/>
          </a:prstGeom>
          <a:noFill/>
        </p:spPr>
        <p:txBody>
          <a:bodyPr wrap="square" anchor="t" lIns="0" rIns="0" tIns="0" bIns="0">
            <a:spAutoFit/>
          </a:bodyPr>
          <a:lstStyle/>
          <a:p>
            <a:pPr algn="l">
              <a:lnSpc>
                <a:spcPct val="115000"/>
              </a:lnSpc>
            </a:pPr>
            <a:r>
              <a:rPr sz="2300" b="1">
                <a:solidFill>
                  <a:srgbClr val="FFFFFF"/>
                </a:solidFill>
                <a:latin typeface="Calibri"/>
              </a:rPr>
              <a:t>How to use this deck</a:t>
            </a:r>
          </a:p>
        </p:txBody>
      </p:sp>
      <p:sp>
        <p:nvSpPr>
          <p:cNvPr id="5" name="TextBox 4"/>
          <p:cNvSpPr txBox="1"/>
          <p:nvPr/>
        </p:nvSpPr>
        <p:spPr>
          <a:xfrm>
            <a:off x="502920" y="548640"/>
            <a:ext cx="10515600" cy="256032"/>
          </a:xfrm>
          <a:prstGeom prst="rect">
            <a:avLst/>
          </a:prstGeom>
          <a:noFill/>
        </p:spPr>
        <p:txBody>
          <a:bodyPr wrap="square" anchor="t" lIns="0" rIns="0" tIns="0" bIns="0">
            <a:spAutoFit/>
          </a:bodyPr>
          <a:lstStyle/>
          <a:p>
            <a:pPr algn="l">
              <a:lnSpc>
                <a:spcPct val="115000"/>
              </a:lnSpc>
            </a:pPr>
            <a:r>
              <a:rPr sz="1150" b="0">
                <a:solidFill>
                  <a:srgbClr val="F3ECE0"/>
                </a:solidFill>
                <a:latin typeface="Calibri"/>
              </a:rPr>
              <a:t>Read it in order the first time; use Section 14 as a desk reference after that</a:t>
            </a:r>
          </a:p>
        </p:txBody>
      </p:sp>
      <p:sp>
        <p:nvSpPr>
          <p:cNvPr id="6" name="TextBox 5"/>
          <p:cNvSpPr txBox="1"/>
          <p:nvPr/>
        </p:nvSpPr>
        <p:spPr>
          <a:xfrm>
            <a:off x="548640" y="1280160"/>
            <a:ext cx="5120640" cy="274320"/>
          </a:xfrm>
          <a:prstGeom prst="rect">
            <a:avLst/>
          </a:prstGeom>
          <a:noFill/>
        </p:spPr>
        <p:txBody>
          <a:bodyPr wrap="square" anchor="t" lIns="0" rIns="0" tIns="0" bIns="0">
            <a:spAutoFit/>
          </a:bodyPr>
          <a:lstStyle/>
          <a:p>
            <a:pPr algn="l">
              <a:lnSpc>
                <a:spcPct val="115000"/>
              </a:lnSpc>
            </a:pPr>
            <a:r>
              <a:rPr sz="1100" b="1">
                <a:solidFill>
                  <a:srgbClr val="C25B2E"/>
                </a:solidFill>
                <a:latin typeface="Calibri"/>
              </a:rPr>
              <a:t>WHAT THIS IS</a:t>
            </a:r>
          </a:p>
        </p:txBody>
      </p:sp>
      <p:sp>
        <p:nvSpPr>
          <p:cNvPr id="7" name="TextBox 6"/>
          <p:cNvSpPr txBox="1"/>
          <p:nvPr/>
        </p:nvSpPr>
        <p:spPr>
          <a:xfrm>
            <a:off x="548640" y="1600200"/>
            <a:ext cx="5120640" cy="2011680"/>
          </a:xfrm>
          <a:prstGeom prst="rect">
            <a:avLst/>
          </a:prstGeom>
          <a:noFill/>
        </p:spPr>
        <p:txBody>
          <a:bodyPr wrap="square" anchor="t" lIns="0" rIns="0" tIns="0" bIns="0">
            <a:spAutoFit/>
          </a:bodyPr>
          <a:lstStyle/>
          <a:p>
            <a:pPr algn="l">
              <a:lnSpc>
                <a:spcPct val="130000"/>
              </a:lnSpc>
            </a:pPr>
            <a:r>
              <a:rPr sz="1300" b="0">
                <a:solidFill>
                  <a:srgbClr val="1B2A33"/>
                </a:solidFill>
                <a:latin typeface="Calibri"/>
              </a:rPr>
              <a:t>A step-by-step operational guide. Each role is taken from signing in to a finished ticket, using screens captured from the running application.</a:t>
            </a:r>
          </a:p>
          <a:p>
            <a:pPr algn="l">
              <a:lnSpc>
                <a:spcPct val="130000"/>
              </a:lnSpc>
            </a:pPr>
          </a:p>
          <a:p>
            <a:pPr algn="l">
              <a:lnSpc>
                <a:spcPct val="130000"/>
              </a:lnSpc>
            </a:pPr>
            <a:r>
              <a:rPr sz="1300" b="0">
                <a:solidFill>
                  <a:srgbClr val="1B2A33"/>
                </a:solidFill>
                <a:latin typeface="Calibri"/>
              </a:rPr>
              <a:t>Every workflow slide follows the same shape: what you do, what the system does back, and who picks it up next.</a:t>
            </a:r>
          </a:p>
        </p:txBody>
      </p:sp>
      <p:sp>
        <p:nvSpPr>
          <p:cNvPr id="8" name="TextBox 7"/>
          <p:cNvSpPr txBox="1"/>
          <p:nvPr/>
        </p:nvSpPr>
        <p:spPr>
          <a:xfrm>
            <a:off x="548640" y="3657600"/>
            <a:ext cx="5120640" cy="274320"/>
          </a:xfrm>
          <a:prstGeom prst="rect">
            <a:avLst/>
          </a:prstGeom>
          <a:noFill/>
        </p:spPr>
        <p:txBody>
          <a:bodyPr wrap="square" anchor="t" lIns="0" rIns="0" tIns="0" bIns="0">
            <a:spAutoFit/>
          </a:bodyPr>
          <a:lstStyle/>
          <a:p>
            <a:pPr algn="l">
              <a:lnSpc>
                <a:spcPct val="115000"/>
              </a:lnSpc>
            </a:pPr>
            <a:r>
              <a:rPr sz="1100" b="1">
                <a:solidFill>
                  <a:srgbClr val="C25B2E"/>
                </a:solidFill>
                <a:latin typeface="Calibri"/>
              </a:rPr>
              <a:t>WHAT IT IS NOT</a:t>
            </a:r>
          </a:p>
        </p:txBody>
      </p:sp>
      <p:sp>
        <p:nvSpPr>
          <p:cNvPr id="9" name="TextBox 8"/>
          <p:cNvSpPr txBox="1"/>
          <p:nvPr/>
        </p:nvSpPr>
        <p:spPr>
          <a:xfrm>
            <a:off x="548640" y="3977639"/>
            <a:ext cx="5120640" cy="1463040"/>
          </a:xfrm>
          <a:prstGeom prst="rect">
            <a:avLst/>
          </a:prstGeom>
          <a:noFill/>
        </p:spPr>
        <p:txBody>
          <a:bodyPr wrap="square" anchor="t" lIns="0" rIns="0" tIns="0" bIns="0">
            <a:spAutoFit/>
          </a:bodyPr>
          <a:lstStyle/>
          <a:p>
            <a:pPr algn="l">
              <a:lnSpc>
                <a:spcPct val="130000"/>
              </a:lnSpc>
            </a:pPr>
            <a:r>
              <a:rPr sz="1300" b="0">
                <a:solidFill>
                  <a:srgbClr val="1B2A33"/>
                </a:solidFill>
                <a:latin typeface="Calibri"/>
              </a:rPr>
              <a:t>Not a feature tour, and not a specification. Where the system does not do something people often expect — approvals, in-app notifications, ticket merging — this deck says so rather than staying silent.</a:t>
            </a:r>
          </a:p>
        </p:txBody>
      </p:sp>
      <p:sp>
        <p:nvSpPr>
          <p:cNvPr id="10" name="Rectangle 9"/>
          <p:cNvSpPr/>
          <p:nvPr/>
        </p:nvSpPr>
        <p:spPr>
          <a:xfrm>
            <a:off x="6309360" y="1280160"/>
            <a:ext cx="5349240" cy="4206240"/>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29400" y="1554480"/>
            <a:ext cx="4754880" cy="274320"/>
          </a:xfrm>
          <a:prstGeom prst="rect">
            <a:avLst/>
          </a:prstGeom>
          <a:noFill/>
        </p:spPr>
        <p:txBody>
          <a:bodyPr wrap="square" anchor="t" lIns="0" rIns="0" tIns="0" bIns="0">
            <a:spAutoFit/>
          </a:bodyPr>
          <a:lstStyle/>
          <a:p>
            <a:pPr algn="l">
              <a:lnSpc>
                <a:spcPct val="115000"/>
              </a:lnSpc>
            </a:pPr>
            <a:r>
              <a:rPr sz="1100" b="1">
                <a:solidFill>
                  <a:srgbClr val="C25B2E"/>
                </a:solidFill>
                <a:latin typeface="Calibri"/>
              </a:rPr>
              <a:t>FIND YOUR ROLE</a:t>
            </a:r>
          </a:p>
        </p:txBody>
      </p:sp>
      <p:sp>
        <p:nvSpPr>
          <p:cNvPr id="12" name="Rectangle 11"/>
          <p:cNvSpPr/>
          <p:nvPr/>
        </p:nvSpPr>
        <p:spPr>
          <a:xfrm>
            <a:off x="6629400" y="1965960"/>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12280" y="1965960"/>
            <a:ext cx="2011680" cy="256032"/>
          </a:xfrm>
          <a:prstGeom prst="rect">
            <a:avLst/>
          </a:prstGeom>
          <a:noFill/>
        </p:spPr>
        <p:txBody>
          <a:bodyPr wrap="square" anchor="t" lIns="0" rIns="0" tIns="0" bIns="0">
            <a:spAutoFit/>
          </a:bodyPr>
          <a:lstStyle/>
          <a:p>
            <a:pPr algn="l">
              <a:lnSpc>
                <a:spcPct val="115000"/>
              </a:lnSpc>
            </a:pPr>
            <a:r>
              <a:rPr sz="1300" b="1">
                <a:solidFill>
                  <a:srgbClr val="0E4F4A"/>
                </a:solidFill>
                <a:latin typeface="Calibri"/>
              </a:rPr>
              <a:t>Branch User</a:t>
            </a:r>
          </a:p>
        </p:txBody>
      </p:sp>
      <p:sp>
        <p:nvSpPr>
          <p:cNvPr id="14" name="TextBox 13"/>
          <p:cNvSpPr txBox="1"/>
          <p:nvPr/>
        </p:nvSpPr>
        <p:spPr>
          <a:xfrm>
            <a:off x="6812280" y="2203704"/>
            <a:ext cx="4206240" cy="256032"/>
          </a:xfrm>
          <a:prstGeom prst="rect">
            <a:avLst/>
          </a:prstGeom>
          <a:noFill/>
        </p:spPr>
        <p:txBody>
          <a:bodyPr wrap="square" anchor="t" lIns="0" rIns="0" tIns="0" bIns="0">
            <a:spAutoFit/>
          </a:bodyPr>
          <a:lstStyle/>
          <a:p>
            <a:pPr algn="l">
              <a:lnSpc>
                <a:spcPct val="115000"/>
              </a:lnSpc>
            </a:pPr>
            <a:r>
              <a:rPr sz="1050" b="0">
                <a:solidFill>
                  <a:srgbClr val="5B6B75"/>
                </a:solidFill>
                <a:latin typeface="Calibri"/>
              </a:rPr>
              <a:t>You raise tickets and follow them</a:t>
            </a:r>
          </a:p>
        </p:txBody>
      </p:sp>
      <p:sp>
        <p:nvSpPr>
          <p:cNvPr id="15" name="TextBox 14"/>
          <p:cNvSpPr txBox="1"/>
          <p:nvPr/>
        </p:nvSpPr>
        <p:spPr>
          <a:xfrm>
            <a:off x="10332720" y="1984248"/>
            <a:ext cx="1097280" cy="256032"/>
          </a:xfrm>
          <a:prstGeom prst="rect">
            <a:avLst/>
          </a:prstGeom>
          <a:noFill/>
        </p:spPr>
        <p:txBody>
          <a:bodyPr wrap="square" anchor="t" lIns="0" rIns="0" tIns="0" bIns="0">
            <a:spAutoFit/>
          </a:bodyPr>
          <a:lstStyle/>
          <a:p>
            <a:pPr algn="r">
              <a:lnSpc>
                <a:spcPct val="115000"/>
              </a:lnSpc>
            </a:pPr>
            <a:r>
              <a:rPr sz="1050" b="1">
                <a:solidFill>
                  <a:srgbClr val="C25B2E"/>
                </a:solidFill>
                <a:latin typeface="Calibri"/>
              </a:rPr>
              <a:t>Section 6</a:t>
            </a:r>
          </a:p>
        </p:txBody>
      </p:sp>
      <p:sp>
        <p:nvSpPr>
          <p:cNvPr id="16" name="Rectangle 15"/>
          <p:cNvSpPr/>
          <p:nvPr/>
        </p:nvSpPr>
        <p:spPr>
          <a:xfrm>
            <a:off x="6629400" y="2624328"/>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12280" y="2624328"/>
            <a:ext cx="2011680" cy="256032"/>
          </a:xfrm>
          <a:prstGeom prst="rect">
            <a:avLst/>
          </a:prstGeom>
          <a:noFill/>
        </p:spPr>
        <p:txBody>
          <a:bodyPr wrap="square" anchor="t" lIns="0" rIns="0" tIns="0" bIns="0">
            <a:spAutoFit/>
          </a:bodyPr>
          <a:lstStyle/>
          <a:p>
            <a:pPr algn="l">
              <a:lnSpc>
                <a:spcPct val="115000"/>
              </a:lnSpc>
            </a:pPr>
            <a:r>
              <a:rPr sz="1300" b="1">
                <a:solidFill>
                  <a:srgbClr val="0E4F4A"/>
                </a:solidFill>
                <a:latin typeface="Calibri"/>
              </a:rPr>
              <a:t>Agent</a:t>
            </a:r>
          </a:p>
        </p:txBody>
      </p:sp>
      <p:sp>
        <p:nvSpPr>
          <p:cNvPr id="18" name="TextBox 17"/>
          <p:cNvSpPr txBox="1"/>
          <p:nvPr/>
        </p:nvSpPr>
        <p:spPr>
          <a:xfrm>
            <a:off x="6812280" y="2862072"/>
            <a:ext cx="4206240" cy="256032"/>
          </a:xfrm>
          <a:prstGeom prst="rect">
            <a:avLst/>
          </a:prstGeom>
          <a:noFill/>
        </p:spPr>
        <p:txBody>
          <a:bodyPr wrap="square" anchor="t" lIns="0" rIns="0" tIns="0" bIns="0">
            <a:spAutoFit/>
          </a:bodyPr>
          <a:lstStyle/>
          <a:p>
            <a:pPr algn="l">
              <a:lnSpc>
                <a:spcPct val="115000"/>
              </a:lnSpc>
            </a:pPr>
            <a:r>
              <a:rPr sz="1050" b="0">
                <a:solidFill>
                  <a:srgbClr val="5B6B75"/>
                </a:solidFill>
                <a:latin typeface="Calibri"/>
              </a:rPr>
              <a:t>You work and resolve them</a:t>
            </a:r>
          </a:p>
        </p:txBody>
      </p:sp>
      <p:sp>
        <p:nvSpPr>
          <p:cNvPr id="19" name="TextBox 18"/>
          <p:cNvSpPr txBox="1"/>
          <p:nvPr/>
        </p:nvSpPr>
        <p:spPr>
          <a:xfrm>
            <a:off x="10332720" y="2642616"/>
            <a:ext cx="1097280" cy="256032"/>
          </a:xfrm>
          <a:prstGeom prst="rect">
            <a:avLst/>
          </a:prstGeom>
          <a:noFill/>
        </p:spPr>
        <p:txBody>
          <a:bodyPr wrap="square" anchor="t" lIns="0" rIns="0" tIns="0" bIns="0">
            <a:spAutoFit/>
          </a:bodyPr>
          <a:lstStyle/>
          <a:p>
            <a:pPr algn="r">
              <a:lnSpc>
                <a:spcPct val="115000"/>
              </a:lnSpc>
            </a:pPr>
            <a:r>
              <a:rPr sz="1050" b="1">
                <a:solidFill>
                  <a:srgbClr val="C25B2E"/>
                </a:solidFill>
                <a:latin typeface="Calibri"/>
              </a:rPr>
              <a:t>Section 7</a:t>
            </a:r>
          </a:p>
        </p:txBody>
      </p:sp>
      <p:sp>
        <p:nvSpPr>
          <p:cNvPr id="20" name="Rectangle 19"/>
          <p:cNvSpPr/>
          <p:nvPr/>
        </p:nvSpPr>
        <p:spPr>
          <a:xfrm>
            <a:off x="6629400" y="3282696"/>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12280" y="3282696"/>
            <a:ext cx="2011680" cy="256032"/>
          </a:xfrm>
          <a:prstGeom prst="rect">
            <a:avLst/>
          </a:prstGeom>
          <a:noFill/>
        </p:spPr>
        <p:txBody>
          <a:bodyPr wrap="square" anchor="t" lIns="0" rIns="0" tIns="0" bIns="0">
            <a:spAutoFit/>
          </a:bodyPr>
          <a:lstStyle/>
          <a:p>
            <a:pPr algn="l">
              <a:lnSpc>
                <a:spcPct val="115000"/>
              </a:lnSpc>
            </a:pPr>
            <a:r>
              <a:rPr sz="1300" b="1">
                <a:solidFill>
                  <a:srgbClr val="0E4F4A"/>
                </a:solidFill>
                <a:latin typeface="Calibri"/>
              </a:rPr>
              <a:t>Supervisor</a:t>
            </a:r>
          </a:p>
        </p:txBody>
      </p:sp>
      <p:sp>
        <p:nvSpPr>
          <p:cNvPr id="22" name="TextBox 21"/>
          <p:cNvSpPr txBox="1"/>
          <p:nvPr/>
        </p:nvSpPr>
        <p:spPr>
          <a:xfrm>
            <a:off x="6812280" y="3520440"/>
            <a:ext cx="4206240" cy="256032"/>
          </a:xfrm>
          <a:prstGeom prst="rect">
            <a:avLst/>
          </a:prstGeom>
          <a:noFill/>
        </p:spPr>
        <p:txBody>
          <a:bodyPr wrap="square" anchor="t" lIns="0" rIns="0" tIns="0" bIns="0">
            <a:spAutoFit/>
          </a:bodyPr>
          <a:lstStyle/>
          <a:p>
            <a:pPr algn="l">
              <a:lnSpc>
                <a:spcPct val="115000"/>
              </a:lnSpc>
            </a:pPr>
            <a:r>
              <a:rPr sz="1050" b="0">
                <a:solidFill>
                  <a:srgbClr val="5B6B75"/>
                </a:solidFill>
                <a:latin typeface="Calibri"/>
              </a:rPr>
              <a:t>You watch SLA and escalations</a:t>
            </a:r>
          </a:p>
        </p:txBody>
      </p:sp>
      <p:sp>
        <p:nvSpPr>
          <p:cNvPr id="23" name="TextBox 22"/>
          <p:cNvSpPr txBox="1"/>
          <p:nvPr/>
        </p:nvSpPr>
        <p:spPr>
          <a:xfrm>
            <a:off x="10332720" y="3300984"/>
            <a:ext cx="1097280" cy="256032"/>
          </a:xfrm>
          <a:prstGeom prst="rect">
            <a:avLst/>
          </a:prstGeom>
          <a:noFill/>
        </p:spPr>
        <p:txBody>
          <a:bodyPr wrap="square" anchor="t" lIns="0" rIns="0" tIns="0" bIns="0">
            <a:spAutoFit/>
          </a:bodyPr>
          <a:lstStyle/>
          <a:p>
            <a:pPr algn="r">
              <a:lnSpc>
                <a:spcPct val="115000"/>
              </a:lnSpc>
            </a:pPr>
            <a:r>
              <a:rPr sz="1050" b="1">
                <a:solidFill>
                  <a:srgbClr val="C25B2E"/>
                </a:solidFill>
                <a:latin typeface="Calibri"/>
              </a:rPr>
              <a:t>Section 8</a:t>
            </a:r>
          </a:p>
        </p:txBody>
      </p:sp>
      <p:sp>
        <p:nvSpPr>
          <p:cNvPr id="24" name="Rectangle 23"/>
          <p:cNvSpPr/>
          <p:nvPr/>
        </p:nvSpPr>
        <p:spPr>
          <a:xfrm>
            <a:off x="6629400" y="3941064"/>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12280" y="3941064"/>
            <a:ext cx="2011680" cy="256032"/>
          </a:xfrm>
          <a:prstGeom prst="rect">
            <a:avLst/>
          </a:prstGeom>
          <a:noFill/>
        </p:spPr>
        <p:txBody>
          <a:bodyPr wrap="square" anchor="t" lIns="0" rIns="0" tIns="0" bIns="0">
            <a:spAutoFit/>
          </a:bodyPr>
          <a:lstStyle/>
          <a:p>
            <a:pPr algn="l">
              <a:lnSpc>
                <a:spcPct val="115000"/>
              </a:lnSpc>
            </a:pPr>
            <a:r>
              <a:rPr sz="1300" b="1">
                <a:solidFill>
                  <a:srgbClr val="0E4F4A"/>
                </a:solidFill>
                <a:latin typeface="Calibri"/>
              </a:rPr>
              <a:t>Admin</a:t>
            </a:r>
          </a:p>
        </p:txBody>
      </p:sp>
      <p:sp>
        <p:nvSpPr>
          <p:cNvPr id="26" name="TextBox 25"/>
          <p:cNvSpPr txBox="1"/>
          <p:nvPr/>
        </p:nvSpPr>
        <p:spPr>
          <a:xfrm>
            <a:off x="6812280" y="4178808"/>
            <a:ext cx="4206240" cy="256032"/>
          </a:xfrm>
          <a:prstGeom prst="rect">
            <a:avLst/>
          </a:prstGeom>
          <a:noFill/>
        </p:spPr>
        <p:txBody>
          <a:bodyPr wrap="square" anchor="t" lIns="0" rIns="0" tIns="0" bIns="0">
            <a:spAutoFit/>
          </a:bodyPr>
          <a:lstStyle/>
          <a:p>
            <a:pPr algn="l">
              <a:lnSpc>
                <a:spcPct val="115000"/>
              </a:lnSpc>
            </a:pPr>
            <a:r>
              <a:rPr sz="1050" b="0">
                <a:solidFill>
                  <a:srgbClr val="5B6B75"/>
                </a:solidFill>
                <a:latin typeface="Calibri"/>
              </a:rPr>
              <a:t>You configure the system</a:t>
            </a:r>
          </a:p>
        </p:txBody>
      </p:sp>
      <p:sp>
        <p:nvSpPr>
          <p:cNvPr id="27" name="TextBox 26"/>
          <p:cNvSpPr txBox="1"/>
          <p:nvPr/>
        </p:nvSpPr>
        <p:spPr>
          <a:xfrm>
            <a:off x="10332720" y="3959352"/>
            <a:ext cx="1097280" cy="256032"/>
          </a:xfrm>
          <a:prstGeom prst="rect">
            <a:avLst/>
          </a:prstGeom>
          <a:noFill/>
        </p:spPr>
        <p:txBody>
          <a:bodyPr wrap="square" anchor="t" lIns="0" rIns="0" tIns="0" bIns="0">
            <a:spAutoFit/>
          </a:bodyPr>
          <a:lstStyle/>
          <a:p>
            <a:pPr algn="r">
              <a:lnSpc>
                <a:spcPct val="115000"/>
              </a:lnSpc>
            </a:pPr>
            <a:r>
              <a:rPr sz="1050" b="1">
                <a:solidFill>
                  <a:srgbClr val="C25B2E"/>
                </a:solidFill>
                <a:latin typeface="Calibri"/>
              </a:rPr>
              <a:t>Section 9</a:t>
            </a:r>
          </a:p>
        </p:txBody>
      </p:sp>
      <p:sp>
        <p:nvSpPr>
          <p:cNvPr id="28" name="Rectangle 27"/>
          <p:cNvSpPr/>
          <p:nvPr/>
        </p:nvSpPr>
        <p:spPr>
          <a:xfrm>
            <a:off x="6629400" y="4599432"/>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12280" y="4599432"/>
            <a:ext cx="2011680" cy="256032"/>
          </a:xfrm>
          <a:prstGeom prst="rect">
            <a:avLst/>
          </a:prstGeom>
          <a:noFill/>
        </p:spPr>
        <p:txBody>
          <a:bodyPr wrap="square" anchor="t" lIns="0" rIns="0" tIns="0" bIns="0">
            <a:spAutoFit/>
          </a:bodyPr>
          <a:lstStyle/>
          <a:p>
            <a:pPr algn="l">
              <a:lnSpc>
                <a:spcPct val="115000"/>
              </a:lnSpc>
            </a:pPr>
            <a:r>
              <a:rPr sz="1300" b="1">
                <a:solidFill>
                  <a:srgbClr val="0E4F4A"/>
                </a:solidFill>
                <a:latin typeface="Calibri"/>
              </a:rPr>
              <a:t>Auditor</a:t>
            </a:r>
          </a:p>
        </p:txBody>
      </p:sp>
      <p:sp>
        <p:nvSpPr>
          <p:cNvPr id="30" name="TextBox 29"/>
          <p:cNvSpPr txBox="1"/>
          <p:nvPr/>
        </p:nvSpPr>
        <p:spPr>
          <a:xfrm>
            <a:off x="6812280" y="4837176"/>
            <a:ext cx="4206240" cy="256032"/>
          </a:xfrm>
          <a:prstGeom prst="rect">
            <a:avLst/>
          </a:prstGeom>
          <a:noFill/>
        </p:spPr>
        <p:txBody>
          <a:bodyPr wrap="square" anchor="t" lIns="0" rIns="0" tIns="0" bIns="0">
            <a:spAutoFit/>
          </a:bodyPr>
          <a:lstStyle/>
          <a:p>
            <a:pPr algn="l">
              <a:lnSpc>
                <a:spcPct val="115000"/>
              </a:lnSpc>
            </a:pPr>
            <a:r>
              <a:rPr sz="1050" b="0">
                <a:solidFill>
                  <a:srgbClr val="5B6B75"/>
                </a:solidFill>
                <a:latin typeface="Calibri"/>
              </a:rPr>
              <a:t>You review; you change nothing</a:t>
            </a:r>
          </a:p>
        </p:txBody>
      </p:sp>
      <p:sp>
        <p:nvSpPr>
          <p:cNvPr id="31" name="TextBox 30"/>
          <p:cNvSpPr txBox="1"/>
          <p:nvPr/>
        </p:nvSpPr>
        <p:spPr>
          <a:xfrm>
            <a:off x="10332720" y="4617720"/>
            <a:ext cx="1097280" cy="256032"/>
          </a:xfrm>
          <a:prstGeom prst="rect">
            <a:avLst/>
          </a:prstGeom>
          <a:noFill/>
        </p:spPr>
        <p:txBody>
          <a:bodyPr wrap="square" anchor="t" lIns="0" rIns="0" tIns="0" bIns="0">
            <a:spAutoFit/>
          </a:bodyPr>
          <a:lstStyle/>
          <a:p>
            <a:pPr algn="r">
              <a:lnSpc>
                <a:spcPct val="115000"/>
              </a:lnSpc>
            </a:pPr>
            <a:r>
              <a:rPr sz="1050" b="1">
                <a:solidFill>
                  <a:srgbClr val="C25B2E"/>
                </a:solidFill>
                <a:latin typeface="Calibri"/>
              </a:rPr>
              <a:t>Section 10</a:t>
            </a:r>
          </a:p>
        </p:txBody>
      </p:sp>
      <p:sp>
        <p:nvSpPr>
          <p:cNvPr id="32" name="Rectangle 31"/>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34" name="TextBox 33"/>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Overview</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377440"/>
            <a:ext cx="1828800" cy="548640"/>
          </a:xfrm>
          <a:prstGeom prst="rect">
            <a:avLst/>
          </a:prstGeom>
          <a:noFill/>
        </p:spPr>
        <p:txBody>
          <a:bodyPr wrap="square" anchor="t" lIns="0" rIns="0" tIns="0" bIns="0">
            <a:spAutoFit/>
          </a:bodyPr>
          <a:lstStyle/>
          <a:p>
            <a:pPr algn="l">
              <a:lnSpc>
                <a:spcPct val="115000"/>
              </a:lnSpc>
            </a:pPr>
            <a:r>
              <a:rPr sz="1300" b="1">
                <a:solidFill>
                  <a:srgbClr val="C25B2E"/>
                </a:solidFill>
                <a:latin typeface="Calibri"/>
              </a:rPr>
              <a:t>SECTION 02</a:t>
            </a:r>
          </a:p>
        </p:txBody>
      </p:sp>
      <p:sp>
        <p:nvSpPr>
          <p:cNvPr id="5" name="TextBox 4"/>
          <p:cNvSpPr txBox="1"/>
          <p:nvPr/>
        </p:nvSpPr>
        <p:spPr>
          <a:xfrm>
            <a:off x="1005840" y="2788920"/>
            <a:ext cx="9601200" cy="822960"/>
          </a:xfrm>
          <a:prstGeom prst="rect">
            <a:avLst/>
          </a:prstGeom>
          <a:noFill/>
        </p:spPr>
        <p:txBody>
          <a:bodyPr wrap="square" anchor="t" lIns="0" rIns="0" tIns="0" bIns="0">
            <a:spAutoFit/>
          </a:bodyPr>
          <a:lstStyle/>
          <a:p>
            <a:pPr algn="l">
              <a:lnSpc>
                <a:spcPct val="115000"/>
              </a:lnSpc>
            </a:pPr>
            <a:r>
              <a:rPr sz="3400" b="1">
                <a:solidFill>
                  <a:srgbClr val="0E4F4A"/>
                </a:solidFill>
                <a:latin typeface="Calibri"/>
              </a:rPr>
              <a:t>What the system is for</a:t>
            </a:r>
          </a:p>
        </p:txBody>
      </p:sp>
      <p:sp>
        <p:nvSpPr>
          <p:cNvPr id="6" name="TextBox 5"/>
          <p:cNvSpPr txBox="1"/>
          <p:nvPr/>
        </p:nvSpPr>
        <p:spPr>
          <a:xfrm>
            <a:off x="1005840" y="3794760"/>
            <a:ext cx="8686800" cy="914400"/>
          </a:xfrm>
          <a:prstGeom prst="rect">
            <a:avLst/>
          </a:prstGeom>
          <a:noFill/>
        </p:spPr>
        <p:txBody>
          <a:bodyPr wrap="square" anchor="t" lIns="0" rIns="0" tIns="0" bIns="0">
            <a:spAutoFit/>
          </a:bodyPr>
          <a:lstStyle/>
          <a:p>
            <a:pPr algn="l">
              <a:lnSpc>
                <a:spcPct val="130000"/>
              </a:lnSpc>
            </a:pPr>
            <a:r>
              <a:rPr sz="1500" b="0">
                <a:solidFill>
                  <a:srgbClr val="5B6B75"/>
                </a:solidFill>
                <a:latin typeface="Calibri"/>
              </a:rPr>
              <a:t>One record for every operational problem, from the moment it is raised to the moment it is closed.</a:t>
            </a:r>
          </a:p>
        </p:txBody>
      </p:sp>
      <p:sp>
        <p:nvSpPr>
          <p:cNvPr id="7" name="Rectangle 6"/>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9" name="TextBox 8"/>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Section 02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82880"/>
            <a:ext cx="10515600" cy="320040"/>
          </a:xfrm>
          <a:prstGeom prst="rect">
            <a:avLst/>
          </a:prstGeom>
          <a:noFill/>
        </p:spPr>
        <p:txBody>
          <a:bodyPr wrap="square" anchor="t" lIns="0" rIns="0" tIns="0" bIns="0">
            <a:spAutoFit/>
          </a:bodyPr>
          <a:lstStyle/>
          <a:p>
            <a:pPr algn="l">
              <a:lnSpc>
                <a:spcPct val="115000"/>
              </a:lnSpc>
            </a:pPr>
            <a:r>
              <a:rPr sz="2300" b="1">
                <a:solidFill>
                  <a:srgbClr val="FFFFFF"/>
                </a:solidFill>
                <a:latin typeface="Calibri"/>
              </a:rPr>
              <a:t>The problem it replaces</a:t>
            </a:r>
          </a:p>
        </p:txBody>
      </p:sp>
      <p:sp>
        <p:nvSpPr>
          <p:cNvPr id="5" name="TextBox 4"/>
          <p:cNvSpPr txBox="1"/>
          <p:nvPr/>
        </p:nvSpPr>
        <p:spPr>
          <a:xfrm>
            <a:off x="502920" y="548640"/>
            <a:ext cx="10515600" cy="256032"/>
          </a:xfrm>
          <a:prstGeom prst="rect">
            <a:avLst/>
          </a:prstGeom>
          <a:noFill/>
        </p:spPr>
        <p:txBody>
          <a:bodyPr wrap="square" anchor="t" lIns="0" rIns="0" tIns="0" bIns="0">
            <a:spAutoFit/>
          </a:bodyPr>
          <a:lstStyle/>
          <a:p>
            <a:pPr algn="l">
              <a:lnSpc>
                <a:spcPct val="115000"/>
              </a:lnSpc>
            </a:pPr>
            <a:r>
              <a:rPr sz="1150" b="0">
                <a:solidFill>
                  <a:srgbClr val="F3ECE0"/>
                </a:solidFill>
                <a:latin typeface="Calibri"/>
              </a:rPr>
              <a:t>Why a shared record beats a shared inbox</a:t>
            </a:r>
          </a:p>
        </p:txBody>
      </p:sp>
      <p:sp>
        <p:nvSpPr>
          <p:cNvPr id="6" name="Rectangle 5"/>
          <p:cNvSpPr/>
          <p:nvPr/>
        </p:nvSpPr>
        <p:spPr>
          <a:xfrm>
            <a:off x="548640" y="1280160"/>
            <a:ext cx="5394960" cy="1920240"/>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80160"/>
            <a:ext cx="54864" cy="1920240"/>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508760"/>
            <a:ext cx="4846320" cy="274320"/>
          </a:xfrm>
          <a:prstGeom prst="rect">
            <a:avLst/>
          </a:prstGeom>
          <a:noFill/>
        </p:spPr>
        <p:txBody>
          <a:bodyPr wrap="square" anchor="t" lIns="0" rIns="0" tIns="0" bIns="0">
            <a:spAutoFit/>
          </a:bodyPr>
          <a:lstStyle/>
          <a:p>
            <a:pPr algn="l">
              <a:lnSpc>
                <a:spcPct val="115000"/>
              </a:lnSpc>
            </a:pPr>
            <a:r>
              <a:rPr sz="1500" b="1">
                <a:solidFill>
                  <a:srgbClr val="C25B2E"/>
                </a:solidFill>
                <a:latin typeface="Calibri"/>
              </a:rPr>
              <a:t>Without it</a:t>
            </a:r>
          </a:p>
        </p:txBody>
      </p:sp>
      <p:sp>
        <p:nvSpPr>
          <p:cNvPr id="9" name="TextBox 8"/>
          <p:cNvSpPr txBox="1"/>
          <p:nvPr/>
        </p:nvSpPr>
        <p:spPr>
          <a:xfrm>
            <a:off x="822960" y="1874519"/>
            <a:ext cx="4846320" cy="1188720"/>
          </a:xfrm>
          <a:prstGeom prst="rect">
            <a:avLst/>
          </a:prstGeom>
          <a:noFill/>
        </p:spPr>
        <p:txBody>
          <a:bodyPr wrap="square" anchor="t" lIns="0" rIns="0" tIns="0" bIns="0">
            <a:spAutoFit/>
          </a:bodyPr>
          <a:lstStyle/>
          <a:p>
            <a:pPr algn="l">
              <a:lnSpc>
                <a:spcPct val="130000"/>
              </a:lnSpc>
            </a:pPr>
            <a:r>
              <a:rPr sz="1250" b="0">
                <a:solidFill>
                  <a:srgbClr val="1B2A33"/>
                </a:solidFill>
                <a:latin typeface="Calibri"/>
              </a:rPr>
              <a:t>A blocked card is reported by phone. A duplicated debit goes to somebody's inbox. Nobody can say how long either has been open, who owns it, or what was decided.</a:t>
            </a:r>
          </a:p>
        </p:txBody>
      </p:sp>
      <p:sp>
        <p:nvSpPr>
          <p:cNvPr id="10" name="Rectangle 9"/>
          <p:cNvSpPr/>
          <p:nvPr/>
        </p:nvSpPr>
        <p:spPr>
          <a:xfrm>
            <a:off x="6309360" y="1280160"/>
            <a:ext cx="5394960" cy="1920240"/>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309360" y="1280160"/>
            <a:ext cx="54864" cy="192024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0" y="1508760"/>
            <a:ext cx="4846320" cy="274320"/>
          </a:xfrm>
          <a:prstGeom prst="rect">
            <a:avLst/>
          </a:prstGeom>
          <a:noFill/>
        </p:spPr>
        <p:txBody>
          <a:bodyPr wrap="square" anchor="t" lIns="0" rIns="0" tIns="0" bIns="0">
            <a:spAutoFit/>
          </a:bodyPr>
          <a:lstStyle/>
          <a:p>
            <a:pPr algn="l">
              <a:lnSpc>
                <a:spcPct val="115000"/>
              </a:lnSpc>
            </a:pPr>
            <a:r>
              <a:rPr sz="1500" b="1">
                <a:solidFill>
                  <a:srgbClr val="1E7A53"/>
                </a:solidFill>
                <a:latin typeface="Calibri"/>
              </a:rPr>
              <a:t>With it</a:t>
            </a:r>
          </a:p>
        </p:txBody>
      </p:sp>
      <p:sp>
        <p:nvSpPr>
          <p:cNvPr id="13" name="TextBox 12"/>
          <p:cNvSpPr txBox="1"/>
          <p:nvPr/>
        </p:nvSpPr>
        <p:spPr>
          <a:xfrm>
            <a:off x="6583680" y="1874519"/>
            <a:ext cx="4846320" cy="1188720"/>
          </a:xfrm>
          <a:prstGeom prst="rect">
            <a:avLst/>
          </a:prstGeom>
          <a:noFill/>
        </p:spPr>
        <p:txBody>
          <a:bodyPr wrap="square" anchor="t" lIns="0" rIns="0" tIns="0" bIns="0">
            <a:spAutoFit/>
          </a:bodyPr>
          <a:lstStyle/>
          <a:p>
            <a:pPr algn="l">
              <a:lnSpc>
                <a:spcPct val="130000"/>
              </a:lnSpc>
            </a:pPr>
            <a:r>
              <a:rPr sz="1250" b="0">
                <a:solidFill>
                  <a:srgbClr val="1B2A33"/>
                </a:solidFill>
                <a:latin typeface="Calibri"/>
              </a:rPr>
              <a:t>Every problem gets a number, an owner, a deadline and a history. Months later an auditor can answer who changed what, and when.</a:t>
            </a:r>
          </a:p>
        </p:txBody>
      </p:sp>
      <p:sp>
        <p:nvSpPr>
          <p:cNvPr id="14" name="TextBox 13"/>
          <p:cNvSpPr txBox="1"/>
          <p:nvPr/>
        </p:nvSpPr>
        <p:spPr>
          <a:xfrm>
            <a:off x="548640" y="3520440"/>
            <a:ext cx="10972800" cy="274320"/>
          </a:xfrm>
          <a:prstGeom prst="rect">
            <a:avLst/>
          </a:prstGeom>
          <a:noFill/>
        </p:spPr>
        <p:txBody>
          <a:bodyPr wrap="square" anchor="t" lIns="0" rIns="0" tIns="0" bIns="0">
            <a:spAutoFit/>
          </a:bodyPr>
          <a:lstStyle/>
          <a:p>
            <a:pPr algn="l">
              <a:lnSpc>
                <a:spcPct val="115000"/>
              </a:lnSpc>
            </a:pPr>
            <a:r>
              <a:rPr sz="1100" b="1">
                <a:solidFill>
                  <a:srgbClr val="C25B2E"/>
                </a:solidFill>
                <a:latin typeface="Calibri"/>
              </a:rPr>
              <a:t>HOW A TICKET ARRIVES</a:t>
            </a:r>
          </a:p>
        </p:txBody>
      </p:sp>
      <p:sp>
        <p:nvSpPr>
          <p:cNvPr id="15" name="Rectangle 14"/>
          <p:cNvSpPr/>
          <p:nvPr/>
        </p:nvSpPr>
        <p:spPr>
          <a:xfrm>
            <a:off x="548640" y="3886200"/>
            <a:ext cx="5394960" cy="914400"/>
          </a:xfrm>
          <a:prstGeom prst="rect">
            <a:avLst/>
          </a:prstGeom>
          <a:solidFill>
            <a:srgbClr val="FFFFFF"/>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4069080"/>
            <a:ext cx="1828800" cy="274320"/>
          </a:xfrm>
          <a:prstGeom prst="rect">
            <a:avLst/>
          </a:prstGeom>
          <a:noFill/>
        </p:spPr>
        <p:txBody>
          <a:bodyPr wrap="square" anchor="t" lIns="0" rIns="0" tIns="0" bIns="0">
            <a:spAutoFit/>
          </a:bodyPr>
          <a:lstStyle/>
          <a:p>
            <a:pPr algn="l">
              <a:lnSpc>
                <a:spcPct val="115000"/>
              </a:lnSpc>
            </a:pPr>
            <a:r>
              <a:rPr sz="1300" b="1">
                <a:solidFill>
                  <a:srgbClr val="0E4F4A"/>
                </a:solidFill>
                <a:latin typeface="Calibri"/>
              </a:rPr>
              <a:t>Portal</a:t>
            </a:r>
          </a:p>
        </p:txBody>
      </p:sp>
      <p:sp>
        <p:nvSpPr>
          <p:cNvPr id="17" name="TextBox 16"/>
          <p:cNvSpPr txBox="1"/>
          <p:nvPr/>
        </p:nvSpPr>
        <p:spPr>
          <a:xfrm>
            <a:off x="822960" y="4343400"/>
            <a:ext cx="4846320" cy="365760"/>
          </a:xfrm>
          <a:prstGeom prst="rect">
            <a:avLst/>
          </a:prstGeom>
          <a:noFill/>
        </p:spPr>
        <p:txBody>
          <a:bodyPr wrap="square" anchor="t" lIns="0" rIns="0" tIns="0" bIns="0">
            <a:spAutoFit/>
          </a:bodyPr>
          <a:lstStyle/>
          <a:p>
            <a:pPr algn="l">
              <a:lnSpc>
                <a:spcPct val="115000"/>
              </a:lnSpc>
            </a:pPr>
            <a:r>
              <a:rPr sz="1100" b="0">
                <a:solidFill>
                  <a:srgbClr val="5B6B75"/>
                </a:solidFill>
                <a:latin typeface="Calibri"/>
              </a:rPr>
              <a:t>A branch user fills in the form and attaches evidence</a:t>
            </a:r>
          </a:p>
        </p:txBody>
      </p:sp>
      <p:sp>
        <p:nvSpPr>
          <p:cNvPr id="18" name="Rectangle 17"/>
          <p:cNvSpPr/>
          <p:nvPr/>
        </p:nvSpPr>
        <p:spPr>
          <a:xfrm>
            <a:off x="6309360" y="3886200"/>
            <a:ext cx="5394960" cy="914400"/>
          </a:xfrm>
          <a:prstGeom prst="rect">
            <a:avLst/>
          </a:prstGeom>
          <a:solidFill>
            <a:srgbClr val="FFFFFF"/>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0" y="4069080"/>
            <a:ext cx="1828800" cy="274320"/>
          </a:xfrm>
          <a:prstGeom prst="rect">
            <a:avLst/>
          </a:prstGeom>
          <a:noFill/>
        </p:spPr>
        <p:txBody>
          <a:bodyPr wrap="square" anchor="t" lIns="0" rIns="0" tIns="0" bIns="0">
            <a:spAutoFit/>
          </a:bodyPr>
          <a:lstStyle/>
          <a:p>
            <a:pPr algn="l">
              <a:lnSpc>
                <a:spcPct val="115000"/>
              </a:lnSpc>
            </a:pPr>
            <a:r>
              <a:rPr sz="1300" b="1">
                <a:solidFill>
                  <a:srgbClr val="0E4F4A"/>
                </a:solidFill>
                <a:latin typeface="Calibri"/>
              </a:rPr>
              <a:t>Email</a:t>
            </a:r>
          </a:p>
        </p:txBody>
      </p:sp>
      <p:sp>
        <p:nvSpPr>
          <p:cNvPr id="20" name="TextBox 19"/>
          <p:cNvSpPr txBox="1"/>
          <p:nvPr/>
        </p:nvSpPr>
        <p:spPr>
          <a:xfrm>
            <a:off x="6583680" y="4343400"/>
            <a:ext cx="4846320" cy="365760"/>
          </a:xfrm>
          <a:prstGeom prst="rect">
            <a:avLst/>
          </a:prstGeom>
          <a:noFill/>
        </p:spPr>
        <p:txBody>
          <a:bodyPr wrap="square" anchor="t" lIns="0" rIns="0" tIns="0" bIns="0">
            <a:spAutoFit/>
          </a:bodyPr>
          <a:lstStyle/>
          <a:p>
            <a:pPr algn="l">
              <a:lnSpc>
                <a:spcPct val="115000"/>
              </a:lnSpc>
            </a:pPr>
            <a:r>
              <a:rPr sz="1100" b="0">
                <a:solidFill>
                  <a:srgbClr val="5B6B75"/>
                </a:solidFill>
                <a:latin typeface="Calibri"/>
              </a:rPr>
              <a:t>A message to the support mailbox becomes a ticket automatically</a:t>
            </a:r>
          </a:p>
        </p:txBody>
      </p:sp>
      <p:sp>
        <p:nvSpPr>
          <p:cNvPr id="21" name="TextBox 20"/>
          <p:cNvSpPr txBox="1"/>
          <p:nvPr/>
        </p:nvSpPr>
        <p:spPr>
          <a:xfrm>
            <a:off x="548640" y="5029200"/>
            <a:ext cx="10972800" cy="822960"/>
          </a:xfrm>
          <a:prstGeom prst="rect">
            <a:avLst/>
          </a:prstGeom>
          <a:noFill/>
        </p:spPr>
        <p:txBody>
          <a:bodyPr wrap="square" anchor="t" lIns="0" rIns="0" tIns="0" bIns="0">
            <a:spAutoFit/>
          </a:bodyPr>
          <a:lstStyle/>
          <a:p>
            <a:pPr algn="l">
              <a:lnSpc>
                <a:spcPct val="125000"/>
              </a:lnSpc>
            </a:pPr>
            <a:r>
              <a:rPr sz="1100" b="0">
                <a:solidFill>
                  <a:srgbClr val="5B6B75"/>
                </a:solidFill>
                <a:latin typeface="Calibri"/>
              </a:rPr>
              <a:t>Email intake is implemented but off by default (IMAP_ENABLED=false) and needs a real mailbox. Everything else in this deck works out of the box.</a:t>
            </a:r>
          </a:p>
        </p:txBody>
      </p:sp>
      <p:sp>
        <p:nvSpPr>
          <p:cNvPr id="22" name="Rectangle 21"/>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4" name="TextBox 23"/>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Overview</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377440"/>
            <a:ext cx="1828800" cy="548640"/>
          </a:xfrm>
          <a:prstGeom prst="rect">
            <a:avLst/>
          </a:prstGeom>
          <a:noFill/>
        </p:spPr>
        <p:txBody>
          <a:bodyPr wrap="square" anchor="t" lIns="0" rIns="0" tIns="0" bIns="0">
            <a:spAutoFit/>
          </a:bodyPr>
          <a:lstStyle/>
          <a:p>
            <a:pPr algn="l">
              <a:lnSpc>
                <a:spcPct val="115000"/>
              </a:lnSpc>
            </a:pPr>
            <a:r>
              <a:rPr sz="1300" b="1">
                <a:solidFill>
                  <a:srgbClr val="C25B2E"/>
                </a:solidFill>
                <a:latin typeface="Calibri"/>
              </a:rPr>
              <a:t>SECTION 03</a:t>
            </a:r>
          </a:p>
        </p:txBody>
      </p:sp>
      <p:sp>
        <p:nvSpPr>
          <p:cNvPr id="5" name="TextBox 4"/>
          <p:cNvSpPr txBox="1"/>
          <p:nvPr/>
        </p:nvSpPr>
        <p:spPr>
          <a:xfrm>
            <a:off x="1005840" y="2788920"/>
            <a:ext cx="9601200" cy="822960"/>
          </a:xfrm>
          <a:prstGeom prst="rect">
            <a:avLst/>
          </a:prstGeom>
          <a:noFill/>
        </p:spPr>
        <p:txBody>
          <a:bodyPr wrap="square" anchor="t" lIns="0" rIns="0" tIns="0" bIns="0">
            <a:spAutoFit/>
          </a:bodyPr>
          <a:lstStyle/>
          <a:p>
            <a:pPr algn="l">
              <a:lnSpc>
                <a:spcPct val="115000"/>
              </a:lnSpc>
            </a:pPr>
            <a:r>
              <a:rPr sz="3400" b="1">
                <a:solidFill>
                  <a:srgbClr val="0E4F4A"/>
                </a:solidFill>
                <a:latin typeface="Calibri"/>
              </a:rPr>
              <a:t>Roles and permissions</a:t>
            </a:r>
          </a:p>
        </p:txBody>
      </p:sp>
      <p:sp>
        <p:nvSpPr>
          <p:cNvPr id="6" name="TextBox 5"/>
          <p:cNvSpPr txBox="1"/>
          <p:nvPr/>
        </p:nvSpPr>
        <p:spPr>
          <a:xfrm>
            <a:off x="1005840" y="3794760"/>
            <a:ext cx="8686800" cy="914400"/>
          </a:xfrm>
          <a:prstGeom prst="rect">
            <a:avLst/>
          </a:prstGeom>
          <a:noFill/>
        </p:spPr>
        <p:txBody>
          <a:bodyPr wrap="square" anchor="t" lIns="0" rIns="0" tIns="0" bIns="0">
            <a:spAutoFit/>
          </a:bodyPr>
          <a:lstStyle/>
          <a:p>
            <a:pPr algn="l">
              <a:lnSpc>
                <a:spcPct val="130000"/>
              </a:lnSpc>
            </a:pPr>
            <a:r>
              <a:rPr sz="1500" b="0">
                <a:solidFill>
                  <a:srgbClr val="5B6B75"/>
                </a:solidFill>
                <a:latin typeface="Calibri"/>
              </a:rPr>
              <a:t>Five roles, one per user. This is the whole model — there are no per-user overrides.</a:t>
            </a:r>
          </a:p>
        </p:txBody>
      </p:sp>
      <p:sp>
        <p:nvSpPr>
          <p:cNvPr id="7" name="Rectangle 6"/>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9" name="TextBox 8"/>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Section 03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82880"/>
            <a:ext cx="10515600" cy="320040"/>
          </a:xfrm>
          <a:prstGeom prst="rect">
            <a:avLst/>
          </a:prstGeom>
          <a:noFill/>
        </p:spPr>
        <p:txBody>
          <a:bodyPr wrap="square" anchor="t" lIns="0" rIns="0" tIns="0" bIns="0">
            <a:spAutoFit/>
          </a:bodyPr>
          <a:lstStyle/>
          <a:p>
            <a:pPr algn="l">
              <a:lnSpc>
                <a:spcPct val="115000"/>
              </a:lnSpc>
            </a:pPr>
            <a:r>
              <a:rPr sz="2300" b="1">
                <a:solidFill>
                  <a:srgbClr val="FFFFFF"/>
                </a:solidFill>
                <a:latin typeface="Calibri"/>
              </a:rPr>
              <a:t>Who can do what</a:t>
            </a:r>
          </a:p>
        </p:txBody>
      </p:sp>
      <p:sp>
        <p:nvSpPr>
          <p:cNvPr id="5" name="TextBox 4"/>
          <p:cNvSpPr txBox="1"/>
          <p:nvPr/>
        </p:nvSpPr>
        <p:spPr>
          <a:xfrm>
            <a:off x="502920" y="548640"/>
            <a:ext cx="10515600" cy="256032"/>
          </a:xfrm>
          <a:prstGeom prst="rect">
            <a:avLst/>
          </a:prstGeom>
          <a:noFill/>
        </p:spPr>
        <p:txBody>
          <a:bodyPr wrap="square" anchor="t" lIns="0" rIns="0" tIns="0" bIns="0">
            <a:spAutoFit/>
          </a:bodyPr>
          <a:lstStyle/>
          <a:p>
            <a:pPr algn="l">
              <a:lnSpc>
                <a:spcPct val="115000"/>
              </a:lnSpc>
            </a:pPr>
            <a:r>
              <a:rPr sz="1150" b="0">
                <a:solidFill>
                  <a:srgbClr val="F3ECE0"/>
                </a:solidFill>
                <a:latin typeface="Calibri"/>
              </a:rPr>
              <a:t>Enforced server-side in core/authz.py — the interface only hides what the API would refuse anyway</a:t>
            </a:r>
          </a:p>
        </p:txBody>
      </p:sp>
      <p:graphicFrame>
        <p:nvGraphicFramePr>
          <p:cNvPr id="6" name="Table 5"/>
          <p:cNvGraphicFramePr>
            <a:graphicFrameLocks noGrp="1"/>
          </p:cNvGraphicFramePr>
          <p:nvPr/>
        </p:nvGraphicFramePr>
        <p:xfrm>
          <a:off x="457200" y="1188720"/>
          <a:ext cx="11247120" cy="2194560"/>
        </p:xfrm>
        <a:graphic>
          <a:graphicData uri="http://schemas.openxmlformats.org/drawingml/2006/table">
            <a:tbl>
              <a:tblPr firstRow="1" bandRow="1">
                <a:tableStyleId>{5C22544A-7EE6-4342-B048-85BDC9FD1C3A}</a:tableStyleId>
              </a:tblPr>
              <a:tblGrid>
                <a:gridCol w="1737360"/>
                <a:gridCol w="3657600"/>
                <a:gridCol w="2194560"/>
                <a:gridCol w="1554480"/>
                <a:gridCol w="2103120"/>
              </a:tblGrid>
              <a:tr h="365760">
                <a:tc>
                  <a:txBody>
                    <a:bodyPr/>
                    <a:lstStyle/>
                    <a:p>
                      <a:r>
                        <a:rPr sz="1050" b="1">
                          <a:solidFill>
                            <a:srgbClr val="FFFFFF"/>
                          </a:solidFill>
                        </a:rPr>
                        <a:t>Role</a:t>
                      </a:r>
                    </a:p>
                  </a:txBody>
                  <a:tcPr>
                    <a:solidFill>
                      <a:srgbClr val="0E4F4A"/>
                    </a:solidFill>
                  </a:tcPr>
                </a:tc>
                <a:tc>
                  <a:txBody>
                    <a:bodyPr/>
                    <a:lstStyle/>
                    <a:p>
                      <a:r>
                        <a:rPr sz="1050" b="1">
                          <a:solidFill>
                            <a:srgbClr val="FFFFFF"/>
                          </a:solidFill>
                        </a:rPr>
                        <a:t>Tickets</a:t>
                      </a:r>
                    </a:p>
                  </a:txBody>
                  <a:tcPr>
                    <a:solidFill>
                      <a:srgbClr val="0E4F4A"/>
                    </a:solidFill>
                  </a:tcPr>
                </a:tc>
                <a:tc>
                  <a:txBody>
                    <a:bodyPr/>
                    <a:lstStyle/>
                    <a:p>
                      <a:r>
                        <a:rPr sz="1050" b="1">
                          <a:solidFill>
                            <a:srgbClr val="FFFFFF"/>
                          </a:solidFill>
                        </a:rPr>
                        <a:t>Users &amp; org</a:t>
                      </a:r>
                    </a:p>
                  </a:txBody>
                  <a:tcPr>
                    <a:solidFill>
                      <a:srgbClr val="0E4F4A"/>
                    </a:solidFill>
                  </a:tcPr>
                </a:tc>
                <a:tc>
                  <a:txBody>
                    <a:bodyPr/>
                    <a:lstStyle/>
                    <a:p>
                      <a:r>
                        <a:rPr sz="1050" b="1">
                          <a:solidFill>
                            <a:srgbClr val="FFFFFF"/>
                          </a:solidFill>
                        </a:rPr>
                        <a:t>Audit log</a:t>
                      </a:r>
                    </a:p>
                  </a:txBody>
                  <a:tcPr>
                    <a:solidFill>
                      <a:srgbClr val="0E4F4A"/>
                    </a:solidFill>
                  </a:tcPr>
                </a:tc>
                <a:tc>
                  <a:txBody>
                    <a:bodyPr/>
                    <a:lstStyle/>
                    <a:p>
                      <a:r>
                        <a:rPr sz="1050" b="1">
                          <a:solidFill>
                            <a:srgbClr val="FFFFFF"/>
                          </a:solidFill>
                        </a:rPr>
                        <a:t>Escalation queue</a:t>
                      </a:r>
                    </a:p>
                  </a:txBody>
                  <a:tcPr>
                    <a:solidFill>
                      <a:srgbClr val="0E4F4A"/>
                    </a:solidFill>
                  </a:tcPr>
                </a:tc>
              </a:tr>
              <a:tr h="365760">
                <a:tc>
                  <a:txBody>
                    <a:bodyPr/>
                    <a:lstStyle/>
                    <a:p>
                      <a:r>
                        <a:rPr sz="1000">
                          <a:solidFill>
                            <a:srgbClr val="1B2A33"/>
                          </a:solidFill>
                        </a:rPr>
                        <a:t>Branch User</a:t>
                      </a:r>
                    </a:p>
                  </a:txBody>
                  <a:tcPr>
                    <a:solidFill>
                      <a:srgbClr val="FFFFFF"/>
                    </a:solidFill>
                  </a:tcPr>
                </a:tc>
                <a:tc>
                  <a:txBody>
                    <a:bodyPr/>
                    <a:lstStyle/>
                    <a:p>
                      <a:r>
                        <a:rPr sz="1000">
                          <a:solidFill>
                            <a:srgbClr val="1B2A33"/>
                          </a:solidFill>
                        </a:rPr>
                        <a:t>Own only — raise, comment, attach</a:t>
                      </a:r>
                    </a:p>
                  </a:txBody>
                  <a:tcPr>
                    <a:solidFill>
                      <a:srgbClr val="FFFFFF"/>
                    </a:solidFill>
                  </a:tcPr>
                </a:tc>
                <a:tc>
                  <a:txBody>
                    <a:bodyPr/>
                    <a:lstStyle/>
                    <a:p>
                      <a:r>
                        <a:rPr sz="1000">
                          <a:solidFill>
                            <a:srgbClr val="1B2A33"/>
                          </a:solidFill>
                        </a:rPr>
                        <a:t>—</a:t>
                      </a:r>
                    </a:p>
                  </a:txBody>
                  <a:tcPr>
                    <a:solidFill>
                      <a:srgbClr val="FFFFFF"/>
                    </a:solidFill>
                  </a:tcPr>
                </a:tc>
                <a:tc>
                  <a:txBody>
                    <a:bodyPr/>
                    <a:lstStyle/>
                    <a:p>
                      <a:r>
                        <a:rPr sz="1000">
                          <a:solidFill>
                            <a:srgbClr val="1B2A33"/>
                          </a:solidFill>
                        </a:rPr>
                        <a:t>—</a:t>
                      </a:r>
                    </a:p>
                  </a:txBody>
                  <a:tcPr>
                    <a:solidFill>
                      <a:srgbClr val="FFFFFF"/>
                    </a:solidFill>
                  </a:tcPr>
                </a:tc>
                <a:tc>
                  <a:txBody>
                    <a:bodyPr/>
                    <a:lstStyle/>
                    <a:p>
                      <a:r>
                        <a:rPr sz="1000">
                          <a:solidFill>
                            <a:srgbClr val="1B2A33"/>
                          </a:solidFill>
                        </a:rPr>
                        <a:t>—</a:t>
                      </a:r>
                    </a:p>
                  </a:txBody>
                  <a:tcPr>
                    <a:solidFill>
                      <a:srgbClr val="FFFFFF"/>
                    </a:solidFill>
                  </a:tcPr>
                </a:tc>
              </a:tr>
              <a:tr h="365760">
                <a:tc>
                  <a:txBody>
                    <a:bodyPr/>
                    <a:lstStyle/>
                    <a:p>
                      <a:r>
                        <a:rPr sz="1000">
                          <a:solidFill>
                            <a:srgbClr val="1B2A33"/>
                          </a:solidFill>
                        </a:rPr>
                        <a:t>Agent</a:t>
                      </a:r>
                    </a:p>
                  </a:txBody>
                  <a:tcPr>
                    <a:solidFill>
                      <a:srgbClr val="F3ECE0"/>
                    </a:solidFill>
                  </a:tcPr>
                </a:tc>
                <a:tc>
                  <a:txBody>
                    <a:bodyPr/>
                    <a:lstStyle/>
                    <a:p>
                      <a:r>
                        <a:rPr sz="1000">
                          <a:solidFill>
                            <a:srgbClr val="1B2A33"/>
                          </a:solidFill>
                        </a:rPr>
                        <a:t>Any in scope — assign, progress, resolve</a:t>
                      </a:r>
                    </a:p>
                  </a:txBody>
                  <a:tcPr>
                    <a:solidFill>
                      <a:srgbClr val="F3ECE0"/>
                    </a:solidFill>
                  </a:tcPr>
                </a:tc>
                <a:tc>
                  <a:txBody>
                    <a:bodyPr/>
                    <a:lstStyle/>
                    <a:p>
                      <a:r>
                        <a:rPr sz="1000">
                          <a:solidFill>
                            <a:srgbClr val="1B2A33"/>
                          </a:solidFill>
                        </a:rPr>
                        <a:t>—</a:t>
                      </a:r>
                    </a:p>
                  </a:txBody>
                  <a:tcPr>
                    <a:solidFill>
                      <a:srgbClr val="F3ECE0"/>
                    </a:solidFill>
                  </a:tcPr>
                </a:tc>
                <a:tc>
                  <a:txBody>
                    <a:bodyPr/>
                    <a:lstStyle/>
                    <a:p>
                      <a:r>
                        <a:rPr sz="1000">
                          <a:solidFill>
                            <a:srgbClr val="1B2A33"/>
                          </a:solidFill>
                        </a:rPr>
                        <a:t>—</a:t>
                      </a:r>
                    </a:p>
                  </a:txBody>
                  <a:tcPr>
                    <a:solidFill>
                      <a:srgbClr val="F3ECE0"/>
                    </a:solidFill>
                  </a:tcPr>
                </a:tc>
                <a:tc>
                  <a:txBody>
                    <a:bodyPr/>
                    <a:lstStyle/>
                    <a:p>
                      <a:r>
                        <a:rPr sz="1000">
                          <a:solidFill>
                            <a:srgbClr val="1B2A33"/>
                          </a:solidFill>
                        </a:rPr>
                        <a:t>—</a:t>
                      </a:r>
                    </a:p>
                  </a:txBody>
                  <a:tcPr>
                    <a:solidFill>
                      <a:srgbClr val="F3ECE0"/>
                    </a:solidFill>
                  </a:tcPr>
                </a:tc>
              </a:tr>
              <a:tr h="365760">
                <a:tc>
                  <a:txBody>
                    <a:bodyPr/>
                    <a:lstStyle/>
                    <a:p>
                      <a:r>
                        <a:rPr sz="1000">
                          <a:solidFill>
                            <a:srgbClr val="1B2A33"/>
                          </a:solidFill>
                        </a:rPr>
                        <a:t>Supervisor</a:t>
                      </a:r>
                    </a:p>
                  </a:txBody>
                  <a:tcPr>
                    <a:solidFill>
                      <a:srgbClr val="FFFFFF"/>
                    </a:solidFill>
                  </a:tcPr>
                </a:tc>
                <a:tc>
                  <a:txBody>
                    <a:bodyPr/>
                    <a:lstStyle/>
                    <a:p>
                      <a:r>
                        <a:rPr sz="1000">
                          <a:solidFill>
                            <a:srgbClr val="1B2A33"/>
                          </a:solidFill>
                        </a:rPr>
                        <a:t>As agent</a:t>
                      </a:r>
                    </a:p>
                  </a:txBody>
                  <a:tcPr>
                    <a:solidFill>
                      <a:srgbClr val="FFFFFF"/>
                    </a:solidFill>
                  </a:tcPr>
                </a:tc>
                <a:tc>
                  <a:txBody>
                    <a:bodyPr/>
                    <a:lstStyle/>
                    <a:p>
                      <a:r>
                        <a:rPr sz="1000">
                          <a:solidFill>
                            <a:srgbClr val="1B2A33"/>
                          </a:solidFill>
                        </a:rPr>
                        <a:t>Read directory</a:t>
                      </a:r>
                    </a:p>
                  </a:txBody>
                  <a:tcPr>
                    <a:solidFill>
                      <a:srgbClr val="FFFFFF"/>
                    </a:solidFill>
                  </a:tcPr>
                </a:tc>
                <a:tc>
                  <a:txBody>
                    <a:bodyPr/>
                    <a:lstStyle/>
                    <a:p>
                      <a:r>
                        <a:rPr sz="1000">
                          <a:solidFill>
                            <a:srgbClr val="1B2A33"/>
                          </a:solidFill>
                        </a:rPr>
                        <a:t>—</a:t>
                      </a:r>
                    </a:p>
                  </a:txBody>
                  <a:tcPr>
                    <a:solidFill>
                      <a:srgbClr val="FFFFFF"/>
                    </a:solidFill>
                  </a:tcPr>
                </a:tc>
                <a:tc>
                  <a:txBody>
                    <a:bodyPr/>
                    <a:lstStyle/>
                    <a:p>
                      <a:r>
                        <a:rPr sz="1000">
                          <a:solidFill>
                            <a:srgbClr val="1B2A33"/>
                          </a:solidFill>
                        </a:rPr>
                        <a:t>Yes</a:t>
                      </a:r>
                    </a:p>
                  </a:txBody>
                  <a:tcPr>
                    <a:solidFill>
                      <a:srgbClr val="FFFFFF"/>
                    </a:solidFill>
                  </a:tcPr>
                </a:tc>
              </a:tr>
              <a:tr h="365760">
                <a:tc>
                  <a:txBody>
                    <a:bodyPr/>
                    <a:lstStyle/>
                    <a:p>
                      <a:r>
                        <a:rPr sz="1000">
                          <a:solidFill>
                            <a:srgbClr val="1B2A33"/>
                          </a:solidFill>
                        </a:rPr>
                        <a:t>Admin</a:t>
                      </a:r>
                    </a:p>
                  </a:txBody>
                  <a:tcPr>
                    <a:solidFill>
                      <a:srgbClr val="F3ECE0"/>
                    </a:solidFill>
                  </a:tcPr>
                </a:tc>
                <a:tc>
                  <a:txBody>
                    <a:bodyPr/>
                    <a:lstStyle/>
                    <a:p>
                      <a:r>
                        <a:rPr sz="1000">
                          <a:solidFill>
                            <a:srgbClr val="1B2A33"/>
                          </a:solidFill>
                        </a:rPr>
                        <a:t>As agent</a:t>
                      </a:r>
                    </a:p>
                  </a:txBody>
                  <a:tcPr>
                    <a:solidFill>
                      <a:srgbClr val="F3ECE0"/>
                    </a:solidFill>
                  </a:tcPr>
                </a:tc>
                <a:tc>
                  <a:txBody>
                    <a:bodyPr/>
                    <a:lstStyle/>
                    <a:p>
                      <a:r>
                        <a:rPr sz="1000">
                          <a:solidFill>
                            <a:srgbClr val="1B2A33"/>
                          </a:solidFill>
                        </a:rPr>
                        <a:t>Full control</a:t>
                      </a:r>
                    </a:p>
                  </a:txBody>
                  <a:tcPr>
                    <a:solidFill>
                      <a:srgbClr val="F3ECE0"/>
                    </a:solidFill>
                  </a:tcPr>
                </a:tc>
                <a:tc>
                  <a:txBody>
                    <a:bodyPr/>
                    <a:lstStyle/>
                    <a:p>
                      <a:r>
                        <a:rPr sz="1000">
                          <a:solidFill>
                            <a:srgbClr val="1B2A33"/>
                          </a:solidFill>
                        </a:rPr>
                        <a:t>Yes</a:t>
                      </a:r>
                    </a:p>
                  </a:txBody>
                  <a:tcPr>
                    <a:solidFill>
                      <a:srgbClr val="F3ECE0"/>
                    </a:solidFill>
                  </a:tcPr>
                </a:tc>
                <a:tc>
                  <a:txBody>
                    <a:bodyPr/>
                    <a:lstStyle/>
                    <a:p>
                      <a:r>
                        <a:rPr sz="1000">
                          <a:solidFill>
                            <a:srgbClr val="1B2A33"/>
                          </a:solidFill>
                        </a:rPr>
                        <a:t>Yes</a:t>
                      </a:r>
                    </a:p>
                  </a:txBody>
                  <a:tcPr>
                    <a:solidFill>
                      <a:srgbClr val="F3ECE0"/>
                    </a:solidFill>
                  </a:tcPr>
                </a:tc>
              </a:tr>
              <a:tr h="365760">
                <a:tc>
                  <a:txBody>
                    <a:bodyPr/>
                    <a:lstStyle/>
                    <a:p>
                      <a:r>
                        <a:rPr sz="1000">
                          <a:solidFill>
                            <a:srgbClr val="1B2A33"/>
                          </a:solidFill>
                        </a:rPr>
                        <a:t>Auditor</a:t>
                      </a:r>
                    </a:p>
                  </a:txBody>
                  <a:tcPr>
                    <a:solidFill>
                      <a:srgbClr val="FFFFFF"/>
                    </a:solidFill>
                  </a:tcPr>
                </a:tc>
                <a:tc>
                  <a:txBody>
                    <a:bodyPr/>
                    <a:lstStyle/>
                    <a:p>
                      <a:r>
                        <a:rPr sz="1000">
                          <a:solidFill>
                            <a:srgbClr val="1B2A33"/>
                          </a:solidFill>
                        </a:rPr>
                        <a:t>Read only — no writes at all</a:t>
                      </a:r>
                    </a:p>
                  </a:txBody>
                  <a:tcPr>
                    <a:solidFill>
                      <a:srgbClr val="FFFFFF"/>
                    </a:solidFill>
                  </a:tcPr>
                </a:tc>
                <a:tc>
                  <a:txBody>
                    <a:bodyPr/>
                    <a:lstStyle/>
                    <a:p>
                      <a:r>
                        <a:rPr sz="1000">
                          <a:solidFill>
                            <a:srgbClr val="1B2A33"/>
                          </a:solidFill>
                        </a:rPr>
                        <a:t>—</a:t>
                      </a:r>
                    </a:p>
                  </a:txBody>
                  <a:tcPr>
                    <a:solidFill>
                      <a:srgbClr val="FFFFFF"/>
                    </a:solidFill>
                  </a:tcPr>
                </a:tc>
                <a:tc>
                  <a:txBody>
                    <a:bodyPr/>
                    <a:lstStyle/>
                    <a:p>
                      <a:r>
                        <a:rPr sz="1000">
                          <a:solidFill>
                            <a:srgbClr val="1B2A33"/>
                          </a:solidFill>
                        </a:rPr>
                        <a:t>Yes</a:t>
                      </a:r>
                    </a:p>
                  </a:txBody>
                  <a:tcPr>
                    <a:solidFill>
                      <a:srgbClr val="FFFFFF"/>
                    </a:solidFill>
                  </a:tcPr>
                </a:tc>
                <a:tc>
                  <a:txBody>
                    <a:bodyPr/>
                    <a:lstStyle/>
                    <a:p>
                      <a:r>
                        <a:rPr sz="1000">
                          <a:solidFill>
                            <a:srgbClr val="1B2A33"/>
                          </a:solidFill>
                        </a:rPr>
                        <a:t>—</a:t>
                      </a:r>
                    </a:p>
                  </a:txBody>
                  <a:tcPr>
                    <a:solidFill>
                      <a:srgbClr val="FFFFFF"/>
                    </a:solidFill>
                  </a:tcPr>
                </a:tc>
              </a:tr>
            </a:tbl>
          </a:graphicData>
        </a:graphic>
      </p:graphicFrame>
      <p:sp>
        <p:nvSpPr>
          <p:cNvPr id="7" name="Rectangle 6"/>
          <p:cNvSpPr/>
          <p:nvPr/>
        </p:nvSpPr>
        <p:spPr>
          <a:xfrm>
            <a:off x="457200" y="3886200"/>
            <a:ext cx="11247120" cy="1051560"/>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3886200"/>
            <a:ext cx="54864" cy="1051560"/>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4069080"/>
            <a:ext cx="10789920" cy="731520"/>
          </a:xfrm>
          <a:prstGeom prst="rect">
            <a:avLst/>
          </a:prstGeom>
          <a:noFill/>
        </p:spPr>
        <p:txBody>
          <a:bodyPr wrap="square" anchor="t" lIns="0" rIns="0" tIns="0" bIns="0">
            <a:spAutoFit/>
          </a:bodyPr>
          <a:lstStyle/>
          <a:p>
            <a:pPr algn="l">
              <a:lnSpc>
                <a:spcPct val="125000"/>
              </a:lnSpc>
            </a:pPr>
            <a:r>
              <a:rPr sz="1200" b="0">
                <a:solidFill>
                  <a:srgbClr val="1B2A33"/>
                </a:solidFill>
                <a:latin typeface="Calibri"/>
              </a:rPr>
              <a:t>Super admin is a second tier on top of Admin, not a sixth role. Only a super admin can create another super admin or change one's password — otherwise any admin could take over the account.</a:t>
            </a:r>
          </a:p>
        </p:txBody>
      </p:sp>
      <p:sp>
        <p:nvSpPr>
          <p:cNvPr id="10" name="TextBox 9"/>
          <p:cNvSpPr txBox="1"/>
          <p:nvPr/>
        </p:nvSpPr>
        <p:spPr>
          <a:xfrm>
            <a:off x="457200" y="5120640"/>
            <a:ext cx="11247120" cy="731520"/>
          </a:xfrm>
          <a:prstGeom prst="rect">
            <a:avLst/>
          </a:prstGeom>
          <a:noFill/>
        </p:spPr>
        <p:txBody>
          <a:bodyPr wrap="square" anchor="t" lIns="0" rIns="0" tIns="0" bIns="0">
            <a:spAutoFit/>
          </a:bodyPr>
          <a:lstStyle/>
          <a:p>
            <a:pPr algn="l">
              <a:lnSpc>
                <a:spcPct val="125000"/>
              </a:lnSpc>
            </a:pPr>
            <a:r>
              <a:rPr sz="1200" b="0">
                <a:solidFill>
                  <a:srgbClr val="5B6B75"/>
                </a:solidFill>
                <a:latin typeface="Calibri"/>
              </a:rPr>
              <a:t>The auditor is read-only everywhere. It can open any ticket, dashboard and report, and every attempt to write is refused with a 403 — including comments and attachments.</a:t>
            </a:r>
          </a:p>
        </p:txBody>
      </p:sp>
      <p:sp>
        <p:nvSpPr>
          <p:cNvPr id="11" name="Rectangle 10"/>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13" name="TextBox 12"/>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Roles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377440"/>
            <a:ext cx="1828800" cy="548640"/>
          </a:xfrm>
          <a:prstGeom prst="rect">
            <a:avLst/>
          </a:prstGeom>
          <a:noFill/>
        </p:spPr>
        <p:txBody>
          <a:bodyPr wrap="square" anchor="t" lIns="0" rIns="0" tIns="0" bIns="0">
            <a:spAutoFit/>
          </a:bodyPr>
          <a:lstStyle/>
          <a:p>
            <a:pPr algn="l">
              <a:lnSpc>
                <a:spcPct val="115000"/>
              </a:lnSpc>
            </a:pPr>
            <a:r>
              <a:rPr sz="1300" b="1">
                <a:solidFill>
                  <a:srgbClr val="C25B2E"/>
                </a:solidFill>
                <a:latin typeface="Calibri"/>
              </a:rPr>
              <a:t>SECTION 04</a:t>
            </a:r>
          </a:p>
        </p:txBody>
      </p:sp>
      <p:sp>
        <p:nvSpPr>
          <p:cNvPr id="5" name="TextBox 4"/>
          <p:cNvSpPr txBox="1"/>
          <p:nvPr/>
        </p:nvSpPr>
        <p:spPr>
          <a:xfrm>
            <a:off x="1005840" y="2788920"/>
            <a:ext cx="9601200" cy="822960"/>
          </a:xfrm>
          <a:prstGeom prst="rect">
            <a:avLst/>
          </a:prstGeom>
          <a:noFill/>
        </p:spPr>
        <p:txBody>
          <a:bodyPr wrap="square" anchor="t" lIns="0" rIns="0" tIns="0" bIns="0">
            <a:spAutoFit/>
          </a:bodyPr>
          <a:lstStyle/>
          <a:p>
            <a:pPr algn="l">
              <a:lnSpc>
                <a:spcPct val="115000"/>
              </a:lnSpc>
            </a:pPr>
            <a:r>
              <a:rPr sz="3400" b="1">
                <a:solidFill>
                  <a:srgbClr val="0E4F4A"/>
                </a:solidFill>
                <a:latin typeface="Calibri"/>
              </a:rPr>
              <a:t>The ticket lifecycle</a:t>
            </a:r>
          </a:p>
        </p:txBody>
      </p:sp>
      <p:sp>
        <p:nvSpPr>
          <p:cNvPr id="6" name="TextBox 5"/>
          <p:cNvSpPr txBox="1"/>
          <p:nvPr/>
        </p:nvSpPr>
        <p:spPr>
          <a:xfrm>
            <a:off x="1005840" y="3794760"/>
            <a:ext cx="8686800" cy="914400"/>
          </a:xfrm>
          <a:prstGeom prst="rect">
            <a:avLst/>
          </a:prstGeom>
          <a:noFill/>
        </p:spPr>
        <p:txBody>
          <a:bodyPr wrap="square" anchor="t" lIns="0" rIns="0" tIns="0" bIns="0">
            <a:spAutoFit/>
          </a:bodyPr>
          <a:lstStyle/>
          <a:p>
            <a:pPr algn="l">
              <a:lnSpc>
                <a:spcPct val="130000"/>
              </a:lnSpc>
            </a:pPr>
            <a:r>
              <a:rPr sz="1500" b="0">
                <a:solidFill>
                  <a:srgbClr val="5B6B75"/>
                </a:solidFill>
                <a:latin typeface="Calibri"/>
              </a:rPr>
              <a:t>Nine statuses. The API enforces which moves are legal — an illegal jump is refused, not merely discouraged.</a:t>
            </a:r>
          </a:p>
        </p:txBody>
      </p:sp>
      <p:sp>
        <p:nvSpPr>
          <p:cNvPr id="7" name="Rectangle 6"/>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9" name="TextBox 8"/>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Section 04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82880"/>
            <a:ext cx="10515600" cy="320040"/>
          </a:xfrm>
          <a:prstGeom prst="rect">
            <a:avLst/>
          </a:prstGeom>
          <a:noFill/>
        </p:spPr>
        <p:txBody>
          <a:bodyPr wrap="square" anchor="t" lIns="0" rIns="0" tIns="0" bIns="0">
            <a:spAutoFit/>
          </a:bodyPr>
          <a:lstStyle/>
          <a:p>
            <a:pPr algn="l">
              <a:lnSpc>
                <a:spcPct val="115000"/>
              </a:lnSpc>
            </a:pPr>
            <a:r>
              <a:rPr sz="2300" b="1">
                <a:solidFill>
                  <a:srgbClr val="FFFFFF"/>
                </a:solidFill>
                <a:latin typeface="Calibri"/>
              </a:rPr>
              <a:t>Status flow</a:t>
            </a:r>
          </a:p>
        </p:txBody>
      </p:sp>
      <p:sp>
        <p:nvSpPr>
          <p:cNvPr id="5" name="TextBox 4"/>
          <p:cNvSpPr txBox="1"/>
          <p:nvPr/>
        </p:nvSpPr>
        <p:spPr>
          <a:xfrm>
            <a:off x="502920" y="548640"/>
            <a:ext cx="10515600" cy="256032"/>
          </a:xfrm>
          <a:prstGeom prst="rect">
            <a:avLst/>
          </a:prstGeom>
          <a:noFill/>
        </p:spPr>
        <p:txBody>
          <a:bodyPr wrap="square" anchor="t" lIns="0" rIns="0" tIns="0" bIns="0">
            <a:spAutoFit/>
          </a:bodyPr>
          <a:lstStyle/>
          <a:p>
            <a:pPr algn="l">
              <a:lnSpc>
                <a:spcPct val="115000"/>
              </a:lnSpc>
            </a:pPr>
            <a:r>
              <a:rPr sz="1150" b="0">
                <a:solidFill>
                  <a:srgbClr val="F3ECE0"/>
                </a:solidFill>
                <a:latin typeface="Calibri"/>
              </a:rPr>
              <a:t>Reproduced from VALID_TRANSITIONS in ticket_service.py — these are the only legal moves</a:t>
            </a:r>
          </a:p>
        </p:txBody>
      </p:sp>
      <p:sp>
        <p:nvSpPr>
          <p:cNvPr id="6" name="Rounded Rectangle 5"/>
          <p:cNvSpPr/>
          <p:nvPr/>
        </p:nvSpPr>
        <p:spPr>
          <a:xfrm>
            <a:off x="566928" y="1371600"/>
            <a:ext cx="1572768" cy="548640"/>
          </a:xfrm>
          <a:prstGeom prst="round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lnSpc>
                <a:spcPct val="110000"/>
              </a:lnSpc>
            </a:pPr>
            <a:r>
              <a:rPr sz="1100" b="1">
                <a:solidFill>
                  <a:srgbClr val="FFFFFF"/>
                </a:solidFill>
              </a:rPr>
              <a:t>new</a:t>
            </a:r>
          </a:p>
        </p:txBody>
      </p:sp>
      <p:sp>
        <p:nvSpPr>
          <p:cNvPr id="7" name="Right Arrow 6"/>
          <p:cNvSpPr/>
          <p:nvPr/>
        </p:nvSpPr>
        <p:spPr>
          <a:xfrm>
            <a:off x="2167128" y="1572768"/>
            <a:ext cx="237744" cy="146304"/>
          </a:xfrm>
          <a:prstGeom prst="rightArrow">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2432304" y="1371600"/>
            <a:ext cx="1572768" cy="548640"/>
          </a:xfrm>
          <a:prstGeom prst="round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lnSpc>
                <a:spcPct val="110000"/>
              </a:lnSpc>
            </a:pPr>
            <a:r>
              <a:rPr sz="1100" b="1">
                <a:solidFill>
                  <a:srgbClr val="FFFFFF"/>
                </a:solidFill>
              </a:rPr>
              <a:t>acknowledged</a:t>
            </a:r>
          </a:p>
        </p:txBody>
      </p:sp>
      <p:sp>
        <p:nvSpPr>
          <p:cNvPr id="9" name="Right Arrow 8"/>
          <p:cNvSpPr/>
          <p:nvPr/>
        </p:nvSpPr>
        <p:spPr>
          <a:xfrm>
            <a:off x="4032504" y="1572768"/>
            <a:ext cx="237744" cy="146304"/>
          </a:xfrm>
          <a:prstGeom prst="rightArrow">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297680" y="1371600"/>
            <a:ext cx="1572768" cy="548640"/>
          </a:xfrm>
          <a:prstGeom prst="round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lnSpc>
                <a:spcPct val="110000"/>
              </a:lnSpc>
            </a:pPr>
            <a:r>
              <a:rPr sz="1100" b="1">
                <a:solidFill>
                  <a:srgbClr val="FFFFFF"/>
                </a:solidFill>
              </a:rPr>
              <a:t>assigned</a:t>
            </a:r>
          </a:p>
        </p:txBody>
      </p:sp>
      <p:sp>
        <p:nvSpPr>
          <p:cNvPr id="11" name="Right Arrow 10"/>
          <p:cNvSpPr/>
          <p:nvPr/>
        </p:nvSpPr>
        <p:spPr>
          <a:xfrm>
            <a:off x="5897880" y="1572768"/>
            <a:ext cx="237744" cy="146304"/>
          </a:xfrm>
          <a:prstGeom prst="rightArrow">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163056" y="1371600"/>
            <a:ext cx="1572768" cy="548640"/>
          </a:xfrm>
          <a:prstGeom prst="round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lnSpc>
                <a:spcPct val="110000"/>
              </a:lnSpc>
            </a:pPr>
            <a:r>
              <a:rPr sz="1100" b="1">
                <a:solidFill>
                  <a:srgbClr val="FFFFFF"/>
                </a:solidFill>
              </a:rPr>
              <a:t>in_progress</a:t>
            </a:r>
          </a:p>
        </p:txBody>
      </p:sp>
      <p:sp>
        <p:nvSpPr>
          <p:cNvPr id="13" name="Right Arrow 12"/>
          <p:cNvSpPr/>
          <p:nvPr/>
        </p:nvSpPr>
        <p:spPr>
          <a:xfrm>
            <a:off x="7763256" y="1572768"/>
            <a:ext cx="237744" cy="146304"/>
          </a:xfrm>
          <a:prstGeom prst="rightArrow">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028432" y="1371600"/>
            <a:ext cx="1572768" cy="548640"/>
          </a:xfrm>
          <a:prstGeom prst="round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lnSpc>
                <a:spcPct val="110000"/>
              </a:lnSpc>
            </a:pPr>
            <a:r>
              <a:rPr sz="1100" b="1">
                <a:solidFill>
                  <a:srgbClr val="FFFFFF"/>
                </a:solidFill>
              </a:rPr>
              <a:t>resolved</a:t>
            </a:r>
          </a:p>
        </p:txBody>
      </p:sp>
      <p:sp>
        <p:nvSpPr>
          <p:cNvPr id="15" name="Right Arrow 14"/>
          <p:cNvSpPr/>
          <p:nvPr/>
        </p:nvSpPr>
        <p:spPr>
          <a:xfrm>
            <a:off x="9628632" y="1572768"/>
            <a:ext cx="237744" cy="146304"/>
          </a:xfrm>
          <a:prstGeom prst="rightArrow">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9893808" y="1371600"/>
            <a:ext cx="1572768" cy="548640"/>
          </a:xfrm>
          <a:prstGeom prst="round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lnSpc>
                <a:spcPct val="110000"/>
              </a:lnSpc>
            </a:pPr>
            <a:r>
              <a:rPr sz="1100" b="1">
                <a:solidFill>
                  <a:srgbClr val="FFFFFF"/>
                </a:solidFill>
              </a:rPr>
              <a:t>closed</a:t>
            </a:r>
          </a:p>
        </p:txBody>
      </p:sp>
      <p:sp>
        <p:nvSpPr>
          <p:cNvPr id="17" name="Rectangle 16"/>
          <p:cNvSpPr/>
          <p:nvPr/>
        </p:nvSpPr>
        <p:spPr>
          <a:xfrm>
            <a:off x="6931152" y="1920240"/>
            <a:ext cx="36576" cy="201168"/>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016752" y="2084832"/>
            <a:ext cx="1865376" cy="36576"/>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998464" y="2084832"/>
            <a:ext cx="36576" cy="310896"/>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230368" y="2395728"/>
            <a:ext cx="1572768" cy="475488"/>
          </a:xfrm>
          <a:prstGeom prst="roundRect">
            <a:avLst/>
          </a:prstGeom>
          <a:solidFill>
            <a:srgbClr val="B47A1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lnSpc>
                <a:spcPct val="110000"/>
              </a:lnSpc>
            </a:pPr>
            <a:r>
              <a:rPr sz="1050" b="1">
                <a:solidFill>
                  <a:srgbClr val="FFFFFF"/>
                </a:solidFill>
              </a:rPr>
              <a:t>on_hold</a:t>
            </a:r>
          </a:p>
        </p:txBody>
      </p:sp>
      <p:sp>
        <p:nvSpPr>
          <p:cNvPr id="21" name="Rectangle 20"/>
          <p:cNvSpPr/>
          <p:nvPr/>
        </p:nvSpPr>
        <p:spPr>
          <a:xfrm>
            <a:off x="7863840" y="2084832"/>
            <a:ext cx="36576" cy="310896"/>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7095744" y="2395728"/>
            <a:ext cx="1572768" cy="475488"/>
          </a:xfrm>
          <a:prstGeom prst="round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lnSpc>
                <a:spcPct val="110000"/>
              </a:lnSpc>
            </a:pPr>
            <a:r>
              <a:rPr sz="1050" b="1">
                <a:solidFill>
                  <a:srgbClr val="FFFFFF"/>
                </a:solidFill>
              </a:rPr>
              <a:t>escalated</a:t>
            </a:r>
          </a:p>
        </p:txBody>
      </p:sp>
      <p:sp>
        <p:nvSpPr>
          <p:cNvPr id="23" name="TextBox 22"/>
          <p:cNvSpPr txBox="1"/>
          <p:nvPr/>
        </p:nvSpPr>
        <p:spPr>
          <a:xfrm>
            <a:off x="566928" y="2468880"/>
            <a:ext cx="3108960" cy="457200"/>
          </a:xfrm>
          <a:prstGeom prst="rect">
            <a:avLst/>
          </a:prstGeom>
          <a:noFill/>
        </p:spPr>
        <p:txBody>
          <a:bodyPr wrap="square" anchor="t" lIns="0" rIns="0" tIns="0" bIns="0">
            <a:spAutoFit/>
          </a:bodyPr>
          <a:lstStyle/>
          <a:p>
            <a:pPr algn="l">
              <a:lnSpc>
                <a:spcPct val="115000"/>
              </a:lnSpc>
            </a:pPr>
            <a:r>
              <a:rPr sz="950" b="0">
                <a:solidFill>
                  <a:srgbClr val="5B6B75"/>
                </a:solidFill>
                <a:latin typeface="Calibri"/>
              </a:rPr>
              <a:t>Both pause the ticket and</a:t>
            </a:r>
          </a:p>
          <a:p>
            <a:pPr algn="l">
              <a:lnSpc>
                <a:spcPct val="115000"/>
              </a:lnSpc>
            </a:pPr>
            <a:r>
              <a:rPr sz="950" b="0">
                <a:solidFill>
                  <a:srgbClr val="5B6B75"/>
                </a:solidFill>
                <a:latin typeface="Calibri"/>
              </a:rPr>
              <a:t>both return to in_progress.</a:t>
            </a:r>
          </a:p>
        </p:txBody>
      </p:sp>
      <p:sp>
        <p:nvSpPr>
          <p:cNvPr id="24" name="Rounded Rectangle 23"/>
          <p:cNvSpPr/>
          <p:nvPr/>
        </p:nvSpPr>
        <p:spPr>
          <a:xfrm>
            <a:off x="4297680" y="3401568"/>
            <a:ext cx="1572768" cy="475488"/>
          </a:xfrm>
          <a:prstGeom prst="roundRect">
            <a:avLst/>
          </a:prstGeom>
          <a:solidFill>
            <a:srgbClr val="B47A1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lnSpc>
                <a:spcPct val="110000"/>
              </a:lnSpc>
            </a:pPr>
            <a:r>
              <a:rPr sz="1050" b="1">
                <a:solidFill>
                  <a:srgbClr val="FFFFFF"/>
                </a:solidFill>
              </a:rPr>
              <a:t>reopened</a:t>
            </a:r>
          </a:p>
        </p:txBody>
      </p:sp>
      <p:sp>
        <p:nvSpPr>
          <p:cNvPr id="25" name="Rectangle 24"/>
          <p:cNvSpPr/>
          <p:nvPr/>
        </p:nvSpPr>
        <p:spPr>
          <a:xfrm>
            <a:off x="10661904" y="1920240"/>
            <a:ext cx="36576" cy="1719072"/>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44768" y="3621024"/>
            <a:ext cx="4553712" cy="36576"/>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Left Arrow 26"/>
          <p:cNvSpPr/>
          <p:nvPr/>
        </p:nvSpPr>
        <p:spPr>
          <a:xfrm>
            <a:off x="5907024" y="3566160"/>
            <a:ext cx="237744" cy="146304"/>
          </a:xfrm>
          <a:prstGeom prst="leftArrow">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065776" y="2121408"/>
            <a:ext cx="36576" cy="128016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Up Arrow 28"/>
          <p:cNvSpPr/>
          <p:nvPr/>
        </p:nvSpPr>
        <p:spPr>
          <a:xfrm>
            <a:off x="5001768" y="1920240"/>
            <a:ext cx="164592" cy="219456"/>
          </a:xfrm>
          <a:prstGeom prst="upArrow">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66928" y="3456432"/>
            <a:ext cx="3108960" cy="457200"/>
          </a:xfrm>
          <a:prstGeom prst="rect">
            <a:avLst/>
          </a:prstGeom>
          <a:noFill/>
        </p:spPr>
        <p:txBody>
          <a:bodyPr wrap="square" anchor="t" lIns="0" rIns="0" tIns="0" bIns="0">
            <a:spAutoFit/>
          </a:bodyPr>
          <a:lstStyle/>
          <a:p>
            <a:pPr algn="l">
              <a:lnSpc>
                <a:spcPct val="115000"/>
              </a:lnSpc>
            </a:pPr>
            <a:r>
              <a:rPr sz="950" b="0">
                <a:solidFill>
                  <a:srgbClr val="5B6B75"/>
                </a:solidFill>
                <a:latin typeface="Calibri"/>
              </a:rPr>
              <a:t>closed can be reopened; it</a:t>
            </a:r>
          </a:p>
          <a:p>
            <a:pPr algn="l">
              <a:lnSpc>
                <a:spcPct val="115000"/>
              </a:lnSpc>
            </a:pPr>
            <a:r>
              <a:rPr sz="950" b="0">
                <a:solidFill>
                  <a:srgbClr val="5B6B75"/>
                </a:solidFill>
                <a:latin typeface="Calibri"/>
              </a:rPr>
              <a:t>returns to assigned.</a:t>
            </a:r>
          </a:p>
        </p:txBody>
      </p:sp>
      <p:sp>
        <p:nvSpPr>
          <p:cNvPr id="31" name="TextBox 30"/>
          <p:cNvSpPr txBox="1"/>
          <p:nvPr/>
        </p:nvSpPr>
        <p:spPr>
          <a:xfrm>
            <a:off x="566928" y="4206240"/>
            <a:ext cx="11064240" cy="237744"/>
          </a:xfrm>
          <a:prstGeom prst="rect">
            <a:avLst/>
          </a:prstGeom>
          <a:noFill/>
        </p:spPr>
        <p:txBody>
          <a:bodyPr wrap="square" anchor="t" lIns="0" rIns="0" tIns="0" bIns="0">
            <a:spAutoFit/>
          </a:bodyPr>
          <a:lstStyle/>
          <a:p>
            <a:pPr algn="l">
              <a:lnSpc>
                <a:spcPct val="115000"/>
              </a:lnSpc>
            </a:pPr>
            <a:r>
              <a:rPr sz="1050" b="1">
                <a:solidFill>
                  <a:srgbClr val="C25B2E"/>
                </a:solidFill>
                <a:latin typeface="Calibri"/>
              </a:rPr>
              <a:t>TWO RULES PEOPLE GET WRONG</a:t>
            </a:r>
          </a:p>
        </p:txBody>
      </p:sp>
      <p:sp>
        <p:nvSpPr>
          <p:cNvPr id="32" name="Rectangle 31"/>
          <p:cNvSpPr/>
          <p:nvPr/>
        </p:nvSpPr>
        <p:spPr>
          <a:xfrm>
            <a:off x="566928" y="4526280"/>
            <a:ext cx="11064240" cy="603504"/>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22960" y="4608576"/>
            <a:ext cx="10607040" cy="219456"/>
          </a:xfrm>
          <a:prstGeom prst="rect">
            <a:avLst/>
          </a:prstGeom>
          <a:noFill/>
        </p:spPr>
        <p:txBody>
          <a:bodyPr wrap="square" anchor="t" lIns="0" rIns="0" tIns="0" bIns="0">
            <a:spAutoFit/>
          </a:bodyPr>
          <a:lstStyle/>
          <a:p>
            <a:pPr algn="l">
              <a:lnSpc>
                <a:spcPct val="115000"/>
              </a:lnSpc>
            </a:pPr>
            <a:r>
              <a:rPr sz="1200" b="1">
                <a:solidFill>
                  <a:srgbClr val="0E4F4A"/>
                </a:solidFill>
                <a:latin typeface="Calibri"/>
              </a:rPr>
              <a:t>closed is reachable from any open state</a:t>
            </a:r>
          </a:p>
        </p:txBody>
      </p:sp>
      <p:sp>
        <p:nvSpPr>
          <p:cNvPr id="34" name="TextBox 33"/>
          <p:cNvSpPr txBox="1"/>
          <p:nvPr/>
        </p:nvSpPr>
        <p:spPr>
          <a:xfrm>
            <a:off x="822960" y="4846320"/>
            <a:ext cx="10607040" cy="237744"/>
          </a:xfrm>
          <a:prstGeom prst="rect">
            <a:avLst/>
          </a:prstGeom>
          <a:noFill/>
        </p:spPr>
        <p:txBody>
          <a:bodyPr wrap="square" anchor="t" lIns="0" rIns="0" tIns="0" bIns="0">
            <a:spAutoFit/>
          </a:bodyPr>
          <a:lstStyle/>
          <a:p>
            <a:pPr algn="l">
              <a:lnSpc>
                <a:spcPct val="115000"/>
              </a:lnSpc>
            </a:pPr>
            <a:r>
              <a:rPr sz="1050" b="0">
                <a:solidFill>
                  <a:srgbClr val="5B6B75"/>
                </a:solidFill>
                <a:latin typeface="Calibri"/>
              </a:rPr>
              <a:t>Closing early is a withdrawal — the problem went away, or it was raised in error.</a:t>
            </a:r>
          </a:p>
        </p:txBody>
      </p:sp>
      <p:sp>
        <p:nvSpPr>
          <p:cNvPr id="35" name="Rectangle 34"/>
          <p:cNvSpPr/>
          <p:nvPr/>
        </p:nvSpPr>
        <p:spPr>
          <a:xfrm>
            <a:off x="566928" y="5239512"/>
            <a:ext cx="11064240" cy="603504"/>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22960" y="5321808"/>
            <a:ext cx="10607040" cy="219456"/>
          </a:xfrm>
          <a:prstGeom prst="rect">
            <a:avLst/>
          </a:prstGeom>
          <a:noFill/>
        </p:spPr>
        <p:txBody>
          <a:bodyPr wrap="square" anchor="t" lIns="0" rIns="0" tIns="0" bIns="0">
            <a:spAutoFit/>
          </a:bodyPr>
          <a:lstStyle/>
          <a:p>
            <a:pPr algn="l">
              <a:lnSpc>
                <a:spcPct val="115000"/>
              </a:lnSpc>
            </a:pPr>
            <a:r>
              <a:rPr sz="1200" b="1">
                <a:solidFill>
                  <a:srgbClr val="0E4F4A"/>
                </a:solidFill>
                <a:latin typeface="Calibri"/>
              </a:rPr>
              <a:t>resolved is NOT reachable from assigned</a:t>
            </a:r>
          </a:p>
        </p:txBody>
      </p:sp>
      <p:sp>
        <p:nvSpPr>
          <p:cNvPr id="37" name="TextBox 36"/>
          <p:cNvSpPr txBox="1"/>
          <p:nvPr/>
        </p:nvSpPr>
        <p:spPr>
          <a:xfrm>
            <a:off x="822960" y="5559552"/>
            <a:ext cx="10607040" cy="237744"/>
          </a:xfrm>
          <a:prstGeom prst="rect">
            <a:avLst/>
          </a:prstGeom>
          <a:noFill/>
        </p:spPr>
        <p:txBody>
          <a:bodyPr wrap="square" anchor="t" lIns="0" rIns="0" tIns="0" bIns="0">
            <a:spAutoFit/>
          </a:bodyPr>
          <a:lstStyle/>
          <a:p>
            <a:pPr algn="l">
              <a:lnSpc>
                <a:spcPct val="115000"/>
              </a:lnSpc>
            </a:pPr>
            <a:r>
              <a:rPr sz="1050" b="0">
                <a:solidFill>
                  <a:srgbClr val="5B6B75"/>
                </a:solidFill>
                <a:latin typeface="Calibri"/>
              </a:rPr>
              <a:t>The ticket must have been worked first, so 'resolved' means something.</a:t>
            </a:r>
          </a:p>
        </p:txBody>
      </p:sp>
      <p:sp>
        <p:nvSpPr>
          <p:cNvPr id="38" name="Rectangle 37"/>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40" name="TextBox 39"/>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Lifecycle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377440"/>
            <a:ext cx="1828800" cy="548640"/>
          </a:xfrm>
          <a:prstGeom prst="rect">
            <a:avLst/>
          </a:prstGeom>
          <a:noFill/>
        </p:spPr>
        <p:txBody>
          <a:bodyPr wrap="square" anchor="t" lIns="0" rIns="0" tIns="0" bIns="0">
            <a:spAutoFit/>
          </a:bodyPr>
          <a:lstStyle/>
          <a:p>
            <a:pPr algn="l">
              <a:lnSpc>
                <a:spcPct val="115000"/>
              </a:lnSpc>
            </a:pPr>
            <a:r>
              <a:rPr sz="1300" b="1">
                <a:solidFill>
                  <a:srgbClr val="C25B2E"/>
                </a:solidFill>
                <a:latin typeface="Calibri"/>
              </a:rPr>
              <a:t>SECTION 05</a:t>
            </a:r>
          </a:p>
        </p:txBody>
      </p:sp>
      <p:sp>
        <p:nvSpPr>
          <p:cNvPr id="5" name="TextBox 4"/>
          <p:cNvSpPr txBox="1"/>
          <p:nvPr/>
        </p:nvSpPr>
        <p:spPr>
          <a:xfrm>
            <a:off x="1005840" y="2788920"/>
            <a:ext cx="9601200" cy="822960"/>
          </a:xfrm>
          <a:prstGeom prst="rect">
            <a:avLst/>
          </a:prstGeom>
          <a:noFill/>
        </p:spPr>
        <p:txBody>
          <a:bodyPr wrap="square" anchor="t" lIns="0" rIns="0" tIns="0" bIns="0">
            <a:spAutoFit/>
          </a:bodyPr>
          <a:lstStyle/>
          <a:p>
            <a:pPr algn="l">
              <a:lnSpc>
                <a:spcPct val="115000"/>
              </a:lnSpc>
            </a:pPr>
            <a:r>
              <a:rPr sz="3400" b="1">
                <a:solidFill>
                  <a:srgbClr val="0E4F4A"/>
                </a:solidFill>
                <a:latin typeface="Calibri"/>
              </a:rPr>
              <a:t>End to end, across the roles</a:t>
            </a:r>
          </a:p>
        </p:txBody>
      </p:sp>
      <p:sp>
        <p:nvSpPr>
          <p:cNvPr id="6" name="TextBox 5"/>
          <p:cNvSpPr txBox="1"/>
          <p:nvPr/>
        </p:nvSpPr>
        <p:spPr>
          <a:xfrm>
            <a:off x="1005840" y="3794760"/>
            <a:ext cx="8686800" cy="914400"/>
          </a:xfrm>
          <a:prstGeom prst="rect">
            <a:avLst/>
          </a:prstGeom>
          <a:noFill/>
        </p:spPr>
        <p:txBody>
          <a:bodyPr wrap="square" anchor="t" lIns="0" rIns="0" tIns="0" bIns="0">
            <a:spAutoFit/>
          </a:bodyPr>
          <a:lstStyle/>
          <a:p>
            <a:pPr algn="l">
              <a:lnSpc>
                <a:spcPct val="130000"/>
              </a:lnSpc>
            </a:pPr>
            <a:r>
              <a:rPr sz="1500" b="0">
                <a:solidFill>
                  <a:srgbClr val="5B6B75"/>
                </a:solidFill>
                <a:latin typeface="Calibri"/>
              </a:rPr>
              <a:t>The seams matter more than the steps. This is where a ticket changes hands.</a:t>
            </a:r>
          </a:p>
        </p:txBody>
      </p:sp>
      <p:sp>
        <p:nvSpPr>
          <p:cNvPr id="7" name="Rectangle 6"/>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9" name="TextBox 8"/>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Section 05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82880"/>
            <a:ext cx="10515600" cy="320040"/>
          </a:xfrm>
          <a:prstGeom prst="rect">
            <a:avLst/>
          </a:prstGeom>
          <a:noFill/>
        </p:spPr>
        <p:txBody>
          <a:bodyPr wrap="square" anchor="t" lIns="0" rIns="0" tIns="0" bIns="0">
            <a:spAutoFit/>
          </a:bodyPr>
          <a:lstStyle/>
          <a:p>
            <a:pPr algn="l">
              <a:lnSpc>
                <a:spcPct val="115000"/>
              </a:lnSpc>
            </a:pPr>
            <a:r>
              <a:rPr sz="2300" b="1">
                <a:solidFill>
                  <a:srgbClr val="FFFFFF"/>
                </a:solidFill>
                <a:latin typeface="Calibri"/>
              </a:rPr>
              <a:t>Who holds the ticket, and when</a:t>
            </a:r>
          </a:p>
        </p:txBody>
      </p:sp>
      <p:sp>
        <p:nvSpPr>
          <p:cNvPr id="5" name="TextBox 4"/>
          <p:cNvSpPr txBox="1"/>
          <p:nvPr/>
        </p:nvSpPr>
        <p:spPr>
          <a:xfrm>
            <a:off x="502920" y="548640"/>
            <a:ext cx="10515600" cy="256032"/>
          </a:xfrm>
          <a:prstGeom prst="rect">
            <a:avLst/>
          </a:prstGeom>
          <a:noFill/>
        </p:spPr>
        <p:txBody>
          <a:bodyPr wrap="square" anchor="t" lIns="0" rIns="0" tIns="0" bIns="0">
            <a:spAutoFit/>
          </a:bodyPr>
          <a:lstStyle/>
          <a:p>
            <a:pPr algn="l">
              <a:lnSpc>
                <a:spcPct val="115000"/>
              </a:lnSpc>
            </a:pPr>
            <a:r>
              <a:rPr sz="1150" b="0">
                <a:solidFill>
                  <a:srgbClr val="F3ECE0"/>
                </a:solidFill>
                <a:latin typeface="Calibri"/>
              </a:rPr>
              <a:t>Left to right in time; each band is one role</a:t>
            </a:r>
          </a:p>
        </p:txBody>
      </p:sp>
      <p:sp>
        <p:nvSpPr>
          <p:cNvPr id="6" name="Rectangle 5"/>
          <p:cNvSpPr/>
          <p:nvPr/>
        </p:nvSpPr>
        <p:spPr>
          <a:xfrm>
            <a:off x="457200" y="1234440"/>
            <a:ext cx="1691640" cy="969264"/>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563624"/>
            <a:ext cx="1508760" cy="274320"/>
          </a:xfrm>
          <a:prstGeom prst="rect">
            <a:avLst/>
          </a:prstGeom>
          <a:noFill/>
        </p:spPr>
        <p:txBody>
          <a:bodyPr wrap="square" anchor="t" lIns="0" rIns="0" tIns="0" bIns="0">
            <a:spAutoFit/>
          </a:bodyPr>
          <a:lstStyle/>
          <a:p>
            <a:pPr algn="l">
              <a:lnSpc>
                <a:spcPct val="115000"/>
              </a:lnSpc>
            </a:pPr>
            <a:r>
              <a:rPr sz="1050" b="1">
                <a:solidFill>
                  <a:srgbClr val="FFFFFF"/>
                </a:solidFill>
                <a:latin typeface="Calibri"/>
              </a:rPr>
              <a:t>BRANCH USER</a:t>
            </a:r>
          </a:p>
        </p:txBody>
      </p:sp>
      <p:sp>
        <p:nvSpPr>
          <p:cNvPr id="8" name="Rectangle 7"/>
          <p:cNvSpPr/>
          <p:nvPr/>
        </p:nvSpPr>
        <p:spPr>
          <a:xfrm>
            <a:off x="2194560" y="1234440"/>
            <a:ext cx="9509760" cy="969264"/>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258568"/>
            <a:ext cx="1691640" cy="969264"/>
          </a:xfrm>
          <a:prstGeom prst="rect">
            <a:avLst/>
          </a:prstGeom>
          <a:solidFill>
            <a:srgbClr val="093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2587752"/>
            <a:ext cx="1508760" cy="274320"/>
          </a:xfrm>
          <a:prstGeom prst="rect">
            <a:avLst/>
          </a:prstGeom>
          <a:noFill/>
        </p:spPr>
        <p:txBody>
          <a:bodyPr wrap="square" anchor="t" lIns="0" rIns="0" tIns="0" bIns="0">
            <a:spAutoFit/>
          </a:bodyPr>
          <a:lstStyle/>
          <a:p>
            <a:pPr algn="l">
              <a:lnSpc>
                <a:spcPct val="115000"/>
              </a:lnSpc>
            </a:pPr>
            <a:r>
              <a:rPr sz="1050" b="1">
                <a:solidFill>
                  <a:srgbClr val="FFFFFF"/>
                </a:solidFill>
                <a:latin typeface="Calibri"/>
              </a:rPr>
              <a:t>AGENT</a:t>
            </a:r>
          </a:p>
        </p:txBody>
      </p:sp>
      <p:sp>
        <p:nvSpPr>
          <p:cNvPr id="11" name="Rectangle 10"/>
          <p:cNvSpPr/>
          <p:nvPr/>
        </p:nvSpPr>
        <p:spPr>
          <a:xfrm>
            <a:off x="2194560" y="2258568"/>
            <a:ext cx="9509760" cy="969264"/>
          </a:xfrm>
          <a:prstGeom prst="rect">
            <a:avLst/>
          </a:prstGeom>
          <a:solidFill>
            <a:srgbClr val="FFFFFF"/>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3282696"/>
            <a:ext cx="1691640" cy="969264"/>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6928" y="3611880"/>
            <a:ext cx="1508760" cy="274320"/>
          </a:xfrm>
          <a:prstGeom prst="rect">
            <a:avLst/>
          </a:prstGeom>
          <a:noFill/>
        </p:spPr>
        <p:txBody>
          <a:bodyPr wrap="square" anchor="t" lIns="0" rIns="0" tIns="0" bIns="0">
            <a:spAutoFit/>
          </a:bodyPr>
          <a:lstStyle/>
          <a:p>
            <a:pPr algn="l">
              <a:lnSpc>
                <a:spcPct val="115000"/>
              </a:lnSpc>
            </a:pPr>
            <a:r>
              <a:rPr sz="1050" b="1">
                <a:solidFill>
                  <a:srgbClr val="FFFFFF"/>
                </a:solidFill>
                <a:latin typeface="Calibri"/>
              </a:rPr>
              <a:t>SUPERVISOR</a:t>
            </a:r>
          </a:p>
        </p:txBody>
      </p:sp>
      <p:sp>
        <p:nvSpPr>
          <p:cNvPr id="14" name="Rectangle 13"/>
          <p:cNvSpPr/>
          <p:nvPr/>
        </p:nvSpPr>
        <p:spPr>
          <a:xfrm>
            <a:off x="2194560" y="3282696"/>
            <a:ext cx="9509760" cy="969264"/>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57200" y="4306824"/>
            <a:ext cx="1691640" cy="969264"/>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66928" y="4636008"/>
            <a:ext cx="1508760" cy="274320"/>
          </a:xfrm>
          <a:prstGeom prst="rect">
            <a:avLst/>
          </a:prstGeom>
          <a:noFill/>
        </p:spPr>
        <p:txBody>
          <a:bodyPr wrap="square" anchor="t" lIns="0" rIns="0" tIns="0" bIns="0">
            <a:spAutoFit/>
          </a:bodyPr>
          <a:lstStyle/>
          <a:p>
            <a:pPr algn="l">
              <a:lnSpc>
                <a:spcPct val="115000"/>
              </a:lnSpc>
            </a:pPr>
            <a:r>
              <a:rPr sz="1050" b="1">
                <a:solidFill>
                  <a:srgbClr val="FFFFFF"/>
                </a:solidFill>
                <a:latin typeface="Calibri"/>
              </a:rPr>
              <a:t>SYSTEM</a:t>
            </a:r>
          </a:p>
        </p:txBody>
      </p:sp>
      <p:sp>
        <p:nvSpPr>
          <p:cNvPr id="17" name="Rectangle 16"/>
          <p:cNvSpPr/>
          <p:nvPr/>
        </p:nvSpPr>
        <p:spPr>
          <a:xfrm>
            <a:off x="2194560" y="4306824"/>
            <a:ext cx="9509760" cy="969264"/>
          </a:xfrm>
          <a:prstGeom prst="rect">
            <a:avLst/>
          </a:prstGeom>
          <a:solidFill>
            <a:srgbClr val="FFFFFF"/>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328416" y="1714500"/>
            <a:ext cx="105156" cy="27432"/>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419856" y="1728216"/>
            <a:ext cx="27432" cy="3072384"/>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433572" y="4786884"/>
            <a:ext cx="-4572" cy="27432"/>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ight Arrow 20"/>
          <p:cNvSpPr/>
          <p:nvPr/>
        </p:nvSpPr>
        <p:spPr>
          <a:xfrm>
            <a:off x="3410712" y="4745736"/>
            <a:ext cx="128016" cy="109728"/>
          </a:xfrm>
          <a:prstGeom prst="rightArrow">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507992" y="4786884"/>
            <a:ext cx="105156" cy="27432"/>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599432" y="2752344"/>
            <a:ext cx="27432" cy="2048256"/>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613148" y="2738628"/>
            <a:ext cx="-4572" cy="27432"/>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ight Arrow 24"/>
          <p:cNvSpPr/>
          <p:nvPr/>
        </p:nvSpPr>
        <p:spPr>
          <a:xfrm>
            <a:off x="4590288" y="2697480"/>
            <a:ext cx="128016" cy="109728"/>
          </a:xfrm>
          <a:prstGeom prst="rightArrow">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687568" y="2738628"/>
            <a:ext cx="105156" cy="27432"/>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779008" y="2752344"/>
            <a:ext cx="27432" cy="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792724" y="2738628"/>
            <a:ext cx="-4572" cy="27432"/>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ight Arrow 28"/>
          <p:cNvSpPr/>
          <p:nvPr/>
        </p:nvSpPr>
        <p:spPr>
          <a:xfrm>
            <a:off x="5769864" y="2697480"/>
            <a:ext cx="128016" cy="109728"/>
          </a:xfrm>
          <a:prstGeom prst="rightArrow">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867144" y="2738628"/>
            <a:ext cx="105156" cy="27432"/>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958584" y="2752344"/>
            <a:ext cx="27432" cy="2048256"/>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972300" y="4786884"/>
            <a:ext cx="-4572" cy="27432"/>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ight Arrow 32"/>
          <p:cNvSpPr/>
          <p:nvPr/>
        </p:nvSpPr>
        <p:spPr>
          <a:xfrm>
            <a:off x="6949440" y="4745736"/>
            <a:ext cx="128016" cy="109728"/>
          </a:xfrm>
          <a:prstGeom prst="rightArrow">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046720" y="4786884"/>
            <a:ext cx="105156" cy="27432"/>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138160" y="3776472"/>
            <a:ext cx="27432" cy="1024128"/>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8151876" y="3762756"/>
            <a:ext cx="-4572" cy="27432"/>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ight Arrow 36"/>
          <p:cNvSpPr/>
          <p:nvPr/>
        </p:nvSpPr>
        <p:spPr>
          <a:xfrm>
            <a:off x="8129016" y="3721608"/>
            <a:ext cx="128016" cy="109728"/>
          </a:xfrm>
          <a:prstGeom prst="rightArrow">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226296" y="3762756"/>
            <a:ext cx="105156" cy="27432"/>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317736" y="2752344"/>
            <a:ext cx="27432" cy="1024128"/>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9331452" y="2738628"/>
            <a:ext cx="-4572" cy="27432"/>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ight Arrow 40"/>
          <p:cNvSpPr/>
          <p:nvPr/>
        </p:nvSpPr>
        <p:spPr>
          <a:xfrm>
            <a:off x="9308592" y="2697480"/>
            <a:ext cx="128016" cy="109728"/>
          </a:xfrm>
          <a:prstGeom prst="rightArrow">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10405872" y="2738628"/>
            <a:ext cx="105156" cy="27432"/>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10497312" y="1728216"/>
            <a:ext cx="27432" cy="1024128"/>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10511028" y="1714500"/>
            <a:ext cx="-4572" cy="27432"/>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ight Arrow 44"/>
          <p:cNvSpPr/>
          <p:nvPr/>
        </p:nvSpPr>
        <p:spPr>
          <a:xfrm>
            <a:off x="10488168" y="1673352"/>
            <a:ext cx="128016" cy="109728"/>
          </a:xfrm>
          <a:prstGeom prst="rightArrow">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ounded Rectangle 45"/>
          <p:cNvSpPr/>
          <p:nvPr/>
        </p:nvSpPr>
        <p:spPr>
          <a:xfrm>
            <a:off x="2359152" y="1380744"/>
            <a:ext cx="969264" cy="694944"/>
          </a:xfrm>
          <a:prstGeom prst="round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lnSpc>
                <a:spcPct val="110000"/>
              </a:lnSpc>
            </a:pPr>
            <a:r>
              <a:rPr sz="800" b="1">
                <a:solidFill>
                  <a:srgbClr val="FFFFFF"/>
                </a:solidFill>
              </a:rPr>
              <a:t>Raise ticket</a:t>
            </a:r>
          </a:p>
          <a:p>
            <a:pPr algn="ctr">
              <a:lnSpc>
                <a:spcPct val="110000"/>
              </a:lnSpc>
            </a:pPr>
            <a:r>
              <a:rPr sz="800" b="1">
                <a:solidFill>
                  <a:srgbClr val="FFFFFF"/>
                </a:solidFill>
              </a:rPr>
              <a:t>+ attach evidence</a:t>
            </a:r>
          </a:p>
        </p:txBody>
      </p:sp>
      <p:sp>
        <p:nvSpPr>
          <p:cNvPr id="47" name="Rounded Rectangle 46"/>
          <p:cNvSpPr/>
          <p:nvPr/>
        </p:nvSpPr>
        <p:spPr>
          <a:xfrm>
            <a:off x="3538728" y="4453128"/>
            <a:ext cx="969264" cy="694944"/>
          </a:xfrm>
          <a:prstGeom prst="round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lnSpc>
                <a:spcPct val="110000"/>
              </a:lnSpc>
            </a:pPr>
            <a:r>
              <a:rPr sz="800" b="1">
                <a:solidFill>
                  <a:srgbClr val="FFFFFF"/>
                </a:solidFill>
              </a:rPr>
              <a:t>Auto-assign</a:t>
            </a:r>
          </a:p>
          <a:p>
            <a:pPr algn="ctr">
              <a:lnSpc>
                <a:spcPct val="110000"/>
              </a:lnSpc>
            </a:pPr>
            <a:r>
              <a:rPr sz="800" b="1">
                <a:solidFill>
                  <a:srgbClr val="FFFFFF"/>
                </a:solidFill>
              </a:rPr>
              <a:t>+ stamp SLA</a:t>
            </a:r>
          </a:p>
        </p:txBody>
      </p:sp>
      <p:sp>
        <p:nvSpPr>
          <p:cNvPr id="48" name="Rounded Rectangle 47"/>
          <p:cNvSpPr/>
          <p:nvPr/>
        </p:nvSpPr>
        <p:spPr>
          <a:xfrm>
            <a:off x="4718304" y="2404872"/>
            <a:ext cx="969264" cy="694944"/>
          </a:xfrm>
          <a:prstGeom prst="roundRect">
            <a:avLst/>
          </a:prstGeom>
          <a:solidFill>
            <a:srgbClr val="09383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lnSpc>
                <a:spcPct val="110000"/>
              </a:lnSpc>
            </a:pPr>
            <a:r>
              <a:rPr sz="800" b="1">
                <a:solidFill>
                  <a:srgbClr val="FFFFFF"/>
                </a:solidFill>
              </a:rPr>
              <a:t>Take it,</a:t>
            </a:r>
          </a:p>
          <a:p>
            <a:pPr algn="ctr">
              <a:lnSpc>
                <a:spcPct val="110000"/>
              </a:lnSpc>
            </a:pPr>
            <a:r>
              <a:rPr sz="800" b="1">
                <a:solidFill>
                  <a:srgbClr val="FFFFFF"/>
                </a:solidFill>
              </a:rPr>
              <a:t>investigate</a:t>
            </a:r>
          </a:p>
        </p:txBody>
      </p:sp>
      <p:sp>
        <p:nvSpPr>
          <p:cNvPr id="49" name="Rounded Rectangle 48"/>
          <p:cNvSpPr/>
          <p:nvPr/>
        </p:nvSpPr>
        <p:spPr>
          <a:xfrm>
            <a:off x="5897880" y="2404872"/>
            <a:ext cx="969264" cy="694944"/>
          </a:xfrm>
          <a:prstGeom prst="roundRect">
            <a:avLst/>
          </a:prstGeom>
          <a:solidFill>
            <a:srgbClr val="09383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lnSpc>
                <a:spcPct val="110000"/>
              </a:lnSpc>
            </a:pPr>
            <a:r>
              <a:rPr sz="800" b="1">
                <a:solidFill>
                  <a:srgbClr val="FFFFFF"/>
                </a:solidFill>
              </a:rPr>
              <a:t>Reply</a:t>
            </a:r>
          </a:p>
          <a:p>
            <a:pPr algn="ctr">
              <a:lnSpc>
                <a:spcPct val="110000"/>
              </a:lnSpc>
            </a:pPr>
            <a:r>
              <a:rPr sz="800" b="1">
                <a:solidFill>
                  <a:srgbClr val="FFFFFF"/>
                </a:solidFill>
              </a:rPr>
              <a:t>+ attach fix</a:t>
            </a:r>
          </a:p>
        </p:txBody>
      </p:sp>
      <p:sp>
        <p:nvSpPr>
          <p:cNvPr id="50" name="Rounded Rectangle 49"/>
          <p:cNvSpPr/>
          <p:nvPr/>
        </p:nvSpPr>
        <p:spPr>
          <a:xfrm>
            <a:off x="7077456" y="4453128"/>
            <a:ext cx="969264" cy="694944"/>
          </a:xfrm>
          <a:prstGeom prst="round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lnSpc>
                <a:spcPct val="110000"/>
              </a:lnSpc>
            </a:pPr>
            <a:r>
              <a:rPr sz="800" b="1">
                <a:solidFill>
                  <a:srgbClr val="FFFFFF"/>
                </a:solidFill>
              </a:rPr>
              <a:t>SLA breach?</a:t>
            </a:r>
          </a:p>
          <a:p>
            <a:pPr algn="ctr">
              <a:lnSpc>
                <a:spcPct val="110000"/>
              </a:lnSpc>
            </a:pPr>
            <a:r>
              <a:rPr sz="800" b="1">
                <a:solidFill>
                  <a:srgbClr val="FFFFFF"/>
                </a:solidFill>
              </a:rPr>
              <a:t>escalate</a:t>
            </a:r>
          </a:p>
        </p:txBody>
      </p:sp>
      <p:sp>
        <p:nvSpPr>
          <p:cNvPr id="51" name="Rounded Rectangle 50"/>
          <p:cNvSpPr/>
          <p:nvPr/>
        </p:nvSpPr>
        <p:spPr>
          <a:xfrm>
            <a:off x="8257032" y="3429000"/>
            <a:ext cx="969264" cy="694944"/>
          </a:xfrm>
          <a:prstGeom prst="round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lnSpc>
                <a:spcPct val="110000"/>
              </a:lnSpc>
            </a:pPr>
            <a:r>
              <a:rPr sz="800" b="1">
                <a:solidFill>
                  <a:srgbClr val="FFFFFF"/>
                </a:solidFill>
              </a:rPr>
              <a:t>Review,</a:t>
            </a:r>
          </a:p>
          <a:p>
            <a:pPr algn="ctr">
              <a:lnSpc>
                <a:spcPct val="110000"/>
              </a:lnSpc>
            </a:pPr>
            <a:r>
              <a:rPr sz="800" b="1">
                <a:solidFill>
                  <a:srgbClr val="FFFFFF"/>
                </a:solidFill>
              </a:rPr>
              <a:t>reassign</a:t>
            </a:r>
          </a:p>
        </p:txBody>
      </p:sp>
      <p:sp>
        <p:nvSpPr>
          <p:cNvPr id="52" name="Rounded Rectangle 51"/>
          <p:cNvSpPr/>
          <p:nvPr/>
        </p:nvSpPr>
        <p:spPr>
          <a:xfrm>
            <a:off x="9436608" y="2404872"/>
            <a:ext cx="969264" cy="694944"/>
          </a:xfrm>
          <a:prstGeom prst="roundRect">
            <a:avLst/>
          </a:prstGeom>
          <a:solidFill>
            <a:srgbClr val="09383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lnSpc>
                <a:spcPct val="110000"/>
              </a:lnSpc>
            </a:pPr>
            <a:r>
              <a:rPr sz="800" b="1">
                <a:solidFill>
                  <a:srgbClr val="FFFFFF"/>
                </a:solidFill>
              </a:rPr>
              <a:t>Resolve</a:t>
            </a:r>
          </a:p>
        </p:txBody>
      </p:sp>
      <p:sp>
        <p:nvSpPr>
          <p:cNvPr id="53" name="Rounded Rectangle 52"/>
          <p:cNvSpPr/>
          <p:nvPr/>
        </p:nvSpPr>
        <p:spPr>
          <a:xfrm>
            <a:off x="10616184" y="1380744"/>
            <a:ext cx="969264" cy="694944"/>
          </a:xfrm>
          <a:prstGeom prst="round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lnSpc>
                <a:spcPct val="110000"/>
              </a:lnSpc>
            </a:pPr>
            <a:r>
              <a:rPr sz="800" b="1">
                <a:solidFill>
                  <a:srgbClr val="FFFFFF"/>
                </a:solidFill>
              </a:rPr>
              <a:t>See resolution,</a:t>
            </a:r>
          </a:p>
          <a:p>
            <a:pPr algn="ctr">
              <a:lnSpc>
                <a:spcPct val="110000"/>
              </a:lnSpc>
            </a:pPr>
            <a:r>
              <a:rPr sz="800" b="1">
                <a:solidFill>
                  <a:srgbClr val="FFFFFF"/>
                </a:solidFill>
              </a:rPr>
              <a:t>close or reopen</a:t>
            </a:r>
          </a:p>
        </p:txBody>
      </p:sp>
      <p:sp>
        <p:nvSpPr>
          <p:cNvPr id="54" name="TextBox 53"/>
          <p:cNvSpPr txBox="1"/>
          <p:nvPr/>
        </p:nvSpPr>
        <p:spPr>
          <a:xfrm>
            <a:off x="457200" y="5486400"/>
            <a:ext cx="11247120" cy="822960"/>
          </a:xfrm>
          <a:prstGeom prst="rect">
            <a:avLst/>
          </a:prstGeom>
          <a:noFill/>
        </p:spPr>
        <p:txBody>
          <a:bodyPr wrap="square" anchor="t" lIns="0" rIns="0" tIns="0" bIns="0">
            <a:spAutoFit/>
          </a:bodyPr>
          <a:lstStyle/>
          <a:p>
            <a:pPr algn="l">
              <a:lnSpc>
                <a:spcPct val="130000"/>
              </a:lnSpc>
            </a:pPr>
            <a:r>
              <a:rPr sz="1150" b="0">
                <a:solidFill>
                  <a:srgbClr val="5B6B75"/>
                </a:solidFill>
                <a:latin typeface="Calibri"/>
              </a:rPr>
              <a:t>The connectors are the handoffs. Only two of them are a person deciding to pass the ticket on — the agent escalating, and the branch user reopening. The rest happen because the system moved it, or because the next role was already watching.</a:t>
            </a:r>
          </a:p>
        </p:txBody>
      </p:sp>
      <p:sp>
        <p:nvSpPr>
          <p:cNvPr id="55" name="Rectangle 54"/>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57" name="TextBox 56"/>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End to end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377440"/>
            <a:ext cx="1828800" cy="548640"/>
          </a:xfrm>
          <a:prstGeom prst="rect">
            <a:avLst/>
          </a:prstGeom>
          <a:noFill/>
        </p:spPr>
        <p:txBody>
          <a:bodyPr wrap="square" anchor="t" lIns="0" rIns="0" tIns="0" bIns="0">
            <a:spAutoFit/>
          </a:bodyPr>
          <a:lstStyle/>
          <a:p>
            <a:pPr algn="l">
              <a:lnSpc>
                <a:spcPct val="115000"/>
              </a:lnSpc>
            </a:pPr>
            <a:r>
              <a:rPr sz="1300" b="1">
                <a:solidFill>
                  <a:srgbClr val="C25B2E"/>
                </a:solidFill>
                <a:latin typeface="Calibri"/>
              </a:rPr>
              <a:t>SECTION 06</a:t>
            </a:r>
          </a:p>
        </p:txBody>
      </p:sp>
      <p:sp>
        <p:nvSpPr>
          <p:cNvPr id="5" name="TextBox 4"/>
          <p:cNvSpPr txBox="1"/>
          <p:nvPr/>
        </p:nvSpPr>
        <p:spPr>
          <a:xfrm>
            <a:off x="1005840" y="2788920"/>
            <a:ext cx="9601200" cy="822960"/>
          </a:xfrm>
          <a:prstGeom prst="rect">
            <a:avLst/>
          </a:prstGeom>
          <a:noFill/>
        </p:spPr>
        <p:txBody>
          <a:bodyPr wrap="square" anchor="t" lIns="0" rIns="0" tIns="0" bIns="0">
            <a:spAutoFit/>
          </a:bodyPr>
          <a:lstStyle/>
          <a:p>
            <a:pPr algn="l">
              <a:lnSpc>
                <a:spcPct val="115000"/>
              </a:lnSpc>
            </a:pPr>
            <a:r>
              <a:rPr sz="3400" b="1">
                <a:solidFill>
                  <a:srgbClr val="0E4F4A"/>
                </a:solidFill>
                <a:latin typeface="Calibri"/>
              </a:rPr>
              <a:t>Branch user workflow</a:t>
            </a:r>
          </a:p>
        </p:txBody>
      </p:sp>
      <p:sp>
        <p:nvSpPr>
          <p:cNvPr id="6" name="TextBox 5"/>
          <p:cNvSpPr txBox="1"/>
          <p:nvPr/>
        </p:nvSpPr>
        <p:spPr>
          <a:xfrm>
            <a:off x="1005840" y="3794760"/>
            <a:ext cx="8686800" cy="914400"/>
          </a:xfrm>
          <a:prstGeom prst="rect">
            <a:avLst/>
          </a:prstGeom>
          <a:noFill/>
        </p:spPr>
        <p:txBody>
          <a:bodyPr wrap="square" anchor="t" lIns="0" rIns="0" tIns="0" bIns="0">
            <a:spAutoFit/>
          </a:bodyPr>
          <a:lstStyle/>
          <a:p>
            <a:pPr algn="l">
              <a:lnSpc>
                <a:spcPct val="130000"/>
              </a:lnSpc>
            </a:pPr>
            <a:r>
              <a:rPr sz="1500" b="0">
                <a:solidFill>
                  <a:srgbClr val="5B6B75"/>
                </a:solidFill>
                <a:latin typeface="Calibri"/>
              </a:rPr>
              <a:t>You raise the problem, supply the evidence, answer questions, and see the resolution.</a:t>
            </a:r>
          </a:p>
        </p:txBody>
      </p:sp>
      <p:sp>
        <p:nvSpPr>
          <p:cNvPr id="7" name="Rectangle 6"/>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9" name="TextBox 8"/>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Section 06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01</a:t>
            </a:r>
          </a:p>
        </p:txBody>
      </p:sp>
      <p:sp>
        <p:nvSpPr>
          <p:cNvPr id="6" name="TextBox 5"/>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Sign in</a:t>
            </a:r>
          </a:p>
        </p:txBody>
      </p:sp>
      <p:sp>
        <p:nvSpPr>
          <p:cNvPr id="7" name="TextBox 6"/>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BRANCH USER</a:t>
            </a:r>
          </a:p>
        </p:txBody>
      </p:sp>
      <p:sp>
        <p:nvSpPr>
          <p:cNvPr id="8" name="Rectangle 7"/>
          <p:cNvSpPr/>
          <p:nvPr/>
        </p:nvSpPr>
        <p:spPr>
          <a:xfrm>
            <a:off x="388620" y="1165860"/>
            <a:ext cx="7818120" cy="490347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00-login.png"/>
          <p:cNvPicPr>
            <a:picLocks noChangeAspect="1"/>
          </p:cNvPicPr>
          <p:nvPr/>
        </p:nvPicPr>
        <p:blipFill>
          <a:blip r:embed="rId2"/>
          <a:stretch>
            <a:fillRect/>
          </a:stretch>
        </p:blipFill>
        <p:spPr>
          <a:xfrm>
            <a:off x="411480" y="1188720"/>
            <a:ext cx="7772400" cy="4857750"/>
          </a:xfrm>
          <a:prstGeom prst="rect">
            <a:avLst/>
          </a:prstGeom>
        </p:spPr>
      </p:pic>
      <p:sp>
        <p:nvSpPr>
          <p:cNvPr id="10" name="Oval 9"/>
          <p:cNvSpPr/>
          <p:nvPr/>
        </p:nvSpPr>
        <p:spPr>
          <a:xfrm>
            <a:off x="4804759" y="3264750"/>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11" name="Oval 10"/>
          <p:cNvSpPr/>
          <p:nvPr/>
        </p:nvSpPr>
        <p:spPr>
          <a:xfrm>
            <a:off x="4804759" y="3685432"/>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2</a:t>
            </a:r>
          </a:p>
        </p:txBody>
      </p:sp>
      <p:sp>
        <p:nvSpPr>
          <p:cNvPr id="12" name="Oval 11"/>
          <p:cNvSpPr/>
          <p:nvPr/>
        </p:nvSpPr>
        <p:spPr>
          <a:xfrm>
            <a:off x="4804759" y="3976897"/>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3</a:t>
            </a:r>
          </a:p>
        </p:txBody>
      </p:sp>
      <p:sp>
        <p:nvSpPr>
          <p:cNvPr id="13" name="TextBox 12"/>
          <p:cNvSpPr txBox="1"/>
          <p:nvPr/>
        </p:nvSpPr>
        <p:spPr>
          <a:xfrm>
            <a:off x="8458200" y="1188720"/>
            <a:ext cx="3291840" cy="219456"/>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4" name="Oval 13"/>
          <p:cNvSpPr/>
          <p:nvPr/>
        </p:nvSpPr>
        <p:spPr>
          <a:xfrm>
            <a:off x="8458200" y="1463040"/>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1</a:t>
            </a:r>
          </a:p>
        </p:txBody>
      </p:sp>
      <p:sp>
        <p:nvSpPr>
          <p:cNvPr id="15" name="TextBox 14"/>
          <p:cNvSpPr txBox="1"/>
          <p:nvPr/>
        </p:nvSpPr>
        <p:spPr>
          <a:xfrm>
            <a:off x="8787384" y="1481328"/>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Your bank email address</a:t>
            </a:r>
          </a:p>
        </p:txBody>
      </p:sp>
      <p:sp>
        <p:nvSpPr>
          <p:cNvPr id="16" name="Oval 15"/>
          <p:cNvSpPr/>
          <p:nvPr/>
        </p:nvSpPr>
        <p:spPr>
          <a:xfrm>
            <a:off x="8458200" y="1723644"/>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2</a:t>
            </a:r>
          </a:p>
        </p:txBody>
      </p:sp>
      <p:sp>
        <p:nvSpPr>
          <p:cNvPr id="17" name="TextBox 16"/>
          <p:cNvSpPr txBox="1"/>
          <p:nvPr/>
        </p:nvSpPr>
        <p:spPr>
          <a:xfrm>
            <a:off x="8787384" y="1741932"/>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Your password</a:t>
            </a:r>
          </a:p>
        </p:txBody>
      </p:sp>
      <p:sp>
        <p:nvSpPr>
          <p:cNvPr id="18" name="Oval 17"/>
          <p:cNvSpPr/>
          <p:nvPr/>
        </p:nvSpPr>
        <p:spPr>
          <a:xfrm>
            <a:off x="8458200" y="1984248"/>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3</a:t>
            </a:r>
          </a:p>
        </p:txBody>
      </p:sp>
      <p:sp>
        <p:nvSpPr>
          <p:cNvPr id="19" name="TextBox 18"/>
          <p:cNvSpPr txBox="1"/>
          <p:nvPr/>
        </p:nvSpPr>
        <p:spPr>
          <a:xfrm>
            <a:off x="8787384" y="2002536"/>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Sign in</a:t>
            </a:r>
          </a:p>
        </p:txBody>
      </p:sp>
      <p:sp>
        <p:nvSpPr>
          <p:cNvPr id="20" name="Rectangle 19"/>
          <p:cNvSpPr/>
          <p:nvPr/>
        </p:nvSpPr>
        <p:spPr>
          <a:xfrm>
            <a:off x="8458200" y="2391156"/>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622792" y="2391156"/>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22" name="TextBox 21"/>
          <p:cNvSpPr txBox="1"/>
          <p:nvPr/>
        </p:nvSpPr>
        <p:spPr>
          <a:xfrm>
            <a:off x="8622792" y="2583180"/>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Enter your bank email and password, then select Sign in.</a:t>
            </a:r>
          </a:p>
        </p:txBody>
      </p:sp>
      <p:sp>
        <p:nvSpPr>
          <p:cNvPr id="23" name="Rectangle 22"/>
          <p:cNvSpPr/>
          <p:nvPr/>
        </p:nvSpPr>
        <p:spPr>
          <a:xfrm>
            <a:off x="8458200" y="3095244"/>
            <a:ext cx="45720" cy="66294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622792" y="3095244"/>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25" name="TextBox 24"/>
          <p:cNvSpPr txBox="1"/>
          <p:nvPr/>
        </p:nvSpPr>
        <p:spPr>
          <a:xfrm>
            <a:off x="8622792" y="3287268"/>
            <a:ext cx="3127248" cy="48006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You land on your dashboard. If your account has a second factor enabled, you are asked for a 6-digit code first.</a:t>
            </a:r>
          </a:p>
        </p:txBody>
      </p:sp>
      <p:sp>
        <p:nvSpPr>
          <p:cNvPr id="26" name="Rectangle 25"/>
          <p:cNvSpPr/>
          <p:nvPr/>
        </p:nvSpPr>
        <p:spPr>
          <a:xfrm>
            <a:off x="8458200" y="3959352"/>
            <a:ext cx="45720" cy="34290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622792" y="3959352"/>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28" name="TextBox 27"/>
          <p:cNvSpPr txBox="1"/>
          <p:nvPr/>
        </p:nvSpPr>
        <p:spPr>
          <a:xfrm>
            <a:off x="8622792" y="4151376"/>
            <a:ext cx="3127248" cy="16002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Step 02 — read your dashboard.</a:t>
            </a:r>
          </a:p>
        </p:txBody>
      </p:sp>
      <p:sp>
        <p:nvSpPr>
          <p:cNvPr id="29" name="Rectangle 28"/>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31" name="TextBox 30"/>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01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02</a:t>
            </a:r>
          </a:p>
        </p:txBody>
      </p:sp>
      <p:sp>
        <p:nvSpPr>
          <p:cNvPr id="6" name="TextBox 5"/>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Read your dashboard</a:t>
            </a:r>
          </a:p>
        </p:txBody>
      </p:sp>
      <p:sp>
        <p:nvSpPr>
          <p:cNvPr id="7" name="TextBox 6"/>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BRANCH USER</a:t>
            </a:r>
          </a:p>
        </p:txBody>
      </p:sp>
      <p:sp>
        <p:nvSpPr>
          <p:cNvPr id="8" name="Rectangle 7"/>
          <p:cNvSpPr/>
          <p:nvPr/>
        </p:nvSpPr>
        <p:spPr>
          <a:xfrm>
            <a:off x="388620" y="1165860"/>
            <a:ext cx="7818120" cy="490347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10-branch-dashboard.png"/>
          <p:cNvPicPr>
            <a:picLocks noChangeAspect="1"/>
          </p:cNvPicPr>
          <p:nvPr/>
        </p:nvPicPr>
        <p:blipFill>
          <a:blip r:embed="rId2"/>
          <a:stretch>
            <a:fillRect/>
          </a:stretch>
        </p:blipFill>
        <p:spPr>
          <a:xfrm>
            <a:off x="411480" y="1188720"/>
            <a:ext cx="7772400" cy="4857750"/>
          </a:xfrm>
          <a:prstGeom prst="rect">
            <a:avLst/>
          </a:prstGeom>
        </p:spPr>
      </p:pic>
      <p:sp>
        <p:nvSpPr>
          <p:cNvPr id="10" name="Oval 9"/>
          <p:cNvSpPr/>
          <p:nvPr/>
        </p:nvSpPr>
        <p:spPr>
          <a:xfrm>
            <a:off x="444398" y="1270158"/>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11" name="Oval 10"/>
          <p:cNvSpPr/>
          <p:nvPr/>
        </p:nvSpPr>
        <p:spPr>
          <a:xfrm>
            <a:off x="1307179" y="1572310"/>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2</a:t>
            </a:r>
          </a:p>
        </p:txBody>
      </p:sp>
      <p:sp>
        <p:nvSpPr>
          <p:cNvPr id="12" name="TextBox 11"/>
          <p:cNvSpPr txBox="1"/>
          <p:nvPr/>
        </p:nvSpPr>
        <p:spPr>
          <a:xfrm>
            <a:off x="8458200" y="1188720"/>
            <a:ext cx="3291840" cy="219456"/>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3" name="Oval 12"/>
          <p:cNvSpPr/>
          <p:nvPr/>
        </p:nvSpPr>
        <p:spPr>
          <a:xfrm>
            <a:off x="8458200" y="1463040"/>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1</a:t>
            </a:r>
          </a:p>
        </p:txBody>
      </p:sp>
      <p:sp>
        <p:nvSpPr>
          <p:cNvPr id="14" name="TextBox 13"/>
          <p:cNvSpPr txBox="1"/>
          <p:nvPr/>
        </p:nvSpPr>
        <p:spPr>
          <a:xfrm>
            <a:off x="8787384" y="1481328"/>
            <a:ext cx="2962656" cy="338328"/>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Dashboard, Tickets and Security — the whole menu for this role</a:t>
            </a:r>
          </a:p>
        </p:txBody>
      </p:sp>
      <p:sp>
        <p:nvSpPr>
          <p:cNvPr id="15" name="Oval 14"/>
          <p:cNvSpPr/>
          <p:nvPr/>
        </p:nvSpPr>
        <p:spPr>
          <a:xfrm>
            <a:off x="8458200" y="1892808"/>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2</a:t>
            </a:r>
          </a:p>
        </p:txBody>
      </p:sp>
      <p:sp>
        <p:nvSpPr>
          <p:cNvPr id="16" name="TextBox 15"/>
          <p:cNvSpPr txBox="1"/>
          <p:nvPr/>
        </p:nvSpPr>
        <p:spPr>
          <a:xfrm>
            <a:off x="8787384" y="1911096"/>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Your ticket counts</a:t>
            </a:r>
          </a:p>
        </p:txBody>
      </p:sp>
      <p:sp>
        <p:nvSpPr>
          <p:cNvPr id="17" name="Rectangle 16"/>
          <p:cNvSpPr/>
          <p:nvPr/>
        </p:nvSpPr>
        <p:spPr>
          <a:xfrm>
            <a:off x="8458200" y="2299716"/>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22792" y="2299716"/>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19" name="TextBox 18"/>
          <p:cNvSpPr txBox="1"/>
          <p:nvPr/>
        </p:nvSpPr>
        <p:spPr>
          <a:xfrm>
            <a:off x="8622792" y="2491740"/>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Check the tiles for anything of yours that is breaching or still open.</a:t>
            </a:r>
          </a:p>
        </p:txBody>
      </p:sp>
      <p:sp>
        <p:nvSpPr>
          <p:cNvPr id="20" name="Rectangle 19"/>
          <p:cNvSpPr/>
          <p:nvPr/>
        </p:nvSpPr>
        <p:spPr>
          <a:xfrm>
            <a:off x="8458200" y="3003804"/>
            <a:ext cx="45720" cy="50292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622792" y="3003804"/>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22" name="TextBox 21"/>
          <p:cNvSpPr txBox="1"/>
          <p:nvPr/>
        </p:nvSpPr>
        <p:spPr>
          <a:xfrm>
            <a:off x="8622792" y="3195828"/>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Each tile opens the exact list it counts — a tile reading 3 opens three tickets.</a:t>
            </a:r>
          </a:p>
        </p:txBody>
      </p:sp>
      <p:sp>
        <p:nvSpPr>
          <p:cNvPr id="23" name="Rectangle 22"/>
          <p:cNvSpPr/>
          <p:nvPr/>
        </p:nvSpPr>
        <p:spPr>
          <a:xfrm>
            <a:off x="8458200" y="3707892"/>
            <a:ext cx="45720" cy="34290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622792" y="3707892"/>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25" name="TextBox 24"/>
          <p:cNvSpPr txBox="1"/>
          <p:nvPr/>
        </p:nvSpPr>
        <p:spPr>
          <a:xfrm>
            <a:off x="8622792" y="3899916"/>
            <a:ext cx="3127248" cy="16002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Step 03 — open the ticket list.</a:t>
            </a:r>
          </a:p>
        </p:txBody>
      </p:sp>
      <p:sp>
        <p:nvSpPr>
          <p:cNvPr id="26" name="Rectangle 25"/>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8" name="TextBox 27"/>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02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03</a:t>
            </a:r>
          </a:p>
        </p:txBody>
      </p:sp>
      <p:sp>
        <p:nvSpPr>
          <p:cNvPr id="6" name="TextBox 5"/>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See only your own tickets</a:t>
            </a:r>
          </a:p>
        </p:txBody>
      </p:sp>
      <p:sp>
        <p:nvSpPr>
          <p:cNvPr id="7" name="TextBox 6"/>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BRANCH USER</a:t>
            </a:r>
          </a:p>
        </p:txBody>
      </p:sp>
      <p:sp>
        <p:nvSpPr>
          <p:cNvPr id="8" name="Rectangle 7"/>
          <p:cNvSpPr/>
          <p:nvPr/>
        </p:nvSpPr>
        <p:spPr>
          <a:xfrm>
            <a:off x="388620" y="1165860"/>
            <a:ext cx="7818120" cy="490347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11-branch-tickets.png"/>
          <p:cNvPicPr>
            <a:picLocks noChangeAspect="1"/>
          </p:cNvPicPr>
          <p:nvPr/>
        </p:nvPicPr>
        <p:blipFill>
          <a:blip r:embed="rId2"/>
          <a:stretch>
            <a:fillRect/>
          </a:stretch>
        </p:blipFill>
        <p:spPr>
          <a:xfrm>
            <a:off x="411480" y="1188720"/>
            <a:ext cx="7772400" cy="4857750"/>
          </a:xfrm>
          <a:prstGeom prst="rect">
            <a:avLst/>
          </a:prstGeom>
        </p:spPr>
      </p:pic>
      <p:sp>
        <p:nvSpPr>
          <p:cNvPr id="10" name="Oval 9"/>
          <p:cNvSpPr/>
          <p:nvPr/>
        </p:nvSpPr>
        <p:spPr>
          <a:xfrm>
            <a:off x="5692368" y="1202636"/>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11" name="Oval 10"/>
          <p:cNvSpPr/>
          <p:nvPr/>
        </p:nvSpPr>
        <p:spPr>
          <a:xfrm>
            <a:off x="6927402" y="1607286"/>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2</a:t>
            </a:r>
          </a:p>
        </p:txBody>
      </p:sp>
      <p:sp>
        <p:nvSpPr>
          <p:cNvPr id="12" name="TextBox 11"/>
          <p:cNvSpPr txBox="1"/>
          <p:nvPr/>
        </p:nvSpPr>
        <p:spPr>
          <a:xfrm>
            <a:off x="8458200" y="1188720"/>
            <a:ext cx="3291840" cy="219456"/>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3" name="Oval 12"/>
          <p:cNvSpPr/>
          <p:nvPr/>
        </p:nvSpPr>
        <p:spPr>
          <a:xfrm>
            <a:off x="8458200" y="1463040"/>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1</a:t>
            </a:r>
          </a:p>
        </p:txBody>
      </p:sp>
      <p:sp>
        <p:nvSpPr>
          <p:cNvPr id="14" name="TextBox 13"/>
          <p:cNvSpPr txBox="1"/>
          <p:nvPr/>
        </p:nvSpPr>
        <p:spPr>
          <a:xfrm>
            <a:off x="8787384" y="1481328"/>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Search and filters</a:t>
            </a:r>
          </a:p>
        </p:txBody>
      </p:sp>
      <p:sp>
        <p:nvSpPr>
          <p:cNvPr id="15" name="Oval 14"/>
          <p:cNvSpPr/>
          <p:nvPr/>
        </p:nvSpPr>
        <p:spPr>
          <a:xfrm>
            <a:off x="8458200" y="1723644"/>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2</a:t>
            </a:r>
          </a:p>
        </p:txBody>
      </p:sp>
      <p:sp>
        <p:nvSpPr>
          <p:cNvPr id="16" name="TextBox 15"/>
          <p:cNvSpPr txBox="1"/>
          <p:nvPr/>
        </p:nvSpPr>
        <p:spPr>
          <a:xfrm>
            <a:off x="8787384" y="1741932"/>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New Ticket</a:t>
            </a:r>
          </a:p>
        </p:txBody>
      </p:sp>
      <p:sp>
        <p:nvSpPr>
          <p:cNvPr id="17" name="Rectangle 16"/>
          <p:cNvSpPr/>
          <p:nvPr/>
        </p:nvSpPr>
        <p:spPr>
          <a:xfrm>
            <a:off x="8458200" y="2130552"/>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22792" y="2130552"/>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19" name="TextBox 18"/>
          <p:cNvSpPr txBox="1"/>
          <p:nvPr/>
        </p:nvSpPr>
        <p:spPr>
          <a:xfrm>
            <a:off x="8622792" y="2322576"/>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Scan the list, or filter to what you are looking for.</a:t>
            </a:r>
          </a:p>
        </p:txBody>
      </p:sp>
      <p:sp>
        <p:nvSpPr>
          <p:cNvPr id="20" name="Rectangle 19"/>
          <p:cNvSpPr/>
          <p:nvPr/>
        </p:nvSpPr>
        <p:spPr>
          <a:xfrm>
            <a:off x="8458200" y="2834640"/>
            <a:ext cx="45720" cy="66294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622792" y="2834640"/>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22" name="TextBox 21"/>
          <p:cNvSpPr txBox="1"/>
          <p:nvPr/>
        </p:nvSpPr>
        <p:spPr>
          <a:xfrm>
            <a:off x="8622792" y="3026664"/>
            <a:ext cx="3127248" cy="48006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You see only tickets you raised. This is enforced by the server, not hidden by the page.</a:t>
            </a:r>
          </a:p>
        </p:txBody>
      </p:sp>
      <p:sp>
        <p:nvSpPr>
          <p:cNvPr id="23" name="Rectangle 22"/>
          <p:cNvSpPr/>
          <p:nvPr/>
        </p:nvSpPr>
        <p:spPr>
          <a:xfrm>
            <a:off x="8458200" y="3698748"/>
            <a:ext cx="45720" cy="34290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622792" y="3698748"/>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25" name="TextBox 24"/>
          <p:cNvSpPr txBox="1"/>
          <p:nvPr/>
        </p:nvSpPr>
        <p:spPr>
          <a:xfrm>
            <a:off x="8622792" y="3890772"/>
            <a:ext cx="3127248" cy="16002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Step 04 — raise a new ticket.</a:t>
            </a:r>
          </a:p>
        </p:txBody>
      </p:sp>
      <p:sp>
        <p:nvSpPr>
          <p:cNvPr id="26" name="Rectangle 25"/>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8" name="TextBox 27"/>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03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04</a:t>
            </a:r>
          </a:p>
        </p:txBody>
      </p:sp>
      <p:sp>
        <p:nvSpPr>
          <p:cNvPr id="6" name="TextBox 5"/>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Open the new ticket form</a:t>
            </a:r>
          </a:p>
        </p:txBody>
      </p:sp>
      <p:sp>
        <p:nvSpPr>
          <p:cNvPr id="7" name="TextBox 6"/>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BRANCH USER</a:t>
            </a:r>
          </a:p>
        </p:txBody>
      </p:sp>
      <p:sp>
        <p:nvSpPr>
          <p:cNvPr id="8" name="Rectangle 7"/>
          <p:cNvSpPr/>
          <p:nvPr/>
        </p:nvSpPr>
        <p:spPr>
          <a:xfrm>
            <a:off x="388620" y="1165860"/>
            <a:ext cx="7818120" cy="490347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12-branch-create-empty.png"/>
          <p:cNvPicPr>
            <a:picLocks noChangeAspect="1"/>
          </p:cNvPicPr>
          <p:nvPr/>
        </p:nvPicPr>
        <p:blipFill>
          <a:blip r:embed="rId2"/>
          <a:stretch>
            <a:fillRect/>
          </a:stretch>
        </p:blipFill>
        <p:spPr>
          <a:xfrm>
            <a:off x="411480" y="1188720"/>
            <a:ext cx="7772400" cy="4857750"/>
          </a:xfrm>
          <a:prstGeom prst="rect">
            <a:avLst/>
          </a:prstGeom>
        </p:spPr>
      </p:pic>
      <p:sp>
        <p:nvSpPr>
          <p:cNvPr id="10" name="Oval 9"/>
          <p:cNvSpPr/>
          <p:nvPr/>
        </p:nvSpPr>
        <p:spPr>
          <a:xfrm>
            <a:off x="1545015" y="2182444"/>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11" name="Oval 10"/>
          <p:cNvSpPr/>
          <p:nvPr/>
        </p:nvSpPr>
        <p:spPr>
          <a:xfrm>
            <a:off x="1545015" y="2846012"/>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2</a:t>
            </a:r>
          </a:p>
        </p:txBody>
      </p:sp>
      <p:sp>
        <p:nvSpPr>
          <p:cNvPr id="12" name="Oval 11"/>
          <p:cNvSpPr/>
          <p:nvPr/>
        </p:nvSpPr>
        <p:spPr>
          <a:xfrm>
            <a:off x="1545015" y="4171207"/>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3</a:t>
            </a:r>
          </a:p>
        </p:txBody>
      </p:sp>
      <p:sp>
        <p:nvSpPr>
          <p:cNvPr id="13" name="TextBox 12"/>
          <p:cNvSpPr txBox="1"/>
          <p:nvPr/>
        </p:nvSpPr>
        <p:spPr>
          <a:xfrm>
            <a:off x="8458200" y="1188720"/>
            <a:ext cx="3291840" cy="219456"/>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4" name="Oval 13"/>
          <p:cNvSpPr/>
          <p:nvPr/>
        </p:nvSpPr>
        <p:spPr>
          <a:xfrm>
            <a:off x="8458200" y="1463040"/>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1</a:t>
            </a:r>
          </a:p>
        </p:txBody>
      </p:sp>
      <p:sp>
        <p:nvSpPr>
          <p:cNvPr id="15" name="TextBox 14"/>
          <p:cNvSpPr txBox="1"/>
          <p:nvPr/>
        </p:nvSpPr>
        <p:spPr>
          <a:xfrm>
            <a:off x="8787384" y="1481328"/>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Title — one line naming the problem</a:t>
            </a:r>
          </a:p>
        </p:txBody>
      </p:sp>
      <p:sp>
        <p:nvSpPr>
          <p:cNvPr id="16" name="Oval 15"/>
          <p:cNvSpPr/>
          <p:nvPr/>
        </p:nvSpPr>
        <p:spPr>
          <a:xfrm>
            <a:off x="8458200" y="1723644"/>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2</a:t>
            </a:r>
          </a:p>
        </p:txBody>
      </p:sp>
      <p:sp>
        <p:nvSpPr>
          <p:cNvPr id="17" name="TextBox 16"/>
          <p:cNvSpPr txBox="1"/>
          <p:nvPr/>
        </p:nvSpPr>
        <p:spPr>
          <a:xfrm>
            <a:off x="8787384" y="1741932"/>
            <a:ext cx="2962656" cy="338328"/>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Description — what happened, and for whom</a:t>
            </a:r>
          </a:p>
        </p:txBody>
      </p:sp>
      <p:sp>
        <p:nvSpPr>
          <p:cNvPr id="18" name="Oval 17"/>
          <p:cNvSpPr/>
          <p:nvPr/>
        </p:nvSpPr>
        <p:spPr>
          <a:xfrm>
            <a:off x="8458200" y="2153412"/>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3</a:t>
            </a:r>
          </a:p>
        </p:txBody>
      </p:sp>
      <p:sp>
        <p:nvSpPr>
          <p:cNvPr id="19" name="TextBox 18"/>
          <p:cNvSpPr txBox="1"/>
          <p:nvPr/>
        </p:nvSpPr>
        <p:spPr>
          <a:xfrm>
            <a:off x="8787384" y="2171700"/>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Priority</a:t>
            </a:r>
          </a:p>
        </p:txBody>
      </p:sp>
      <p:sp>
        <p:nvSpPr>
          <p:cNvPr id="20" name="Rectangle 19"/>
          <p:cNvSpPr/>
          <p:nvPr/>
        </p:nvSpPr>
        <p:spPr>
          <a:xfrm>
            <a:off x="8458200" y="2560320"/>
            <a:ext cx="45720" cy="34290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622792" y="2560320"/>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22" name="TextBox 21"/>
          <p:cNvSpPr txBox="1"/>
          <p:nvPr/>
        </p:nvSpPr>
        <p:spPr>
          <a:xfrm>
            <a:off x="8622792" y="2752344"/>
            <a:ext cx="3127248" cy="16002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Select New Ticket from the ticket list.</a:t>
            </a:r>
          </a:p>
        </p:txBody>
      </p:sp>
      <p:sp>
        <p:nvSpPr>
          <p:cNvPr id="23" name="Rectangle 22"/>
          <p:cNvSpPr/>
          <p:nvPr/>
        </p:nvSpPr>
        <p:spPr>
          <a:xfrm>
            <a:off x="8458200" y="3104388"/>
            <a:ext cx="45720" cy="50292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622792" y="3104388"/>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25" name="TextBox 24"/>
          <p:cNvSpPr txBox="1"/>
          <p:nvPr/>
        </p:nvSpPr>
        <p:spPr>
          <a:xfrm>
            <a:off x="8622792" y="3296412"/>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An empty form opens. Nothing is submitted until you choose Create Ticket.</a:t>
            </a:r>
          </a:p>
        </p:txBody>
      </p:sp>
      <p:sp>
        <p:nvSpPr>
          <p:cNvPr id="26" name="Rectangle 25"/>
          <p:cNvSpPr/>
          <p:nvPr/>
        </p:nvSpPr>
        <p:spPr>
          <a:xfrm>
            <a:off x="8458200" y="3808476"/>
            <a:ext cx="45720" cy="34290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622792" y="3808476"/>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28" name="TextBox 27"/>
          <p:cNvSpPr txBox="1"/>
          <p:nvPr/>
        </p:nvSpPr>
        <p:spPr>
          <a:xfrm>
            <a:off x="8622792" y="4000500"/>
            <a:ext cx="3127248" cy="16002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Step 05 — fill it in and attach evidence.</a:t>
            </a:r>
          </a:p>
        </p:txBody>
      </p:sp>
      <p:sp>
        <p:nvSpPr>
          <p:cNvPr id="29" name="Rectangle 28"/>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31" name="TextBox 30"/>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04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05</a:t>
            </a:r>
          </a:p>
        </p:txBody>
      </p:sp>
      <p:sp>
        <p:nvSpPr>
          <p:cNvPr id="6" name="TextBox 5"/>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Describe it, and attach the evidence</a:t>
            </a:r>
          </a:p>
        </p:txBody>
      </p:sp>
      <p:sp>
        <p:nvSpPr>
          <p:cNvPr id="7" name="TextBox 6"/>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BRANCH USER</a:t>
            </a:r>
          </a:p>
        </p:txBody>
      </p:sp>
      <p:sp>
        <p:nvSpPr>
          <p:cNvPr id="8" name="Rectangle 7"/>
          <p:cNvSpPr/>
          <p:nvPr/>
        </p:nvSpPr>
        <p:spPr>
          <a:xfrm>
            <a:off x="388620" y="1165860"/>
            <a:ext cx="7818120" cy="490347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13-branch-create-filled.png"/>
          <p:cNvPicPr>
            <a:picLocks noChangeAspect="1"/>
          </p:cNvPicPr>
          <p:nvPr/>
        </p:nvPicPr>
        <p:blipFill>
          <a:blip r:embed="rId2"/>
          <a:stretch>
            <a:fillRect/>
          </a:stretch>
        </p:blipFill>
        <p:spPr>
          <a:xfrm>
            <a:off x="411480" y="1188720"/>
            <a:ext cx="7772400" cy="4857750"/>
          </a:xfrm>
          <a:prstGeom prst="rect">
            <a:avLst/>
          </a:prstGeom>
        </p:spPr>
      </p:pic>
      <p:sp>
        <p:nvSpPr>
          <p:cNvPr id="10" name="Oval 9"/>
          <p:cNvSpPr/>
          <p:nvPr/>
        </p:nvSpPr>
        <p:spPr>
          <a:xfrm>
            <a:off x="1545015" y="2182444"/>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11" name="Oval 10"/>
          <p:cNvSpPr/>
          <p:nvPr/>
        </p:nvSpPr>
        <p:spPr>
          <a:xfrm>
            <a:off x="1545015" y="2846012"/>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2</a:t>
            </a:r>
          </a:p>
        </p:txBody>
      </p:sp>
      <p:sp>
        <p:nvSpPr>
          <p:cNvPr id="12" name="Oval 11"/>
          <p:cNvSpPr/>
          <p:nvPr/>
        </p:nvSpPr>
        <p:spPr>
          <a:xfrm>
            <a:off x="1545015" y="4171207"/>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3</a:t>
            </a:r>
          </a:p>
        </p:txBody>
      </p:sp>
      <p:sp>
        <p:nvSpPr>
          <p:cNvPr id="13" name="Oval 12"/>
          <p:cNvSpPr/>
          <p:nvPr/>
        </p:nvSpPr>
        <p:spPr>
          <a:xfrm>
            <a:off x="1545015" y="5148100"/>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4</a:t>
            </a:r>
          </a:p>
        </p:txBody>
      </p:sp>
      <p:sp>
        <p:nvSpPr>
          <p:cNvPr id="14" name="TextBox 13"/>
          <p:cNvSpPr txBox="1"/>
          <p:nvPr/>
        </p:nvSpPr>
        <p:spPr>
          <a:xfrm>
            <a:off x="8458200" y="1188720"/>
            <a:ext cx="3291840" cy="219456"/>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5" name="Oval 14"/>
          <p:cNvSpPr/>
          <p:nvPr/>
        </p:nvSpPr>
        <p:spPr>
          <a:xfrm>
            <a:off x="8458200" y="1463040"/>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1</a:t>
            </a:r>
          </a:p>
        </p:txBody>
      </p:sp>
      <p:sp>
        <p:nvSpPr>
          <p:cNvPr id="16" name="TextBox 15"/>
          <p:cNvSpPr txBox="1"/>
          <p:nvPr/>
        </p:nvSpPr>
        <p:spPr>
          <a:xfrm>
            <a:off x="8787384" y="1481328"/>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Be specific: account, amount, date</a:t>
            </a:r>
          </a:p>
        </p:txBody>
      </p:sp>
      <p:sp>
        <p:nvSpPr>
          <p:cNvPr id="17" name="Oval 16"/>
          <p:cNvSpPr/>
          <p:nvPr/>
        </p:nvSpPr>
        <p:spPr>
          <a:xfrm>
            <a:off x="8458200" y="1723644"/>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2</a:t>
            </a:r>
          </a:p>
        </p:txBody>
      </p:sp>
      <p:sp>
        <p:nvSpPr>
          <p:cNvPr id="18" name="TextBox 17"/>
          <p:cNvSpPr txBox="1"/>
          <p:nvPr/>
        </p:nvSpPr>
        <p:spPr>
          <a:xfrm>
            <a:off x="8787384" y="1741932"/>
            <a:ext cx="2962656" cy="338328"/>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What happened, and what the customer expects</a:t>
            </a:r>
          </a:p>
        </p:txBody>
      </p:sp>
      <p:sp>
        <p:nvSpPr>
          <p:cNvPr id="19" name="Oval 18"/>
          <p:cNvSpPr/>
          <p:nvPr/>
        </p:nvSpPr>
        <p:spPr>
          <a:xfrm>
            <a:off x="8458200" y="2153412"/>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3</a:t>
            </a:r>
          </a:p>
        </p:txBody>
      </p:sp>
      <p:sp>
        <p:nvSpPr>
          <p:cNvPr id="20" name="TextBox 19"/>
          <p:cNvSpPr txBox="1"/>
          <p:nvPr/>
        </p:nvSpPr>
        <p:spPr>
          <a:xfrm>
            <a:off x="8787384" y="2171700"/>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Priority and category</a:t>
            </a:r>
          </a:p>
        </p:txBody>
      </p:sp>
      <p:sp>
        <p:nvSpPr>
          <p:cNvPr id="21" name="Oval 20"/>
          <p:cNvSpPr/>
          <p:nvPr/>
        </p:nvSpPr>
        <p:spPr>
          <a:xfrm>
            <a:off x="8458200" y="2414016"/>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4</a:t>
            </a:r>
          </a:p>
        </p:txBody>
      </p:sp>
      <p:sp>
        <p:nvSpPr>
          <p:cNvPr id="22" name="TextBox 21"/>
          <p:cNvSpPr txBox="1"/>
          <p:nvPr/>
        </p:nvSpPr>
        <p:spPr>
          <a:xfrm>
            <a:off x="8787384" y="2432304"/>
            <a:ext cx="2962656" cy="338328"/>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Attach evidence — drag files here, or choose them</a:t>
            </a:r>
          </a:p>
        </p:txBody>
      </p:sp>
      <p:sp>
        <p:nvSpPr>
          <p:cNvPr id="23" name="Rectangle 22"/>
          <p:cNvSpPr/>
          <p:nvPr/>
        </p:nvSpPr>
        <p:spPr>
          <a:xfrm>
            <a:off x="8458200" y="2990088"/>
            <a:ext cx="45720" cy="82296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622792" y="2990088"/>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25" name="TextBox 24"/>
          <p:cNvSpPr txBox="1"/>
          <p:nvPr/>
        </p:nvSpPr>
        <p:spPr>
          <a:xfrm>
            <a:off x="8622792" y="3182112"/>
            <a:ext cx="3127248" cy="64008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Complete the form and attach a screenshot, statement or spreadsheet. Up to 15 MB per file; images, PDF, Word, Excel, text and CSV.</a:t>
            </a:r>
          </a:p>
        </p:txBody>
      </p:sp>
      <p:sp>
        <p:nvSpPr>
          <p:cNvPr id="26" name="Rectangle 25"/>
          <p:cNvSpPr/>
          <p:nvPr/>
        </p:nvSpPr>
        <p:spPr>
          <a:xfrm>
            <a:off x="8458200" y="4014216"/>
            <a:ext cx="45720" cy="82296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622792" y="4014216"/>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28" name="TextBox 27"/>
          <p:cNvSpPr txBox="1"/>
          <p:nvPr/>
        </p:nvSpPr>
        <p:spPr>
          <a:xfrm>
            <a:off x="8622792" y="4206240"/>
            <a:ext cx="3127248" cy="64008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Files are held in the browser and uploaded the moment the ticket is created — so evidence arrives with the report, not after it.</a:t>
            </a:r>
          </a:p>
        </p:txBody>
      </p:sp>
      <p:sp>
        <p:nvSpPr>
          <p:cNvPr id="29" name="Rectangle 28"/>
          <p:cNvSpPr/>
          <p:nvPr/>
        </p:nvSpPr>
        <p:spPr>
          <a:xfrm>
            <a:off x="8458200" y="5038344"/>
            <a:ext cx="45720" cy="34290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622792" y="5038344"/>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31" name="TextBox 30"/>
          <p:cNvSpPr txBox="1"/>
          <p:nvPr/>
        </p:nvSpPr>
        <p:spPr>
          <a:xfrm>
            <a:off x="8622792" y="5230368"/>
            <a:ext cx="3127248" cy="16002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Step 06 — submit and follow it.</a:t>
            </a:r>
          </a:p>
        </p:txBody>
      </p:sp>
      <p:sp>
        <p:nvSpPr>
          <p:cNvPr id="32" name="Rectangle 31"/>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34" name="TextBox 33"/>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05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06</a:t>
            </a:r>
          </a:p>
        </p:txBody>
      </p:sp>
      <p:sp>
        <p:nvSpPr>
          <p:cNvPr id="6" name="TextBox 5"/>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Follow your ticket</a:t>
            </a:r>
          </a:p>
        </p:txBody>
      </p:sp>
      <p:sp>
        <p:nvSpPr>
          <p:cNvPr id="7" name="TextBox 6"/>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BRANCH USER</a:t>
            </a:r>
          </a:p>
        </p:txBody>
      </p:sp>
      <p:sp>
        <p:nvSpPr>
          <p:cNvPr id="8" name="Rectangle 7"/>
          <p:cNvSpPr/>
          <p:nvPr/>
        </p:nvSpPr>
        <p:spPr>
          <a:xfrm>
            <a:off x="388620" y="1165860"/>
            <a:ext cx="7818120" cy="490347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15-branch-ticket-detail.png"/>
          <p:cNvPicPr>
            <a:picLocks noChangeAspect="1"/>
          </p:cNvPicPr>
          <p:nvPr/>
        </p:nvPicPr>
        <p:blipFill>
          <a:blip r:embed="rId2"/>
          <a:stretch>
            <a:fillRect/>
          </a:stretch>
        </p:blipFill>
        <p:spPr>
          <a:xfrm>
            <a:off x="411480" y="1188720"/>
            <a:ext cx="7772400" cy="4857750"/>
          </a:xfrm>
          <a:prstGeom prst="rect">
            <a:avLst/>
          </a:prstGeom>
        </p:spPr>
      </p:pic>
      <p:sp>
        <p:nvSpPr>
          <p:cNvPr id="10" name="Oval 9"/>
          <p:cNvSpPr/>
          <p:nvPr/>
        </p:nvSpPr>
        <p:spPr>
          <a:xfrm>
            <a:off x="2787822" y="1710270"/>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11" name="Oval 10"/>
          <p:cNvSpPr/>
          <p:nvPr/>
        </p:nvSpPr>
        <p:spPr>
          <a:xfrm>
            <a:off x="5769314" y="4106598"/>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2</a:t>
            </a:r>
          </a:p>
        </p:txBody>
      </p:sp>
      <p:sp>
        <p:nvSpPr>
          <p:cNvPr id="12" name="Oval 11"/>
          <p:cNvSpPr/>
          <p:nvPr/>
        </p:nvSpPr>
        <p:spPr>
          <a:xfrm>
            <a:off x="1523252" y="4221241"/>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3</a:t>
            </a:r>
          </a:p>
        </p:txBody>
      </p:sp>
      <p:sp>
        <p:nvSpPr>
          <p:cNvPr id="13" name="Oval 12"/>
          <p:cNvSpPr/>
          <p:nvPr/>
        </p:nvSpPr>
        <p:spPr>
          <a:xfrm>
            <a:off x="5769314" y="5697512"/>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4</a:t>
            </a:r>
          </a:p>
        </p:txBody>
      </p:sp>
      <p:sp>
        <p:nvSpPr>
          <p:cNvPr id="14" name="TextBox 13"/>
          <p:cNvSpPr txBox="1"/>
          <p:nvPr/>
        </p:nvSpPr>
        <p:spPr>
          <a:xfrm>
            <a:off x="8458200" y="1188720"/>
            <a:ext cx="3291840" cy="219456"/>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5" name="Oval 14"/>
          <p:cNvSpPr/>
          <p:nvPr/>
        </p:nvSpPr>
        <p:spPr>
          <a:xfrm>
            <a:off x="8458200" y="1463040"/>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1</a:t>
            </a:r>
          </a:p>
        </p:txBody>
      </p:sp>
      <p:sp>
        <p:nvSpPr>
          <p:cNvPr id="16" name="TextBox 15"/>
          <p:cNvSpPr txBox="1"/>
          <p:nvPr/>
        </p:nvSpPr>
        <p:spPr>
          <a:xfrm>
            <a:off x="8787384" y="1481328"/>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Number, status and SLA countdown</a:t>
            </a:r>
          </a:p>
        </p:txBody>
      </p:sp>
      <p:sp>
        <p:nvSpPr>
          <p:cNvPr id="17" name="Oval 16"/>
          <p:cNvSpPr/>
          <p:nvPr/>
        </p:nvSpPr>
        <p:spPr>
          <a:xfrm>
            <a:off x="8458200" y="1723644"/>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2</a:t>
            </a:r>
          </a:p>
        </p:txBody>
      </p:sp>
      <p:sp>
        <p:nvSpPr>
          <p:cNvPr id="18" name="TextBox 17"/>
          <p:cNvSpPr txBox="1"/>
          <p:nvPr/>
        </p:nvSpPr>
        <p:spPr>
          <a:xfrm>
            <a:off x="8787384" y="1741932"/>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Your attachments</a:t>
            </a:r>
          </a:p>
        </p:txBody>
      </p:sp>
      <p:sp>
        <p:nvSpPr>
          <p:cNvPr id="19" name="Oval 18"/>
          <p:cNvSpPr/>
          <p:nvPr/>
        </p:nvSpPr>
        <p:spPr>
          <a:xfrm>
            <a:off x="8458200" y="1984248"/>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3</a:t>
            </a:r>
          </a:p>
        </p:txBody>
      </p:sp>
      <p:sp>
        <p:nvSpPr>
          <p:cNvPr id="20" name="TextBox 19"/>
          <p:cNvSpPr txBox="1"/>
          <p:nvPr/>
        </p:nvSpPr>
        <p:spPr>
          <a:xfrm>
            <a:off x="8787384" y="2002536"/>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Add more detail for the agent</a:t>
            </a:r>
          </a:p>
        </p:txBody>
      </p:sp>
      <p:sp>
        <p:nvSpPr>
          <p:cNvPr id="21" name="Oval 20"/>
          <p:cNvSpPr/>
          <p:nvPr/>
        </p:nvSpPr>
        <p:spPr>
          <a:xfrm>
            <a:off x="8458200" y="2244852"/>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4</a:t>
            </a:r>
          </a:p>
        </p:txBody>
      </p:sp>
      <p:sp>
        <p:nvSpPr>
          <p:cNvPr id="22" name="TextBox 21"/>
          <p:cNvSpPr txBox="1"/>
          <p:nvPr/>
        </p:nvSpPr>
        <p:spPr>
          <a:xfrm>
            <a:off x="8787384" y="2263140"/>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Who owns it now</a:t>
            </a:r>
          </a:p>
        </p:txBody>
      </p:sp>
      <p:sp>
        <p:nvSpPr>
          <p:cNvPr id="23" name="Rectangle 22"/>
          <p:cNvSpPr/>
          <p:nvPr/>
        </p:nvSpPr>
        <p:spPr>
          <a:xfrm>
            <a:off x="8458200" y="2651760"/>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622792" y="2651760"/>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25" name="TextBox 24"/>
          <p:cNvSpPr txBox="1"/>
          <p:nvPr/>
        </p:nvSpPr>
        <p:spPr>
          <a:xfrm>
            <a:off x="8622792" y="2843784"/>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Open the ticket from your list to see where it stands.</a:t>
            </a:r>
          </a:p>
        </p:txBody>
      </p:sp>
      <p:sp>
        <p:nvSpPr>
          <p:cNvPr id="26" name="Rectangle 25"/>
          <p:cNvSpPr/>
          <p:nvPr/>
        </p:nvSpPr>
        <p:spPr>
          <a:xfrm>
            <a:off x="8458200" y="3355848"/>
            <a:ext cx="45720" cy="66294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622792" y="3355848"/>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28" name="TextBox 27"/>
          <p:cNvSpPr txBox="1"/>
          <p:nvPr/>
        </p:nvSpPr>
        <p:spPr>
          <a:xfrm>
            <a:off x="8622792" y="3547872"/>
            <a:ext cx="3127248" cy="48006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The ticket was numbered, given SLA deadlines and assigned automatically — no one had to triage it by hand.</a:t>
            </a:r>
          </a:p>
        </p:txBody>
      </p:sp>
      <p:sp>
        <p:nvSpPr>
          <p:cNvPr id="29" name="Rectangle 28"/>
          <p:cNvSpPr/>
          <p:nvPr/>
        </p:nvSpPr>
        <p:spPr>
          <a:xfrm>
            <a:off x="8458200" y="4219956"/>
            <a:ext cx="45720" cy="50292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622792" y="4219956"/>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31" name="TextBox 30"/>
          <p:cNvSpPr txBox="1"/>
          <p:nvPr/>
        </p:nvSpPr>
        <p:spPr>
          <a:xfrm>
            <a:off x="8622792" y="4411980"/>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Step 07 — answer questions and read the resolution.</a:t>
            </a:r>
          </a:p>
        </p:txBody>
      </p:sp>
      <p:sp>
        <p:nvSpPr>
          <p:cNvPr id="32" name="Rectangle 31"/>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34" name="TextBox 33"/>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06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07</a:t>
            </a:r>
          </a:p>
        </p:txBody>
      </p:sp>
      <p:sp>
        <p:nvSpPr>
          <p:cNvPr id="6" name="TextBox 5"/>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Reply, and read the resolution</a:t>
            </a:r>
          </a:p>
        </p:txBody>
      </p:sp>
      <p:sp>
        <p:nvSpPr>
          <p:cNvPr id="7" name="TextBox 6"/>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BRANCH USER</a:t>
            </a:r>
          </a:p>
        </p:txBody>
      </p:sp>
      <p:sp>
        <p:nvSpPr>
          <p:cNvPr id="8" name="Rectangle 7"/>
          <p:cNvSpPr/>
          <p:nvPr/>
        </p:nvSpPr>
        <p:spPr>
          <a:xfrm>
            <a:off x="388620" y="1165860"/>
            <a:ext cx="7818120" cy="490347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16-branch-ticket-comments.png"/>
          <p:cNvPicPr>
            <a:picLocks noChangeAspect="1"/>
          </p:cNvPicPr>
          <p:nvPr/>
        </p:nvPicPr>
        <p:blipFill>
          <a:blip r:embed="rId2"/>
          <a:stretch>
            <a:fillRect/>
          </a:stretch>
        </p:blipFill>
        <p:spPr>
          <a:xfrm>
            <a:off x="411480" y="1188720"/>
            <a:ext cx="7772400" cy="4857750"/>
          </a:xfrm>
          <a:prstGeom prst="rect">
            <a:avLst/>
          </a:prstGeom>
        </p:spPr>
      </p:pic>
      <p:sp>
        <p:nvSpPr>
          <p:cNvPr id="10" name="Oval 9"/>
          <p:cNvSpPr/>
          <p:nvPr/>
        </p:nvSpPr>
        <p:spPr>
          <a:xfrm>
            <a:off x="1523252" y="1598056"/>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11" name="Oval 10"/>
          <p:cNvSpPr/>
          <p:nvPr/>
        </p:nvSpPr>
        <p:spPr>
          <a:xfrm>
            <a:off x="3015553" y="2542403"/>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2</a:t>
            </a:r>
          </a:p>
        </p:txBody>
      </p:sp>
      <p:sp>
        <p:nvSpPr>
          <p:cNvPr id="12" name="TextBox 11"/>
          <p:cNvSpPr txBox="1"/>
          <p:nvPr/>
        </p:nvSpPr>
        <p:spPr>
          <a:xfrm>
            <a:off x="8458200" y="1188720"/>
            <a:ext cx="3291840" cy="219456"/>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3" name="Oval 12"/>
          <p:cNvSpPr/>
          <p:nvPr/>
        </p:nvSpPr>
        <p:spPr>
          <a:xfrm>
            <a:off x="8458200" y="1463040"/>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1</a:t>
            </a:r>
          </a:p>
        </p:txBody>
      </p:sp>
      <p:sp>
        <p:nvSpPr>
          <p:cNvPr id="14" name="TextBox 13"/>
          <p:cNvSpPr txBox="1"/>
          <p:nvPr/>
        </p:nvSpPr>
        <p:spPr>
          <a:xfrm>
            <a:off x="8787384" y="1481328"/>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Replies appear here</a:t>
            </a:r>
          </a:p>
        </p:txBody>
      </p:sp>
      <p:sp>
        <p:nvSpPr>
          <p:cNvPr id="15" name="Oval 14"/>
          <p:cNvSpPr/>
          <p:nvPr/>
        </p:nvSpPr>
        <p:spPr>
          <a:xfrm>
            <a:off x="8458200" y="1723644"/>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2</a:t>
            </a:r>
          </a:p>
        </p:txBody>
      </p:sp>
      <p:sp>
        <p:nvSpPr>
          <p:cNvPr id="16" name="TextBox 15"/>
          <p:cNvSpPr txBox="1"/>
          <p:nvPr/>
        </p:nvSpPr>
        <p:spPr>
          <a:xfrm>
            <a:off x="8787384" y="1741932"/>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Attach a file to your reply</a:t>
            </a:r>
          </a:p>
        </p:txBody>
      </p:sp>
      <p:sp>
        <p:nvSpPr>
          <p:cNvPr id="17" name="Rectangle 16"/>
          <p:cNvSpPr/>
          <p:nvPr/>
        </p:nvSpPr>
        <p:spPr>
          <a:xfrm>
            <a:off x="8458200" y="2130552"/>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22792" y="2130552"/>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19" name="TextBox 18"/>
          <p:cNvSpPr txBox="1"/>
          <p:nvPr/>
        </p:nvSpPr>
        <p:spPr>
          <a:xfrm>
            <a:off x="8622792" y="2322576"/>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Answer any question the agent asks, attaching more evidence if needed.</a:t>
            </a:r>
          </a:p>
        </p:txBody>
      </p:sp>
      <p:sp>
        <p:nvSpPr>
          <p:cNvPr id="20" name="Rectangle 19"/>
          <p:cNvSpPr/>
          <p:nvPr/>
        </p:nvSpPr>
        <p:spPr>
          <a:xfrm>
            <a:off x="8458200" y="2834640"/>
            <a:ext cx="45720" cy="66294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622792" y="2834640"/>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22" name="TextBox 21"/>
          <p:cNvSpPr txBox="1"/>
          <p:nvPr/>
        </p:nvSpPr>
        <p:spPr>
          <a:xfrm>
            <a:off x="8622792" y="3026664"/>
            <a:ext cx="3127248" cy="48006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When the agent resolves it, their explanation and any file they attached appear here together.</a:t>
            </a:r>
          </a:p>
        </p:txBody>
      </p:sp>
      <p:sp>
        <p:nvSpPr>
          <p:cNvPr id="23" name="Rectangle 22"/>
          <p:cNvSpPr/>
          <p:nvPr/>
        </p:nvSpPr>
        <p:spPr>
          <a:xfrm>
            <a:off x="8458200" y="3698748"/>
            <a:ext cx="45720" cy="50292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622792" y="3698748"/>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25" name="TextBox 24"/>
          <p:cNvSpPr txBox="1"/>
          <p:nvPr/>
        </p:nvSpPr>
        <p:spPr>
          <a:xfrm>
            <a:off x="8622792" y="3890772"/>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If it is fixed, the ticket is closed. If not, it can be reopened.</a:t>
            </a:r>
          </a:p>
        </p:txBody>
      </p:sp>
      <p:sp>
        <p:nvSpPr>
          <p:cNvPr id="26" name="Rectangle 25"/>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8" name="TextBox 27"/>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07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82880"/>
            <a:ext cx="10515600" cy="320040"/>
          </a:xfrm>
          <a:prstGeom prst="rect">
            <a:avLst/>
          </a:prstGeom>
          <a:noFill/>
        </p:spPr>
        <p:txBody>
          <a:bodyPr wrap="square" anchor="t" lIns="0" rIns="0" tIns="0" bIns="0">
            <a:spAutoFit/>
          </a:bodyPr>
          <a:lstStyle/>
          <a:p>
            <a:pPr algn="l">
              <a:lnSpc>
                <a:spcPct val="115000"/>
              </a:lnSpc>
            </a:pPr>
            <a:r>
              <a:rPr sz="2300" b="1">
                <a:solidFill>
                  <a:srgbClr val="FFFFFF"/>
                </a:solidFill>
                <a:latin typeface="Calibri"/>
              </a:rPr>
              <a:t>What a branch user cannot see</a:t>
            </a:r>
          </a:p>
        </p:txBody>
      </p:sp>
      <p:sp>
        <p:nvSpPr>
          <p:cNvPr id="5" name="TextBox 4"/>
          <p:cNvSpPr txBox="1"/>
          <p:nvPr/>
        </p:nvSpPr>
        <p:spPr>
          <a:xfrm>
            <a:off x="502920" y="548640"/>
            <a:ext cx="10515600" cy="256032"/>
          </a:xfrm>
          <a:prstGeom prst="rect">
            <a:avLst/>
          </a:prstGeom>
          <a:noFill/>
        </p:spPr>
        <p:txBody>
          <a:bodyPr wrap="square" anchor="t" lIns="0" rIns="0" tIns="0" bIns="0">
            <a:spAutoFit/>
          </a:bodyPr>
          <a:lstStyle/>
          <a:p>
            <a:pPr algn="l">
              <a:lnSpc>
                <a:spcPct val="115000"/>
              </a:lnSpc>
            </a:pPr>
            <a:r>
              <a:rPr sz="1150" b="0">
                <a:solidFill>
                  <a:srgbClr val="F3ECE0"/>
                </a:solidFill>
                <a:latin typeface="Calibri"/>
              </a:rPr>
              <a:t>Three rules worth knowing before you ask where something went</a:t>
            </a:r>
          </a:p>
        </p:txBody>
      </p:sp>
      <p:sp>
        <p:nvSpPr>
          <p:cNvPr id="6" name="Rectangle 5"/>
          <p:cNvSpPr/>
          <p:nvPr/>
        </p:nvSpPr>
        <p:spPr>
          <a:xfrm>
            <a:off x="548640" y="1234440"/>
            <a:ext cx="11064240" cy="1133856"/>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34440"/>
            <a:ext cx="54864" cy="113385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1399032"/>
            <a:ext cx="10515600" cy="292608"/>
          </a:xfrm>
          <a:prstGeom prst="rect">
            <a:avLst/>
          </a:prstGeom>
          <a:noFill/>
        </p:spPr>
        <p:txBody>
          <a:bodyPr wrap="square" anchor="t" lIns="0" rIns="0" tIns="0" bIns="0">
            <a:spAutoFit/>
          </a:bodyPr>
          <a:lstStyle/>
          <a:p>
            <a:pPr algn="l">
              <a:lnSpc>
                <a:spcPct val="115000"/>
              </a:lnSpc>
            </a:pPr>
            <a:r>
              <a:rPr sz="1500" b="1">
                <a:solidFill>
                  <a:srgbClr val="C25B2E"/>
                </a:solidFill>
                <a:latin typeface="Calibri"/>
              </a:rPr>
              <a:t>Internal notes — and their attachments</a:t>
            </a:r>
          </a:p>
        </p:txBody>
      </p:sp>
      <p:sp>
        <p:nvSpPr>
          <p:cNvPr id="9" name="TextBox 8"/>
          <p:cNvSpPr txBox="1"/>
          <p:nvPr/>
        </p:nvSpPr>
        <p:spPr>
          <a:xfrm>
            <a:off x="868680" y="1764792"/>
            <a:ext cx="10515600" cy="685800"/>
          </a:xfrm>
          <a:prstGeom prst="rect">
            <a:avLst/>
          </a:prstGeom>
          <a:noFill/>
        </p:spPr>
        <p:txBody>
          <a:bodyPr wrap="square" anchor="t" lIns="0" rIns="0" tIns="0" bIns="0">
            <a:spAutoFit/>
          </a:bodyPr>
          <a:lstStyle/>
          <a:p>
            <a:pPr algn="l">
              <a:lnSpc>
                <a:spcPct val="130000"/>
              </a:lnSpc>
            </a:pPr>
            <a:r>
              <a:rPr sz="1250" b="0">
                <a:solidFill>
                  <a:srgbClr val="1B2A33"/>
                </a:solidFill>
                <a:latin typeface="Calibri"/>
              </a:rPr>
              <a:t>Agents can mark a note internal. You will not see the note, and you will not see any file attached to it. It is not hidden in the page; the server refuses to send it.</a:t>
            </a:r>
          </a:p>
        </p:txBody>
      </p:sp>
      <p:sp>
        <p:nvSpPr>
          <p:cNvPr id="10" name="Rectangle 9"/>
          <p:cNvSpPr/>
          <p:nvPr/>
        </p:nvSpPr>
        <p:spPr>
          <a:xfrm>
            <a:off x="548640" y="2532888"/>
            <a:ext cx="11064240" cy="1133856"/>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2532888"/>
            <a:ext cx="54864" cy="1133856"/>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2697480"/>
            <a:ext cx="10515600" cy="292608"/>
          </a:xfrm>
          <a:prstGeom prst="rect">
            <a:avLst/>
          </a:prstGeom>
          <a:noFill/>
        </p:spPr>
        <p:txBody>
          <a:bodyPr wrap="square" anchor="t" lIns="0" rIns="0" tIns="0" bIns="0">
            <a:spAutoFit/>
          </a:bodyPr>
          <a:lstStyle/>
          <a:p>
            <a:pPr algn="l">
              <a:lnSpc>
                <a:spcPct val="115000"/>
              </a:lnSpc>
            </a:pPr>
            <a:r>
              <a:rPr sz="1500" b="1">
                <a:solidFill>
                  <a:srgbClr val="0E4F4A"/>
                </a:solidFill>
                <a:latin typeface="Calibri"/>
              </a:rPr>
              <a:t>Other people's tickets</a:t>
            </a:r>
          </a:p>
        </p:txBody>
      </p:sp>
      <p:sp>
        <p:nvSpPr>
          <p:cNvPr id="13" name="TextBox 12"/>
          <p:cNvSpPr txBox="1"/>
          <p:nvPr/>
        </p:nvSpPr>
        <p:spPr>
          <a:xfrm>
            <a:off x="868680" y="3063240"/>
            <a:ext cx="10515600" cy="685800"/>
          </a:xfrm>
          <a:prstGeom prst="rect">
            <a:avLst/>
          </a:prstGeom>
          <a:noFill/>
        </p:spPr>
        <p:txBody>
          <a:bodyPr wrap="square" anchor="t" lIns="0" rIns="0" tIns="0" bIns="0">
            <a:spAutoFit/>
          </a:bodyPr>
          <a:lstStyle/>
          <a:p>
            <a:pPr algn="l">
              <a:lnSpc>
                <a:spcPct val="130000"/>
              </a:lnSpc>
            </a:pPr>
            <a:r>
              <a:rPr sz="1250" b="0">
                <a:solidFill>
                  <a:srgbClr val="1B2A33"/>
                </a:solidFill>
                <a:latin typeface="Calibri"/>
              </a:rPr>
              <a:t>You see only tickets you raised. Opening someone else's by its link returns nothing.</a:t>
            </a:r>
          </a:p>
        </p:txBody>
      </p:sp>
      <p:sp>
        <p:nvSpPr>
          <p:cNvPr id="14" name="Rectangle 13"/>
          <p:cNvSpPr/>
          <p:nvPr/>
        </p:nvSpPr>
        <p:spPr>
          <a:xfrm>
            <a:off x="548640" y="3831336"/>
            <a:ext cx="11064240" cy="1133856"/>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31336"/>
            <a:ext cx="54864" cy="1133856"/>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3995928"/>
            <a:ext cx="10515600" cy="292608"/>
          </a:xfrm>
          <a:prstGeom prst="rect">
            <a:avLst/>
          </a:prstGeom>
          <a:noFill/>
        </p:spPr>
        <p:txBody>
          <a:bodyPr wrap="square" anchor="t" lIns="0" rIns="0" tIns="0" bIns="0">
            <a:spAutoFit/>
          </a:bodyPr>
          <a:lstStyle/>
          <a:p>
            <a:pPr algn="l">
              <a:lnSpc>
                <a:spcPct val="115000"/>
              </a:lnSpc>
            </a:pPr>
            <a:r>
              <a:rPr sz="1500" b="1">
                <a:solidFill>
                  <a:srgbClr val="0E4F4A"/>
                </a:solidFill>
                <a:latin typeface="Calibri"/>
              </a:rPr>
              <a:t>Team-wide numbers</a:t>
            </a:r>
          </a:p>
        </p:txBody>
      </p:sp>
      <p:sp>
        <p:nvSpPr>
          <p:cNvPr id="17" name="TextBox 16"/>
          <p:cNvSpPr txBox="1"/>
          <p:nvPr/>
        </p:nvSpPr>
        <p:spPr>
          <a:xfrm>
            <a:off x="868680" y="4361688"/>
            <a:ext cx="10515600" cy="685800"/>
          </a:xfrm>
          <a:prstGeom prst="rect">
            <a:avLst/>
          </a:prstGeom>
          <a:noFill/>
        </p:spPr>
        <p:txBody>
          <a:bodyPr wrap="square" anchor="t" lIns="0" rIns="0" tIns="0" bIns="0">
            <a:spAutoFit/>
          </a:bodyPr>
          <a:lstStyle/>
          <a:p>
            <a:pPr algn="l">
              <a:lnSpc>
                <a:spcPct val="130000"/>
              </a:lnSpc>
            </a:pPr>
            <a:r>
              <a:rPr sz="1250" b="0">
                <a:solidFill>
                  <a:srgbClr val="1B2A33"/>
                </a:solidFill>
                <a:latin typeface="Calibri"/>
              </a:rPr>
              <a:t>SLA health, category and department breakdowns and AI metrics are for agents and above. Your dashboard shows your own three counts instead.</a:t>
            </a:r>
          </a:p>
        </p:txBody>
      </p:sp>
      <p:sp>
        <p:nvSpPr>
          <p:cNvPr id="18" name="TextBox 17"/>
          <p:cNvSpPr txBox="1"/>
          <p:nvPr/>
        </p:nvSpPr>
        <p:spPr>
          <a:xfrm>
            <a:off x="548640" y="5349240"/>
            <a:ext cx="11064240" cy="1097280"/>
          </a:xfrm>
          <a:prstGeom prst="rect">
            <a:avLst/>
          </a:prstGeom>
          <a:noFill/>
        </p:spPr>
        <p:txBody>
          <a:bodyPr wrap="square" anchor="t" lIns="0" rIns="0" tIns="0" bIns="0">
            <a:spAutoFit/>
          </a:bodyPr>
          <a:lstStyle/>
          <a:p>
            <a:pPr algn="l">
              <a:lnSpc>
                <a:spcPct val="130000"/>
              </a:lnSpc>
            </a:pPr>
            <a:r>
              <a:rPr sz="1250" b="0">
                <a:solidFill>
                  <a:srgbClr val="5B6B75"/>
                </a:solidFill>
                <a:latin typeface="Calibri"/>
              </a:rPr>
              <a:t>If you believe a ticket of yours is missing, it is far more likely that it was raised by a colleague than that it was deleted — tickets are never deleted, and every change is recorded in the audit trail.</a:t>
            </a:r>
          </a:p>
        </p:txBody>
      </p:sp>
      <p:sp>
        <p:nvSpPr>
          <p:cNvPr id="19" name="Rectangle 18"/>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1" name="TextBox 20"/>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Branch User</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377440"/>
            <a:ext cx="1828800" cy="548640"/>
          </a:xfrm>
          <a:prstGeom prst="rect">
            <a:avLst/>
          </a:prstGeom>
          <a:noFill/>
        </p:spPr>
        <p:txBody>
          <a:bodyPr wrap="square" anchor="t" lIns="0" rIns="0" tIns="0" bIns="0">
            <a:spAutoFit/>
          </a:bodyPr>
          <a:lstStyle/>
          <a:p>
            <a:pPr algn="l">
              <a:lnSpc>
                <a:spcPct val="115000"/>
              </a:lnSpc>
            </a:pPr>
            <a:r>
              <a:rPr sz="1300" b="1">
                <a:solidFill>
                  <a:srgbClr val="C25B2E"/>
                </a:solidFill>
                <a:latin typeface="Calibri"/>
              </a:rPr>
              <a:t>SECTION 07</a:t>
            </a:r>
          </a:p>
        </p:txBody>
      </p:sp>
      <p:sp>
        <p:nvSpPr>
          <p:cNvPr id="5" name="TextBox 4"/>
          <p:cNvSpPr txBox="1"/>
          <p:nvPr/>
        </p:nvSpPr>
        <p:spPr>
          <a:xfrm>
            <a:off x="1005840" y="2788920"/>
            <a:ext cx="9601200" cy="822960"/>
          </a:xfrm>
          <a:prstGeom prst="rect">
            <a:avLst/>
          </a:prstGeom>
          <a:noFill/>
        </p:spPr>
        <p:txBody>
          <a:bodyPr wrap="square" anchor="t" lIns="0" rIns="0" tIns="0" bIns="0">
            <a:spAutoFit/>
          </a:bodyPr>
          <a:lstStyle/>
          <a:p>
            <a:pPr algn="l">
              <a:lnSpc>
                <a:spcPct val="115000"/>
              </a:lnSpc>
            </a:pPr>
            <a:r>
              <a:rPr sz="3400" b="1">
                <a:solidFill>
                  <a:srgbClr val="0E4F4A"/>
                </a:solidFill>
                <a:latin typeface="Calibri"/>
              </a:rPr>
              <a:t>Agent workflow</a:t>
            </a:r>
          </a:p>
        </p:txBody>
      </p:sp>
      <p:sp>
        <p:nvSpPr>
          <p:cNvPr id="6" name="TextBox 5"/>
          <p:cNvSpPr txBox="1"/>
          <p:nvPr/>
        </p:nvSpPr>
        <p:spPr>
          <a:xfrm>
            <a:off x="1005840" y="3794760"/>
            <a:ext cx="8686800" cy="914400"/>
          </a:xfrm>
          <a:prstGeom prst="rect">
            <a:avLst/>
          </a:prstGeom>
          <a:noFill/>
        </p:spPr>
        <p:txBody>
          <a:bodyPr wrap="square" anchor="t" lIns="0" rIns="0" tIns="0" bIns="0">
            <a:spAutoFit/>
          </a:bodyPr>
          <a:lstStyle/>
          <a:p>
            <a:pPr algn="l">
              <a:lnSpc>
                <a:spcPct val="130000"/>
              </a:lnSpc>
            </a:pPr>
            <a:r>
              <a:rPr sz="1500" b="0">
                <a:solidFill>
                  <a:srgbClr val="5B6B75"/>
                </a:solidFill>
                <a:latin typeface="Calibri"/>
              </a:rPr>
              <a:t>You pick the ticket up, investigate, keep the requester informed, and resolve it.</a:t>
            </a:r>
          </a:p>
        </p:txBody>
      </p:sp>
      <p:sp>
        <p:nvSpPr>
          <p:cNvPr id="7" name="Rectangle 6"/>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9" name="TextBox 8"/>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Section 07</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08</a:t>
            </a:r>
          </a:p>
        </p:txBody>
      </p:sp>
      <p:sp>
        <p:nvSpPr>
          <p:cNvPr id="6" name="TextBox 5"/>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Start from the dashboard</a:t>
            </a:r>
          </a:p>
        </p:txBody>
      </p:sp>
      <p:sp>
        <p:nvSpPr>
          <p:cNvPr id="7" name="TextBox 6"/>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AGENT</a:t>
            </a:r>
          </a:p>
        </p:txBody>
      </p:sp>
      <p:sp>
        <p:nvSpPr>
          <p:cNvPr id="8" name="Rectangle 7"/>
          <p:cNvSpPr/>
          <p:nvPr/>
        </p:nvSpPr>
        <p:spPr>
          <a:xfrm>
            <a:off x="388620" y="1165860"/>
            <a:ext cx="7818120" cy="490347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20-agent-dashboard.png"/>
          <p:cNvPicPr>
            <a:picLocks noChangeAspect="1"/>
          </p:cNvPicPr>
          <p:nvPr/>
        </p:nvPicPr>
        <p:blipFill>
          <a:blip r:embed="rId2"/>
          <a:stretch>
            <a:fillRect/>
          </a:stretch>
        </p:blipFill>
        <p:spPr>
          <a:xfrm>
            <a:off x="411480" y="1188720"/>
            <a:ext cx="7772400" cy="4857750"/>
          </a:xfrm>
          <a:prstGeom prst="rect">
            <a:avLst/>
          </a:prstGeom>
        </p:spPr>
      </p:pic>
      <p:sp>
        <p:nvSpPr>
          <p:cNvPr id="10" name="Oval 9"/>
          <p:cNvSpPr/>
          <p:nvPr/>
        </p:nvSpPr>
        <p:spPr>
          <a:xfrm>
            <a:off x="2316814" y="2001735"/>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11" name="Oval 10"/>
          <p:cNvSpPr/>
          <p:nvPr/>
        </p:nvSpPr>
        <p:spPr>
          <a:xfrm>
            <a:off x="3903938" y="2001735"/>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2</a:t>
            </a:r>
          </a:p>
        </p:txBody>
      </p:sp>
      <p:sp>
        <p:nvSpPr>
          <p:cNvPr id="12" name="Oval 11"/>
          <p:cNvSpPr/>
          <p:nvPr/>
        </p:nvSpPr>
        <p:spPr>
          <a:xfrm>
            <a:off x="5941862" y="2741085"/>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3</a:t>
            </a:r>
          </a:p>
        </p:txBody>
      </p:sp>
      <p:sp>
        <p:nvSpPr>
          <p:cNvPr id="13" name="TextBox 12"/>
          <p:cNvSpPr txBox="1"/>
          <p:nvPr/>
        </p:nvSpPr>
        <p:spPr>
          <a:xfrm>
            <a:off x="8458200" y="1188720"/>
            <a:ext cx="3291840" cy="219456"/>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4" name="Oval 13"/>
          <p:cNvSpPr/>
          <p:nvPr/>
        </p:nvSpPr>
        <p:spPr>
          <a:xfrm>
            <a:off x="8458200" y="1463040"/>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1</a:t>
            </a:r>
          </a:p>
        </p:txBody>
      </p:sp>
      <p:sp>
        <p:nvSpPr>
          <p:cNvPr id="15" name="TextBox 14"/>
          <p:cNvSpPr txBox="1"/>
          <p:nvPr/>
        </p:nvSpPr>
        <p:spPr>
          <a:xfrm>
            <a:off x="8787384" y="1481328"/>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SLA Breached — deal with these first</a:t>
            </a:r>
          </a:p>
        </p:txBody>
      </p:sp>
      <p:sp>
        <p:nvSpPr>
          <p:cNvPr id="16" name="Oval 15"/>
          <p:cNvSpPr/>
          <p:nvPr/>
        </p:nvSpPr>
        <p:spPr>
          <a:xfrm>
            <a:off x="8458200" y="1723644"/>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2</a:t>
            </a:r>
          </a:p>
        </p:txBody>
      </p:sp>
      <p:sp>
        <p:nvSpPr>
          <p:cNvPr id="17" name="TextBox 16"/>
          <p:cNvSpPr txBox="1"/>
          <p:nvPr/>
        </p:nvSpPr>
        <p:spPr>
          <a:xfrm>
            <a:off x="8787384" y="1741932"/>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Critical open</a:t>
            </a:r>
          </a:p>
        </p:txBody>
      </p:sp>
      <p:sp>
        <p:nvSpPr>
          <p:cNvPr id="18" name="Oval 17"/>
          <p:cNvSpPr/>
          <p:nvPr/>
        </p:nvSpPr>
        <p:spPr>
          <a:xfrm>
            <a:off x="8458200" y="1984248"/>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3</a:t>
            </a:r>
          </a:p>
        </p:txBody>
      </p:sp>
      <p:sp>
        <p:nvSpPr>
          <p:cNvPr id="19" name="TextBox 18"/>
          <p:cNvSpPr txBox="1"/>
          <p:nvPr/>
        </p:nvSpPr>
        <p:spPr>
          <a:xfrm>
            <a:off x="8787384" y="2002536"/>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AI panel</a:t>
            </a:r>
          </a:p>
        </p:txBody>
      </p:sp>
      <p:sp>
        <p:nvSpPr>
          <p:cNvPr id="20" name="Rectangle 19"/>
          <p:cNvSpPr/>
          <p:nvPr/>
        </p:nvSpPr>
        <p:spPr>
          <a:xfrm>
            <a:off x="8458200" y="2391156"/>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622792" y="2391156"/>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22" name="TextBox 21"/>
          <p:cNvSpPr txBox="1"/>
          <p:nvPr/>
        </p:nvSpPr>
        <p:spPr>
          <a:xfrm>
            <a:off x="8622792" y="2583180"/>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Sign in and read the KPI strip before opening anything.</a:t>
            </a:r>
          </a:p>
        </p:txBody>
      </p:sp>
      <p:sp>
        <p:nvSpPr>
          <p:cNvPr id="23" name="Rectangle 22"/>
          <p:cNvSpPr/>
          <p:nvPr/>
        </p:nvSpPr>
        <p:spPr>
          <a:xfrm>
            <a:off x="8458200" y="3095244"/>
            <a:ext cx="45720" cy="50292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622792" y="3095244"/>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25" name="TextBox 24"/>
          <p:cNvSpPr txBox="1"/>
          <p:nvPr/>
        </p:nvSpPr>
        <p:spPr>
          <a:xfrm>
            <a:off x="8622792" y="3287268"/>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Every tile is a live count and opens the exact list behind it.</a:t>
            </a:r>
          </a:p>
        </p:txBody>
      </p:sp>
      <p:sp>
        <p:nvSpPr>
          <p:cNvPr id="26" name="Rectangle 25"/>
          <p:cNvSpPr/>
          <p:nvPr/>
        </p:nvSpPr>
        <p:spPr>
          <a:xfrm>
            <a:off x="8458200" y="3799332"/>
            <a:ext cx="45720" cy="34290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622792" y="3799332"/>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28" name="TextBox 27"/>
          <p:cNvSpPr txBox="1"/>
          <p:nvPr/>
        </p:nvSpPr>
        <p:spPr>
          <a:xfrm>
            <a:off x="8622792" y="3991356"/>
            <a:ext cx="3127248" cy="16002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Step 09 — open the queue.</a:t>
            </a:r>
          </a:p>
        </p:txBody>
      </p:sp>
      <p:sp>
        <p:nvSpPr>
          <p:cNvPr id="29" name="Rectangle 28"/>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31" name="TextBox 30"/>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08</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09</a:t>
            </a:r>
          </a:p>
        </p:txBody>
      </p:sp>
      <p:sp>
        <p:nvSpPr>
          <p:cNvPr id="6" name="TextBox 5"/>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Work the queue</a:t>
            </a:r>
          </a:p>
        </p:txBody>
      </p:sp>
      <p:sp>
        <p:nvSpPr>
          <p:cNvPr id="7" name="TextBox 6"/>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AGENT</a:t>
            </a:r>
          </a:p>
        </p:txBody>
      </p:sp>
      <p:sp>
        <p:nvSpPr>
          <p:cNvPr id="8" name="Rectangle 7"/>
          <p:cNvSpPr/>
          <p:nvPr/>
        </p:nvSpPr>
        <p:spPr>
          <a:xfrm>
            <a:off x="388620" y="1165860"/>
            <a:ext cx="7818120" cy="490347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21-agent-tickets.png"/>
          <p:cNvPicPr>
            <a:picLocks noChangeAspect="1"/>
          </p:cNvPicPr>
          <p:nvPr/>
        </p:nvPicPr>
        <p:blipFill>
          <a:blip r:embed="rId2"/>
          <a:stretch>
            <a:fillRect/>
          </a:stretch>
        </p:blipFill>
        <p:spPr>
          <a:xfrm>
            <a:off x="411480" y="1188720"/>
            <a:ext cx="7772400" cy="4857750"/>
          </a:xfrm>
          <a:prstGeom prst="rect">
            <a:avLst/>
          </a:prstGeom>
        </p:spPr>
      </p:pic>
      <p:sp>
        <p:nvSpPr>
          <p:cNvPr id="10" name="Oval 9"/>
          <p:cNvSpPr/>
          <p:nvPr/>
        </p:nvSpPr>
        <p:spPr>
          <a:xfrm>
            <a:off x="1528693" y="2379183"/>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11" name="Oval 10"/>
          <p:cNvSpPr/>
          <p:nvPr/>
        </p:nvSpPr>
        <p:spPr>
          <a:xfrm>
            <a:off x="1307179" y="1572310"/>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2</a:t>
            </a:r>
          </a:p>
        </p:txBody>
      </p:sp>
      <p:sp>
        <p:nvSpPr>
          <p:cNvPr id="12" name="TextBox 11"/>
          <p:cNvSpPr txBox="1"/>
          <p:nvPr/>
        </p:nvSpPr>
        <p:spPr>
          <a:xfrm>
            <a:off x="8458200" y="1188720"/>
            <a:ext cx="3291840" cy="219456"/>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3" name="Oval 12"/>
          <p:cNvSpPr/>
          <p:nvPr/>
        </p:nvSpPr>
        <p:spPr>
          <a:xfrm>
            <a:off x="8458200" y="1463040"/>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1</a:t>
            </a:r>
          </a:p>
        </p:txBody>
      </p:sp>
      <p:sp>
        <p:nvSpPr>
          <p:cNvPr id="14" name="TextBox 13"/>
          <p:cNvSpPr txBox="1"/>
          <p:nvPr/>
        </p:nvSpPr>
        <p:spPr>
          <a:xfrm>
            <a:off x="8787384" y="1481328"/>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Filter by status, priority or owner</a:t>
            </a:r>
          </a:p>
        </p:txBody>
      </p:sp>
      <p:sp>
        <p:nvSpPr>
          <p:cNvPr id="15" name="Oval 14"/>
          <p:cNvSpPr/>
          <p:nvPr/>
        </p:nvSpPr>
        <p:spPr>
          <a:xfrm>
            <a:off x="8458200" y="1723644"/>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2</a:t>
            </a:r>
          </a:p>
        </p:txBody>
      </p:sp>
      <p:sp>
        <p:nvSpPr>
          <p:cNvPr id="16" name="TextBox 15"/>
          <p:cNvSpPr txBox="1"/>
          <p:nvPr/>
        </p:nvSpPr>
        <p:spPr>
          <a:xfrm>
            <a:off x="8787384" y="1741932"/>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Every ticket in your scope</a:t>
            </a:r>
          </a:p>
        </p:txBody>
      </p:sp>
      <p:sp>
        <p:nvSpPr>
          <p:cNvPr id="17" name="Rectangle 16"/>
          <p:cNvSpPr/>
          <p:nvPr/>
        </p:nvSpPr>
        <p:spPr>
          <a:xfrm>
            <a:off x="8458200" y="2130552"/>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22792" y="2130552"/>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19" name="TextBox 18"/>
          <p:cNvSpPr txBox="1"/>
          <p:nvPr/>
        </p:nvSpPr>
        <p:spPr>
          <a:xfrm>
            <a:off x="8622792" y="2322576"/>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Filter to unassigned or to your own, and choose what to work on.</a:t>
            </a:r>
          </a:p>
        </p:txBody>
      </p:sp>
      <p:sp>
        <p:nvSpPr>
          <p:cNvPr id="20" name="Rectangle 19"/>
          <p:cNvSpPr/>
          <p:nvPr/>
        </p:nvSpPr>
        <p:spPr>
          <a:xfrm>
            <a:off x="8458200" y="2834640"/>
            <a:ext cx="45720" cy="50292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622792" y="2834640"/>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22" name="TextBox 21"/>
          <p:cNvSpPr txBox="1"/>
          <p:nvPr/>
        </p:nvSpPr>
        <p:spPr>
          <a:xfrm>
            <a:off x="8622792" y="3026664"/>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Agents see every ticket in their org scope, not just their own.</a:t>
            </a:r>
          </a:p>
        </p:txBody>
      </p:sp>
      <p:sp>
        <p:nvSpPr>
          <p:cNvPr id="23" name="Rectangle 22"/>
          <p:cNvSpPr/>
          <p:nvPr/>
        </p:nvSpPr>
        <p:spPr>
          <a:xfrm>
            <a:off x="8458200" y="3538728"/>
            <a:ext cx="45720" cy="34290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622792" y="3538728"/>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25" name="TextBox 24"/>
          <p:cNvSpPr txBox="1"/>
          <p:nvPr/>
        </p:nvSpPr>
        <p:spPr>
          <a:xfrm>
            <a:off x="8622792" y="3730752"/>
            <a:ext cx="3127248" cy="16002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Step 10 — start with what is breaching.</a:t>
            </a:r>
          </a:p>
        </p:txBody>
      </p:sp>
      <p:sp>
        <p:nvSpPr>
          <p:cNvPr id="26" name="Rectangle 25"/>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8" name="TextBox 27"/>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09</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10</a:t>
            </a:r>
          </a:p>
        </p:txBody>
      </p:sp>
      <p:sp>
        <p:nvSpPr>
          <p:cNvPr id="6" name="TextBox 5"/>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Deal with breaches first</a:t>
            </a:r>
          </a:p>
        </p:txBody>
      </p:sp>
      <p:sp>
        <p:nvSpPr>
          <p:cNvPr id="7" name="TextBox 6"/>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AGENT</a:t>
            </a:r>
          </a:p>
        </p:txBody>
      </p:sp>
      <p:sp>
        <p:nvSpPr>
          <p:cNvPr id="8" name="Rectangle 7"/>
          <p:cNvSpPr/>
          <p:nvPr/>
        </p:nvSpPr>
        <p:spPr>
          <a:xfrm>
            <a:off x="388620" y="1165860"/>
            <a:ext cx="7818120" cy="490347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22-agent-breached.png"/>
          <p:cNvPicPr>
            <a:picLocks noChangeAspect="1"/>
          </p:cNvPicPr>
          <p:nvPr/>
        </p:nvPicPr>
        <p:blipFill>
          <a:blip r:embed="rId2"/>
          <a:stretch>
            <a:fillRect/>
          </a:stretch>
        </p:blipFill>
        <p:spPr>
          <a:xfrm>
            <a:off x="411480" y="1188720"/>
            <a:ext cx="7772400" cy="4857750"/>
          </a:xfrm>
          <a:prstGeom prst="rect">
            <a:avLst/>
          </a:prstGeom>
        </p:spPr>
      </p:pic>
      <p:sp>
        <p:nvSpPr>
          <p:cNvPr id="10" name="Oval 9"/>
          <p:cNvSpPr/>
          <p:nvPr/>
        </p:nvSpPr>
        <p:spPr>
          <a:xfrm>
            <a:off x="5739002" y="1202636"/>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11" name="TextBox 10"/>
          <p:cNvSpPr txBox="1"/>
          <p:nvPr/>
        </p:nvSpPr>
        <p:spPr>
          <a:xfrm>
            <a:off x="8458200" y="1188720"/>
            <a:ext cx="3291840" cy="219456"/>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2" name="Oval 11"/>
          <p:cNvSpPr/>
          <p:nvPr/>
        </p:nvSpPr>
        <p:spPr>
          <a:xfrm>
            <a:off x="8458200" y="1463040"/>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1</a:t>
            </a:r>
          </a:p>
        </p:txBody>
      </p:sp>
      <p:sp>
        <p:nvSpPr>
          <p:cNvPr id="13" name="TextBox 12"/>
          <p:cNvSpPr txBox="1"/>
          <p:nvPr/>
        </p:nvSpPr>
        <p:spPr>
          <a:xfrm>
            <a:off x="8787384" y="1481328"/>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The filter the tile applied</a:t>
            </a:r>
          </a:p>
        </p:txBody>
      </p:sp>
      <p:sp>
        <p:nvSpPr>
          <p:cNvPr id="14" name="Rectangle 13"/>
          <p:cNvSpPr/>
          <p:nvPr/>
        </p:nvSpPr>
        <p:spPr>
          <a:xfrm>
            <a:off x="8458200" y="1869948"/>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22792" y="1869948"/>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16" name="TextBox 15"/>
          <p:cNvSpPr txBox="1"/>
          <p:nvPr/>
        </p:nvSpPr>
        <p:spPr>
          <a:xfrm>
            <a:off x="8622792" y="2061972"/>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Select the SLA Breached tile on the dashboard.</a:t>
            </a:r>
          </a:p>
        </p:txBody>
      </p:sp>
      <p:sp>
        <p:nvSpPr>
          <p:cNvPr id="17" name="Rectangle 16"/>
          <p:cNvSpPr/>
          <p:nvPr/>
        </p:nvSpPr>
        <p:spPr>
          <a:xfrm>
            <a:off x="8458200" y="2574036"/>
            <a:ext cx="45720" cy="66294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22792" y="2574036"/>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19" name="TextBox 18"/>
          <p:cNvSpPr txBox="1"/>
          <p:nvPr/>
        </p:nvSpPr>
        <p:spPr>
          <a:xfrm>
            <a:off x="8622792" y="2766060"/>
            <a:ext cx="3127248" cy="48006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The list is filtered to exactly the tickets the tile counted — the number on the card and the length of this list always agree.</a:t>
            </a:r>
          </a:p>
        </p:txBody>
      </p:sp>
      <p:sp>
        <p:nvSpPr>
          <p:cNvPr id="20" name="Rectangle 19"/>
          <p:cNvSpPr/>
          <p:nvPr/>
        </p:nvSpPr>
        <p:spPr>
          <a:xfrm>
            <a:off x="8458200" y="3438144"/>
            <a:ext cx="45720" cy="34290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622792" y="3438144"/>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22" name="TextBox 21"/>
          <p:cNvSpPr txBox="1"/>
          <p:nvPr/>
        </p:nvSpPr>
        <p:spPr>
          <a:xfrm>
            <a:off x="8622792" y="3630168"/>
            <a:ext cx="3127248" cy="16002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Step 11 — open one and investigate.</a:t>
            </a:r>
          </a:p>
        </p:txBody>
      </p:sp>
      <p:sp>
        <p:nvSpPr>
          <p:cNvPr id="23" name="Rectangle 22"/>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5" name="TextBox 24"/>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10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11</a:t>
            </a:r>
          </a:p>
        </p:txBody>
      </p:sp>
      <p:sp>
        <p:nvSpPr>
          <p:cNvPr id="6" name="TextBox 5"/>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Investigate the ticket</a:t>
            </a:r>
          </a:p>
        </p:txBody>
      </p:sp>
      <p:sp>
        <p:nvSpPr>
          <p:cNvPr id="7" name="TextBox 6"/>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AGENT</a:t>
            </a:r>
          </a:p>
        </p:txBody>
      </p:sp>
      <p:sp>
        <p:nvSpPr>
          <p:cNvPr id="8" name="Rectangle 7"/>
          <p:cNvSpPr/>
          <p:nvPr/>
        </p:nvSpPr>
        <p:spPr>
          <a:xfrm>
            <a:off x="388620" y="1165860"/>
            <a:ext cx="7818120" cy="490347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23-agent-ticket-detail.png"/>
          <p:cNvPicPr>
            <a:picLocks noChangeAspect="1"/>
          </p:cNvPicPr>
          <p:nvPr/>
        </p:nvPicPr>
        <p:blipFill>
          <a:blip r:embed="rId2"/>
          <a:stretch>
            <a:fillRect/>
          </a:stretch>
        </p:blipFill>
        <p:spPr>
          <a:xfrm>
            <a:off x="411480" y="1188720"/>
            <a:ext cx="7772400" cy="4857750"/>
          </a:xfrm>
          <a:prstGeom prst="rect">
            <a:avLst/>
          </a:prstGeom>
        </p:spPr>
      </p:pic>
      <p:sp>
        <p:nvSpPr>
          <p:cNvPr id="10" name="Oval 9"/>
          <p:cNvSpPr/>
          <p:nvPr/>
        </p:nvSpPr>
        <p:spPr>
          <a:xfrm>
            <a:off x="1523252" y="2167385"/>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11" name="Oval 10"/>
          <p:cNvSpPr/>
          <p:nvPr/>
        </p:nvSpPr>
        <p:spPr>
          <a:xfrm>
            <a:off x="5769314" y="2158155"/>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2</a:t>
            </a:r>
          </a:p>
        </p:txBody>
      </p:sp>
      <p:sp>
        <p:nvSpPr>
          <p:cNvPr id="12" name="Oval 11"/>
          <p:cNvSpPr/>
          <p:nvPr/>
        </p:nvSpPr>
        <p:spPr>
          <a:xfrm>
            <a:off x="1761088" y="3070440"/>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3</a:t>
            </a:r>
          </a:p>
        </p:txBody>
      </p:sp>
      <p:sp>
        <p:nvSpPr>
          <p:cNvPr id="13" name="Oval 12"/>
          <p:cNvSpPr/>
          <p:nvPr/>
        </p:nvSpPr>
        <p:spPr>
          <a:xfrm>
            <a:off x="5769314" y="5132070"/>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4</a:t>
            </a:r>
          </a:p>
        </p:txBody>
      </p:sp>
      <p:sp>
        <p:nvSpPr>
          <p:cNvPr id="14" name="TextBox 13"/>
          <p:cNvSpPr txBox="1"/>
          <p:nvPr/>
        </p:nvSpPr>
        <p:spPr>
          <a:xfrm>
            <a:off x="8458200" y="1188720"/>
            <a:ext cx="3291840" cy="219456"/>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5" name="Oval 14"/>
          <p:cNvSpPr/>
          <p:nvPr/>
        </p:nvSpPr>
        <p:spPr>
          <a:xfrm>
            <a:off x="8458200" y="1463040"/>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1</a:t>
            </a:r>
          </a:p>
        </p:txBody>
      </p:sp>
      <p:sp>
        <p:nvSpPr>
          <p:cNvPr id="16" name="TextBox 15"/>
          <p:cNvSpPr txBox="1"/>
          <p:nvPr/>
        </p:nvSpPr>
        <p:spPr>
          <a:xfrm>
            <a:off x="8787384" y="1481328"/>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The problem as reported</a:t>
            </a:r>
          </a:p>
        </p:txBody>
      </p:sp>
      <p:sp>
        <p:nvSpPr>
          <p:cNvPr id="17" name="Oval 16"/>
          <p:cNvSpPr/>
          <p:nvPr/>
        </p:nvSpPr>
        <p:spPr>
          <a:xfrm>
            <a:off x="8458200" y="1723644"/>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2</a:t>
            </a:r>
          </a:p>
        </p:txBody>
      </p:sp>
      <p:sp>
        <p:nvSpPr>
          <p:cNvPr id="18" name="TextBox 17"/>
          <p:cNvSpPr txBox="1"/>
          <p:nvPr/>
        </p:nvSpPr>
        <p:spPr>
          <a:xfrm>
            <a:off x="8787384" y="1741932"/>
            <a:ext cx="2962656" cy="338328"/>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Status, SLA countdown, AI category and risk</a:t>
            </a:r>
          </a:p>
        </p:txBody>
      </p:sp>
      <p:sp>
        <p:nvSpPr>
          <p:cNvPr id="19" name="Oval 18"/>
          <p:cNvSpPr/>
          <p:nvPr/>
        </p:nvSpPr>
        <p:spPr>
          <a:xfrm>
            <a:off x="8458200" y="2153412"/>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3</a:t>
            </a:r>
          </a:p>
        </p:txBody>
      </p:sp>
      <p:sp>
        <p:nvSpPr>
          <p:cNvPr id="20" name="TextBox 19"/>
          <p:cNvSpPr txBox="1"/>
          <p:nvPr/>
        </p:nvSpPr>
        <p:spPr>
          <a:xfrm>
            <a:off x="8787384" y="2171700"/>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AI Insights — summarise or suggest</a:t>
            </a:r>
          </a:p>
        </p:txBody>
      </p:sp>
      <p:sp>
        <p:nvSpPr>
          <p:cNvPr id="21" name="Oval 20"/>
          <p:cNvSpPr/>
          <p:nvPr/>
        </p:nvSpPr>
        <p:spPr>
          <a:xfrm>
            <a:off x="8458200" y="2414016"/>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4</a:t>
            </a:r>
          </a:p>
        </p:txBody>
      </p:sp>
      <p:sp>
        <p:nvSpPr>
          <p:cNvPr id="22" name="TextBox 21"/>
          <p:cNvSpPr txBox="1"/>
          <p:nvPr/>
        </p:nvSpPr>
        <p:spPr>
          <a:xfrm>
            <a:off x="8787384" y="2432304"/>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Evidence the requester attached</a:t>
            </a:r>
          </a:p>
        </p:txBody>
      </p:sp>
      <p:sp>
        <p:nvSpPr>
          <p:cNvPr id="23" name="Rectangle 22"/>
          <p:cNvSpPr/>
          <p:nvPr/>
        </p:nvSpPr>
        <p:spPr>
          <a:xfrm>
            <a:off x="8458200" y="2820924"/>
            <a:ext cx="45720" cy="66294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622792" y="2820924"/>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25" name="TextBox 24"/>
          <p:cNvSpPr txBox="1"/>
          <p:nvPr/>
        </p:nvSpPr>
        <p:spPr>
          <a:xfrm>
            <a:off x="8622792" y="3012948"/>
            <a:ext cx="3127248" cy="48006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Read the description and the attached evidence, then move the ticket to In Progress.</a:t>
            </a:r>
          </a:p>
        </p:txBody>
      </p:sp>
      <p:sp>
        <p:nvSpPr>
          <p:cNvPr id="26" name="Rectangle 25"/>
          <p:cNvSpPr/>
          <p:nvPr/>
        </p:nvSpPr>
        <p:spPr>
          <a:xfrm>
            <a:off x="8458200" y="3685032"/>
            <a:ext cx="45720" cy="66294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622792" y="3685032"/>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28" name="TextBox 27"/>
          <p:cNvSpPr txBox="1"/>
          <p:nvPr/>
        </p:nvSpPr>
        <p:spPr>
          <a:xfrm>
            <a:off x="8622792" y="3877056"/>
            <a:ext cx="3127248" cy="48006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The status change is recorded in the audit trail with your name, and the first-response clock stops.</a:t>
            </a:r>
          </a:p>
        </p:txBody>
      </p:sp>
      <p:sp>
        <p:nvSpPr>
          <p:cNvPr id="29" name="Rectangle 28"/>
          <p:cNvSpPr/>
          <p:nvPr/>
        </p:nvSpPr>
        <p:spPr>
          <a:xfrm>
            <a:off x="8458200" y="4549140"/>
            <a:ext cx="45720" cy="34290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622792" y="4549140"/>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31" name="TextBox 30"/>
          <p:cNvSpPr txBox="1"/>
          <p:nvPr/>
        </p:nvSpPr>
        <p:spPr>
          <a:xfrm>
            <a:off x="8622792" y="4741164"/>
            <a:ext cx="3127248" cy="16002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Step 12 — reply, and attach the fix.</a:t>
            </a:r>
          </a:p>
        </p:txBody>
      </p:sp>
      <p:sp>
        <p:nvSpPr>
          <p:cNvPr id="32" name="Rectangle 31"/>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34" name="TextBox 33"/>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11</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12</a:t>
            </a:r>
          </a:p>
        </p:txBody>
      </p:sp>
      <p:sp>
        <p:nvSpPr>
          <p:cNvPr id="6" name="TextBox 5"/>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Reply — and attach the fix to your reply</a:t>
            </a:r>
          </a:p>
        </p:txBody>
      </p:sp>
      <p:sp>
        <p:nvSpPr>
          <p:cNvPr id="7" name="TextBox 6"/>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AGENT</a:t>
            </a:r>
          </a:p>
        </p:txBody>
      </p:sp>
      <p:sp>
        <p:nvSpPr>
          <p:cNvPr id="8" name="Rectangle 7"/>
          <p:cNvSpPr/>
          <p:nvPr/>
        </p:nvSpPr>
        <p:spPr>
          <a:xfrm>
            <a:off x="388620" y="1165860"/>
            <a:ext cx="7818120" cy="490347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24-agent-ticket-comments.png"/>
          <p:cNvPicPr>
            <a:picLocks noChangeAspect="1"/>
          </p:cNvPicPr>
          <p:nvPr/>
        </p:nvPicPr>
        <p:blipFill>
          <a:blip r:embed="rId2"/>
          <a:stretch>
            <a:fillRect/>
          </a:stretch>
        </p:blipFill>
        <p:spPr>
          <a:xfrm>
            <a:off x="411480" y="1188720"/>
            <a:ext cx="7772400" cy="4857750"/>
          </a:xfrm>
          <a:prstGeom prst="rect">
            <a:avLst/>
          </a:prstGeom>
        </p:spPr>
      </p:pic>
      <p:sp>
        <p:nvSpPr>
          <p:cNvPr id="10" name="Oval 9"/>
          <p:cNvSpPr/>
          <p:nvPr/>
        </p:nvSpPr>
        <p:spPr>
          <a:xfrm>
            <a:off x="1523252" y="3251149"/>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11" name="Oval 10"/>
          <p:cNvSpPr/>
          <p:nvPr/>
        </p:nvSpPr>
        <p:spPr>
          <a:xfrm>
            <a:off x="3015553" y="3623252"/>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2</a:t>
            </a:r>
          </a:p>
        </p:txBody>
      </p:sp>
      <p:sp>
        <p:nvSpPr>
          <p:cNvPr id="12" name="TextBox 11"/>
          <p:cNvSpPr txBox="1"/>
          <p:nvPr/>
        </p:nvSpPr>
        <p:spPr>
          <a:xfrm>
            <a:off x="8458200" y="1188720"/>
            <a:ext cx="3291840" cy="219456"/>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3" name="Oval 12"/>
          <p:cNvSpPr/>
          <p:nvPr/>
        </p:nvSpPr>
        <p:spPr>
          <a:xfrm>
            <a:off x="8458200" y="1463040"/>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1</a:t>
            </a:r>
          </a:p>
        </p:txBody>
      </p:sp>
      <p:sp>
        <p:nvSpPr>
          <p:cNvPr id="14" name="TextBox 13"/>
          <p:cNvSpPr txBox="1"/>
          <p:nvPr/>
        </p:nvSpPr>
        <p:spPr>
          <a:xfrm>
            <a:off x="8787384" y="1481328"/>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Your reply</a:t>
            </a:r>
          </a:p>
        </p:txBody>
      </p:sp>
      <p:sp>
        <p:nvSpPr>
          <p:cNvPr id="15" name="Oval 14"/>
          <p:cNvSpPr/>
          <p:nvPr/>
        </p:nvSpPr>
        <p:spPr>
          <a:xfrm>
            <a:off x="8458200" y="1723644"/>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2</a:t>
            </a:r>
          </a:p>
        </p:txBody>
      </p:sp>
      <p:sp>
        <p:nvSpPr>
          <p:cNvPr id="16" name="TextBox 15"/>
          <p:cNvSpPr txBox="1"/>
          <p:nvPr/>
        </p:nvSpPr>
        <p:spPr>
          <a:xfrm>
            <a:off x="8787384" y="1741932"/>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Attach files to this reply</a:t>
            </a:r>
          </a:p>
        </p:txBody>
      </p:sp>
      <p:sp>
        <p:nvSpPr>
          <p:cNvPr id="17" name="Rectangle 16"/>
          <p:cNvSpPr/>
          <p:nvPr/>
        </p:nvSpPr>
        <p:spPr>
          <a:xfrm>
            <a:off x="8458200" y="2130552"/>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22792" y="2130552"/>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19" name="TextBox 18"/>
          <p:cNvSpPr txBox="1"/>
          <p:nvPr/>
        </p:nvSpPr>
        <p:spPr>
          <a:xfrm>
            <a:off x="8622792" y="2322576"/>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Write what you found and attach the corrected statement or screenshot.</a:t>
            </a:r>
          </a:p>
        </p:txBody>
      </p:sp>
      <p:sp>
        <p:nvSpPr>
          <p:cNvPr id="20" name="Rectangle 19"/>
          <p:cNvSpPr/>
          <p:nvPr/>
        </p:nvSpPr>
        <p:spPr>
          <a:xfrm>
            <a:off x="8458200" y="2834640"/>
            <a:ext cx="45720" cy="66294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622792" y="2834640"/>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22" name="TextBox 21"/>
          <p:cNvSpPr txBox="1"/>
          <p:nvPr/>
        </p:nvSpPr>
        <p:spPr>
          <a:xfrm>
            <a:off x="8622792" y="3026664"/>
            <a:ext cx="3127248" cy="48006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Files attached here belong to this reply, so the requester sees your fix beside the answer that explains it.</a:t>
            </a:r>
          </a:p>
        </p:txBody>
      </p:sp>
      <p:sp>
        <p:nvSpPr>
          <p:cNvPr id="23" name="Rectangle 22"/>
          <p:cNvSpPr/>
          <p:nvPr/>
        </p:nvSpPr>
        <p:spPr>
          <a:xfrm>
            <a:off x="8458200" y="3698748"/>
            <a:ext cx="45720" cy="34290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622792" y="3698748"/>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25" name="TextBox 24"/>
          <p:cNvSpPr txBox="1"/>
          <p:nvPr/>
        </p:nvSpPr>
        <p:spPr>
          <a:xfrm>
            <a:off x="8622792" y="3890772"/>
            <a:ext cx="3127248" cy="16002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Step 13 — resolve, or escalate.</a:t>
            </a:r>
          </a:p>
        </p:txBody>
      </p:sp>
      <p:sp>
        <p:nvSpPr>
          <p:cNvPr id="26" name="Rectangle 25"/>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8" name="TextBox 27"/>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12</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82880"/>
            <a:ext cx="10515600" cy="320040"/>
          </a:xfrm>
          <a:prstGeom prst="rect">
            <a:avLst/>
          </a:prstGeom>
          <a:noFill/>
        </p:spPr>
        <p:txBody>
          <a:bodyPr wrap="square" anchor="t" lIns="0" rIns="0" tIns="0" bIns="0">
            <a:spAutoFit/>
          </a:bodyPr>
          <a:lstStyle/>
          <a:p>
            <a:pPr algn="l">
              <a:lnSpc>
                <a:spcPct val="115000"/>
              </a:lnSpc>
            </a:pPr>
            <a:r>
              <a:rPr sz="2300" b="1">
                <a:solidFill>
                  <a:srgbClr val="FFFFFF"/>
                </a:solidFill>
                <a:latin typeface="Calibri"/>
              </a:rPr>
              <a:t>Resolve, or escalate — and what each means</a:t>
            </a:r>
          </a:p>
        </p:txBody>
      </p:sp>
      <p:sp>
        <p:nvSpPr>
          <p:cNvPr id="5" name="TextBox 4"/>
          <p:cNvSpPr txBox="1"/>
          <p:nvPr/>
        </p:nvSpPr>
        <p:spPr>
          <a:xfrm>
            <a:off x="502920" y="548640"/>
            <a:ext cx="10515600" cy="256032"/>
          </a:xfrm>
          <a:prstGeom prst="rect">
            <a:avLst/>
          </a:prstGeom>
          <a:noFill/>
        </p:spPr>
        <p:txBody>
          <a:bodyPr wrap="square" anchor="t" lIns="0" rIns="0" tIns="0" bIns="0">
            <a:spAutoFit/>
          </a:bodyPr>
          <a:lstStyle/>
          <a:p>
            <a:pPr algn="l">
              <a:lnSpc>
                <a:spcPct val="115000"/>
              </a:lnSpc>
            </a:pPr>
            <a:r>
              <a:rPr sz="1150" b="0">
                <a:solidFill>
                  <a:srgbClr val="F3ECE0"/>
                </a:solidFill>
                <a:latin typeface="Calibri"/>
              </a:rPr>
              <a:t>Both are one action on the ticket page</a:t>
            </a:r>
          </a:p>
        </p:txBody>
      </p:sp>
      <p:sp>
        <p:nvSpPr>
          <p:cNvPr id="6" name="Rectangle 5"/>
          <p:cNvSpPr/>
          <p:nvPr/>
        </p:nvSpPr>
        <p:spPr>
          <a:xfrm>
            <a:off x="548640" y="1280160"/>
            <a:ext cx="11064240" cy="1207008"/>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80160"/>
            <a:ext cx="54864" cy="1207008"/>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1463040"/>
            <a:ext cx="10424160" cy="274320"/>
          </a:xfrm>
          <a:prstGeom prst="rect">
            <a:avLst/>
          </a:prstGeom>
          <a:noFill/>
        </p:spPr>
        <p:txBody>
          <a:bodyPr wrap="square" anchor="t" lIns="0" rIns="0" tIns="0" bIns="0">
            <a:spAutoFit/>
          </a:bodyPr>
          <a:lstStyle/>
          <a:p>
            <a:pPr algn="l">
              <a:lnSpc>
                <a:spcPct val="115000"/>
              </a:lnSpc>
            </a:pPr>
            <a:r>
              <a:rPr sz="1500" b="1">
                <a:solidFill>
                  <a:srgbClr val="1E7A53"/>
                </a:solidFill>
                <a:latin typeface="Calibri"/>
              </a:rPr>
              <a:t>Resolve</a:t>
            </a:r>
          </a:p>
        </p:txBody>
      </p:sp>
      <p:sp>
        <p:nvSpPr>
          <p:cNvPr id="9" name="TextBox 8"/>
          <p:cNvSpPr txBox="1"/>
          <p:nvPr/>
        </p:nvSpPr>
        <p:spPr>
          <a:xfrm>
            <a:off x="868680" y="1810512"/>
            <a:ext cx="10424160" cy="621792"/>
          </a:xfrm>
          <a:prstGeom prst="rect">
            <a:avLst/>
          </a:prstGeom>
          <a:noFill/>
        </p:spPr>
        <p:txBody>
          <a:bodyPr wrap="square" anchor="t" lIns="0" rIns="0" tIns="0" bIns="0">
            <a:spAutoFit/>
          </a:bodyPr>
          <a:lstStyle/>
          <a:p>
            <a:pPr algn="l">
              <a:lnSpc>
                <a:spcPct val="128000"/>
              </a:lnSpc>
            </a:pPr>
            <a:r>
              <a:rPr sz="1200" b="0">
                <a:solidFill>
                  <a:srgbClr val="1B2A33"/>
                </a:solidFill>
                <a:latin typeface="Calibri"/>
              </a:rPr>
              <a:t>Use when the problem is fixed. Only available once the ticket has been worked — you cannot jump straight from Assigned to Resolved, which is what makes 'resolved' mean something.</a:t>
            </a:r>
          </a:p>
        </p:txBody>
      </p:sp>
      <p:sp>
        <p:nvSpPr>
          <p:cNvPr id="10" name="Rectangle 9"/>
          <p:cNvSpPr/>
          <p:nvPr/>
        </p:nvSpPr>
        <p:spPr>
          <a:xfrm>
            <a:off x="548640" y="2697480"/>
            <a:ext cx="11064240" cy="1207008"/>
          </a:xfrm>
          <a:prstGeom prst="rect">
            <a:avLst/>
          </a:prstGeom>
          <a:solidFill>
            <a:srgbClr val="FFFFFF"/>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2697480"/>
            <a:ext cx="54864" cy="1207008"/>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2880360"/>
            <a:ext cx="10424160" cy="274320"/>
          </a:xfrm>
          <a:prstGeom prst="rect">
            <a:avLst/>
          </a:prstGeom>
          <a:noFill/>
        </p:spPr>
        <p:txBody>
          <a:bodyPr wrap="square" anchor="t" lIns="0" rIns="0" tIns="0" bIns="0">
            <a:spAutoFit/>
          </a:bodyPr>
          <a:lstStyle/>
          <a:p>
            <a:pPr algn="l">
              <a:lnSpc>
                <a:spcPct val="115000"/>
              </a:lnSpc>
            </a:pPr>
            <a:r>
              <a:rPr sz="1500" b="1">
                <a:solidFill>
                  <a:srgbClr val="C25B2E"/>
                </a:solidFill>
                <a:latin typeface="Calibri"/>
              </a:rPr>
              <a:t>Escalate</a:t>
            </a:r>
          </a:p>
        </p:txBody>
      </p:sp>
      <p:sp>
        <p:nvSpPr>
          <p:cNvPr id="13" name="TextBox 12"/>
          <p:cNvSpPr txBox="1"/>
          <p:nvPr/>
        </p:nvSpPr>
        <p:spPr>
          <a:xfrm>
            <a:off x="868680" y="3227832"/>
            <a:ext cx="10424160" cy="621792"/>
          </a:xfrm>
          <a:prstGeom prst="rect">
            <a:avLst/>
          </a:prstGeom>
          <a:noFill/>
        </p:spPr>
        <p:txBody>
          <a:bodyPr wrap="square" anchor="t" lIns="0" rIns="0" tIns="0" bIns="0">
            <a:spAutoFit/>
          </a:bodyPr>
          <a:lstStyle/>
          <a:p>
            <a:pPr algn="l">
              <a:lnSpc>
                <a:spcPct val="128000"/>
              </a:lnSpc>
            </a:pPr>
            <a:r>
              <a:rPr sz="1200" b="0">
                <a:solidFill>
                  <a:srgbClr val="1B2A33"/>
                </a:solidFill>
                <a:latin typeface="Calibri"/>
              </a:rPr>
              <a:t>Use when it needs someone else. The ticket moves to Escalated, is reassigned to the least-loaded holder of the target role, and an escalation event is recorded. Escalating twice for the same reason does nothing — the second is suppressed.</a:t>
            </a:r>
          </a:p>
        </p:txBody>
      </p:sp>
      <p:sp>
        <p:nvSpPr>
          <p:cNvPr id="14" name="Rectangle 13"/>
          <p:cNvSpPr/>
          <p:nvPr/>
        </p:nvSpPr>
        <p:spPr>
          <a:xfrm>
            <a:off x="548640" y="4114800"/>
            <a:ext cx="11064240" cy="1207008"/>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4114800"/>
            <a:ext cx="54864" cy="1207008"/>
          </a:xfrm>
          <a:prstGeom prst="rect">
            <a:avLst/>
          </a:prstGeom>
          <a:solidFill>
            <a:srgbClr val="B47A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297680"/>
            <a:ext cx="10424160" cy="274320"/>
          </a:xfrm>
          <a:prstGeom prst="rect">
            <a:avLst/>
          </a:prstGeom>
          <a:noFill/>
        </p:spPr>
        <p:txBody>
          <a:bodyPr wrap="square" anchor="t" lIns="0" rIns="0" tIns="0" bIns="0">
            <a:spAutoFit/>
          </a:bodyPr>
          <a:lstStyle/>
          <a:p>
            <a:pPr algn="l">
              <a:lnSpc>
                <a:spcPct val="115000"/>
              </a:lnSpc>
            </a:pPr>
            <a:r>
              <a:rPr sz="1500" b="1">
                <a:solidFill>
                  <a:srgbClr val="B47A14"/>
                </a:solidFill>
                <a:latin typeface="Calibri"/>
              </a:rPr>
              <a:t>Put on hold</a:t>
            </a:r>
          </a:p>
        </p:txBody>
      </p:sp>
      <p:sp>
        <p:nvSpPr>
          <p:cNvPr id="17" name="TextBox 16"/>
          <p:cNvSpPr txBox="1"/>
          <p:nvPr/>
        </p:nvSpPr>
        <p:spPr>
          <a:xfrm>
            <a:off x="868680" y="4645152"/>
            <a:ext cx="10424160" cy="621792"/>
          </a:xfrm>
          <a:prstGeom prst="rect">
            <a:avLst/>
          </a:prstGeom>
          <a:noFill/>
        </p:spPr>
        <p:txBody>
          <a:bodyPr wrap="square" anchor="t" lIns="0" rIns="0" tIns="0" bIns="0">
            <a:spAutoFit/>
          </a:bodyPr>
          <a:lstStyle/>
          <a:p>
            <a:pPr algn="l">
              <a:lnSpc>
                <a:spcPct val="128000"/>
              </a:lnSpc>
            </a:pPr>
            <a:r>
              <a:rPr sz="1200" b="0">
                <a:solidFill>
                  <a:srgbClr val="1B2A33"/>
                </a:solidFill>
                <a:latin typeface="Calibri"/>
              </a:rPr>
              <a:t>Use when you are waiting on someone outside the team. The ticket stays open and keeps counting toward your queue.</a:t>
            </a:r>
          </a:p>
        </p:txBody>
      </p:sp>
      <p:sp>
        <p:nvSpPr>
          <p:cNvPr id="18" name="TextBox 17"/>
          <p:cNvSpPr txBox="1"/>
          <p:nvPr/>
        </p:nvSpPr>
        <p:spPr>
          <a:xfrm>
            <a:off x="548640" y="5623560"/>
            <a:ext cx="11064240" cy="548640"/>
          </a:xfrm>
          <a:prstGeom prst="rect">
            <a:avLst/>
          </a:prstGeom>
          <a:noFill/>
        </p:spPr>
        <p:txBody>
          <a:bodyPr wrap="square" anchor="t" lIns="0" rIns="0" tIns="0" bIns="0">
            <a:spAutoFit/>
          </a:bodyPr>
          <a:lstStyle/>
          <a:p>
            <a:pPr algn="l">
              <a:lnSpc>
                <a:spcPct val="125000"/>
              </a:lnSpc>
            </a:pPr>
            <a:r>
              <a:rPr sz="1150" b="0">
                <a:solidFill>
                  <a:srgbClr val="5B6B75"/>
                </a:solidFill>
                <a:latin typeface="Calibri"/>
              </a:rPr>
              <a:t>Closing is always available, from any open state — it means the problem went away or the ticket was raised in error, not that it was solved.</a:t>
            </a:r>
          </a:p>
        </p:txBody>
      </p:sp>
      <p:sp>
        <p:nvSpPr>
          <p:cNvPr id="19" name="Rectangle 18"/>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1" name="TextBox 20"/>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Agent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377440"/>
            <a:ext cx="1828800" cy="548640"/>
          </a:xfrm>
          <a:prstGeom prst="rect">
            <a:avLst/>
          </a:prstGeom>
          <a:noFill/>
        </p:spPr>
        <p:txBody>
          <a:bodyPr wrap="square" anchor="t" lIns="0" rIns="0" tIns="0" bIns="0">
            <a:spAutoFit/>
          </a:bodyPr>
          <a:lstStyle/>
          <a:p>
            <a:pPr algn="l">
              <a:lnSpc>
                <a:spcPct val="115000"/>
              </a:lnSpc>
            </a:pPr>
            <a:r>
              <a:rPr sz="1300" b="1">
                <a:solidFill>
                  <a:srgbClr val="C25B2E"/>
                </a:solidFill>
                <a:latin typeface="Calibri"/>
              </a:rPr>
              <a:t>SECTION 08</a:t>
            </a:r>
          </a:p>
        </p:txBody>
      </p:sp>
      <p:sp>
        <p:nvSpPr>
          <p:cNvPr id="5" name="TextBox 4"/>
          <p:cNvSpPr txBox="1"/>
          <p:nvPr/>
        </p:nvSpPr>
        <p:spPr>
          <a:xfrm>
            <a:off x="1005840" y="2788920"/>
            <a:ext cx="9601200" cy="822960"/>
          </a:xfrm>
          <a:prstGeom prst="rect">
            <a:avLst/>
          </a:prstGeom>
          <a:noFill/>
        </p:spPr>
        <p:txBody>
          <a:bodyPr wrap="square" anchor="t" lIns="0" rIns="0" tIns="0" bIns="0">
            <a:spAutoFit/>
          </a:bodyPr>
          <a:lstStyle/>
          <a:p>
            <a:pPr algn="l">
              <a:lnSpc>
                <a:spcPct val="115000"/>
              </a:lnSpc>
            </a:pPr>
            <a:r>
              <a:rPr sz="3400" b="1">
                <a:solidFill>
                  <a:srgbClr val="0E4F4A"/>
                </a:solidFill>
                <a:latin typeface="Calibri"/>
              </a:rPr>
              <a:t>Supervisor workflow</a:t>
            </a:r>
          </a:p>
        </p:txBody>
      </p:sp>
      <p:sp>
        <p:nvSpPr>
          <p:cNvPr id="6" name="TextBox 5"/>
          <p:cNvSpPr txBox="1"/>
          <p:nvPr/>
        </p:nvSpPr>
        <p:spPr>
          <a:xfrm>
            <a:off x="1005840" y="3794760"/>
            <a:ext cx="8686800" cy="914400"/>
          </a:xfrm>
          <a:prstGeom prst="rect">
            <a:avLst/>
          </a:prstGeom>
          <a:noFill/>
        </p:spPr>
        <p:txBody>
          <a:bodyPr wrap="square" anchor="t" lIns="0" rIns="0" tIns="0" bIns="0">
            <a:spAutoFit/>
          </a:bodyPr>
          <a:lstStyle/>
          <a:p>
            <a:pPr algn="l">
              <a:lnSpc>
                <a:spcPct val="130000"/>
              </a:lnSpc>
            </a:pPr>
            <a:r>
              <a:rPr sz="1500" b="0">
                <a:solidFill>
                  <a:srgbClr val="5B6B75"/>
                </a:solidFill>
                <a:latin typeface="Calibri"/>
              </a:rPr>
              <a:t>You watch the deadlines and the escalations, and step in before a breach becomes a complaint.</a:t>
            </a:r>
          </a:p>
        </p:txBody>
      </p:sp>
      <p:sp>
        <p:nvSpPr>
          <p:cNvPr id="7" name="Rectangle 6"/>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9" name="TextBox 8"/>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Section 08</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13</a:t>
            </a:r>
          </a:p>
        </p:txBody>
      </p:sp>
      <p:sp>
        <p:nvSpPr>
          <p:cNvPr id="6" name="TextBox 5"/>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Watch the team's position</a:t>
            </a:r>
          </a:p>
        </p:txBody>
      </p:sp>
      <p:sp>
        <p:nvSpPr>
          <p:cNvPr id="7" name="TextBox 6"/>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SUPERVISOR</a:t>
            </a:r>
          </a:p>
        </p:txBody>
      </p:sp>
      <p:sp>
        <p:nvSpPr>
          <p:cNvPr id="8" name="Rectangle 7"/>
          <p:cNvSpPr/>
          <p:nvPr/>
        </p:nvSpPr>
        <p:spPr>
          <a:xfrm>
            <a:off x="388620" y="1165860"/>
            <a:ext cx="7818120" cy="490347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30-supervisor-dashboard.png"/>
          <p:cNvPicPr>
            <a:picLocks noChangeAspect="1"/>
          </p:cNvPicPr>
          <p:nvPr/>
        </p:nvPicPr>
        <p:blipFill>
          <a:blip r:embed="rId2"/>
          <a:stretch>
            <a:fillRect/>
          </a:stretch>
        </p:blipFill>
        <p:spPr>
          <a:xfrm>
            <a:off x="411480" y="1188720"/>
            <a:ext cx="7772400" cy="4857750"/>
          </a:xfrm>
          <a:prstGeom prst="rect">
            <a:avLst/>
          </a:prstGeom>
        </p:spPr>
      </p:pic>
      <p:sp>
        <p:nvSpPr>
          <p:cNvPr id="10" name="Oval 9"/>
          <p:cNvSpPr/>
          <p:nvPr/>
        </p:nvSpPr>
        <p:spPr>
          <a:xfrm>
            <a:off x="2316814" y="2001735"/>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11" name="Oval 10"/>
          <p:cNvSpPr/>
          <p:nvPr/>
        </p:nvSpPr>
        <p:spPr>
          <a:xfrm>
            <a:off x="444398" y="1270158"/>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2</a:t>
            </a:r>
          </a:p>
        </p:txBody>
      </p:sp>
      <p:sp>
        <p:nvSpPr>
          <p:cNvPr id="12" name="TextBox 11"/>
          <p:cNvSpPr txBox="1"/>
          <p:nvPr/>
        </p:nvSpPr>
        <p:spPr>
          <a:xfrm>
            <a:off x="8458200" y="1188720"/>
            <a:ext cx="3291840" cy="219456"/>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3" name="Oval 12"/>
          <p:cNvSpPr/>
          <p:nvPr/>
        </p:nvSpPr>
        <p:spPr>
          <a:xfrm>
            <a:off x="8458200" y="1463040"/>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1</a:t>
            </a:r>
          </a:p>
        </p:txBody>
      </p:sp>
      <p:sp>
        <p:nvSpPr>
          <p:cNvPr id="14" name="TextBox 13"/>
          <p:cNvSpPr txBox="1"/>
          <p:nvPr/>
        </p:nvSpPr>
        <p:spPr>
          <a:xfrm>
            <a:off x="8787384" y="1481328"/>
            <a:ext cx="2962656" cy="338328"/>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Breached — the number that matters most</a:t>
            </a:r>
          </a:p>
        </p:txBody>
      </p:sp>
      <p:sp>
        <p:nvSpPr>
          <p:cNvPr id="15" name="Oval 14"/>
          <p:cNvSpPr/>
          <p:nvPr/>
        </p:nvSpPr>
        <p:spPr>
          <a:xfrm>
            <a:off x="8458200" y="1892808"/>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2</a:t>
            </a:r>
          </a:p>
        </p:txBody>
      </p:sp>
      <p:sp>
        <p:nvSpPr>
          <p:cNvPr id="16" name="TextBox 15"/>
          <p:cNvSpPr txBox="1"/>
          <p:nvPr/>
        </p:nvSpPr>
        <p:spPr>
          <a:xfrm>
            <a:off x="8787384" y="1911096"/>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SLA Monitor and Escalations in the menu</a:t>
            </a:r>
          </a:p>
        </p:txBody>
      </p:sp>
      <p:sp>
        <p:nvSpPr>
          <p:cNvPr id="17" name="Rectangle 16"/>
          <p:cNvSpPr/>
          <p:nvPr/>
        </p:nvSpPr>
        <p:spPr>
          <a:xfrm>
            <a:off x="8458200" y="2299716"/>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22792" y="2299716"/>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19" name="TextBox 18"/>
          <p:cNvSpPr txBox="1"/>
          <p:nvPr/>
        </p:nvSpPr>
        <p:spPr>
          <a:xfrm>
            <a:off x="8622792" y="2491740"/>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Read the strip; anything breaching needs an owner today.</a:t>
            </a:r>
          </a:p>
        </p:txBody>
      </p:sp>
      <p:sp>
        <p:nvSpPr>
          <p:cNvPr id="20" name="Rectangle 19"/>
          <p:cNvSpPr/>
          <p:nvPr/>
        </p:nvSpPr>
        <p:spPr>
          <a:xfrm>
            <a:off x="8458200" y="3003804"/>
            <a:ext cx="45720" cy="66294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622792" y="3003804"/>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22" name="TextBox 21"/>
          <p:cNvSpPr txBox="1"/>
          <p:nvPr/>
        </p:nvSpPr>
        <p:spPr>
          <a:xfrm>
            <a:off x="8622792" y="3195828"/>
            <a:ext cx="3127248" cy="48006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Supervisors see the same tiles as agents, plus the SLA monitor and escalation queue in the menu.</a:t>
            </a:r>
          </a:p>
        </p:txBody>
      </p:sp>
      <p:sp>
        <p:nvSpPr>
          <p:cNvPr id="23" name="Rectangle 22"/>
          <p:cNvSpPr/>
          <p:nvPr/>
        </p:nvSpPr>
        <p:spPr>
          <a:xfrm>
            <a:off x="8458200" y="3867912"/>
            <a:ext cx="45720" cy="34290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622792" y="3867912"/>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25" name="TextBox 24"/>
          <p:cNvSpPr txBox="1"/>
          <p:nvPr/>
        </p:nvSpPr>
        <p:spPr>
          <a:xfrm>
            <a:off x="8622792" y="4059936"/>
            <a:ext cx="3127248" cy="16002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Step 15 — open the SLA monitor.</a:t>
            </a:r>
          </a:p>
        </p:txBody>
      </p:sp>
      <p:sp>
        <p:nvSpPr>
          <p:cNvPr id="26" name="Rectangle 25"/>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8" name="TextBox 27"/>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13</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14</a:t>
            </a:r>
          </a:p>
        </p:txBody>
      </p:sp>
      <p:sp>
        <p:nvSpPr>
          <p:cNvPr id="6" name="TextBox 5"/>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Read the SLA monitor</a:t>
            </a:r>
          </a:p>
        </p:txBody>
      </p:sp>
      <p:sp>
        <p:nvSpPr>
          <p:cNvPr id="7" name="TextBox 6"/>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SUPERVISOR</a:t>
            </a:r>
          </a:p>
        </p:txBody>
      </p:sp>
      <p:sp>
        <p:nvSpPr>
          <p:cNvPr id="8" name="Rectangle 7"/>
          <p:cNvSpPr/>
          <p:nvPr/>
        </p:nvSpPr>
        <p:spPr>
          <a:xfrm>
            <a:off x="388620" y="1165860"/>
            <a:ext cx="7818120" cy="490347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31-supervisor-sla.png"/>
          <p:cNvPicPr>
            <a:picLocks noChangeAspect="1"/>
          </p:cNvPicPr>
          <p:nvPr/>
        </p:nvPicPr>
        <p:blipFill>
          <a:blip r:embed="rId2"/>
          <a:stretch>
            <a:fillRect/>
          </a:stretch>
        </p:blipFill>
        <p:spPr>
          <a:xfrm>
            <a:off x="411480" y="1188720"/>
            <a:ext cx="7772400" cy="4857750"/>
          </a:xfrm>
          <a:prstGeom prst="rect">
            <a:avLst/>
          </a:prstGeom>
        </p:spPr>
      </p:pic>
      <p:sp>
        <p:nvSpPr>
          <p:cNvPr id="10" name="Oval 9"/>
          <p:cNvSpPr/>
          <p:nvPr/>
        </p:nvSpPr>
        <p:spPr>
          <a:xfrm>
            <a:off x="1307179" y="1572310"/>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11" name="TextBox 10"/>
          <p:cNvSpPr txBox="1"/>
          <p:nvPr/>
        </p:nvSpPr>
        <p:spPr>
          <a:xfrm>
            <a:off x="8458200" y="1188720"/>
            <a:ext cx="3291840" cy="219456"/>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2" name="Oval 11"/>
          <p:cNvSpPr/>
          <p:nvPr/>
        </p:nvSpPr>
        <p:spPr>
          <a:xfrm>
            <a:off x="8458200" y="1463040"/>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1</a:t>
            </a:r>
          </a:p>
        </p:txBody>
      </p:sp>
      <p:sp>
        <p:nvSpPr>
          <p:cNvPr id="13" name="TextBox 12"/>
          <p:cNvSpPr txBox="1"/>
          <p:nvPr/>
        </p:nvSpPr>
        <p:spPr>
          <a:xfrm>
            <a:off x="8787384" y="1481328"/>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On time, at risk, breached</a:t>
            </a:r>
          </a:p>
        </p:txBody>
      </p:sp>
      <p:sp>
        <p:nvSpPr>
          <p:cNvPr id="14" name="Rectangle 13"/>
          <p:cNvSpPr/>
          <p:nvPr/>
        </p:nvSpPr>
        <p:spPr>
          <a:xfrm>
            <a:off x="8458200" y="1869948"/>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22792" y="1869948"/>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16" name="TextBox 15"/>
          <p:cNvSpPr txBox="1"/>
          <p:nvPr/>
        </p:nvSpPr>
        <p:spPr>
          <a:xfrm>
            <a:off x="8622792" y="2061972"/>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Work down from the tickets nearest their deadline.</a:t>
            </a:r>
          </a:p>
        </p:txBody>
      </p:sp>
      <p:sp>
        <p:nvSpPr>
          <p:cNvPr id="17" name="Rectangle 16"/>
          <p:cNvSpPr/>
          <p:nvPr/>
        </p:nvSpPr>
        <p:spPr>
          <a:xfrm>
            <a:off x="8458200" y="2574036"/>
            <a:ext cx="45720" cy="82296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22792" y="2574036"/>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19" name="TextBox 18"/>
          <p:cNvSpPr txBox="1"/>
          <p:nvPr/>
        </p:nvSpPr>
        <p:spPr>
          <a:xfrm>
            <a:off x="8622792" y="2766060"/>
            <a:ext cx="3127248" cy="64008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At risk means due within the hour. Breached means the deadline has already passed and, if a rule matched, escalation has already fired.</a:t>
            </a:r>
          </a:p>
        </p:txBody>
      </p:sp>
      <p:sp>
        <p:nvSpPr>
          <p:cNvPr id="20" name="Rectangle 19"/>
          <p:cNvSpPr/>
          <p:nvPr/>
        </p:nvSpPr>
        <p:spPr>
          <a:xfrm>
            <a:off x="8458200" y="3598164"/>
            <a:ext cx="45720" cy="34290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622792" y="3598164"/>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22" name="TextBox 21"/>
          <p:cNvSpPr txBox="1"/>
          <p:nvPr/>
        </p:nvSpPr>
        <p:spPr>
          <a:xfrm>
            <a:off x="8622792" y="3790188"/>
            <a:ext cx="3127248" cy="16002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Step 16 — review escalations.</a:t>
            </a:r>
          </a:p>
        </p:txBody>
      </p:sp>
      <p:sp>
        <p:nvSpPr>
          <p:cNvPr id="23" name="Rectangle 22"/>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5" name="TextBox 24"/>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14</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15</a:t>
            </a:r>
          </a:p>
        </p:txBody>
      </p:sp>
      <p:sp>
        <p:nvSpPr>
          <p:cNvPr id="6" name="TextBox 5"/>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Review the escalation queue</a:t>
            </a:r>
          </a:p>
        </p:txBody>
      </p:sp>
      <p:sp>
        <p:nvSpPr>
          <p:cNvPr id="7" name="TextBox 6"/>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SUPERVISOR</a:t>
            </a:r>
          </a:p>
        </p:txBody>
      </p:sp>
      <p:sp>
        <p:nvSpPr>
          <p:cNvPr id="8" name="Rectangle 7"/>
          <p:cNvSpPr/>
          <p:nvPr/>
        </p:nvSpPr>
        <p:spPr>
          <a:xfrm>
            <a:off x="388620" y="1165860"/>
            <a:ext cx="7818120" cy="490347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32-supervisor-escalations.png"/>
          <p:cNvPicPr>
            <a:picLocks noChangeAspect="1"/>
          </p:cNvPicPr>
          <p:nvPr/>
        </p:nvPicPr>
        <p:blipFill>
          <a:blip r:embed="rId2"/>
          <a:stretch>
            <a:fillRect/>
          </a:stretch>
        </p:blipFill>
        <p:spPr>
          <a:xfrm>
            <a:off x="411480" y="1188720"/>
            <a:ext cx="7772400" cy="4857750"/>
          </a:xfrm>
          <a:prstGeom prst="rect">
            <a:avLst/>
          </a:prstGeom>
        </p:spPr>
      </p:pic>
      <p:sp>
        <p:nvSpPr>
          <p:cNvPr id="10" name="Oval 9"/>
          <p:cNvSpPr/>
          <p:nvPr/>
        </p:nvSpPr>
        <p:spPr>
          <a:xfrm>
            <a:off x="1307179" y="1572310"/>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11" name="TextBox 10"/>
          <p:cNvSpPr txBox="1"/>
          <p:nvPr/>
        </p:nvSpPr>
        <p:spPr>
          <a:xfrm>
            <a:off x="8458200" y="1188720"/>
            <a:ext cx="3291840" cy="219456"/>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2" name="Oval 11"/>
          <p:cNvSpPr/>
          <p:nvPr/>
        </p:nvSpPr>
        <p:spPr>
          <a:xfrm>
            <a:off x="8458200" y="1463040"/>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1</a:t>
            </a:r>
          </a:p>
        </p:txBody>
      </p:sp>
      <p:sp>
        <p:nvSpPr>
          <p:cNvPr id="13" name="TextBox 12"/>
          <p:cNvSpPr txBox="1"/>
          <p:nvPr/>
        </p:nvSpPr>
        <p:spPr>
          <a:xfrm>
            <a:off x="8787384" y="1481328"/>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Escalation events, newest first</a:t>
            </a:r>
          </a:p>
        </p:txBody>
      </p:sp>
      <p:sp>
        <p:nvSpPr>
          <p:cNvPr id="14" name="Rectangle 13"/>
          <p:cNvSpPr/>
          <p:nvPr/>
        </p:nvSpPr>
        <p:spPr>
          <a:xfrm>
            <a:off x="8458200" y="1869948"/>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22792" y="1869948"/>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16" name="TextBox 15"/>
          <p:cNvSpPr txBox="1"/>
          <p:nvPr/>
        </p:nvSpPr>
        <p:spPr>
          <a:xfrm>
            <a:off x="8622792" y="2061972"/>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Check what escalated and whether the target is acting on it.</a:t>
            </a:r>
          </a:p>
        </p:txBody>
      </p:sp>
      <p:sp>
        <p:nvSpPr>
          <p:cNvPr id="17" name="Rectangle 16"/>
          <p:cNvSpPr/>
          <p:nvPr/>
        </p:nvSpPr>
        <p:spPr>
          <a:xfrm>
            <a:off x="8458200" y="2574036"/>
            <a:ext cx="45720" cy="82296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22792" y="2574036"/>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19" name="TextBox 18"/>
          <p:cNvSpPr txBox="1"/>
          <p:nvPr/>
        </p:nvSpPr>
        <p:spPr>
          <a:xfrm>
            <a:off x="8622792" y="2766060"/>
            <a:ext cx="3127248" cy="64008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Escalations arrive here whether raised by hand or fired automatically by the SLA worker — both run the same engine, so the evidence is identical.</a:t>
            </a:r>
          </a:p>
        </p:txBody>
      </p:sp>
      <p:sp>
        <p:nvSpPr>
          <p:cNvPr id="20" name="Rectangle 19"/>
          <p:cNvSpPr/>
          <p:nvPr/>
        </p:nvSpPr>
        <p:spPr>
          <a:xfrm>
            <a:off x="8458200" y="3598164"/>
            <a:ext cx="45720" cy="50292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622792" y="3598164"/>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22" name="TextBox 21"/>
          <p:cNvSpPr txBox="1"/>
          <p:nvPr/>
        </p:nvSpPr>
        <p:spPr>
          <a:xfrm>
            <a:off x="8622792" y="3790188"/>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Reassign if the target is wrong; otherwise the agent resolves it.</a:t>
            </a:r>
          </a:p>
        </p:txBody>
      </p:sp>
      <p:sp>
        <p:nvSpPr>
          <p:cNvPr id="23" name="Rectangle 22"/>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5" name="TextBox 24"/>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15</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82880"/>
            <a:ext cx="10515600" cy="320040"/>
          </a:xfrm>
          <a:prstGeom prst="rect">
            <a:avLst/>
          </a:prstGeom>
          <a:noFill/>
        </p:spPr>
        <p:txBody>
          <a:bodyPr wrap="square" anchor="t" lIns="0" rIns="0" tIns="0" bIns="0">
            <a:spAutoFit/>
          </a:bodyPr>
          <a:lstStyle/>
          <a:p>
            <a:pPr algn="l">
              <a:lnSpc>
                <a:spcPct val="115000"/>
              </a:lnSpc>
            </a:pPr>
            <a:r>
              <a:rPr sz="2300" b="1">
                <a:solidFill>
                  <a:srgbClr val="FFFFFF"/>
                </a:solidFill>
                <a:latin typeface="Calibri"/>
              </a:rPr>
              <a:t>How escalation actually fires</a:t>
            </a:r>
          </a:p>
        </p:txBody>
      </p:sp>
      <p:sp>
        <p:nvSpPr>
          <p:cNvPr id="5" name="TextBox 4"/>
          <p:cNvSpPr txBox="1"/>
          <p:nvPr/>
        </p:nvSpPr>
        <p:spPr>
          <a:xfrm>
            <a:off x="502920" y="548640"/>
            <a:ext cx="10515600" cy="256032"/>
          </a:xfrm>
          <a:prstGeom prst="rect">
            <a:avLst/>
          </a:prstGeom>
          <a:noFill/>
        </p:spPr>
        <p:txBody>
          <a:bodyPr wrap="square" anchor="t" lIns="0" rIns="0" tIns="0" bIns="0">
            <a:spAutoFit/>
          </a:bodyPr>
          <a:lstStyle/>
          <a:p>
            <a:pPr algn="l">
              <a:lnSpc>
                <a:spcPct val="115000"/>
              </a:lnSpc>
            </a:pPr>
            <a:r>
              <a:rPr sz="1150" b="0">
                <a:solidFill>
                  <a:srgbClr val="F3ECE0"/>
                </a:solidFill>
                <a:latin typeface="Calibri"/>
              </a:rPr>
              <a:t>Nobody has to be watching for this to happen</a:t>
            </a:r>
          </a:p>
        </p:txBody>
      </p:sp>
      <p:sp>
        <p:nvSpPr>
          <p:cNvPr id="6" name="Rectangle 5"/>
          <p:cNvSpPr/>
          <p:nvPr/>
        </p:nvSpPr>
        <p:spPr>
          <a:xfrm>
            <a:off x="548640" y="1234440"/>
            <a:ext cx="11064240" cy="1051560"/>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463040"/>
            <a:ext cx="10424160" cy="640080"/>
          </a:xfrm>
          <a:prstGeom prst="rect">
            <a:avLst/>
          </a:prstGeom>
          <a:noFill/>
        </p:spPr>
        <p:txBody>
          <a:bodyPr wrap="square" anchor="t" lIns="0" rIns="0" tIns="0" bIns="0">
            <a:spAutoFit/>
          </a:bodyPr>
          <a:lstStyle/>
          <a:p>
            <a:pPr algn="l">
              <a:lnSpc>
                <a:spcPct val="130000"/>
              </a:lnSpc>
            </a:pPr>
            <a:r>
              <a:rPr sz="1300" b="0">
                <a:solidFill>
                  <a:srgbClr val="1B2A33"/>
                </a:solidFill>
                <a:latin typeface="Calibri"/>
              </a:rPr>
              <a:t>Every 5 minutes a background worker looks for tickets past their resolution deadline. For each one it finds, it marks the breach and evaluates the escalation rules.</a:t>
            </a:r>
          </a:p>
        </p:txBody>
      </p:sp>
      <p:sp>
        <p:nvSpPr>
          <p:cNvPr id="8" name="Rectangle 7"/>
          <p:cNvSpPr/>
          <p:nvPr/>
        </p:nvSpPr>
        <p:spPr>
          <a:xfrm>
            <a:off x="548640" y="2514600"/>
            <a:ext cx="11064240" cy="713232"/>
          </a:xfrm>
          <a:prstGeom prst="rect">
            <a:avLst/>
          </a:prstGeom>
          <a:solidFill>
            <a:srgbClr val="FFFFFF"/>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615184"/>
            <a:ext cx="2743200" cy="256032"/>
          </a:xfrm>
          <a:prstGeom prst="rect">
            <a:avLst/>
          </a:prstGeom>
          <a:noFill/>
        </p:spPr>
        <p:txBody>
          <a:bodyPr wrap="square" anchor="t" lIns="0" rIns="0" tIns="0" bIns="0">
            <a:spAutoFit/>
          </a:bodyPr>
          <a:lstStyle/>
          <a:p>
            <a:pPr algn="l">
              <a:lnSpc>
                <a:spcPct val="115000"/>
              </a:lnSpc>
            </a:pPr>
            <a:r>
              <a:rPr sz="1250" b="1">
                <a:solidFill>
                  <a:srgbClr val="0E4F4A"/>
                </a:solidFill>
                <a:latin typeface="Calibri"/>
              </a:rPr>
              <a:t>1 — Rule matched</a:t>
            </a:r>
          </a:p>
        </p:txBody>
      </p:sp>
      <p:sp>
        <p:nvSpPr>
          <p:cNvPr id="10" name="TextBox 9"/>
          <p:cNvSpPr txBox="1"/>
          <p:nvPr/>
        </p:nvSpPr>
        <p:spPr>
          <a:xfrm>
            <a:off x="3566160" y="2615184"/>
            <a:ext cx="7863840" cy="548640"/>
          </a:xfrm>
          <a:prstGeom prst="rect">
            <a:avLst/>
          </a:prstGeom>
          <a:noFill/>
        </p:spPr>
        <p:txBody>
          <a:bodyPr wrap="square" anchor="t" lIns="0" rIns="0" tIns="0" bIns="0">
            <a:spAutoFit/>
          </a:bodyPr>
          <a:lstStyle/>
          <a:p>
            <a:pPr algn="l">
              <a:lnSpc>
                <a:spcPct val="120000"/>
              </a:lnSpc>
            </a:pPr>
            <a:r>
              <a:rPr sz="1100" b="0">
                <a:solidFill>
                  <a:srgbClr val="1B2A33"/>
                </a:solidFill>
                <a:latin typeface="Calibri"/>
              </a:rPr>
              <a:t>The most specific rule wins. A category-specific rule beats a catch-all, and priority_threshold is read as a minimum, so a 'high' rule also covers critical.</a:t>
            </a:r>
          </a:p>
        </p:txBody>
      </p:sp>
      <p:sp>
        <p:nvSpPr>
          <p:cNvPr id="11" name="Rectangle 10"/>
          <p:cNvSpPr/>
          <p:nvPr/>
        </p:nvSpPr>
        <p:spPr>
          <a:xfrm>
            <a:off x="548640" y="3337560"/>
            <a:ext cx="11064240" cy="713232"/>
          </a:xfrm>
          <a:prstGeom prst="rect">
            <a:avLst/>
          </a:prstGeom>
          <a:solidFill>
            <a:srgbClr val="FFFFFF"/>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3438144"/>
            <a:ext cx="2743200" cy="256032"/>
          </a:xfrm>
          <a:prstGeom prst="rect">
            <a:avLst/>
          </a:prstGeom>
          <a:noFill/>
        </p:spPr>
        <p:txBody>
          <a:bodyPr wrap="square" anchor="t" lIns="0" rIns="0" tIns="0" bIns="0">
            <a:spAutoFit/>
          </a:bodyPr>
          <a:lstStyle/>
          <a:p>
            <a:pPr algn="l">
              <a:lnSpc>
                <a:spcPct val="115000"/>
              </a:lnSpc>
            </a:pPr>
            <a:r>
              <a:rPr sz="1250" b="1">
                <a:solidFill>
                  <a:srgbClr val="0E4F4A"/>
                </a:solidFill>
                <a:latin typeface="Calibri"/>
              </a:rPr>
              <a:t>2 — Ticket moved</a:t>
            </a:r>
          </a:p>
        </p:txBody>
      </p:sp>
      <p:sp>
        <p:nvSpPr>
          <p:cNvPr id="13" name="TextBox 12"/>
          <p:cNvSpPr txBox="1"/>
          <p:nvPr/>
        </p:nvSpPr>
        <p:spPr>
          <a:xfrm>
            <a:off x="3566160" y="3438144"/>
            <a:ext cx="7863840" cy="548640"/>
          </a:xfrm>
          <a:prstGeom prst="rect">
            <a:avLst/>
          </a:prstGeom>
          <a:noFill/>
        </p:spPr>
        <p:txBody>
          <a:bodyPr wrap="square" anchor="t" lIns="0" rIns="0" tIns="0" bIns="0">
            <a:spAutoFit/>
          </a:bodyPr>
          <a:lstStyle/>
          <a:p>
            <a:pPr algn="l">
              <a:lnSpc>
                <a:spcPct val="120000"/>
              </a:lnSpc>
            </a:pPr>
            <a:r>
              <a:rPr sz="1100" b="0">
                <a:solidFill>
                  <a:srgbClr val="1B2A33"/>
                </a:solidFill>
                <a:latin typeface="Calibri"/>
              </a:rPr>
              <a:t>Status becomes Escalated and it is reassigned to the least-loaded holder of the target role.</a:t>
            </a:r>
          </a:p>
        </p:txBody>
      </p:sp>
      <p:sp>
        <p:nvSpPr>
          <p:cNvPr id="14" name="Rectangle 13"/>
          <p:cNvSpPr/>
          <p:nvPr/>
        </p:nvSpPr>
        <p:spPr>
          <a:xfrm>
            <a:off x="548640" y="4160520"/>
            <a:ext cx="11064240" cy="713232"/>
          </a:xfrm>
          <a:prstGeom prst="rect">
            <a:avLst/>
          </a:prstGeom>
          <a:solidFill>
            <a:srgbClr val="FFFFFF"/>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60" y="4261104"/>
            <a:ext cx="2743200" cy="256032"/>
          </a:xfrm>
          <a:prstGeom prst="rect">
            <a:avLst/>
          </a:prstGeom>
          <a:noFill/>
        </p:spPr>
        <p:txBody>
          <a:bodyPr wrap="square" anchor="t" lIns="0" rIns="0" tIns="0" bIns="0">
            <a:spAutoFit/>
          </a:bodyPr>
          <a:lstStyle/>
          <a:p>
            <a:pPr algn="l">
              <a:lnSpc>
                <a:spcPct val="115000"/>
              </a:lnSpc>
            </a:pPr>
            <a:r>
              <a:rPr sz="1250" b="1">
                <a:solidFill>
                  <a:srgbClr val="0E4F4A"/>
                </a:solidFill>
                <a:latin typeface="Calibri"/>
              </a:rPr>
              <a:t>3 — Evidence written</a:t>
            </a:r>
          </a:p>
        </p:txBody>
      </p:sp>
      <p:sp>
        <p:nvSpPr>
          <p:cNvPr id="16" name="TextBox 15"/>
          <p:cNvSpPr txBox="1"/>
          <p:nvPr/>
        </p:nvSpPr>
        <p:spPr>
          <a:xfrm>
            <a:off x="3566160" y="4261104"/>
            <a:ext cx="7863840" cy="548640"/>
          </a:xfrm>
          <a:prstGeom prst="rect">
            <a:avLst/>
          </a:prstGeom>
          <a:noFill/>
        </p:spPr>
        <p:txBody>
          <a:bodyPr wrap="square" anchor="t" lIns="0" rIns="0" tIns="0" bIns="0">
            <a:spAutoFit/>
          </a:bodyPr>
          <a:lstStyle/>
          <a:p>
            <a:pPr algn="l">
              <a:lnSpc>
                <a:spcPct val="120000"/>
              </a:lnSpc>
            </a:pPr>
            <a:r>
              <a:rPr sz="1100" b="0">
                <a:solidFill>
                  <a:srgbClr val="1B2A33"/>
                </a:solidFill>
                <a:latin typeface="Calibri"/>
              </a:rPr>
              <a:t>An escalation_events row records the trigger, the rule and the target.</a:t>
            </a:r>
          </a:p>
        </p:txBody>
      </p:sp>
      <p:sp>
        <p:nvSpPr>
          <p:cNvPr id="17" name="Rectangle 16"/>
          <p:cNvSpPr/>
          <p:nvPr/>
        </p:nvSpPr>
        <p:spPr>
          <a:xfrm>
            <a:off x="548640" y="4983480"/>
            <a:ext cx="11064240" cy="713232"/>
          </a:xfrm>
          <a:prstGeom prst="rect">
            <a:avLst/>
          </a:prstGeom>
          <a:solidFill>
            <a:srgbClr val="FFFFFF"/>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5084064"/>
            <a:ext cx="2743200" cy="256032"/>
          </a:xfrm>
          <a:prstGeom prst="rect">
            <a:avLst/>
          </a:prstGeom>
          <a:noFill/>
        </p:spPr>
        <p:txBody>
          <a:bodyPr wrap="square" anchor="t" lIns="0" rIns="0" tIns="0" bIns="0">
            <a:spAutoFit/>
          </a:bodyPr>
          <a:lstStyle/>
          <a:p>
            <a:pPr algn="l">
              <a:lnSpc>
                <a:spcPct val="115000"/>
              </a:lnSpc>
            </a:pPr>
            <a:r>
              <a:rPr sz="1250" b="1">
                <a:solidFill>
                  <a:srgbClr val="0E4F4A"/>
                </a:solidFill>
                <a:latin typeface="Calibri"/>
              </a:rPr>
              <a:t>4 — People told</a:t>
            </a:r>
          </a:p>
        </p:txBody>
      </p:sp>
      <p:sp>
        <p:nvSpPr>
          <p:cNvPr id="19" name="TextBox 18"/>
          <p:cNvSpPr txBox="1"/>
          <p:nvPr/>
        </p:nvSpPr>
        <p:spPr>
          <a:xfrm>
            <a:off x="3566160" y="5084064"/>
            <a:ext cx="7863840" cy="548640"/>
          </a:xfrm>
          <a:prstGeom prst="rect">
            <a:avLst/>
          </a:prstGeom>
          <a:noFill/>
        </p:spPr>
        <p:txBody>
          <a:bodyPr wrap="square" anchor="t" lIns="0" rIns="0" tIns="0" bIns="0">
            <a:spAutoFit/>
          </a:bodyPr>
          <a:lstStyle/>
          <a:p>
            <a:pPr algn="l">
              <a:lnSpc>
                <a:spcPct val="120000"/>
              </a:lnSpc>
            </a:pPr>
            <a:r>
              <a:rPr sz="1100" b="0">
                <a:solidFill>
                  <a:srgbClr val="1B2A33"/>
                </a:solidFill>
                <a:latin typeface="Calibri"/>
              </a:rPr>
              <a:t>The target and the manager list are emailed after the change commits — a failed email never rolls back the escalation.</a:t>
            </a:r>
          </a:p>
        </p:txBody>
      </p:sp>
      <p:sp>
        <p:nvSpPr>
          <p:cNvPr id="20" name="TextBox 19"/>
          <p:cNvSpPr txBox="1"/>
          <p:nvPr/>
        </p:nvSpPr>
        <p:spPr>
          <a:xfrm>
            <a:off x="548640" y="5897880"/>
            <a:ext cx="11064240" cy="457200"/>
          </a:xfrm>
          <a:prstGeom prst="rect">
            <a:avLst/>
          </a:prstGeom>
          <a:noFill/>
        </p:spPr>
        <p:txBody>
          <a:bodyPr wrap="square" anchor="t" lIns="0" rIns="0" tIns="0" bIns="0">
            <a:spAutoFit/>
          </a:bodyPr>
          <a:lstStyle/>
          <a:p>
            <a:pPr algn="l">
              <a:lnSpc>
                <a:spcPct val="125000"/>
              </a:lnSpc>
            </a:pPr>
            <a:r>
              <a:rPr sz="1150" b="0">
                <a:solidFill>
                  <a:srgbClr val="5B6B75"/>
                </a:solidFill>
                <a:latin typeface="Calibri"/>
              </a:rPr>
              <a:t>A ticket will not escalate twice for the same trigger — otherwise the worker would raise a new event every five minutes until somebody resolved it.</a:t>
            </a:r>
          </a:p>
        </p:txBody>
      </p:sp>
      <p:sp>
        <p:nvSpPr>
          <p:cNvPr id="21" name="Rectangle 20"/>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3" name="TextBox 22"/>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Supervisor</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377440"/>
            <a:ext cx="1828800" cy="548640"/>
          </a:xfrm>
          <a:prstGeom prst="rect">
            <a:avLst/>
          </a:prstGeom>
          <a:noFill/>
        </p:spPr>
        <p:txBody>
          <a:bodyPr wrap="square" anchor="t" lIns="0" rIns="0" tIns="0" bIns="0">
            <a:spAutoFit/>
          </a:bodyPr>
          <a:lstStyle/>
          <a:p>
            <a:pPr algn="l">
              <a:lnSpc>
                <a:spcPct val="115000"/>
              </a:lnSpc>
            </a:pPr>
            <a:r>
              <a:rPr sz="1300" b="1">
                <a:solidFill>
                  <a:srgbClr val="C25B2E"/>
                </a:solidFill>
                <a:latin typeface="Calibri"/>
              </a:rPr>
              <a:t>SECTION 09</a:t>
            </a:r>
          </a:p>
        </p:txBody>
      </p:sp>
      <p:sp>
        <p:nvSpPr>
          <p:cNvPr id="5" name="TextBox 4"/>
          <p:cNvSpPr txBox="1"/>
          <p:nvPr/>
        </p:nvSpPr>
        <p:spPr>
          <a:xfrm>
            <a:off x="1005840" y="2788920"/>
            <a:ext cx="9601200" cy="822960"/>
          </a:xfrm>
          <a:prstGeom prst="rect">
            <a:avLst/>
          </a:prstGeom>
          <a:noFill/>
        </p:spPr>
        <p:txBody>
          <a:bodyPr wrap="square" anchor="t" lIns="0" rIns="0" tIns="0" bIns="0">
            <a:spAutoFit/>
          </a:bodyPr>
          <a:lstStyle/>
          <a:p>
            <a:pPr algn="l">
              <a:lnSpc>
                <a:spcPct val="115000"/>
              </a:lnSpc>
            </a:pPr>
            <a:r>
              <a:rPr sz="3400" b="1">
                <a:solidFill>
                  <a:srgbClr val="0E4F4A"/>
                </a:solidFill>
                <a:latin typeface="Calibri"/>
              </a:rPr>
              <a:t>Admin workflow</a:t>
            </a:r>
          </a:p>
        </p:txBody>
      </p:sp>
      <p:sp>
        <p:nvSpPr>
          <p:cNvPr id="6" name="TextBox 5"/>
          <p:cNvSpPr txBox="1"/>
          <p:nvPr/>
        </p:nvSpPr>
        <p:spPr>
          <a:xfrm>
            <a:off x="1005840" y="3794760"/>
            <a:ext cx="8686800" cy="914400"/>
          </a:xfrm>
          <a:prstGeom prst="rect">
            <a:avLst/>
          </a:prstGeom>
          <a:noFill/>
        </p:spPr>
        <p:txBody>
          <a:bodyPr wrap="square" anchor="t" lIns="0" rIns="0" tIns="0" bIns="0">
            <a:spAutoFit/>
          </a:bodyPr>
          <a:lstStyle/>
          <a:p>
            <a:pPr algn="l">
              <a:lnSpc>
                <a:spcPct val="130000"/>
              </a:lnSpc>
            </a:pPr>
            <a:r>
              <a:rPr sz="1500" b="0">
                <a:solidFill>
                  <a:srgbClr val="5B6B75"/>
                </a:solidFill>
                <a:latin typeface="Calibri"/>
              </a:rPr>
              <a:t>You decide who exists, what they may do, and how the organisation is shaped.</a:t>
            </a:r>
          </a:p>
        </p:txBody>
      </p:sp>
      <p:sp>
        <p:nvSpPr>
          <p:cNvPr id="7" name="Rectangle 6"/>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9" name="TextBox 8"/>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Section 09</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16</a:t>
            </a:r>
          </a:p>
        </p:txBody>
      </p:sp>
      <p:sp>
        <p:nvSpPr>
          <p:cNvPr id="6" name="TextBox 5"/>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Manage users</a:t>
            </a:r>
          </a:p>
        </p:txBody>
      </p:sp>
      <p:sp>
        <p:nvSpPr>
          <p:cNvPr id="7" name="TextBox 6"/>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ADMIN</a:t>
            </a:r>
          </a:p>
        </p:txBody>
      </p:sp>
      <p:sp>
        <p:nvSpPr>
          <p:cNvPr id="8" name="Rectangle 7"/>
          <p:cNvSpPr/>
          <p:nvPr/>
        </p:nvSpPr>
        <p:spPr>
          <a:xfrm>
            <a:off x="388620" y="1165860"/>
            <a:ext cx="7818120" cy="490347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41-admin-users.png"/>
          <p:cNvPicPr>
            <a:picLocks noChangeAspect="1"/>
          </p:cNvPicPr>
          <p:nvPr/>
        </p:nvPicPr>
        <p:blipFill>
          <a:blip r:embed="rId2"/>
          <a:stretch>
            <a:fillRect/>
          </a:stretch>
        </p:blipFill>
        <p:spPr>
          <a:xfrm>
            <a:off x="411480" y="1188720"/>
            <a:ext cx="7772400" cy="4857750"/>
          </a:xfrm>
          <a:prstGeom prst="rect">
            <a:avLst/>
          </a:prstGeom>
        </p:spPr>
      </p:pic>
      <p:sp>
        <p:nvSpPr>
          <p:cNvPr id="10" name="Oval 9"/>
          <p:cNvSpPr/>
          <p:nvPr/>
        </p:nvSpPr>
        <p:spPr>
          <a:xfrm>
            <a:off x="7094508" y="1607286"/>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11" name="Oval 10"/>
          <p:cNvSpPr/>
          <p:nvPr/>
        </p:nvSpPr>
        <p:spPr>
          <a:xfrm>
            <a:off x="1307179" y="1572310"/>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2</a:t>
            </a:r>
          </a:p>
        </p:txBody>
      </p:sp>
      <p:sp>
        <p:nvSpPr>
          <p:cNvPr id="12" name="TextBox 11"/>
          <p:cNvSpPr txBox="1"/>
          <p:nvPr/>
        </p:nvSpPr>
        <p:spPr>
          <a:xfrm>
            <a:off x="8458200" y="1188720"/>
            <a:ext cx="3291840" cy="219456"/>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3" name="Oval 12"/>
          <p:cNvSpPr/>
          <p:nvPr/>
        </p:nvSpPr>
        <p:spPr>
          <a:xfrm>
            <a:off x="8458200" y="1463040"/>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1</a:t>
            </a:r>
          </a:p>
        </p:txBody>
      </p:sp>
      <p:sp>
        <p:nvSpPr>
          <p:cNvPr id="14" name="TextBox 13"/>
          <p:cNvSpPr txBox="1"/>
          <p:nvPr/>
        </p:nvSpPr>
        <p:spPr>
          <a:xfrm>
            <a:off x="8787384" y="1481328"/>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Add a user</a:t>
            </a:r>
          </a:p>
        </p:txBody>
      </p:sp>
      <p:sp>
        <p:nvSpPr>
          <p:cNvPr id="15" name="Oval 14"/>
          <p:cNvSpPr/>
          <p:nvPr/>
        </p:nvSpPr>
        <p:spPr>
          <a:xfrm>
            <a:off x="8458200" y="1723644"/>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2</a:t>
            </a:r>
          </a:p>
        </p:txBody>
      </p:sp>
      <p:sp>
        <p:nvSpPr>
          <p:cNvPr id="16" name="TextBox 15"/>
          <p:cNvSpPr txBox="1"/>
          <p:nvPr/>
        </p:nvSpPr>
        <p:spPr>
          <a:xfrm>
            <a:off x="8787384" y="1741932"/>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Everyone with an account</a:t>
            </a:r>
          </a:p>
        </p:txBody>
      </p:sp>
      <p:sp>
        <p:nvSpPr>
          <p:cNvPr id="17" name="Rectangle 16"/>
          <p:cNvSpPr/>
          <p:nvPr/>
        </p:nvSpPr>
        <p:spPr>
          <a:xfrm>
            <a:off x="8458200" y="2130552"/>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22792" y="2130552"/>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19" name="TextBox 18"/>
          <p:cNvSpPr txBox="1"/>
          <p:nvPr/>
        </p:nvSpPr>
        <p:spPr>
          <a:xfrm>
            <a:off x="8622792" y="2322576"/>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Create a user, set their role, and place them in an org unit.</a:t>
            </a:r>
          </a:p>
        </p:txBody>
      </p:sp>
      <p:sp>
        <p:nvSpPr>
          <p:cNvPr id="20" name="Rectangle 19"/>
          <p:cNvSpPr/>
          <p:nvPr/>
        </p:nvSpPr>
        <p:spPr>
          <a:xfrm>
            <a:off x="8458200" y="2834640"/>
            <a:ext cx="45720" cy="50292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622792" y="2834640"/>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22" name="TextBox 21"/>
          <p:cNvSpPr txBox="1"/>
          <p:nvPr/>
        </p:nvSpPr>
        <p:spPr>
          <a:xfrm>
            <a:off x="8622792" y="3026664"/>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The role decides what they may do. There are no per-user permission overrides.</a:t>
            </a:r>
          </a:p>
        </p:txBody>
      </p:sp>
      <p:sp>
        <p:nvSpPr>
          <p:cNvPr id="23" name="Rectangle 22"/>
          <p:cNvSpPr/>
          <p:nvPr/>
        </p:nvSpPr>
        <p:spPr>
          <a:xfrm>
            <a:off x="8458200" y="3538728"/>
            <a:ext cx="45720" cy="34290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622792" y="3538728"/>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25" name="TextBox 24"/>
          <p:cNvSpPr txBox="1"/>
          <p:nvPr/>
        </p:nvSpPr>
        <p:spPr>
          <a:xfrm>
            <a:off x="8622792" y="3730752"/>
            <a:ext cx="3127248" cy="16002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Step 18 — shape the organisation.</a:t>
            </a:r>
          </a:p>
        </p:txBody>
      </p:sp>
      <p:sp>
        <p:nvSpPr>
          <p:cNvPr id="26" name="Rectangle 25"/>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8" name="TextBox 27"/>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16</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17</a:t>
            </a:r>
          </a:p>
        </p:txBody>
      </p:sp>
      <p:sp>
        <p:nvSpPr>
          <p:cNvPr id="6" name="TextBox 5"/>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Shape the organisation</a:t>
            </a:r>
          </a:p>
        </p:txBody>
      </p:sp>
      <p:sp>
        <p:nvSpPr>
          <p:cNvPr id="7" name="TextBox 6"/>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ADMIN</a:t>
            </a:r>
          </a:p>
        </p:txBody>
      </p:sp>
      <p:sp>
        <p:nvSpPr>
          <p:cNvPr id="8" name="Rectangle 7"/>
          <p:cNvSpPr/>
          <p:nvPr/>
        </p:nvSpPr>
        <p:spPr>
          <a:xfrm>
            <a:off x="388620" y="1165860"/>
            <a:ext cx="7818120" cy="490347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42-admin-org.png"/>
          <p:cNvPicPr>
            <a:picLocks noChangeAspect="1"/>
          </p:cNvPicPr>
          <p:nvPr/>
        </p:nvPicPr>
        <p:blipFill>
          <a:blip r:embed="rId2"/>
          <a:stretch>
            <a:fillRect/>
          </a:stretch>
        </p:blipFill>
        <p:spPr>
          <a:xfrm>
            <a:off x="411480" y="1188720"/>
            <a:ext cx="7772400" cy="4857750"/>
          </a:xfrm>
          <a:prstGeom prst="rect">
            <a:avLst/>
          </a:prstGeom>
        </p:spPr>
      </p:pic>
      <p:sp>
        <p:nvSpPr>
          <p:cNvPr id="10" name="Oval 9"/>
          <p:cNvSpPr/>
          <p:nvPr/>
        </p:nvSpPr>
        <p:spPr>
          <a:xfrm>
            <a:off x="1307179" y="1572310"/>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11" name="TextBox 10"/>
          <p:cNvSpPr txBox="1"/>
          <p:nvPr/>
        </p:nvSpPr>
        <p:spPr>
          <a:xfrm>
            <a:off x="8458200" y="1188720"/>
            <a:ext cx="3291840" cy="219456"/>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2" name="Oval 11"/>
          <p:cNvSpPr/>
          <p:nvPr/>
        </p:nvSpPr>
        <p:spPr>
          <a:xfrm>
            <a:off x="8458200" y="1463040"/>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1</a:t>
            </a:r>
          </a:p>
        </p:txBody>
      </p:sp>
      <p:sp>
        <p:nvSpPr>
          <p:cNvPr id="13" name="TextBox 12"/>
          <p:cNvSpPr txBox="1"/>
          <p:nvPr/>
        </p:nvSpPr>
        <p:spPr>
          <a:xfrm>
            <a:off x="8787384" y="1481328"/>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Hierarchy levels and org units</a:t>
            </a:r>
          </a:p>
        </p:txBody>
      </p:sp>
      <p:sp>
        <p:nvSpPr>
          <p:cNvPr id="14" name="Rectangle 13"/>
          <p:cNvSpPr/>
          <p:nvPr/>
        </p:nvSpPr>
        <p:spPr>
          <a:xfrm>
            <a:off x="8458200" y="1869948"/>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22792" y="1869948"/>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16" name="TextBox 15"/>
          <p:cNvSpPr txBox="1"/>
          <p:nvPr/>
        </p:nvSpPr>
        <p:spPr>
          <a:xfrm>
            <a:off x="8622792" y="2061972"/>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Define hierarchy levels, then units within them.</a:t>
            </a:r>
          </a:p>
        </p:txBody>
      </p:sp>
      <p:sp>
        <p:nvSpPr>
          <p:cNvPr id="17" name="Rectangle 16"/>
          <p:cNvSpPr/>
          <p:nvPr/>
        </p:nvSpPr>
        <p:spPr>
          <a:xfrm>
            <a:off x="8458200" y="2574036"/>
            <a:ext cx="45720" cy="66294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22792" y="2574036"/>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19" name="TextBox 18"/>
          <p:cNvSpPr txBox="1"/>
          <p:nvPr/>
        </p:nvSpPr>
        <p:spPr>
          <a:xfrm>
            <a:off x="8622792" y="2766060"/>
            <a:ext cx="3127248" cy="48006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The org tree drives ticket visibility: a user sees their unit's subtree, plus anything assigned to them personally.</a:t>
            </a:r>
          </a:p>
        </p:txBody>
      </p:sp>
      <p:sp>
        <p:nvSpPr>
          <p:cNvPr id="20" name="Rectangle 19"/>
          <p:cNvSpPr/>
          <p:nvPr/>
        </p:nvSpPr>
        <p:spPr>
          <a:xfrm>
            <a:off x="8458200" y="3438144"/>
            <a:ext cx="45720" cy="34290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622792" y="3438144"/>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22" name="TextBox 21"/>
          <p:cNvSpPr txBox="1"/>
          <p:nvPr/>
        </p:nvSpPr>
        <p:spPr>
          <a:xfrm>
            <a:off x="8622792" y="3630168"/>
            <a:ext cx="3127248" cy="16002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Step 19 — maintain the branch network.</a:t>
            </a:r>
          </a:p>
        </p:txBody>
      </p:sp>
      <p:sp>
        <p:nvSpPr>
          <p:cNvPr id="23" name="Rectangle 22"/>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5" name="TextBox 24"/>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17</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18</a:t>
            </a:r>
          </a:p>
        </p:txBody>
      </p:sp>
      <p:sp>
        <p:nvSpPr>
          <p:cNvPr id="6" name="TextBox 5"/>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Maintain the branch network</a:t>
            </a:r>
          </a:p>
        </p:txBody>
      </p:sp>
      <p:sp>
        <p:nvSpPr>
          <p:cNvPr id="7" name="TextBox 6"/>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ADMIN</a:t>
            </a:r>
          </a:p>
        </p:txBody>
      </p:sp>
      <p:sp>
        <p:nvSpPr>
          <p:cNvPr id="8" name="Rectangle 7"/>
          <p:cNvSpPr/>
          <p:nvPr/>
        </p:nvSpPr>
        <p:spPr>
          <a:xfrm>
            <a:off x="388620" y="1165860"/>
            <a:ext cx="7818120" cy="490347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43-admin-branches.png"/>
          <p:cNvPicPr>
            <a:picLocks noChangeAspect="1"/>
          </p:cNvPicPr>
          <p:nvPr/>
        </p:nvPicPr>
        <p:blipFill>
          <a:blip r:embed="rId2"/>
          <a:stretch>
            <a:fillRect/>
          </a:stretch>
        </p:blipFill>
        <p:spPr>
          <a:xfrm>
            <a:off x="411480" y="1188720"/>
            <a:ext cx="7772400" cy="4857750"/>
          </a:xfrm>
          <a:prstGeom prst="rect">
            <a:avLst/>
          </a:prstGeom>
        </p:spPr>
      </p:pic>
      <p:sp>
        <p:nvSpPr>
          <p:cNvPr id="10" name="Oval 9"/>
          <p:cNvSpPr/>
          <p:nvPr/>
        </p:nvSpPr>
        <p:spPr>
          <a:xfrm>
            <a:off x="1307179" y="1572310"/>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11" name="TextBox 10"/>
          <p:cNvSpPr txBox="1"/>
          <p:nvPr/>
        </p:nvSpPr>
        <p:spPr>
          <a:xfrm>
            <a:off x="8458200" y="1188720"/>
            <a:ext cx="3291840" cy="219456"/>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2" name="Oval 11"/>
          <p:cNvSpPr/>
          <p:nvPr/>
        </p:nvSpPr>
        <p:spPr>
          <a:xfrm>
            <a:off x="8458200" y="1463040"/>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1</a:t>
            </a:r>
          </a:p>
        </p:txBody>
      </p:sp>
      <p:sp>
        <p:nvSpPr>
          <p:cNvPr id="13" name="TextBox 12"/>
          <p:cNvSpPr txBox="1"/>
          <p:nvPr/>
        </p:nvSpPr>
        <p:spPr>
          <a:xfrm>
            <a:off x="8787384" y="1481328"/>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Branches, with live ticket load</a:t>
            </a:r>
          </a:p>
        </p:txBody>
      </p:sp>
      <p:sp>
        <p:nvSpPr>
          <p:cNvPr id="14" name="Rectangle 13"/>
          <p:cNvSpPr/>
          <p:nvPr/>
        </p:nvSpPr>
        <p:spPr>
          <a:xfrm>
            <a:off x="8458200" y="1869948"/>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22792" y="1869948"/>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16" name="TextBox 15"/>
          <p:cNvSpPr txBox="1"/>
          <p:nvPr/>
        </p:nvSpPr>
        <p:spPr>
          <a:xfrm>
            <a:off x="8622792" y="2061972"/>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Add branches, set managers and capacity, and mark degraded ones.</a:t>
            </a:r>
          </a:p>
        </p:txBody>
      </p:sp>
      <p:sp>
        <p:nvSpPr>
          <p:cNvPr id="17" name="Rectangle 16"/>
          <p:cNvSpPr/>
          <p:nvPr/>
        </p:nvSpPr>
        <p:spPr>
          <a:xfrm>
            <a:off x="8458200" y="2574036"/>
            <a:ext cx="45720" cy="66294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22792" y="2574036"/>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19" name="TextBox 18"/>
          <p:cNvSpPr txBox="1"/>
          <p:nvPr/>
        </p:nvSpPr>
        <p:spPr>
          <a:xfrm>
            <a:off x="8622792" y="2766060"/>
            <a:ext cx="3127248" cy="48006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Ticket counts are computed per request, never stored — a counter that drifts is wrong forever with nothing to reveal it.</a:t>
            </a:r>
          </a:p>
        </p:txBody>
      </p:sp>
      <p:sp>
        <p:nvSpPr>
          <p:cNvPr id="20" name="Rectangle 19"/>
          <p:cNvSpPr/>
          <p:nvPr/>
        </p:nvSpPr>
        <p:spPr>
          <a:xfrm>
            <a:off x="8458200" y="3438144"/>
            <a:ext cx="45720" cy="34290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622792" y="3438144"/>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22" name="TextBox 21"/>
          <p:cNvSpPr txBox="1"/>
          <p:nvPr/>
        </p:nvSpPr>
        <p:spPr>
          <a:xfrm>
            <a:off x="8622792" y="3630168"/>
            <a:ext cx="3127248" cy="16002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Step 20 — pull reports.</a:t>
            </a:r>
          </a:p>
        </p:txBody>
      </p:sp>
      <p:sp>
        <p:nvSpPr>
          <p:cNvPr id="23" name="Rectangle 22"/>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5" name="TextBox 24"/>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18</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19</a:t>
            </a:r>
          </a:p>
        </p:txBody>
      </p:sp>
      <p:sp>
        <p:nvSpPr>
          <p:cNvPr id="6" name="TextBox 5"/>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Pull reports</a:t>
            </a:r>
          </a:p>
        </p:txBody>
      </p:sp>
      <p:sp>
        <p:nvSpPr>
          <p:cNvPr id="7" name="TextBox 6"/>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ADMIN</a:t>
            </a:r>
          </a:p>
        </p:txBody>
      </p:sp>
      <p:sp>
        <p:nvSpPr>
          <p:cNvPr id="8" name="Rectangle 7"/>
          <p:cNvSpPr/>
          <p:nvPr/>
        </p:nvSpPr>
        <p:spPr>
          <a:xfrm>
            <a:off x="388620" y="1165860"/>
            <a:ext cx="7818120" cy="490347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44-admin-reports.png"/>
          <p:cNvPicPr>
            <a:picLocks noChangeAspect="1"/>
          </p:cNvPicPr>
          <p:nvPr/>
        </p:nvPicPr>
        <p:blipFill>
          <a:blip r:embed="rId2"/>
          <a:stretch>
            <a:fillRect/>
          </a:stretch>
        </p:blipFill>
        <p:spPr>
          <a:xfrm>
            <a:off x="411480" y="1188720"/>
            <a:ext cx="7772400" cy="4857750"/>
          </a:xfrm>
          <a:prstGeom prst="rect">
            <a:avLst/>
          </a:prstGeom>
        </p:spPr>
      </p:pic>
      <p:sp>
        <p:nvSpPr>
          <p:cNvPr id="10" name="Oval 9"/>
          <p:cNvSpPr/>
          <p:nvPr/>
        </p:nvSpPr>
        <p:spPr>
          <a:xfrm>
            <a:off x="1307179" y="1572310"/>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11" name="TextBox 10"/>
          <p:cNvSpPr txBox="1"/>
          <p:nvPr/>
        </p:nvSpPr>
        <p:spPr>
          <a:xfrm>
            <a:off x="8458200" y="1188720"/>
            <a:ext cx="3291840" cy="219456"/>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2" name="Oval 11"/>
          <p:cNvSpPr/>
          <p:nvPr/>
        </p:nvSpPr>
        <p:spPr>
          <a:xfrm>
            <a:off x="8458200" y="1463040"/>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1</a:t>
            </a:r>
          </a:p>
        </p:txBody>
      </p:sp>
      <p:sp>
        <p:nvSpPr>
          <p:cNvPr id="13" name="TextBox 12"/>
          <p:cNvSpPr txBox="1"/>
          <p:nvPr/>
        </p:nvSpPr>
        <p:spPr>
          <a:xfrm>
            <a:off x="8787384" y="1481328"/>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Filter the period and scope</a:t>
            </a:r>
          </a:p>
        </p:txBody>
      </p:sp>
      <p:sp>
        <p:nvSpPr>
          <p:cNvPr id="14" name="Rectangle 13"/>
          <p:cNvSpPr/>
          <p:nvPr/>
        </p:nvSpPr>
        <p:spPr>
          <a:xfrm>
            <a:off x="8458200" y="1869948"/>
            <a:ext cx="45720" cy="34290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22792" y="1869948"/>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16" name="TextBox 15"/>
          <p:cNvSpPr txBox="1"/>
          <p:nvPr/>
        </p:nvSpPr>
        <p:spPr>
          <a:xfrm>
            <a:off x="8622792" y="2061972"/>
            <a:ext cx="3127248" cy="16002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Choose a period, then export.</a:t>
            </a:r>
          </a:p>
        </p:txBody>
      </p:sp>
      <p:sp>
        <p:nvSpPr>
          <p:cNvPr id="17" name="Rectangle 16"/>
          <p:cNvSpPr/>
          <p:nvPr/>
        </p:nvSpPr>
        <p:spPr>
          <a:xfrm>
            <a:off x="8458200" y="2414016"/>
            <a:ext cx="45720" cy="82296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22792" y="2414016"/>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19" name="TextBox 18"/>
          <p:cNvSpPr txBox="1"/>
          <p:nvPr/>
        </p:nvSpPr>
        <p:spPr>
          <a:xfrm>
            <a:off x="8622792" y="2606040"/>
            <a:ext cx="3127248" cy="64008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The export is generated from what is on screen, so it matches the filters you applied rather than silently re-running an unfiltered query.</a:t>
            </a:r>
          </a:p>
        </p:txBody>
      </p:sp>
      <p:sp>
        <p:nvSpPr>
          <p:cNvPr id="20" name="Rectangle 19"/>
          <p:cNvSpPr/>
          <p:nvPr/>
        </p:nvSpPr>
        <p:spPr>
          <a:xfrm>
            <a:off x="8458200" y="3438144"/>
            <a:ext cx="45720" cy="34290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622792" y="3438144"/>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22" name="TextBox 21"/>
          <p:cNvSpPr txBox="1"/>
          <p:nvPr/>
        </p:nvSpPr>
        <p:spPr>
          <a:xfrm>
            <a:off x="8622792" y="3630168"/>
            <a:ext cx="3127248" cy="16002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Step 21 — protect your own account.</a:t>
            </a:r>
          </a:p>
        </p:txBody>
      </p:sp>
      <p:sp>
        <p:nvSpPr>
          <p:cNvPr id="23" name="Rectangle 22"/>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5" name="TextBox 24"/>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19</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20</a:t>
            </a:r>
          </a:p>
        </p:txBody>
      </p:sp>
      <p:sp>
        <p:nvSpPr>
          <p:cNvPr id="6" name="TextBox 5"/>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Turn on your second factor</a:t>
            </a:r>
          </a:p>
        </p:txBody>
      </p:sp>
      <p:sp>
        <p:nvSpPr>
          <p:cNvPr id="7" name="TextBox 6"/>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ADMIN</a:t>
            </a:r>
          </a:p>
        </p:txBody>
      </p:sp>
      <p:sp>
        <p:nvSpPr>
          <p:cNvPr id="8" name="Rectangle 7"/>
          <p:cNvSpPr/>
          <p:nvPr/>
        </p:nvSpPr>
        <p:spPr>
          <a:xfrm>
            <a:off x="388620" y="1165860"/>
            <a:ext cx="7818120" cy="490347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45-admin-security.png"/>
          <p:cNvPicPr>
            <a:picLocks noChangeAspect="1"/>
          </p:cNvPicPr>
          <p:nvPr/>
        </p:nvPicPr>
        <p:blipFill>
          <a:blip r:embed="rId2"/>
          <a:stretch>
            <a:fillRect/>
          </a:stretch>
        </p:blipFill>
        <p:spPr>
          <a:xfrm>
            <a:off x="411480" y="1188720"/>
            <a:ext cx="7772400" cy="4857750"/>
          </a:xfrm>
          <a:prstGeom prst="rect">
            <a:avLst/>
          </a:prstGeom>
        </p:spPr>
      </p:pic>
      <p:sp>
        <p:nvSpPr>
          <p:cNvPr id="10" name="Oval 9"/>
          <p:cNvSpPr/>
          <p:nvPr/>
        </p:nvSpPr>
        <p:spPr>
          <a:xfrm>
            <a:off x="1307179" y="1572310"/>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11" name="TextBox 10"/>
          <p:cNvSpPr txBox="1"/>
          <p:nvPr/>
        </p:nvSpPr>
        <p:spPr>
          <a:xfrm>
            <a:off x="8458200" y="1188720"/>
            <a:ext cx="3291840" cy="219456"/>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2" name="Oval 11"/>
          <p:cNvSpPr/>
          <p:nvPr/>
        </p:nvSpPr>
        <p:spPr>
          <a:xfrm>
            <a:off x="8458200" y="1463040"/>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1</a:t>
            </a:r>
          </a:p>
        </p:txBody>
      </p:sp>
      <p:sp>
        <p:nvSpPr>
          <p:cNvPr id="13" name="TextBox 12"/>
          <p:cNvSpPr txBox="1"/>
          <p:nvPr/>
        </p:nvSpPr>
        <p:spPr>
          <a:xfrm>
            <a:off x="8787384" y="1481328"/>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Enrol a second factor</a:t>
            </a:r>
          </a:p>
        </p:txBody>
      </p:sp>
      <p:sp>
        <p:nvSpPr>
          <p:cNvPr id="14" name="Rectangle 13"/>
          <p:cNvSpPr/>
          <p:nvPr/>
        </p:nvSpPr>
        <p:spPr>
          <a:xfrm>
            <a:off x="8458200" y="1869948"/>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22792" y="1869948"/>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16" name="TextBox 15"/>
          <p:cNvSpPr txBox="1"/>
          <p:nvPr/>
        </p:nvSpPr>
        <p:spPr>
          <a:xfrm>
            <a:off x="8622792" y="2061972"/>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Open Security, scan the QR code, and enter one code to confirm.</a:t>
            </a:r>
          </a:p>
        </p:txBody>
      </p:sp>
      <p:sp>
        <p:nvSpPr>
          <p:cNvPr id="17" name="Rectangle 16"/>
          <p:cNvSpPr/>
          <p:nvPr/>
        </p:nvSpPr>
        <p:spPr>
          <a:xfrm>
            <a:off x="8458200" y="2574036"/>
            <a:ext cx="45720" cy="98298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22792" y="2574036"/>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19" name="TextBox 18"/>
          <p:cNvSpPr txBox="1"/>
          <p:nvPr/>
        </p:nvSpPr>
        <p:spPr>
          <a:xfrm>
            <a:off x="8622792" y="2766060"/>
            <a:ext cx="3127248" cy="80010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MFA is only switched on once a correct code proves the app is working — so a failed scan cannot lock you out. Ten single-use recovery codes are shown once, and never again.</a:t>
            </a:r>
          </a:p>
        </p:txBody>
      </p:sp>
      <p:sp>
        <p:nvSpPr>
          <p:cNvPr id="20" name="Rectangle 19"/>
          <p:cNvSpPr/>
          <p:nvPr/>
        </p:nvSpPr>
        <p:spPr>
          <a:xfrm>
            <a:off x="8458200" y="3758184"/>
            <a:ext cx="45720" cy="50292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622792" y="3758184"/>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22" name="TextBox 21"/>
          <p:cNvSpPr txBox="1"/>
          <p:nvPr/>
        </p:nvSpPr>
        <p:spPr>
          <a:xfrm>
            <a:off x="8622792" y="3950208"/>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Save the recovery codes somewhere safe before leaving this screen.</a:t>
            </a:r>
          </a:p>
        </p:txBody>
      </p:sp>
      <p:sp>
        <p:nvSpPr>
          <p:cNvPr id="23" name="Rectangle 22"/>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5" name="TextBox 24"/>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20</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82880"/>
            <a:ext cx="10515600" cy="320040"/>
          </a:xfrm>
          <a:prstGeom prst="rect">
            <a:avLst/>
          </a:prstGeom>
          <a:noFill/>
        </p:spPr>
        <p:txBody>
          <a:bodyPr wrap="square" anchor="t" lIns="0" rIns="0" tIns="0" bIns="0">
            <a:spAutoFit/>
          </a:bodyPr>
          <a:lstStyle/>
          <a:p>
            <a:pPr algn="l">
              <a:lnSpc>
                <a:spcPct val="115000"/>
              </a:lnSpc>
            </a:pPr>
            <a:r>
              <a:rPr sz="2300" b="1">
                <a:solidFill>
                  <a:srgbClr val="FFFFFF"/>
                </a:solidFill>
                <a:latin typeface="Calibri"/>
              </a:rPr>
              <a:t>Save the recovery codes</a:t>
            </a:r>
          </a:p>
        </p:txBody>
      </p:sp>
      <p:sp>
        <p:nvSpPr>
          <p:cNvPr id="5" name="TextBox 4"/>
          <p:cNvSpPr txBox="1"/>
          <p:nvPr/>
        </p:nvSpPr>
        <p:spPr>
          <a:xfrm>
            <a:off x="502920" y="548640"/>
            <a:ext cx="10515600" cy="256032"/>
          </a:xfrm>
          <a:prstGeom prst="rect">
            <a:avLst/>
          </a:prstGeom>
          <a:noFill/>
        </p:spPr>
        <p:txBody>
          <a:bodyPr wrap="square" anchor="t" lIns="0" rIns="0" tIns="0" bIns="0">
            <a:spAutoFit/>
          </a:bodyPr>
          <a:lstStyle/>
          <a:p>
            <a:pPr algn="l">
              <a:lnSpc>
                <a:spcPct val="115000"/>
              </a:lnSpc>
            </a:pPr>
            <a:r>
              <a:rPr sz="1150" b="0">
                <a:solidFill>
                  <a:srgbClr val="F3ECE0"/>
                </a:solidFill>
                <a:latin typeface="Calibri"/>
              </a:rPr>
              <a:t>This is the one screen you cannot go back to</a:t>
            </a:r>
          </a:p>
        </p:txBody>
      </p:sp>
      <p:sp>
        <p:nvSpPr>
          <p:cNvPr id="6" name="Rectangle 5"/>
          <p:cNvSpPr/>
          <p:nvPr/>
        </p:nvSpPr>
        <p:spPr>
          <a:xfrm>
            <a:off x="548640" y="1280160"/>
            <a:ext cx="11064240" cy="1463040"/>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80160"/>
            <a:ext cx="54864" cy="1463040"/>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1536192"/>
            <a:ext cx="10424160" cy="1051560"/>
          </a:xfrm>
          <a:prstGeom prst="rect">
            <a:avLst/>
          </a:prstGeom>
          <a:noFill/>
        </p:spPr>
        <p:txBody>
          <a:bodyPr wrap="square" anchor="t" lIns="0" rIns="0" tIns="0" bIns="0">
            <a:spAutoFit/>
          </a:bodyPr>
          <a:lstStyle/>
          <a:p>
            <a:pPr algn="l">
              <a:lnSpc>
                <a:spcPct val="135000"/>
              </a:lnSpc>
            </a:pPr>
            <a:r>
              <a:rPr sz="1400" b="0">
                <a:solidFill>
                  <a:srgbClr val="1B2A33"/>
                </a:solidFill>
                <a:latin typeface="Calibri"/>
              </a:rPr>
              <a:t>Ten recovery codes are shown once, when you switch MFA on. Only their hashes are stored, so nobody — including an administrator — can show them to you again. Each works once, in place of a code from your app.</a:t>
            </a:r>
          </a:p>
        </p:txBody>
      </p:sp>
      <p:sp>
        <p:nvSpPr>
          <p:cNvPr id="9" name="Rectangle 8"/>
          <p:cNvSpPr/>
          <p:nvPr/>
        </p:nvSpPr>
        <p:spPr>
          <a:xfrm>
            <a:off x="548640" y="3017520"/>
            <a:ext cx="11064240" cy="731520"/>
          </a:xfrm>
          <a:prstGeom prst="rect">
            <a:avLst/>
          </a:prstGeom>
          <a:solidFill>
            <a:srgbClr val="FFFFFF"/>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3127248"/>
            <a:ext cx="3931920" cy="256032"/>
          </a:xfrm>
          <a:prstGeom prst="rect">
            <a:avLst/>
          </a:prstGeom>
          <a:noFill/>
        </p:spPr>
        <p:txBody>
          <a:bodyPr wrap="square" anchor="t" lIns="0" rIns="0" tIns="0" bIns="0">
            <a:spAutoFit/>
          </a:bodyPr>
          <a:lstStyle/>
          <a:p>
            <a:pPr algn="l">
              <a:lnSpc>
                <a:spcPct val="115000"/>
              </a:lnSpc>
            </a:pPr>
            <a:r>
              <a:rPr sz="1250" b="1">
                <a:solidFill>
                  <a:srgbClr val="0E4F4A"/>
                </a:solidFill>
                <a:latin typeface="Calibri"/>
              </a:rPr>
              <a:t>Lost your phone, still have codes</a:t>
            </a:r>
          </a:p>
        </p:txBody>
      </p:sp>
      <p:sp>
        <p:nvSpPr>
          <p:cNvPr id="11" name="TextBox 10"/>
          <p:cNvSpPr txBox="1"/>
          <p:nvPr/>
        </p:nvSpPr>
        <p:spPr>
          <a:xfrm>
            <a:off x="4937760" y="3127248"/>
            <a:ext cx="6400800" cy="548640"/>
          </a:xfrm>
          <a:prstGeom prst="rect">
            <a:avLst/>
          </a:prstGeom>
          <a:noFill/>
        </p:spPr>
        <p:txBody>
          <a:bodyPr wrap="square" anchor="t" lIns="0" rIns="0" tIns="0" bIns="0">
            <a:spAutoFit/>
          </a:bodyPr>
          <a:lstStyle/>
          <a:p>
            <a:pPr algn="l">
              <a:lnSpc>
                <a:spcPct val="120000"/>
              </a:lnSpc>
            </a:pPr>
            <a:r>
              <a:rPr sz="1150" b="0">
                <a:solidFill>
                  <a:srgbClr val="1B2A33"/>
                </a:solidFill>
                <a:latin typeface="Calibri"/>
              </a:rPr>
              <a:t>Use any unused recovery code at sign-in. It works once, then it is spent.</a:t>
            </a:r>
          </a:p>
        </p:txBody>
      </p:sp>
      <p:sp>
        <p:nvSpPr>
          <p:cNvPr id="12" name="Rectangle 11"/>
          <p:cNvSpPr/>
          <p:nvPr/>
        </p:nvSpPr>
        <p:spPr>
          <a:xfrm>
            <a:off x="548640" y="3886200"/>
            <a:ext cx="11064240" cy="731520"/>
          </a:xfrm>
          <a:prstGeom prst="rect">
            <a:avLst/>
          </a:prstGeom>
          <a:solidFill>
            <a:srgbClr val="FFFFFF"/>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3995928"/>
            <a:ext cx="3931920" cy="256032"/>
          </a:xfrm>
          <a:prstGeom prst="rect">
            <a:avLst/>
          </a:prstGeom>
          <a:noFill/>
        </p:spPr>
        <p:txBody>
          <a:bodyPr wrap="square" anchor="t" lIns="0" rIns="0" tIns="0" bIns="0">
            <a:spAutoFit/>
          </a:bodyPr>
          <a:lstStyle/>
          <a:p>
            <a:pPr algn="l">
              <a:lnSpc>
                <a:spcPct val="115000"/>
              </a:lnSpc>
            </a:pPr>
            <a:r>
              <a:rPr sz="1250" b="1">
                <a:solidFill>
                  <a:srgbClr val="0E4F4A"/>
                </a:solidFill>
                <a:latin typeface="Calibri"/>
              </a:rPr>
              <a:t>Lost both</a:t>
            </a:r>
          </a:p>
        </p:txBody>
      </p:sp>
      <p:sp>
        <p:nvSpPr>
          <p:cNvPr id="14" name="TextBox 13"/>
          <p:cNvSpPr txBox="1"/>
          <p:nvPr/>
        </p:nvSpPr>
        <p:spPr>
          <a:xfrm>
            <a:off x="4937760" y="3995928"/>
            <a:ext cx="6400800" cy="548640"/>
          </a:xfrm>
          <a:prstGeom prst="rect">
            <a:avLst/>
          </a:prstGeom>
          <a:noFill/>
        </p:spPr>
        <p:txBody>
          <a:bodyPr wrap="square" anchor="t" lIns="0" rIns="0" tIns="0" bIns="0">
            <a:spAutoFit/>
          </a:bodyPr>
          <a:lstStyle/>
          <a:p>
            <a:pPr algn="l">
              <a:lnSpc>
                <a:spcPct val="120000"/>
              </a:lnSpc>
            </a:pPr>
            <a:r>
              <a:rPr sz="1150" b="0">
                <a:solidFill>
                  <a:srgbClr val="1B2A33"/>
                </a:solidFill>
                <a:latin typeface="Calibri"/>
              </a:rPr>
              <a:t>An administrator clears your enrolment, and you set it up again from scratch.</a:t>
            </a:r>
          </a:p>
        </p:txBody>
      </p:sp>
      <p:sp>
        <p:nvSpPr>
          <p:cNvPr id="15" name="Rectangle 14"/>
          <p:cNvSpPr/>
          <p:nvPr/>
        </p:nvSpPr>
        <p:spPr>
          <a:xfrm>
            <a:off x="548640" y="4754880"/>
            <a:ext cx="11064240" cy="731520"/>
          </a:xfrm>
          <a:prstGeom prst="rect">
            <a:avLst/>
          </a:prstGeom>
          <a:solidFill>
            <a:srgbClr val="FFFFFF"/>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864608"/>
            <a:ext cx="3931920" cy="256032"/>
          </a:xfrm>
          <a:prstGeom prst="rect">
            <a:avLst/>
          </a:prstGeom>
          <a:noFill/>
        </p:spPr>
        <p:txBody>
          <a:bodyPr wrap="square" anchor="t" lIns="0" rIns="0" tIns="0" bIns="0">
            <a:spAutoFit/>
          </a:bodyPr>
          <a:lstStyle/>
          <a:p>
            <a:pPr algn="l">
              <a:lnSpc>
                <a:spcPct val="115000"/>
              </a:lnSpc>
            </a:pPr>
            <a:r>
              <a:rPr sz="1250" b="1">
                <a:solidFill>
                  <a:srgbClr val="0E4F4A"/>
                </a:solidFill>
                <a:latin typeface="Calibri"/>
              </a:rPr>
              <a:t>Lost the only super admin</a:t>
            </a:r>
          </a:p>
        </p:txBody>
      </p:sp>
      <p:sp>
        <p:nvSpPr>
          <p:cNvPr id="17" name="TextBox 16"/>
          <p:cNvSpPr txBox="1"/>
          <p:nvPr/>
        </p:nvSpPr>
        <p:spPr>
          <a:xfrm>
            <a:off x="4937760" y="4864608"/>
            <a:ext cx="6400800" cy="548640"/>
          </a:xfrm>
          <a:prstGeom prst="rect">
            <a:avLst/>
          </a:prstGeom>
          <a:noFill/>
        </p:spPr>
        <p:txBody>
          <a:bodyPr wrap="square" anchor="t" lIns="0" rIns="0" tIns="0" bIns="0">
            <a:spAutoFit/>
          </a:bodyPr>
          <a:lstStyle/>
          <a:p>
            <a:pPr algn="l">
              <a:lnSpc>
                <a:spcPct val="120000"/>
              </a:lnSpc>
            </a:pPr>
            <a:r>
              <a:rPr sz="1150" b="0">
                <a:solidFill>
                  <a:srgbClr val="1B2A33"/>
                </a:solidFill>
                <a:latin typeface="Calibri"/>
              </a:rPr>
              <a:t>There is no route through the interface, by design. The flag has to be set on the database row.</a:t>
            </a:r>
          </a:p>
        </p:txBody>
      </p:sp>
      <p:sp>
        <p:nvSpPr>
          <p:cNvPr id="18" name="Rectangle 17"/>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0" name="TextBox 19"/>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Admin</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377440"/>
            <a:ext cx="1828800" cy="548640"/>
          </a:xfrm>
          <a:prstGeom prst="rect">
            <a:avLst/>
          </a:prstGeom>
          <a:noFill/>
        </p:spPr>
        <p:txBody>
          <a:bodyPr wrap="square" anchor="t" lIns="0" rIns="0" tIns="0" bIns="0">
            <a:spAutoFit/>
          </a:bodyPr>
          <a:lstStyle/>
          <a:p>
            <a:pPr algn="l">
              <a:lnSpc>
                <a:spcPct val="115000"/>
              </a:lnSpc>
            </a:pPr>
            <a:r>
              <a:rPr sz="1300" b="1">
                <a:solidFill>
                  <a:srgbClr val="C25B2E"/>
                </a:solidFill>
                <a:latin typeface="Calibri"/>
              </a:rPr>
              <a:t>SECTION 10</a:t>
            </a:r>
          </a:p>
        </p:txBody>
      </p:sp>
      <p:sp>
        <p:nvSpPr>
          <p:cNvPr id="5" name="TextBox 4"/>
          <p:cNvSpPr txBox="1"/>
          <p:nvPr/>
        </p:nvSpPr>
        <p:spPr>
          <a:xfrm>
            <a:off x="1005840" y="2788920"/>
            <a:ext cx="9601200" cy="822960"/>
          </a:xfrm>
          <a:prstGeom prst="rect">
            <a:avLst/>
          </a:prstGeom>
          <a:noFill/>
        </p:spPr>
        <p:txBody>
          <a:bodyPr wrap="square" anchor="t" lIns="0" rIns="0" tIns="0" bIns="0">
            <a:spAutoFit/>
          </a:bodyPr>
          <a:lstStyle/>
          <a:p>
            <a:pPr algn="l">
              <a:lnSpc>
                <a:spcPct val="115000"/>
              </a:lnSpc>
            </a:pPr>
            <a:r>
              <a:rPr sz="3400" b="1">
                <a:solidFill>
                  <a:srgbClr val="0E4F4A"/>
                </a:solidFill>
                <a:latin typeface="Calibri"/>
              </a:rPr>
              <a:t>Auditor workflow</a:t>
            </a:r>
          </a:p>
        </p:txBody>
      </p:sp>
      <p:sp>
        <p:nvSpPr>
          <p:cNvPr id="6" name="TextBox 5"/>
          <p:cNvSpPr txBox="1"/>
          <p:nvPr/>
        </p:nvSpPr>
        <p:spPr>
          <a:xfrm>
            <a:off x="1005840" y="3794760"/>
            <a:ext cx="8686800" cy="914400"/>
          </a:xfrm>
          <a:prstGeom prst="rect">
            <a:avLst/>
          </a:prstGeom>
          <a:noFill/>
        </p:spPr>
        <p:txBody>
          <a:bodyPr wrap="square" anchor="t" lIns="0" rIns="0" tIns="0" bIns="0">
            <a:spAutoFit/>
          </a:bodyPr>
          <a:lstStyle/>
          <a:p>
            <a:pPr algn="l">
              <a:lnSpc>
                <a:spcPct val="130000"/>
              </a:lnSpc>
            </a:pPr>
            <a:r>
              <a:rPr sz="1500" b="0">
                <a:solidFill>
                  <a:srgbClr val="5B6B75"/>
                </a:solidFill>
                <a:latin typeface="Calibri"/>
              </a:rPr>
              <a:t>You can open everything and change nothing. Every write is refused by the server.</a:t>
            </a:r>
          </a:p>
        </p:txBody>
      </p:sp>
      <p:sp>
        <p:nvSpPr>
          <p:cNvPr id="7" name="Rectangle 6"/>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9" name="TextBox 8"/>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Section 10</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21</a:t>
            </a:r>
          </a:p>
        </p:txBody>
      </p:sp>
      <p:sp>
        <p:nvSpPr>
          <p:cNvPr id="6" name="TextBox 5"/>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See the whole picture</a:t>
            </a:r>
          </a:p>
        </p:txBody>
      </p:sp>
      <p:sp>
        <p:nvSpPr>
          <p:cNvPr id="7" name="TextBox 6"/>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AUDITOR</a:t>
            </a:r>
          </a:p>
        </p:txBody>
      </p:sp>
      <p:sp>
        <p:nvSpPr>
          <p:cNvPr id="8" name="Rectangle 7"/>
          <p:cNvSpPr/>
          <p:nvPr/>
        </p:nvSpPr>
        <p:spPr>
          <a:xfrm>
            <a:off x="388620" y="1165860"/>
            <a:ext cx="7818120" cy="490347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50-auditor-dashboard.png"/>
          <p:cNvPicPr>
            <a:picLocks noChangeAspect="1"/>
          </p:cNvPicPr>
          <p:nvPr/>
        </p:nvPicPr>
        <p:blipFill>
          <a:blip r:embed="rId2"/>
          <a:stretch>
            <a:fillRect/>
          </a:stretch>
        </p:blipFill>
        <p:spPr>
          <a:xfrm>
            <a:off x="411480" y="1188720"/>
            <a:ext cx="7772400" cy="4857750"/>
          </a:xfrm>
          <a:prstGeom prst="rect">
            <a:avLst/>
          </a:prstGeom>
        </p:spPr>
      </p:pic>
      <p:sp>
        <p:nvSpPr>
          <p:cNvPr id="10" name="Oval 9"/>
          <p:cNvSpPr/>
          <p:nvPr/>
        </p:nvSpPr>
        <p:spPr>
          <a:xfrm>
            <a:off x="1307179" y="1572310"/>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11" name="TextBox 10"/>
          <p:cNvSpPr txBox="1"/>
          <p:nvPr/>
        </p:nvSpPr>
        <p:spPr>
          <a:xfrm>
            <a:off x="8458200" y="1188720"/>
            <a:ext cx="3291840" cy="219456"/>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2" name="Oval 11"/>
          <p:cNvSpPr/>
          <p:nvPr/>
        </p:nvSpPr>
        <p:spPr>
          <a:xfrm>
            <a:off x="8458200" y="1463040"/>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1</a:t>
            </a:r>
          </a:p>
        </p:txBody>
      </p:sp>
      <p:sp>
        <p:nvSpPr>
          <p:cNvPr id="13" name="TextBox 12"/>
          <p:cNvSpPr txBox="1"/>
          <p:nvPr/>
        </p:nvSpPr>
        <p:spPr>
          <a:xfrm>
            <a:off x="8787384" y="1481328"/>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The same tiles everyone else sees</a:t>
            </a:r>
          </a:p>
        </p:txBody>
      </p:sp>
      <p:sp>
        <p:nvSpPr>
          <p:cNvPr id="14" name="Rectangle 13"/>
          <p:cNvSpPr/>
          <p:nvPr/>
        </p:nvSpPr>
        <p:spPr>
          <a:xfrm>
            <a:off x="8458200" y="1869948"/>
            <a:ext cx="45720" cy="34290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22792" y="1869948"/>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16" name="TextBox 15"/>
          <p:cNvSpPr txBox="1"/>
          <p:nvPr/>
        </p:nvSpPr>
        <p:spPr>
          <a:xfrm>
            <a:off x="8622792" y="2061972"/>
            <a:ext cx="3127248" cy="16002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Sign in and read the dashboard.</a:t>
            </a:r>
          </a:p>
        </p:txBody>
      </p:sp>
      <p:sp>
        <p:nvSpPr>
          <p:cNvPr id="17" name="Rectangle 16"/>
          <p:cNvSpPr/>
          <p:nvPr/>
        </p:nvSpPr>
        <p:spPr>
          <a:xfrm>
            <a:off x="8458200" y="2414016"/>
            <a:ext cx="45720" cy="66294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22792" y="2414016"/>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19" name="TextBox 18"/>
          <p:cNvSpPr txBox="1"/>
          <p:nvPr/>
        </p:nvSpPr>
        <p:spPr>
          <a:xfrm>
            <a:off x="8622792" y="2606040"/>
            <a:ext cx="3127248" cy="48006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Auditors have full visibility. What they do not have is any way to change what they are looking at.</a:t>
            </a:r>
          </a:p>
        </p:txBody>
      </p:sp>
      <p:sp>
        <p:nvSpPr>
          <p:cNvPr id="20" name="Rectangle 19"/>
          <p:cNvSpPr/>
          <p:nvPr/>
        </p:nvSpPr>
        <p:spPr>
          <a:xfrm>
            <a:off x="8458200" y="3278124"/>
            <a:ext cx="45720" cy="34290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622792" y="3278124"/>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22" name="TextBox 21"/>
          <p:cNvSpPr txBox="1"/>
          <p:nvPr/>
        </p:nvSpPr>
        <p:spPr>
          <a:xfrm>
            <a:off x="8622792" y="3470148"/>
            <a:ext cx="3127248" cy="16002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Step 23 — open the audit trail.</a:t>
            </a:r>
          </a:p>
        </p:txBody>
      </p:sp>
      <p:sp>
        <p:nvSpPr>
          <p:cNvPr id="23" name="Rectangle 22"/>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5" name="TextBox 24"/>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21</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22</a:t>
            </a:r>
          </a:p>
        </p:txBody>
      </p:sp>
      <p:sp>
        <p:nvSpPr>
          <p:cNvPr id="6" name="TextBox 5"/>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Read the audit trail</a:t>
            </a:r>
          </a:p>
        </p:txBody>
      </p:sp>
      <p:sp>
        <p:nvSpPr>
          <p:cNvPr id="7" name="TextBox 6"/>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AUDITOR</a:t>
            </a:r>
          </a:p>
        </p:txBody>
      </p:sp>
      <p:sp>
        <p:nvSpPr>
          <p:cNvPr id="8" name="Rectangle 7"/>
          <p:cNvSpPr/>
          <p:nvPr/>
        </p:nvSpPr>
        <p:spPr>
          <a:xfrm>
            <a:off x="388620" y="1165860"/>
            <a:ext cx="7818120" cy="490347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51-auditor-audit-log.png"/>
          <p:cNvPicPr>
            <a:picLocks noChangeAspect="1"/>
          </p:cNvPicPr>
          <p:nvPr/>
        </p:nvPicPr>
        <p:blipFill>
          <a:blip r:embed="rId2"/>
          <a:stretch>
            <a:fillRect/>
          </a:stretch>
        </p:blipFill>
        <p:spPr>
          <a:xfrm>
            <a:off x="411480" y="1188720"/>
            <a:ext cx="7772400" cy="4857750"/>
          </a:xfrm>
          <a:prstGeom prst="rect">
            <a:avLst/>
          </a:prstGeom>
        </p:spPr>
      </p:pic>
      <p:sp>
        <p:nvSpPr>
          <p:cNvPr id="10" name="Oval 9"/>
          <p:cNvSpPr/>
          <p:nvPr/>
        </p:nvSpPr>
        <p:spPr>
          <a:xfrm>
            <a:off x="1307179" y="1572310"/>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11" name="TextBox 10"/>
          <p:cNvSpPr txBox="1"/>
          <p:nvPr/>
        </p:nvSpPr>
        <p:spPr>
          <a:xfrm>
            <a:off x="8458200" y="1188720"/>
            <a:ext cx="3291840" cy="219456"/>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2" name="Oval 11"/>
          <p:cNvSpPr/>
          <p:nvPr/>
        </p:nvSpPr>
        <p:spPr>
          <a:xfrm>
            <a:off x="8458200" y="1463040"/>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1</a:t>
            </a:r>
          </a:p>
        </p:txBody>
      </p:sp>
      <p:sp>
        <p:nvSpPr>
          <p:cNvPr id="13" name="TextBox 12"/>
          <p:cNvSpPr txBox="1"/>
          <p:nvPr/>
        </p:nvSpPr>
        <p:spPr>
          <a:xfrm>
            <a:off x="8787384" y="1481328"/>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Who changed what, when, from where</a:t>
            </a:r>
          </a:p>
        </p:txBody>
      </p:sp>
      <p:sp>
        <p:nvSpPr>
          <p:cNvPr id="14" name="Rectangle 13"/>
          <p:cNvSpPr/>
          <p:nvPr/>
        </p:nvSpPr>
        <p:spPr>
          <a:xfrm>
            <a:off x="8458200" y="1869948"/>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22792" y="1869948"/>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16" name="TextBox 15"/>
          <p:cNvSpPr txBox="1"/>
          <p:nvPr/>
        </p:nvSpPr>
        <p:spPr>
          <a:xfrm>
            <a:off x="8622792" y="2061972"/>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Filter to the entity or person you are reviewing.</a:t>
            </a:r>
          </a:p>
        </p:txBody>
      </p:sp>
      <p:sp>
        <p:nvSpPr>
          <p:cNvPr id="17" name="Rectangle 16"/>
          <p:cNvSpPr/>
          <p:nvPr/>
        </p:nvSpPr>
        <p:spPr>
          <a:xfrm>
            <a:off x="8458200" y="2574036"/>
            <a:ext cx="45720" cy="66294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22792" y="2574036"/>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19" name="TextBox 18"/>
          <p:cNvSpPr txBox="1"/>
          <p:nvPr/>
        </p:nvSpPr>
        <p:spPr>
          <a:xfrm>
            <a:off x="8622792" y="2766060"/>
            <a:ext cx="3127248" cy="48006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Every state change writes a row: actor, role, IP, request id, and the values before and after.</a:t>
            </a:r>
          </a:p>
        </p:txBody>
      </p:sp>
      <p:sp>
        <p:nvSpPr>
          <p:cNvPr id="20" name="Rectangle 19"/>
          <p:cNvSpPr/>
          <p:nvPr/>
        </p:nvSpPr>
        <p:spPr>
          <a:xfrm>
            <a:off x="8458200" y="3438144"/>
            <a:ext cx="45720" cy="34290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622792" y="3438144"/>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22" name="TextBox 21"/>
          <p:cNvSpPr txBox="1"/>
          <p:nvPr/>
        </p:nvSpPr>
        <p:spPr>
          <a:xfrm>
            <a:off x="8622792" y="3630168"/>
            <a:ext cx="3127248" cy="16002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Step 24 — inspect any ticket.</a:t>
            </a:r>
          </a:p>
        </p:txBody>
      </p:sp>
      <p:sp>
        <p:nvSpPr>
          <p:cNvPr id="23" name="Rectangle 22"/>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5" name="TextBox 24"/>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22</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23</a:t>
            </a:r>
          </a:p>
        </p:txBody>
      </p:sp>
      <p:sp>
        <p:nvSpPr>
          <p:cNvPr id="6" name="TextBox 5"/>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Inspect any ticket</a:t>
            </a:r>
          </a:p>
        </p:txBody>
      </p:sp>
      <p:sp>
        <p:nvSpPr>
          <p:cNvPr id="7" name="TextBox 6"/>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AUDITOR</a:t>
            </a:r>
          </a:p>
        </p:txBody>
      </p:sp>
      <p:sp>
        <p:nvSpPr>
          <p:cNvPr id="8" name="Rectangle 7"/>
          <p:cNvSpPr/>
          <p:nvPr/>
        </p:nvSpPr>
        <p:spPr>
          <a:xfrm>
            <a:off x="388620" y="1165860"/>
            <a:ext cx="7818120" cy="490347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52-auditor-tickets.png"/>
          <p:cNvPicPr>
            <a:picLocks noChangeAspect="1"/>
          </p:cNvPicPr>
          <p:nvPr/>
        </p:nvPicPr>
        <p:blipFill>
          <a:blip r:embed="rId2"/>
          <a:stretch>
            <a:fillRect/>
          </a:stretch>
        </p:blipFill>
        <p:spPr>
          <a:xfrm>
            <a:off x="411480" y="1188720"/>
            <a:ext cx="7772400" cy="4857750"/>
          </a:xfrm>
          <a:prstGeom prst="rect">
            <a:avLst/>
          </a:prstGeom>
        </p:spPr>
      </p:pic>
      <p:sp>
        <p:nvSpPr>
          <p:cNvPr id="10" name="Oval 9"/>
          <p:cNvSpPr/>
          <p:nvPr/>
        </p:nvSpPr>
        <p:spPr>
          <a:xfrm>
            <a:off x="1307179" y="1572310"/>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11" name="TextBox 10"/>
          <p:cNvSpPr txBox="1"/>
          <p:nvPr/>
        </p:nvSpPr>
        <p:spPr>
          <a:xfrm>
            <a:off x="8458200" y="1188720"/>
            <a:ext cx="3291840" cy="219456"/>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2" name="Oval 11"/>
          <p:cNvSpPr/>
          <p:nvPr/>
        </p:nvSpPr>
        <p:spPr>
          <a:xfrm>
            <a:off x="8458200" y="1463040"/>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1</a:t>
            </a:r>
          </a:p>
        </p:txBody>
      </p:sp>
      <p:sp>
        <p:nvSpPr>
          <p:cNvPr id="13" name="TextBox 12"/>
          <p:cNvSpPr txBox="1"/>
          <p:nvPr/>
        </p:nvSpPr>
        <p:spPr>
          <a:xfrm>
            <a:off x="8787384" y="1481328"/>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No scope limit — every ticket</a:t>
            </a:r>
          </a:p>
        </p:txBody>
      </p:sp>
      <p:sp>
        <p:nvSpPr>
          <p:cNvPr id="14" name="Rectangle 13"/>
          <p:cNvSpPr/>
          <p:nvPr/>
        </p:nvSpPr>
        <p:spPr>
          <a:xfrm>
            <a:off x="8458200" y="1869948"/>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22792" y="1869948"/>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16" name="TextBox 15"/>
          <p:cNvSpPr txBox="1"/>
          <p:nvPr/>
        </p:nvSpPr>
        <p:spPr>
          <a:xfrm>
            <a:off x="8622792" y="2061972"/>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Open any ticket and read its comments, attachments and timeline.</a:t>
            </a:r>
          </a:p>
        </p:txBody>
      </p:sp>
      <p:sp>
        <p:nvSpPr>
          <p:cNvPr id="17" name="Rectangle 16"/>
          <p:cNvSpPr/>
          <p:nvPr/>
        </p:nvSpPr>
        <p:spPr>
          <a:xfrm>
            <a:off x="8458200" y="2574036"/>
            <a:ext cx="45720" cy="66294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22792" y="2574036"/>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19" name="TextBox 18"/>
          <p:cNvSpPr txBox="1"/>
          <p:nvPr/>
        </p:nvSpPr>
        <p:spPr>
          <a:xfrm>
            <a:off x="8622792" y="2766060"/>
            <a:ext cx="3127248" cy="48006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Internal notes are visible to an auditor. Write controls are not offered, and would be refused if called directly.</a:t>
            </a:r>
          </a:p>
        </p:txBody>
      </p:sp>
      <p:sp>
        <p:nvSpPr>
          <p:cNvPr id="20" name="Rectangle 19"/>
          <p:cNvSpPr/>
          <p:nvPr/>
        </p:nvSpPr>
        <p:spPr>
          <a:xfrm>
            <a:off x="8458200" y="3438144"/>
            <a:ext cx="45720" cy="50292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622792" y="3438144"/>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22" name="TextBox 21"/>
          <p:cNvSpPr txBox="1"/>
          <p:nvPr/>
        </p:nvSpPr>
        <p:spPr>
          <a:xfrm>
            <a:off x="8622792" y="3630168"/>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This is the end of the auditor's workflow — there is nothing to submit.</a:t>
            </a:r>
          </a:p>
        </p:txBody>
      </p:sp>
      <p:sp>
        <p:nvSpPr>
          <p:cNvPr id="23" name="Rectangle 22"/>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5" name="TextBox 24"/>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23</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82880"/>
            <a:ext cx="10515600" cy="320040"/>
          </a:xfrm>
          <a:prstGeom prst="rect">
            <a:avLst/>
          </a:prstGeom>
          <a:noFill/>
        </p:spPr>
        <p:txBody>
          <a:bodyPr wrap="square" anchor="t" lIns="0" rIns="0" tIns="0" bIns="0">
            <a:spAutoFit/>
          </a:bodyPr>
          <a:lstStyle/>
          <a:p>
            <a:pPr algn="l">
              <a:lnSpc>
                <a:spcPct val="115000"/>
              </a:lnSpc>
            </a:pPr>
            <a:r>
              <a:rPr sz="2300" b="1">
                <a:solidFill>
                  <a:srgbClr val="FFFFFF"/>
                </a:solidFill>
                <a:latin typeface="Calibri"/>
              </a:rPr>
              <a:t>A caveat worth recording</a:t>
            </a:r>
          </a:p>
        </p:txBody>
      </p:sp>
      <p:sp>
        <p:nvSpPr>
          <p:cNvPr id="5" name="TextBox 4"/>
          <p:cNvSpPr txBox="1"/>
          <p:nvPr/>
        </p:nvSpPr>
        <p:spPr>
          <a:xfrm>
            <a:off x="502920" y="548640"/>
            <a:ext cx="10515600" cy="256032"/>
          </a:xfrm>
          <a:prstGeom prst="rect">
            <a:avLst/>
          </a:prstGeom>
          <a:noFill/>
        </p:spPr>
        <p:txBody>
          <a:bodyPr wrap="square" anchor="t" lIns="0" rIns="0" tIns="0" bIns="0">
            <a:spAutoFit/>
          </a:bodyPr>
          <a:lstStyle/>
          <a:p>
            <a:pPr algn="l">
              <a:lnSpc>
                <a:spcPct val="115000"/>
              </a:lnSpc>
            </a:pPr>
            <a:r>
              <a:rPr sz="1150" b="0">
                <a:solidFill>
                  <a:srgbClr val="F3ECE0"/>
                </a:solidFill>
                <a:latin typeface="Calibri"/>
              </a:rPr>
              <a:t>Honest limitation of the audit trail as it stands today</a:t>
            </a:r>
          </a:p>
        </p:txBody>
      </p:sp>
      <p:sp>
        <p:nvSpPr>
          <p:cNvPr id="6" name="Rectangle 5"/>
          <p:cNvSpPr/>
          <p:nvPr/>
        </p:nvSpPr>
        <p:spPr>
          <a:xfrm>
            <a:off x="548640" y="1371600"/>
            <a:ext cx="11064240" cy="1828800"/>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371600"/>
            <a:ext cx="54864" cy="1828800"/>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1645920"/>
            <a:ext cx="10424160" cy="320040"/>
          </a:xfrm>
          <a:prstGeom prst="rect">
            <a:avLst/>
          </a:prstGeom>
          <a:noFill/>
        </p:spPr>
        <p:txBody>
          <a:bodyPr wrap="square" anchor="t" lIns="0" rIns="0" tIns="0" bIns="0">
            <a:spAutoFit/>
          </a:bodyPr>
          <a:lstStyle/>
          <a:p>
            <a:pPr algn="l">
              <a:lnSpc>
                <a:spcPct val="115000"/>
              </a:lnSpc>
            </a:pPr>
            <a:r>
              <a:rPr sz="1600" b="1">
                <a:solidFill>
                  <a:srgbClr val="C25B2E"/>
                </a:solidFill>
                <a:latin typeface="Calibri"/>
              </a:rPr>
              <a:t>The audit trail is append-only by convention, not by enforcement.</a:t>
            </a:r>
          </a:p>
        </p:txBody>
      </p:sp>
      <p:sp>
        <p:nvSpPr>
          <p:cNvPr id="9" name="TextBox 8"/>
          <p:cNvSpPr txBox="1"/>
          <p:nvPr/>
        </p:nvSpPr>
        <p:spPr>
          <a:xfrm>
            <a:off x="868680" y="2103120"/>
            <a:ext cx="10424160" cy="1005840"/>
          </a:xfrm>
          <a:prstGeom prst="rect">
            <a:avLst/>
          </a:prstGeom>
          <a:noFill/>
        </p:spPr>
        <p:txBody>
          <a:bodyPr wrap="square" anchor="t" lIns="0" rIns="0" tIns="0" bIns="0">
            <a:spAutoFit/>
          </a:bodyPr>
          <a:lstStyle/>
          <a:p>
            <a:pPr algn="l">
              <a:lnSpc>
                <a:spcPct val="135000"/>
              </a:lnSpc>
            </a:pPr>
            <a:r>
              <a:rPr sz="1300" b="0">
                <a:solidFill>
                  <a:srgbClr val="1B2A33"/>
                </a:solidFill>
                <a:latin typeface="Calibri"/>
              </a:rPr>
              <a:t>The application only ever inserts rows. But there is no database trigger and no revoked permission, so anything holding the database credentials could alter history. Closing this is the first item on the outstanding work list.</a:t>
            </a:r>
          </a:p>
        </p:txBody>
      </p:sp>
      <p:sp>
        <p:nvSpPr>
          <p:cNvPr id="10" name="TextBox 9"/>
          <p:cNvSpPr txBox="1"/>
          <p:nvPr/>
        </p:nvSpPr>
        <p:spPr>
          <a:xfrm>
            <a:off x="548640" y="3566160"/>
            <a:ext cx="11064240" cy="822960"/>
          </a:xfrm>
          <a:prstGeom prst="rect">
            <a:avLst/>
          </a:prstGeom>
          <a:noFill/>
        </p:spPr>
        <p:txBody>
          <a:bodyPr wrap="square" anchor="t" lIns="0" rIns="0" tIns="0" bIns="0">
            <a:spAutoFit/>
          </a:bodyPr>
          <a:lstStyle/>
          <a:p>
            <a:pPr algn="l">
              <a:lnSpc>
                <a:spcPct val="130000"/>
              </a:lnSpc>
            </a:pPr>
            <a:r>
              <a:rPr sz="1250" b="0">
                <a:solidFill>
                  <a:srgbClr val="5B6B75"/>
                </a:solidFill>
                <a:latin typeface="Calibri"/>
              </a:rPr>
              <a:t>It is recorded here rather than left out, because an auditor is exactly the person who needs to know how much weight the trail can carry.</a:t>
            </a:r>
          </a:p>
        </p:txBody>
      </p:sp>
      <p:sp>
        <p:nvSpPr>
          <p:cNvPr id="11" name="Rectangle 10"/>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13" name="TextBox 12"/>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Auditor</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377440"/>
            <a:ext cx="1828800" cy="548640"/>
          </a:xfrm>
          <a:prstGeom prst="rect">
            <a:avLst/>
          </a:prstGeom>
          <a:noFill/>
        </p:spPr>
        <p:txBody>
          <a:bodyPr wrap="square" anchor="t" lIns="0" rIns="0" tIns="0" bIns="0">
            <a:spAutoFit/>
          </a:bodyPr>
          <a:lstStyle/>
          <a:p>
            <a:pPr algn="l">
              <a:lnSpc>
                <a:spcPct val="115000"/>
              </a:lnSpc>
            </a:pPr>
            <a:r>
              <a:rPr sz="1300" b="1">
                <a:solidFill>
                  <a:srgbClr val="C25B2E"/>
                </a:solidFill>
                <a:latin typeface="Calibri"/>
              </a:rPr>
              <a:t>SECTION 11</a:t>
            </a:r>
          </a:p>
        </p:txBody>
      </p:sp>
      <p:sp>
        <p:nvSpPr>
          <p:cNvPr id="5" name="TextBox 4"/>
          <p:cNvSpPr txBox="1"/>
          <p:nvPr/>
        </p:nvSpPr>
        <p:spPr>
          <a:xfrm>
            <a:off x="1005840" y="2788920"/>
            <a:ext cx="9601200" cy="822960"/>
          </a:xfrm>
          <a:prstGeom prst="rect">
            <a:avLst/>
          </a:prstGeom>
          <a:noFill/>
        </p:spPr>
        <p:txBody>
          <a:bodyPr wrap="square" anchor="t" lIns="0" rIns="0" tIns="0" bIns="0">
            <a:spAutoFit/>
          </a:bodyPr>
          <a:lstStyle/>
          <a:p>
            <a:pPr algn="l">
              <a:lnSpc>
                <a:spcPct val="115000"/>
              </a:lnSpc>
            </a:pPr>
            <a:r>
              <a:rPr sz="3400" b="1">
                <a:solidFill>
                  <a:srgbClr val="0E4F4A"/>
                </a:solidFill>
                <a:latin typeface="Calibri"/>
              </a:rPr>
              <a:t>Attachments</a:t>
            </a:r>
          </a:p>
        </p:txBody>
      </p:sp>
      <p:sp>
        <p:nvSpPr>
          <p:cNvPr id="6" name="TextBox 5"/>
          <p:cNvSpPr txBox="1"/>
          <p:nvPr/>
        </p:nvSpPr>
        <p:spPr>
          <a:xfrm>
            <a:off x="1005840" y="3794760"/>
            <a:ext cx="8686800" cy="914400"/>
          </a:xfrm>
          <a:prstGeom prst="rect">
            <a:avLst/>
          </a:prstGeom>
          <a:noFill/>
        </p:spPr>
        <p:txBody>
          <a:bodyPr wrap="square" anchor="t" lIns="0" rIns="0" tIns="0" bIns="0">
            <a:spAutoFit/>
          </a:bodyPr>
          <a:lstStyle/>
          <a:p>
            <a:pPr algn="l">
              <a:lnSpc>
                <a:spcPct val="130000"/>
              </a:lnSpc>
            </a:pPr>
            <a:r>
              <a:rPr sz="1500" b="0">
                <a:solidFill>
                  <a:srgbClr val="5B6B75"/>
                </a:solidFill>
                <a:latin typeface="Calibri"/>
              </a:rPr>
              <a:t>Where files can be added, who can see them, and the one rule people assume wrong.</a:t>
            </a:r>
          </a:p>
        </p:txBody>
      </p:sp>
      <p:sp>
        <p:nvSpPr>
          <p:cNvPr id="7" name="Rectangle 6"/>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9" name="TextBox 8"/>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Section 11</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82880"/>
            <a:ext cx="10515600" cy="320040"/>
          </a:xfrm>
          <a:prstGeom prst="rect">
            <a:avLst/>
          </a:prstGeom>
          <a:noFill/>
        </p:spPr>
        <p:txBody>
          <a:bodyPr wrap="square" anchor="t" lIns="0" rIns="0" tIns="0" bIns="0">
            <a:spAutoFit/>
          </a:bodyPr>
          <a:lstStyle/>
          <a:p>
            <a:pPr algn="l">
              <a:lnSpc>
                <a:spcPct val="115000"/>
              </a:lnSpc>
            </a:pPr>
            <a:r>
              <a:rPr sz="2300" b="1">
                <a:solidFill>
                  <a:srgbClr val="FFFFFF"/>
                </a:solidFill>
                <a:latin typeface="Calibri"/>
              </a:rPr>
              <a:t>Three places a file can be attached</a:t>
            </a:r>
          </a:p>
        </p:txBody>
      </p:sp>
      <p:sp>
        <p:nvSpPr>
          <p:cNvPr id="5" name="TextBox 4"/>
          <p:cNvSpPr txBox="1"/>
          <p:nvPr/>
        </p:nvSpPr>
        <p:spPr>
          <a:xfrm>
            <a:off x="502920" y="548640"/>
            <a:ext cx="10515600" cy="256032"/>
          </a:xfrm>
          <a:prstGeom prst="rect">
            <a:avLst/>
          </a:prstGeom>
          <a:noFill/>
        </p:spPr>
        <p:txBody>
          <a:bodyPr wrap="square" anchor="t" lIns="0" rIns="0" tIns="0" bIns="0">
            <a:spAutoFit/>
          </a:bodyPr>
          <a:lstStyle/>
          <a:p>
            <a:pPr algn="l">
              <a:lnSpc>
                <a:spcPct val="115000"/>
              </a:lnSpc>
            </a:pPr>
            <a:r>
              <a:rPr sz="1150" b="0">
                <a:solidFill>
                  <a:srgbClr val="F3ECE0"/>
                </a:solidFill>
                <a:latin typeface="Calibri"/>
              </a:rPr>
              <a:t>The flow is the same in each: choose the files, then they upload once the thing they belong to exists</a:t>
            </a:r>
          </a:p>
        </p:txBody>
      </p:sp>
      <p:sp>
        <p:nvSpPr>
          <p:cNvPr id="6" name="Rectangle 5"/>
          <p:cNvSpPr/>
          <p:nvPr/>
        </p:nvSpPr>
        <p:spPr>
          <a:xfrm>
            <a:off x="548640" y="1280160"/>
            <a:ext cx="11064240" cy="987552"/>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426464"/>
            <a:ext cx="5852160" cy="274320"/>
          </a:xfrm>
          <a:prstGeom prst="rect">
            <a:avLst/>
          </a:prstGeom>
          <a:noFill/>
        </p:spPr>
        <p:txBody>
          <a:bodyPr wrap="square" anchor="t" lIns="0" rIns="0" tIns="0" bIns="0">
            <a:spAutoFit/>
          </a:bodyPr>
          <a:lstStyle/>
          <a:p>
            <a:pPr algn="l">
              <a:lnSpc>
                <a:spcPct val="115000"/>
              </a:lnSpc>
            </a:pPr>
            <a:r>
              <a:rPr sz="1350" b="1">
                <a:solidFill>
                  <a:srgbClr val="0E4F4A"/>
                </a:solidFill>
                <a:latin typeface="Calibri"/>
              </a:rPr>
              <a:t>With the ticket, when it is raised</a:t>
            </a:r>
          </a:p>
        </p:txBody>
      </p:sp>
      <p:sp>
        <p:nvSpPr>
          <p:cNvPr id="8" name="TextBox 7"/>
          <p:cNvSpPr txBox="1"/>
          <p:nvPr/>
        </p:nvSpPr>
        <p:spPr>
          <a:xfrm>
            <a:off x="868680" y="1755648"/>
            <a:ext cx="5852160" cy="411480"/>
          </a:xfrm>
          <a:prstGeom prst="rect">
            <a:avLst/>
          </a:prstGeom>
          <a:noFill/>
        </p:spPr>
        <p:txBody>
          <a:bodyPr wrap="square" anchor="t" lIns="0" rIns="0" tIns="0" bIns="0">
            <a:spAutoFit/>
          </a:bodyPr>
          <a:lstStyle/>
          <a:p>
            <a:pPr algn="l">
              <a:lnSpc>
                <a:spcPct val="120000"/>
              </a:lnSpc>
            </a:pPr>
            <a:r>
              <a:rPr sz="1150" b="0">
                <a:solidFill>
                  <a:srgbClr val="1B2A33"/>
                </a:solidFill>
                <a:latin typeface="Calibri"/>
              </a:rPr>
              <a:t>Evidence travels with the report rather than arriving afterwards.</a:t>
            </a:r>
          </a:p>
        </p:txBody>
      </p:sp>
      <p:sp>
        <p:nvSpPr>
          <p:cNvPr id="9" name="TextBox 8"/>
          <p:cNvSpPr txBox="1"/>
          <p:nvPr/>
        </p:nvSpPr>
        <p:spPr>
          <a:xfrm>
            <a:off x="7040880" y="1426464"/>
            <a:ext cx="4297680" cy="274320"/>
          </a:xfrm>
          <a:prstGeom prst="rect">
            <a:avLst/>
          </a:prstGeom>
          <a:noFill/>
        </p:spPr>
        <p:txBody>
          <a:bodyPr wrap="square" anchor="t" lIns="0" rIns="0" tIns="0" bIns="0">
            <a:spAutoFit/>
          </a:bodyPr>
          <a:lstStyle/>
          <a:p>
            <a:pPr algn="l">
              <a:lnSpc>
                <a:spcPct val="115000"/>
              </a:lnSpc>
            </a:pPr>
            <a:r>
              <a:rPr sz="950" b="1">
                <a:solidFill>
                  <a:srgbClr val="C25B2E"/>
                </a:solidFill>
                <a:latin typeface="Calibri"/>
              </a:rPr>
              <a:t>WHO</a:t>
            </a:r>
          </a:p>
        </p:txBody>
      </p:sp>
      <p:sp>
        <p:nvSpPr>
          <p:cNvPr id="10" name="TextBox 9"/>
          <p:cNvSpPr txBox="1"/>
          <p:nvPr/>
        </p:nvSpPr>
        <p:spPr>
          <a:xfrm>
            <a:off x="7040880" y="1682496"/>
            <a:ext cx="4297680" cy="365760"/>
          </a:xfrm>
          <a:prstGeom prst="rect">
            <a:avLst/>
          </a:prstGeom>
          <a:noFill/>
        </p:spPr>
        <p:txBody>
          <a:bodyPr wrap="square" anchor="t" lIns="0" rIns="0" tIns="0" bIns="0">
            <a:spAutoFit/>
          </a:bodyPr>
          <a:lstStyle/>
          <a:p>
            <a:pPr algn="l">
              <a:lnSpc>
                <a:spcPct val="115000"/>
              </a:lnSpc>
            </a:pPr>
            <a:r>
              <a:rPr sz="1150" b="0">
                <a:solidFill>
                  <a:srgbClr val="1B2A33"/>
                </a:solidFill>
                <a:latin typeface="Calibri"/>
              </a:rPr>
              <a:t>Branch user, agent</a:t>
            </a:r>
          </a:p>
        </p:txBody>
      </p:sp>
      <p:sp>
        <p:nvSpPr>
          <p:cNvPr id="11" name="Rectangle 10"/>
          <p:cNvSpPr/>
          <p:nvPr/>
        </p:nvSpPr>
        <p:spPr>
          <a:xfrm>
            <a:off x="548640" y="2450592"/>
            <a:ext cx="11064240" cy="987552"/>
          </a:xfrm>
          <a:prstGeom prst="rect">
            <a:avLst/>
          </a:prstGeom>
          <a:solidFill>
            <a:srgbClr val="FFFFFF"/>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2596896"/>
            <a:ext cx="5852160" cy="274320"/>
          </a:xfrm>
          <a:prstGeom prst="rect">
            <a:avLst/>
          </a:prstGeom>
          <a:noFill/>
        </p:spPr>
        <p:txBody>
          <a:bodyPr wrap="square" anchor="t" lIns="0" rIns="0" tIns="0" bIns="0">
            <a:spAutoFit/>
          </a:bodyPr>
          <a:lstStyle/>
          <a:p>
            <a:pPr algn="l">
              <a:lnSpc>
                <a:spcPct val="115000"/>
              </a:lnSpc>
            </a:pPr>
            <a:r>
              <a:rPr sz="1350" b="1">
                <a:solidFill>
                  <a:srgbClr val="0E4F4A"/>
                </a:solidFill>
                <a:latin typeface="Calibri"/>
              </a:rPr>
              <a:t>With a reply</a:t>
            </a:r>
          </a:p>
        </p:txBody>
      </p:sp>
      <p:sp>
        <p:nvSpPr>
          <p:cNvPr id="13" name="TextBox 12"/>
          <p:cNvSpPr txBox="1"/>
          <p:nvPr/>
        </p:nvSpPr>
        <p:spPr>
          <a:xfrm>
            <a:off x="868680" y="2926080"/>
            <a:ext cx="5852160" cy="411480"/>
          </a:xfrm>
          <a:prstGeom prst="rect">
            <a:avLst/>
          </a:prstGeom>
          <a:noFill/>
        </p:spPr>
        <p:txBody>
          <a:bodyPr wrap="square" anchor="t" lIns="0" rIns="0" tIns="0" bIns="0">
            <a:spAutoFit/>
          </a:bodyPr>
          <a:lstStyle/>
          <a:p>
            <a:pPr algn="l">
              <a:lnSpc>
                <a:spcPct val="120000"/>
              </a:lnSpc>
            </a:pPr>
            <a:r>
              <a:rPr sz="1150" b="0">
                <a:solidFill>
                  <a:srgbClr val="1B2A33"/>
                </a:solidFill>
                <a:latin typeface="Calibri"/>
              </a:rPr>
              <a:t>The file belongs to that reply, so a fix sits beside the answer explaining it.</a:t>
            </a:r>
          </a:p>
        </p:txBody>
      </p:sp>
      <p:sp>
        <p:nvSpPr>
          <p:cNvPr id="14" name="TextBox 13"/>
          <p:cNvSpPr txBox="1"/>
          <p:nvPr/>
        </p:nvSpPr>
        <p:spPr>
          <a:xfrm>
            <a:off x="7040880" y="2596896"/>
            <a:ext cx="4297680" cy="274320"/>
          </a:xfrm>
          <a:prstGeom prst="rect">
            <a:avLst/>
          </a:prstGeom>
          <a:noFill/>
        </p:spPr>
        <p:txBody>
          <a:bodyPr wrap="square" anchor="t" lIns="0" rIns="0" tIns="0" bIns="0">
            <a:spAutoFit/>
          </a:bodyPr>
          <a:lstStyle/>
          <a:p>
            <a:pPr algn="l">
              <a:lnSpc>
                <a:spcPct val="115000"/>
              </a:lnSpc>
            </a:pPr>
            <a:r>
              <a:rPr sz="950" b="1">
                <a:solidFill>
                  <a:srgbClr val="C25B2E"/>
                </a:solidFill>
                <a:latin typeface="Calibri"/>
              </a:rPr>
              <a:t>WHO</a:t>
            </a:r>
          </a:p>
        </p:txBody>
      </p:sp>
      <p:sp>
        <p:nvSpPr>
          <p:cNvPr id="15" name="TextBox 14"/>
          <p:cNvSpPr txBox="1"/>
          <p:nvPr/>
        </p:nvSpPr>
        <p:spPr>
          <a:xfrm>
            <a:off x="7040880" y="2852928"/>
            <a:ext cx="4297680" cy="365760"/>
          </a:xfrm>
          <a:prstGeom prst="rect">
            <a:avLst/>
          </a:prstGeom>
          <a:noFill/>
        </p:spPr>
        <p:txBody>
          <a:bodyPr wrap="square" anchor="t" lIns="0" rIns="0" tIns="0" bIns="0">
            <a:spAutoFit/>
          </a:bodyPr>
          <a:lstStyle/>
          <a:p>
            <a:pPr algn="l">
              <a:lnSpc>
                <a:spcPct val="115000"/>
              </a:lnSpc>
            </a:pPr>
            <a:r>
              <a:rPr sz="1150" b="0">
                <a:solidFill>
                  <a:srgbClr val="1B2A33"/>
                </a:solidFill>
                <a:latin typeface="Calibri"/>
              </a:rPr>
              <a:t>Anyone who can comment</a:t>
            </a:r>
          </a:p>
        </p:txBody>
      </p:sp>
      <p:sp>
        <p:nvSpPr>
          <p:cNvPr id="16" name="Rectangle 15"/>
          <p:cNvSpPr/>
          <p:nvPr/>
        </p:nvSpPr>
        <p:spPr>
          <a:xfrm>
            <a:off x="548640" y="3621024"/>
            <a:ext cx="11064240" cy="987552"/>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8680" y="3767328"/>
            <a:ext cx="5852160" cy="274320"/>
          </a:xfrm>
          <a:prstGeom prst="rect">
            <a:avLst/>
          </a:prstGeom>
          <a:noFill/>
        </p:spPr>
        <p:txBody>
          <a:bodyPr wrap="square" anchor="t" lIns="0" rIns="0" tIns="0" bIns="0">
            <a:spAutoFit/>
          </a:bodyPr>
          <a:lstStyle/>
          <a:p>
            <a:pPr algn="l">
              <a:lnSpc>
                <a:spcPct val="115000"/>
              </a:lnSpc>
            </a:pPr>
            <a:r>
              <a:rPr sz="1350" b="1">
                <a:solidFill>
                  <a:srgbClr val="0E4F4A"/>
                </a:solidFill>
                <a:latin typeface="Calibri"/>
              </a:rPr>
              <a:t>From the attachments panel</a:t>
            </a:r>
          </a:p>
        </p:txBody>
      </p:sp>
      <p:sp>
        <p:nvSpPr>
          <p:cNvPr id="18" name="TextBox 17"/>
          <p:cNvSpPr txBox="1"/>
          <p:nvPr/>
        </p:nvSpPr>
        <p:spPr>
          <a:xfrm>
            <a:off x="868680" y="4096512"/>
            <a:ext cx="5852160" cy="411480"/>
          </a:xfrm>
          <a:prstGeom prst="rect">
            <a:avLst/>
          </a:prstGeom>
          <a:noFill/>
        </p:spPr>
        <p:txBody>
          <a:bodyPr wrap="square" anchor="t" lIns="0" rIns="0" tIns="0" bIns="0">
            <a:spAutoFit/>
          </a:bodyPr>
          <a:lstStyle/>
          <a:p>
            <a:pPr algn="l">
              <a:lnSpc>
                <a:spcPct val="120000"/>
              </a:lnSpc>
            </a:pPr>
            <a:r>
              <a:rPr sz="1150" b="0">
                <a:solidFill>
                  <a:srgbClr val="1B2A33"/>
                </a:solidFill>
                <a:latin typeface="Calibri"/>
              </a:rPr>
              <a:t>The file index for the whole ticket; files from replies are marked as such.</a:t>
            </a:r>
          </a:p>
        </p:txBody>
      </p:sp>
      <p:sp>
        <p:nvSpPr>
          <p:cNvPr id="19" name="TextBox 18"/>
          <p:cNvSpPr txBox="1"/>
          <p:nvPr/>
        </p:nvSpPr>
        <p:spPr>
          <a:xfrm>
            <a:off x="7040880" y="3767328"/>
            <a:ext cx="4297680" cy="274320"/>
          </a:xfrm>
          <a:prstGeom prst="rect">
            <a:avLst/>
          </a:prstGeom>
          <a:noFill/>
        </p:spPr>
        <p:txBody>
          <a:bodyPr wrap="square" anchor="t" lIns="0" rIns="0" tIns="0" bIns="0">
            <a:spAutoFit/>
          </a:bodyPr>
          <a:lstStyle/>
          <a:p>
            <a:pPr algn="l">
              <a:lnSpc>
                <a:spcPct val="115000"/>
              </a:lnSpc>
            </a:pPr>
            <a:r>
              <a:rPr sz="950" b="1">
                <a:solidFill>
                  <a:srgbClr val="C25B2E"/>
                </a:solidFill>
                <a:latin typeface="Calibri"/>
              </a:rPr>
              <a:t>WHO</a:t>
            </a:r>
          </a:p>
        </p:txBody>
      </p:sp>
      <p:sp>
        <p:nvSpPr>
          <p:cNvPr id="20" name="TextBox 19"/>
          <p:cNvSpPr txBox="1"/>
          <p:nvPr/>
        </p:nvSpPr>
        <p:spPr>
          <a:xfrm>
            <a:off x="7040880" y="4023360"/>
            <a:ext cx="4297680" cy="365760"/>
          </a:xfrm>
          <a:prstGeom prst="rect">
            <a:avLst/>
          </a:prstGeom>
          <a:noFill/>
        </p:spPr>
        <p:txBody>
          <a:bodyPr wrap="square" anchor="t" lIns="0" rIns="0" tIns="0" bIns="0">
            <a:spAutoFit/>
          </a:bodyPr>
          <a:lstStyle/>
          <a:p>
            <a:pPr algn="l">
              <a:lnSpc>
                <a:spcPct val="115000"/>
              </a:lnSpc>
            </a:pPr>
            <a:r>
              <a:rPr sz="1150" b="0">
                <a:solidFill>
                  <a:srgbClr val="1B2A33"/>
                </a:solidFill>
                <a:latin typeface="Calibri"/>
              </a:rPr>
              <a:t>Anyone who can write</a:t>
            </a:r>
          </a:p>
        </p:txBody>
      </p:sp>
      <p:sp>
        <p:nvSpPr>
          <p:cNvPr id="21" name="TextBox 20"/>
          <p:cNvSpPr txBox="1"/>
          <p:nvPr/>
        </p:nvSpPr>
        <p:spPr>
          <a:xfrm>
            <a:off x="548640" y="4937760"/>
            <a:ext cx="11064240" cy="1188720"/>
          </a:xfrm>
          <a:prstGeom prst="rect">
            <a:avLst/>
          </a:prstGeom>
          <a:noFill/>
        </p:spPr>
        <p:txBody>
          <a:bodyPr wrap="square" anchor="t" lIns="0" rIns="0" tIns="0" bIns="0">
            <a:spAutoFit/>
          </a:bodyPr>
          <a:lstStyle/>
          <a:p>
            <a:pPr algn="l">
              <a:lnSpc>
                <a:spcPct val="130000"/>
              </a:lnSpc>
            </a:pPr>
            <a:r>
              <a:rPr sz="1250" b="0">
                <a:solidFill>
                  <a:srgbClr val="5B6B75"/>
                </a:solidFill>
                <a:latin typeface="Calibri"/>
              </a:rPr>
              <a:t>Limits: 15 MB per file. Images, PDF, Word, Excel, text and CSV are accepted. Executables and archives are refused outright — there is no malware scanner, and an unscanned archive is the usual way something nasty arrives.</a:t>
            </a:r>
          </a:p>
        </p:txBody>
      </p:sp>
      <p:sp>
        <p:nvSpPr>
          <p:cNvPr id="22" name="Rectangle 21"/>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4" name="TextBox 23"/>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Attachments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82880"/>
            <a:ext cx="10515600" cy="320040"/>
          </a:xfrm>
          <a:prstGeom prst="rect">
            <a:avLst/>
          </a:prstGeom>
          <a:noFill/>
        </p:spPr>
        <p:txBody>
          <a:bodyPr wrap="square" anchor="t" lIns="0" rIns="0" tIns="0" bIns="0">
            <a:spAutoFit/>
          </a:bodyPr>
          <a:lstStyle/>
          <a:p>
            <a:pPr algn="l">
              <a:lnSpc>
                <a:spcPct val="115000"/>
              </a:lnSpc>
            </a:pPr>
            <a:r>
              <a:rPr sz="2300" b="1">
                <a:solidFill>
                  <a:srgbClr val="FFFFFF"/>
                </a:solidFill>
                <a:latin typeface="Calibri"/>
              </a:rPr>
              <a:t>The rule people get wrong</a:t>
            </a:r>
          </a:p>
        </p:txBody>
      </p:sp>
      <p:sp>
        <p:nvSpPr>
          <p:cNvPr id="5" name="TextBox 4"/>
          <p:cNvSpPr txBox="1"/>
          <p:nvPr/>
        </p:nvSpPr>
        <p:spPr>
          <a:xfrm>
            <a:off x="502920" y="548640"/>
            <a:ext cx="10515600" cy="256032"/>
          </a:xfrm>
          <a:prstGeom prst="rect">
            <a:avLst/>
          </a:prstGeom>
          <a:noFill/>
        </p:spPr>
        <p:txBody>
          <a:bodyPr wrap="square" anchor="t" lIns="0" rIns="0" tIns="0" bIns="0">
            <a:spAutoFit/>
          </a:bodyPr>
          <a:lstStyle/>
          <a:p>
            <a:pPr algn="l">
              <a:lnSpc>
                <a:spcPct val="115000"/>
              </a:lnSpc>
            </a:pPr>
            <a:r>
              <a:rPr sz="1150" b="0">
                <a:solidFill>
                  <a:srgbClr val="F3ECE0"/>
                </a:solidFill>
                <a:latin typeface="Calibri"/>
              </a:rPr>
              <a:t>An internal note's attachment is as invisible as the note</a:t>
            </a:r>
          </a:p>
        </p:txBody>
      </p:sp>
      <p:sp>
        <p:nvSpPr>
          <p:cNvPr id="6" name="Rectangle 5"/>
          <p:cNvSpPr/>
          <p:nvPr/>
        </p:nvSpPr>
        <p:spPr>
          <a:xfrm>
            <a:off x="548640" y="1280160"/>
            <a:ext cx="5349240" cy="2194560"/>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80160"/>
            <a:ext cx="54864" cy="219456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1508760"/>
            <a:ext cx="4754880" cy="292608"/>
          </a:xfrm>
          <a:prstGeom prst="rect">
            <a:avLst/>
          </a:prstGeom>
          <a:noFill/>
        </p:spPr>
        <p:txBody>
          <a:bodyPr wrap="square" anchor="t" lIns="0" rIns="0" tIns="0" bIns="0">
            <a:spAutoFit/>
          </a:bodyPr>
          <a:lstStyle/>
          <a:p>
            <a:pPr algn="l">
              <a:lnSpc>
                <a:spcPct val="115000"/>
              </a:lnSpc>
            </a:pPr>
            <a:r>
              <a:rPr sz="1400" b="1">
                <a:solidFill>
                  <a:srgbClr val="0E4F4A"/>
                </a:solidFill>
                <a:latin typeface="Calibri"/>
              </a:rPr>
              <a:t>What agents assume</a:t>
            </a:r>
          </a:p>
        </p:txBody>
      </p:sp>
      <p:sp>
        <p:nvSpPr>
          <p:cNvPr id="9" name="TextBox 8"/>
          <p:cNvSpPr txBox="1"/>
          <p:nvPr/>
        </p:nvSpPr>
        <p:spPr>
          <a:xfrm>
            <a:off x="868680" y="1901952"/>
            <a:ext cx="4754880" cy="1371600"/>
          </a:xfrm>
          <a:prstGeom prst="rect">
            <a:avLst/>
          </a:prstGeom>
          <a:noFill/>
        </p:spPr>
        <p:txBody>
          <a:bodyPr wrap="square" anchor="t" lIns="0" rIns="0" tIns="0" bIns="0">
            <a:spAutoFit/>
          </a:bodyPr>
          <a:lstStyle/>
          <a:p>
            <a:pPr algn="l">
              <a:lnSpc>
                <a:spcPct val="130000"/>
              </a:lnSpc>
            </a:pPr>
            <a:r>
              <a:rPr sz="1250" b="0">
                <a:solidFill>
                  <a:srgbClr val="1B2A33"/>
                </a:solidFill>
                <a:latin typeface="Calibri"/>
              </a:rPr>
              <a:t>"The note is internal, so the requester will not read my text — but the file I attached is just a file on the ticket."</a:t>
            </a:r>
          </a:p>
        </p:txBody>
      </p:sp>
      <p:sp>
        <p:nvSpPr>
          <p:cNvPr id="10" name="Rectangle 9"/>
          <p:cNvSpPr/>
          <p:nvPr/>
        </p:nvSpPr>
        <p:spPr>
          <a:xfrm>
            <a:off x="6309360" y="1280160"/>
            <a:ext cx="5349240" cy="2194560"/>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309360" y="1280160"/>
            <a:ext cx="54864" cy="219456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29400" y="1508760"/>
            <a:ext cx="4754880" cy="292608"/>
          </a:xfrm>
          <a:prstGeom prst="rect">
            <a:avLst/>
          </a:prstGeom>
          <a:noFill/>
        </p:spPr>
        <p:txBody>
          <a:bodyPr wrap="square" anchor="t" lIns="0" rIns="0" tIns="0" bIns="0">
            <a:spAutoFit/>
          </a:bodyPr>
          <a:lstStyle/>
          <a:p>
            <a:pPr algn="l">
              <a:lnSpc>
                <a:spcPct val="115000"/>
              </a:lnSpc>
            </a:pPr>
            <a:r>
              <a:rPr sz="1400" b="1">
                <a:solidFill>
                  <a:srgbClr val="1E7A53"/>
                </a:solidFill>
                <a:latin typeface="Calibri"/>
              </a:rPr>
              <a:t>What actually happens</a:t>
            </a:r>
          </a:p>
        </p:txBody>
      </p:sp>
      <p:sp>
        <p:nvSpPr>
          <p:cNvPr id="13" name="TextBox 12"/>
          <p:cNvSpPr txBox="1"/>
          <p:nvPr/>
        </p:nvSpPr>
        <p:spPr>
          <a:xfrm>
            <a:off x="6629400" y="1901952"/>
            <a:ext cx="4754880" cy="1371600"/>
          </a:xfrm>
          <a:prstGeom prst="rect">
            <a:avLst/>
          </a:prstGeom>
          <a:noFill/>
        </p:spPr>
        <p:txBody>
          <a:bodyPr wrap="square" anchor="t" lIns="0" rIns="0" tIns="0" bIns="0">
            <a:spAutoFit/>
          </a:bodyPr>
          <a:lstStyle/>
          <a:p>
            <a:pPr algn="l">
              <a:lnSpc>
                <a:spcPct val="130000"/>
              </a:lnSpc>
            </a:pPr>
            <a:r>
              <a:rPr sz="1250" b="0">
                <a:solidFill>
                  <a:srgbClr val="1B2A33"/>
                </a:solidFill>
                <a:latin typeface="Calibri"/>
              </a:rPr>
              <a:t>The file is hidden too. It is filtered from the list and refused on download — and the refusal is a 404, so the response does not even confirm the note exists.</a:t>
            </a:r>
          </a:p>
        </p:txBody>
      </p:sp>
      <p:sp>
        <p:nvSpPr>
          <p:cNvPr id="14" name="TextBox 13"/>
          <p:cNvSpPr txBox="1"/>
          <p:nvPr/>
        </p:nvSpPr>
        <p:spPr>
          <a:xfrm>
            <a:off x="548640" y="3794760"/>
            <a:ext cx="11064240" cy="1097280"/>
          </a:xfrm>
          <a:prstGeom prst="rect">
            <a:avLst/>
          </a:prstGeom>
          <a:noFill/>
        </p:spPr>
        <p:txBody>
          <a:bodyPr wrap="square" anchor="t" lIns="0" rIns="0" tIns="0" bIns="0">
            <a:spAutoFit/>
          </a:bodyPr>
          <a:lstStyle/>
          <a:p>
            <a:pPr algn="l">
              <a:lnSpc>
                <a:spcPct val="130000"/>
              </a:lnSpc>
            </a:pPr>
            <a:r>
              <a:rPr sz="1300" b="0">
                <a:solidFill>
                  <a:srgbClr val="1B2A33"/>
                </a:solidFill>
                <a:latin typeface="Calibri"/>
              </a:rPr>
              <a:t>This matters because the file is usually the sensitive part. Hiding the note while serving its attachment would leak exactly what the flag exists to withhold.</a:t>
            </a:r>
          </a:p>
        </p:txBody>
      </p:sp>
      <p:sp>
        <p:nvSpPr>
          <p:cNvPr id="15" name="Rectangle 14"/>
          <p:cNvSpPr/>
          <p:nvPr/>
        </p:nvSpPr>
        <p:spPr>
          <a:xfrm>
            <a:off x="548640" y="4846320"/>
            <a:ext cx="11064240" cy="914400"/>
          </a:xfrm>
          <a:prstGeom prst="rect">
            <a:avLst/>
          </a:prstGeom>
          <a:solidFill>
            <a:srgbClr val="FFFFFF"/>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5029200"/>
            <a:ext cx="10424160" cy="594360"/>
          </a:xfrm>
          <a:prstGeom prst="rect">
            <a:avLst/>
          </a:prstGeom>
          <a:noFill/>
        </p:spPr>
        <p:txBody>
          <a:bodyPr wrap="square" anchor="t" lIns="0" rIns="0" tIns="0" bIns="0">
            <a:spAutoFit/>
          </a:bodyPr>
          <a:lstStyle/>
          <a:p>
            <a:pPr algn="l">
              <a:lnSpc>
                <a:spcPct val="125000"/>
              </a:lnSpc>
            </a:pPr>
            <a:r>
              <a:rPr sz="1150" b="0">
                <a:solidFill>
                  <a:srgbClr val="5B6B75"/>
                </a:solidFill>
                <a:latin typeface="Calibri"/>
              </a:rPr>
              <a:t>Related: you cannot attach a file to somebody else's comment. Without that rule an agent could hang a file off the requester's own message, where it would read as something they had sent.</a:t>
            </a:r>
          </a:p>
        </p:txBody>
      </p:sp>
      <p:sp>
        <p:nvSpPr>
          <p:cNvPr id="17" name="Rectangle 16"/>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19" name="TextBox 18"/>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Attachments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377440"/>
            <a:ext cx="1828800" cy="548640"/>
          </a:xfrm>
          <a:prstGeom prst="rect">
            <a:avLst/>
          </a:prstGeom>
          <a:noFill/>
        </p:spPr>
        <p:txBody>
          <a:bodyPr wrap="square" anchor="t" lIns="0" rIns="0" tIns="0" bIns="0">
            <a:spAutoFit/>
          </a:bodyPr>
          <a:lstStyle/>
          <a:p>
            <a:pPr algn="l">
              <a:lnSpc>
                <a:spcPct val="115000"/>
              </a:lnSpc>
            </a:pPr>
            <a:r>
              <a:rPr sz="1300" b="1">
                <a:solidFill>
                  <a:srgbClr val="C25B2E"/>
                </a:solidFill>
                <a:latin typeface="Calibri"/>
              </a:rPr>
              <a:t>SECTION 12</a:t>
            </a:r>
          </a:p>
        </p:txBody>
      </p:sp>
      <p:sp>
        <p:nvSpPr>
          <p:cNvPr id="5" name="TextBox 4"/>
          <p:cNvSpPr txBox="1"/>
          <p:nvPr/>
        </p:nvSpPr>
        <p:spPr>
          <a:xfrm>
            <a:off x="1005840" y="2788920"/>
            <a:ext cx="9601200" cy="822960"/>
          </a:xfrm>
          <a:prstGeom prst="rect">
            <a:avLst/>
          </a:prstGeom>
          <a:noFill/>
        </p:spPr>
        <p:txBody>
          <a:bodyPr wrap="square" anchor="t" lIns="0" rIns="0" tIns="0" bIns="0">
            <a:spAutoFit/>
          </a:bodyPr>
          <a:lstStyle/>
          <a:p>
            <a:pPr algn="l">
              <a:lnSpc>
                <a:spcPct val="115000"/>
              </a:lnSpc>
            </a:pPr>
            <a:r>
              <a:rPr sz="3400" b="1">
                <a:solidFill>
                  <a:srgbClr val="0E4F4A"/>
                </a:solidFill>
                <a:latin typeface="Calibri"/>
              </a:rPr>
              <a:t>The AI assistant</a:t>
            </a:r>
          </a:p>
        </p:txBody>
      </p:sp>
      <p:sp>
        <p:nvSpPr>
          <p:cNvPr id="6" name="TextBox 5"/>
          <p:cNvSpPr txBox="1"/>
          <p:nvPr/>
        </p:nvSpPr>
        <p:spPr>
          <a:xfrm>
            <a:off x="1005840" y="3794760"/>
            <a:ext cx="8686800" cy="914400"/>
          </a:xfrm>
          <a:prstGeom prst="rect">
            <a:avLst/>
          </a:prstGeom>
          <a:noFill/>
        </p:spPr>
        <p:txBody>
          <a:bodyPr wrap="square" anchor="t" lIns="0" rIns="0" tIns="0" bIns="0">
            <a:spAutoFit/>
          </a:bodyPr>
          <a:lstStyle/>
          <a:p>
            <a:pPr algn="l">
              <a:lnSpc>
                <a:spcPct val="130000"/>
              </a:lnSpc>
            </a:pPr>
            <a:r>
              <a:rPr sz="1500" b="0">
                <a:solidFill>
                  <a:srgbClr val="5B6B75"/>
                </a:solidFill>
                <a:latin typeface="Calibri"/>
              </a:rPr>
              <a:t>It answers questions about the work in front of you. It cannot change anything.</a:t>
            </a:r>
          </a:p>
        </p:txBody>
      </p:sp>
      <p:sp>
        <p:nvSpPr>
          <p:cNvPr id="7" name="Rectangle 6"/>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9" name="TextBox 8"/>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Section 12</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82880"/>
            <a:ext cx="10515600" cy="320040"/>
          </a:xfrm>
          <a:prstGeom prst="rect">
            <a:avLst/>
          </a:prstGeom>
          <a:noFill/>
        </p:spPr>
        <p:txBody>
          <a:bodyPr wrap="square" anchor="t" lIns="0" rIns="0" tIns="0" bIns="0">
            <a:spAutoFit/>
          </a:bodyPr>
          <a:lstStyle/>
          <a:p>
            <a:pPr algn="l">
              <a:lnSpc>
                <a:spcPct val="115000"/>
              </a:lnSpc>
            </a:pPr>
            <a:r>
              <a:rPr sz="2300" b="1">
                <a:solidFill>
                  <a:srgbClr val="FFFFFF"/>
                </a:solidFill>
                <a:latin typeface="Calibri"/>
              </a:rPr>
              <a:t>What it can and cannot do</a:t>
            </a:r>
          </a:p>
        </p:txBody>
      </p:sp>
      <p:sp>
        <p:nvSpPr>
          <p:cNvPr id="5" name="TextBox 4"/>
          <p:cNvSpPr txBox="1"/>
          <p:nvPr/>
        </p:nvSpPr>
        <p:spPr>
          <a:xfrm>
            <a:off x="502920" y="548640"/>
            <a:ext cx="10515600" cy="256032"/>
          </a:xfrm>
          <a:prstGeom prst="rect">
            <a:avLst/>
          </a:prstGeom>
          <a:noFill/>
        </p:spPr>
        <p:txBody>
          <a:bodyPr wrap="square" anchor="t" lIns="0" rIns="0" tIns="0" bIns="0">
            <a:spAutoFit/>
          </a:bodyPr>
          <a:lstStyle/>
          <a:p>
            <a:pPr algn="l">
              <a:lnSpc>
                <a:spcPct val="115000"/>
              </a:lnSpc>
            </a:pPr>
            <a:r>
              <a:rPr sz="1150" b="0">
                <a:solidFill>
                  <a:srgbClr val="F3ECE0"/>
                </a:solidFill>
                <a:latin typeface="Calibri"/>
              </a:rPr>
              <a:t>Three properties are enforced by the server, not by the prompt</a:t>
            </a:r>
          </a:p>
        </p:txBody>
      </p:sp>
      <p:sp>
        <p:nvSpPr>
          <p:cNvPr id="6" name="Rectangle 5"/>
          <p:cNvSpPr/>
          <p:nvPr/>
        </p:nvSpPr>
        <p:spPr>
          <a:xfrm>
            <a:off x="548640" y="1280160"/>
            <a:ext cx="11064240" cy="1207008"/>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80160"/>
            <a:ext cx="54864" cy="1207008"/>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1444752"/>
            <a:ext cx="10424160" cy="274320"/>
          </a:xfrm>
          <a:prstGeom prst="rect">
            <a:avLst/>
          </a:prstGeom>
          <a:noFill/>
        </p:spPr>
        <p:txBody>
          <a:bodyPr wrap="square" anchor="t" lIns="0" rIns="0" tIns="0" bIns="0">
            <a:spAutoFit/>
          </a:bodyPr>
          <a:lstStyle/>
          <a:p>
            <a:pPr algn="l">
              <a:lnSpc>
                <a:spcPct val="115000"/>
              </a:lnSpc>
            </a:pPr>
            <a:r>
              <a:rPr sz="1400" b="1">
                <a:solidFill>
                  <a:srgbClr val="1E7A53"/>
                </a:solidFill>
                <a:latin typeface="Calibri"/>
              </a:rPr>
              <a:t>It cannot see more than you can</a:t>
            </a:r>
          </a:p>
        </p:txBody>
      </p:sp>
      <p:sp>
        <p:nvSpPr>
          <p:cNvPr id="9" name="TextBox 8"/>
          <p:cNvSpPr txBox="1"/>
          <p:nvPr/>
        </p:nvSpPr>
        <p:spPr>
          <a:xfrm>
            <a:off x="868680" y="1792224"/>
            <a:ext cx="10424160" cy="640080"/>
          </a:xfrm>
          <a:prstGeom prst="rect">
            <a:avLst/>
          </a:prstGeom>
          <a:noFill/>
        </p:spPr>
        <p:txBody>
          <a:bodyPr wrap="square" anchor="t" lIns="0" rIns="0" tIns="0" bIns="0">
            <a:spAutoFit/>
          </a:bodyPr>
          <a:lstStyle/>
          <a:p>
            <a:pPr algn="l">
              <a:lnSpc>
                <a:spcPct val="125000"/>
              </a:lnSpc>
            </a:pPr>
            <a:r>
              <a:rPr sz="1200" b="0">
                <a:solidFill>
                  <a:srgbClr val="1B2A33"/>
                </a:solidFill>
                <a:latin typeface="Calibri"/>
              </a:rPr>
              <a:t>Context is fetched through the same visibility rules as the rest of the application. Point it at a ticket your role cannot open and it is told the ticket is unavailable — no title, no number, nothing.</a:t>
            </a:r>
          </a:p>
        </p:txBody>
      </p:sp>
      <p:sp>
        <p:nvSpPr>
          <p:cNvPr id="10" name="Rectangle 9"/>
          <p:cNvSpPr/>
          <p:nvPr/>
        </p:nvSpPr>
        <p:spPr>
          <a:xfrm>
            <a:off x="548640" y="2697480"/>
            <a:ext cx="11064240" cy="1207008"/>
          </a:xfrm>
          <a:prstGeom prst="rect">
            <a:avLst/>
          </a:prstGeom>
          <a:solidFill>
            <a:srgbClr val="FFFFFF"/>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2697480"/>
            <a:ext cx="54864" cy="1207008"/>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2862072"/>
            <a:ext cx="10424160" cy="274320"/>
          </a:xfrm>
          <a:prstGeom prst="rect">
            <a:avLst/>
          </a:prstGeom>
          <a:noFill/>
        </p:spPr>
        <p:txBody>
          <a:bodyPr wrap="square" anchor="t" lIns="0" rIns="0" tIns="0" bIns="0">
            <a:spAutoFit/>
          </a:bodyPr>
          <a:lstStyle/>
          <a:p>
            <a:pPr algn="l">
              <a:lnSpc>
                <a:spcPct val="115000"/>
              </a:lnSpc>
            </a:pPr>
            <a:r>
              <a:rPr sz="1400" b="1">
                <a:solidFill>
                  <a:srgbClr val="1E7A53"/>
                </a:solidFill>
                <a:latin typeface="Calibri"/>
              </a:rPr>
              <a:t>It says when it does not know</a:t>
            </a:r>
          </a:p>
        </p:txBody>
      </p:sp>
      <p:sp>
        <p:nvSpPr>
          <p:cNvPr id="13" name="TextBox 12"/>
          <p:cNvSpPr txBox="1"/>
          <p:nvPr/>
        </p:nvSpPr>
        <p:spPr>
          <a:xfrm>
            <a:off x="868680" y="3209544"/>
            <a:ext cx="10424160" cy="640080"/>
          </a:xfrm>
          <a:prstGeom prst="rect">
            <a:avLst/>
          </a:prstGeom>
          <a:noFill/>
        </p:spPr>
        <p:txBody>
          <a:bodyPr wrap="square" anchor="t" lIns="0" rIns="0" tIns="0" bIns="0">
            <a:spAutoFit/>
          </a:bodyPr>
          <a:lstStyle/>
          <a:p>
            <a:pPr algn="l">
              <a:lnSpc>
                <a:spcPct val="125000"/>
              </a:lnSpc>
            </a:pPr>
            <a:r>
              <a:rPr sz="1200" b="0">
                <a:solidFill>
                  <a:srgbClr val="1B2A33"/>
                </a:solidFill>
                <a:latin typeface="Calibri"/>
              </a:rPr>
              <a:t>Rather than producing generic advice. An assistant that invents ticket facts in a bank is worse than one that declines.</a:t>
            </a:r>
          </a:p>
        </p:txBody>
      </p:sp>
      <p:sp>
        <p:nvSpPr>
          <p:cNvPr id="14" name="Rectangle 13"/>
          <p:cNvSpPr/>
          <p:nvPr/>
        </p:nvSpPr>
        <p:spPr>
          <a:xfrm>
            <a:off x="548640" y="4114800"/>
            <a:ext cx="11064240" cy="1207008"/>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4114800"/>
            <a:ext cx="54864" cy="1207008"/>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279392"/>
            <a:ext cx="10424160" cy="274320"/>
          </a:xfrm>
          <a:prstGeom prst="rect">
            <a:avLst/>
          </a:prstGeom>
          <a:noFill/>
        </p:spPr>
        <p:txBody>
          <a:bodyPr wrap="square" anchor="t" lIns="0" rIns="0" tIns="0" bIns="0">
            <a:spAutoFit/>
          </a:bodyPr>
          <a:lstStyle/>
          <a:p>
            <a:pPr algn="l">
              <a:lnSpc>
                <a:spcPct val="115000"/>
              </a:lnSpc>
            </a:pPr>
            <a:r>
              <a:rPr sz="1400" b="1">
                <a:solidFill>
                  <a:srgbClr val="C25B2E"/>
                </a:solidFill>
                <a:latin typeface="Calibri"/>
              </a:rPr>
              <a:t>It cannot act</a:t>
            </a:r>
          </a:p>
        </p:txBody>
      </p:sp>
      <p:sp>
        <p:nvSpPr>
          <p:cNvPr id="17" name="TextBox 16"/>
          <p:cNvSpPr txBox="1"/>
          <p:nvPr/>
        </p:nvSpPr>
        <p:spPr>
          <a:xfrm>
            <a:off x="868680" y="4626864"/>
            <a:ext cx="10424160" cy="640080"/>
          </a:xfrm>
          <a:prstGeom prst="rect">
            <a:avLst/>
          </a:prstGeom>
          <a:noFill/>
        </p:spPr>
        <p:txBody>
          <a:bodyPr wrap="square" anchor="t" lIns="0" rIns="0" tIns="0" bIns="0">
            <a:spAutoFit/>
          </a:bodyPr>
          <a:lstStyle/>
          <a:p>
            <a:pPr algn="l">
              <a:lnSpc>
                <a:spcPct val="125000"/>
              </a:lnSpc>
            </a:pPr>
            <a:r>
              <a:rPr sz="1200" b="0">
                <a:solidFill>
                  <a:srgbClr val="1B2A33"/>
                </a:solidFill>
                <a:latin typeface="Calibri"/>
              </a:rPr>
              <a:t>It has no write access. It will not change a status, assign a ticket or post a comment. Everything it produces is for you to act on.</a:t>
            </a:r>
          </a:p>
        </p:txBody>
      </p:sp>
      <p:sp>
        <p:nvSpPr>
          <p:cNvPr id="18" name="TextBox 17"/>
          <p:cNvSpPr txBox="1"/>
          <p:nvPr/>
        </p:nvSpPr>
        <p:spPr>
          <a:xfrm>
            <a:off x="548640" y="5623560"/>
            <a:ext cx="11064240" cy="640080"/>
          </a:xfrm>
          <a:prstGeom prst="rect">
            <a:avLst/>
          </a:prstGeom>
          <a:noFill/>
        </p:spPr>
        <p:txBody>
          <a:bodyPr wrap="square" anchor="t" lIns="0" rIns="0" tIns="0" bIns="0">
            <a:spAutoFit/>
          </a:bodyPr>
          <a:lstStyle/>
          <a:p>
            <a:pPr algn="l">
              <a:lnSpc>
                <a:spcPct val="125000"/>
              </a:lnSpc>
            </a:pPr>
            <a:r>
              <a:rPr sz="1150" b="0">
                <a:solidFill>
                  <a:srgbClr val="5B6B75"/>
                </a:solidFill>
                <a:latin typeface="Calibri"/>
              </a:rPr>
              <a:t>If it reports that it cannot connect, the cause is almost always the local model rather than the application. The message it shows includes the specific fix.</a:t>
            </a:r>
          </a:p>
        </p:txBody>
      </p:sp>
      <p:sp>
        <p:nvSpPr>
          <p:cNvPr id="19" name="Rectangle 18"/>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1" name="TextBox 20"/>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Assistant</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377440"/>
            <a:ext cx="1828800" cy="548640"/>
          </a:xfrm>
          <a:prstGeom prst="rect">
            <a:avLst/>
          </a:prstGeom>
          <a:noFill/>
        </p:spPr>
        <p:txBody>
          <a:bodyPr wrap="square" anchor="t" lIns="0" rIns="0" tIns="0" bIns="0">
            <a:spAutoFit/>
          </a:bodyPr>
          <a:lstStyle/>
          <a:p>
            <a:pPr algn="l">
              <a:lnSpc>
                <a:spcPct val="115000"/>
              </a:lnSpc>
            </a:pPr>
            <a:r>
              <a:rPr sz="1300" b="1">
                <a:solidFill>
                  <a:srgbClr val="C25B2E"/>
                </a:solidFill>
                <a:latin typeface="Calibri"/>
              </a:rPr>
              <a:t>SECTION 13</a:t>
            </a:r>
          </a:p>
        </p:txBody>
      </p:sp>
      <p:sp>
        <p:nvSpPr>
          <p:cNvPr id="5" name="TextBox 4"/>
          <p:cNvSpPr txBox="1"/>
          <p:nvPr/>
        </p:nvSpPr>
        <p:spPr>
          <a:xfrm>
            <a:off x="1005840" y="2788920"/>
            <a:ext cx="9601200" cy="822960"/>
          </a:xfrm>
          <a:prstGeom prst="rect">
            <a:avLst/>
          </a:prstGeom>
          <a:noFill/>
        </p:spPr>
        <p:txBody>
          <a:bodyPr wrap="square" anchor="t" lIns="0" rIns="0" tIns="0" bIns="0">
            <a:spAutoFit/>
          </a:bodyPr>
          <a:lstStyle/>
          <a:p>
            <a:pPr algn="l">
              <a:lnSpc>
                <a:spcPct val="115000"/>
              </a:lnSpc>
            </a:pPr>
            <a:r>
              <a:rPr sz="3400" b="1">
                <a:solidFill>
                  <a:srgbClr val="0E4F4A"/>
                </a:solidFill>
                <a:latin typeface="Calibri"/>
              </a:rPr>
              <a:t>Common scenarios</a:t>
            </a:r>
          </a:p>
        </p:txBody>
      </p:sp>
      <p:sp>
        <p:nvSpPr>
          <p:cNvPr id="6" name="TextBox 5"/>
          <p:cNvSpPr txBox="1"/>
          <p:nvPr/>
        </p:nvSpPr>
        <p:spPr>
          <a:xfrm>
            <a:off x="1005840" y="3794760"/>
            <a:ext cx="8686800" cy="914400"/>
          </a:xfrm>
          <a:prstGeom prst="rect">
            <a:avLst/>
          </a:prstGeom>
          <a:noFill/>
        </p:spPr>
        <p:txBody>
          <a:bodyPr wrap="square" anchor="t" lIns="0" rIns="0" tIns="0" bIns="0">
            <a:spAutoFit/>
          </a:bodyPr>
          <a:lstStyle/>
          <a:p>
            <a:pPr algn="l">
              <a:lnSpc>
                <a:spcPct val="130000"/>
              </a:lnSpc>
            </a:pPr>
            <a:r>
              <a:rPr sz="1500" b="0">
                <a:solidFill>
                  <a:srgbClr val="5B6B75"/>
                </a:solidFill>
                <a:latin typeface="Calibri"/>
              </a:rPr>
              <a:t>Four situations, start to finish, naming who does what at each hop.</a:t>
            </a:r>
          </a:p>
        </p:txBody>
      </p:sp>
      <p:sp>
        <p:nvSpPr>
          <p:cNvPr id="7" name="Rectangle 6"/>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9" name="TextBox 8"/>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Section 13</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82880"/>
            <a:ext cx="10515600" cy="320040"/>
          </a:xfrm>
          <a:prstGeom prst="rect">
            <a:avLst/>
          </a:prstGeom>
          <a:noFill/>
        </p:spPr>
        <p:txBody>
          <a:bodyPr wrap="square" anchor="t" lIns="0" rIns="0" tIns="0" bIns="0">
            <a:spAutoFit/>
          </a:bodyPr>
          <a:lstStyle/>
          <a:p>
            <a:pPr algn="l">
              <a:lnSpc>
                <a:spcPct val="115000"/>
              </a:lnSpc>
            </a:pPr>
            <a:r>
              <a:rPr sz="2300" b="1">
                <a:solidFill>
                  <a:srgbClr val="FFFFFF"/>
                </a:solidFill>
                <a:latin typeface="Calibri"/>
              </a:rPr>
              <a:t>Scenario A — a duplicated debit</a:t>
            </a:r>
          </a:p>
        </p:txBody>
      </p:sp>
      <p:sp>
        <p:nvSpPr>
          <p:cNvPr id="5" name="TextBox 4"/>
          <p:cNvSpPr txBox="1"/>
          <p:nvPr/>
        </p:nvSpPr>
        <p:spPr>
          <a:xfrm>
            <a:off x="502920" y="548640"/>
            <a:ext cx="10515600" cy="256032"/>
          </a:xfrm>
          <a:prstGeom prst="rect">
            <a:avLst/>
          </a:prstGeom>
          <a:noFill/>
        </p:spPr>
        <p:txBody>
          <a:bodyPr wrap="square" anchor="t" lIns="0" rIns="0" tIns="0" bIns="0">
            <a:spAutoFit/>
          </a:bodyPr>
          <a:lstStyle/>
          <a:p>
            <a:pPr algn="l">
              <a:lnSpc>
                <a:spcPct val="115000"/>
              </a:lnSpc>
            </a:pPr>
            <a:r>
              <a:rPr sz="1150" b="0">
                <a:solidFill>
                  <a:srgbClr val="F3ECE0"/>
                </a:solidFill>
                <a:latin typeface="Calibri"/>
              </a:rPr>
              <a:t>The everyday case: raised with evidence, worked, resolved</a:t>
            </a:r>
          </a:p>
        </p:txBody>
      </p:sp>
      <p:sp>
        <p:nvSpPr>
          <p:cNvPr id="6" name="Rectangle 5"/>
          <p:cNvSpPr/>
          <p:nvPr/>
        </p:nvSpPr>
        <p:spPr>
          <a:xfrm>
            <a:off x="548640" y="1234440"/>
            <a:ext cx="2057400" cy="786384"/>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1490472"/>
            <a:ext cx="1828800" cy="274320"/>
          </a:xfrm>
          <a:prstGeom prst="rect">
            <a:avLst/>
          </a:prstGeom>
          <a:noFill/>
        </p:spPr>
        <p:txBody>
          <a:bodyPr wrap="square" anchor="t" lIns="0" rIns="0" tIns="0" bIns="0">
            <a:spAutoFit/>
          </a:bodyPr>
          <a:lstStyle/>
          <a:p>
            <a:pPr algn="l">
              <a:lnSpc>
                <a:spcPct val="115000"/>
              </a:lnSpc>
            </a:pPr>
            <a:r>
              <a:rPr sz="1200" b="1">
                <a:solidFill>
                  <a:srgbClr val="FFFFFF"/>
                </a:solidFill>
                <a:latin typeface="Calibri"/>
              </a:rPr>
              <a:t>Branch user</a:t>
            </a:r>
          </a:p>
        </p:txBody>
      </p:sp>
      <p:sp>
        <p:nvSpPr>
          <p:cNvPr id="8" name="Rectangle 7"/>
          <p:cNvSpPr/>
          <p:nvPr/>
        </p:nvSpPr>
        <p:spPr>
          <a:xfrm>
            <a:off x="2697480" y="1234440"/>
            <a:ext cx="8942832" cy="786384"/>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971800" y="1417320"/>
            <a:ext cx="8412480" cy="548640"/>
          </a:xfrm>
          <a:prstGeom prst="rect">
            <a:avLst/>
          </a:prstGeom>
          <a:noFill/>
        </p:spPr>
        <p:txBody>
          <a:bodyPr wrap="square" anchor="t" lIns="0" rIns="0" tIns="0" bIns="0">
            <a:spAutoFit/>
          </a:bodyPr>
          <a:lstStyle/>
          <a:p>
            <a:pPr algn="l">
              <a:lnSpc>
                <a:spcPct val="120000"/>
              </a:lnSpc>
            </a:pPr>
            <a:r>
              <a:rPr sz="1200" b="0">
                <a:solidFill>
                  <a:srgbClr val="1B2A33"/>
                </a:solidFill>
                <a:latin typeface="Calibri"/>
              </a:rPr>
              <a:t>Raises the ticket with a screenshot, the statement and a CSV of the transactions</a:t>
            </a:r>
          </a:p>
        </p:txBody>
      </p:sp>
      <p:sp>
        <p:nvSpPr>
          <p:cNvPr id="10" name="Rectangle 9"/>
          <p:cNvSpPr/>
          <p:nvPr/>
        </p:nvSpPr>
        <p:spPr>
          <a:xfrm>
            <a:off x="548640" y="2167128"/>
            <a:ext cx="2057400" cy="786384"/>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3232" y="2423160"/>
            <a:ext cx="1828800" cy="274320"/>
          </a:xfrm>
          <a:prstGeom prst="rect">
            <a:avLst/>
          </a:prstGeom>
          <a:noFill/>
        </p:spPr>
        <p:txBody>
          <a:bodyPr wrap="square" anchor="t" lIns="0" rIns="0" tIns="0" bIns="0">
            <a:spAutoFit/>
          </a:bodyPr>
          <a:lstStyle/>
          <a:p>
            <a:pPr algn="l">
              <a:lnSpc>
                <a:spcPct val="115000"/>
              </a:lnSpc>
            </a:pPr>
            <a:r>
              <a:rPr sz="1200" b="1">
                <a:solidFill>
                  <a:srgbClr val="FFFFFF"/>
                </a:solidFill>
                <a:latin typeface="Calibri"/>
              </a:rPr>
              <a:t>System</a:t>
            </a:r>
          </a:p>
        </p:txBody>
      </p:sp>
      <p:sp>
        <p:nvSpPr>
          <p:cNvPr id="12" name="Rectangle 11"/>
          <p:cNvSpPr/>
          <p:nvPr/>
        </p:nvSpPr>
        <p:spPr>
          <a:xfrm>
            <a:off x="2697480" y="2167128"/>
            <a:ext cx="8942832" cy="786384"/>
          </a:xfrm>
          <a:prstGeom prst="rect">
            <a:avLst/>
          </a:prstGeom>
          <a:solidFill>
            <a:srgbClr val="FFFFFF"/>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971800" y="2350008"/>
            <a:ext cx="8412480" cy="548640"/>
          </a:xfrm>
          <a:prstGeom prst="rect">
            <a:avLst/>
          </a:prstGeom>
          <a:noFill/>
        </p:spPr>
        <p:txBody>
          <a:bodyPr wrap="square" anchor="t" lIns="0" rIns="0" tIns="0" bIns="0">
            <a:spAutoFit/>
          </a:bodyPr>
          <a:lstStyle/>
          <a:p>
            <a:pPr algn="l">
              <a:lnSpc>
                <a:spcPct val="120000"/>
              </a:lnSpc>
            </a:pPr>
            <a:r>
              <a:rPr sz="1200" b="0">
                <a:solidFill>
                  <a:srgbClr val="1B2A33"/>
                </a:solidFill>
                <a:latin typeface="Calibri"/>
              </a:rPr>
              <a:t>Numbers it, stamps SLA deadlines, assigns the agent with the lightest queue</a:t>
            </a:r>
          </a:p>
        </p:txBody>
      </p:sp>
      <p:sp>
        <p:nvSpPr>
          <p:cNvPr id="14" name="Rectangle 13"/>
          <p:cNvSpPr/>
          <p:nvPr/>
        </p:nvSpPr>
        <p:spPr>
          <a:xfrm>
            <a:off x="548640" y="3099816"/>
            <a:ext cx="2057400" cy="786384"/>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13232" y="3355848"/>
            <a:ext cx="1828800" cy="274320"/>
          </a:xfrm>
          <a:prstGeom prst="rect">
            <a:avLst/>
          </a:prstGeom>
          <a:noFill/>
        </p:spPr>
        <p:txBody>
          <a:bodyPr wrap="square" anchor="t" lIns="0" rIns="0" tIns="0" bIns="0">
            <a:spAutoFit/>
          </a:bodyPr>
          <a:lstStyle/>
          <a:p>
            <a:pPr algn="l">
              <a:lnSpc>
                <a:spcPct val="115000"/>
              </a:lnSpc>
            </a:pPr>
            <a:r>
              <a:rPr sz="1200" b="1">
                <a:solidFill>
                  <a:srgbClr val="FFFFFF"/>
                </a:solidFill>
                <a:latin typeface="Calibri"/>
              </a:rPr>
              <a:t>Agent</a:t>
            </a:r>
          </a:p>
        </p:txBody>
      </p:sp>
      <p:sp>
        <p:nvSpPr>
          <p:cNvPr id="16" name="Rectangle 15"/>
          <p:cNvSpPr/>
          <p:nvPr/>
        </p:nvSpPr>
        <p:spPr>
          <a:xfrm>
            <a:off x="2697480" y="3099816"/>
            <a:ext cx="8942832" cy="786384"/>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971800" y="3282696"/>
            <a:ext cx="8412480" cy="548640"/>
          </a:xfrm>
          <a:prstGeom prst="rect">
            <a:avLst/>
          </a:prstGeom>
          <a:noFill/>
        </p:spPr>
        <p:txBody>
          <a:bodyPr wrap="square" anchor="t" lIns="0" rIns="0" tIns="0" bIns="0">
            <a:spAutoFit/>
          </a:bodyPr>
          <a:lstStyle/>
          <a:p>
            <a:pPr algn="l">
              <a:lnSpc>
                <a:spcPct val="120000"/>
              </a:lnSpc>
            </a:pPr>
            <a:r>
              <a:rPr sz="1200" b="0">
                <a:solidFill>
                  <a:srgbClr val="1B2A33"/>
                </a:solidFill>
                <a:latin typeface="Calibri"/>
              </a:rPr>
              <a:t>Moves it to In Progress, checks the evidence, confirms the duplicate</a:t>
            </a:r>
          </a:p>
        </p:txBody>
      </p:sp>
      <p:sp>
        <p:nvSpPr>
          <p:cNvPr id="18" name="Rectangle 17"/>
          <p:cNvSpPr/>
          <p:nvPr/>
        </p:nvSpPr>
        <p:spPr>
          <a:xfrm>
            <a:off x="548640" y="4032504"/>
            <a:ext cx="2057400" cy="786384"/>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13232" y="4288536"/>
            <a:ext cx="1828800" cy="274320"/>
          </a:xfrm>
          <a:prstGeom prst="rect">
            <a:avLst/>
          </a:prstGeom>
          <a:noFill/>
        </p:spPr>
        <p:txBody>
          <a:bodyPr wrap="square" anchor="t" lIns="0" rIns="0" tIns="0" bIns="0">
            <a:spAutoFit/>
          </a:bodyPr>
          <a:lstStyle/>
          <a:p>
            <a:pPr algn="l">
              <a:lnSpc>
                <a:spcPct val="115000"/>
              </a:lnSpc>
            </a:pPr>
            <a:r>
              <a:rPr sz="1200" b="1">
                <a:solidFill>
                  <a:srgbClr val="FFFFFF"/>
                </a:solidFill>
                <a:latin typeface="Calibri"/>
              </a:rPr>
              <a:t>Agent</a:t>
            </a:r>
          </a:p>
        </p:txBody>
      </p:sp>
      <p:sp>
        <p:nvSpPr>
          <p:cNvPr id="20" name="Rectangle 19"/>
          <p:cNvSpPr/>
          <p:nvPr/>
        </p:nvSpPr>
        <p:spPr>
          <a:xfrm>
            <a:off x="2697480" y="4032504"/>
            <a:ext cx="8942832" cy="786384"/>
          </a:xfrm>
          <a:prstGeom prst="rect">
            <a:avLst/>
          </a:prstGeom>
          <a:solidFill>
            <a:srgbClr val="FFFFFF"/>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971800" y="4215384"/>
            <a:ext cx="8412480" cy="548640"/>
          </a:xfrm>
          <a:prstGeom prst="rect">
            <a:avLst/>
          </a:prstGeom>
          <a:noFill/>
        </p:spPr>
        <p:txBody>
          <a:bodyPr wrap="square" anchor="t" lIns="0" rIns="0" tIns="0" bIns="0">
            <a:spAutoFit/>
          </a:bodyPr>
          <a:lstStyle/>
          <a:p>
            <a:pPr algn="l">
              <a:lnSpc>
                <a:spcPct val="120000"/>
              </a:lnSpc>
            </a:pPr>
            <a:r>
              <a:rPr sz="1200" b="0">
                <a:solidFill>
                  <a:srgbClr val="1B2A33"/>
                </a:solidFill>
                <a:latin typeface="Calibri"/>
              </a:rPr>
              <a:t>Replies with the corrected statement attached to that reply, then resolves</a:t>
            </a:r>
          </a:p>
        </p:txBody>
      </p:sp>
      <p:sp>
        <p:nvSpPr>
          <p:cNvPr id="22" name="Rectangle 21"/>
          <p:cNvSpPr/>
          <p:nvPr/>
        </p:nvSpPr>
        <p:spPr>
          <a:xfrm>
            <a:off x="548640" y="4965192"/>
            <a:ext cx="2057400" cy="786384"/>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13232" y="5221224"/>
            <a:ext cx="1828800" cy="274320"/>
          </a:xfrm>
          <a:prstGeom prst="rect">
            <a:avLst/>
          </a:prstGeom>
          <a:noFill/>
        </p:spPr>
        <p:txBody>
          <a:bodyPr wrap="square" anchor="t" lIns="0" rIns="0" tIns="0" bIns="0">
            <a:spAutoFit/>
          </a:bodyPr>
          <a:lstStyle/>
          <a:p>
            <a:pPr algn="l">
              <a:lnSpc>
                <a:spcPct val="115000"/>
              </a:lnSpc>
            </a:pPr>
            <a:r>
              <a:rPr sz="1200" b="1">
                <a:solidFill>
                  <a:srgbClr val="FFFFFF"/>
                </a:solidFill>
                <a:latin typeface="Calibri"/>
              </a:rPr>
              <a:t>Branch user</a:t>
            </a:r>
          </a:p>
        </p:txBody>
      </p:sp>
      <p:sp>
        <p:nvSpPr>
          <p:cNvPr id="24" name="Rectangle 23"/>
          <p:cNvSpPr/>
          <p:nvPr/>
        </p:nvSpPr>
        <p:spPr>
          <a:xfrm>
            <a:off x="2697480" y="4965192"/>
            <a:ext cx="8942832" cy="786384"/>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971800" y="5148072"/>
            <a:ext cx="8412480" cy="548640"/>
          </a:xfrm>
          <a:prstGeom prst="rect">
            <a:avLst/>
          </a:prstGeom>
          <a:noFill/>
        </p:spPr>
        <p:txBody>
          <a:bodyPr wrap="square" anchor="t" lIns="0" rIns="0" tIns="0" bIns="0">
            <a:spAutoFit/>
          </a:bodyPr>
          <a:lstStyle/>
          <a:p>
            <a:pPr algn="l">
              <a:lnSpc>
                <a:spcPct val="120000"/>
              </a:lnSpc>
            </a:pPr>
            <a:r>
              <a:rPr sz="1200" b="0">
                <a:solidFill>
                  <a:srgbClr val="1B2A33"/>
                </a:solidFill>
                <a:latin typeface="Calibri"/>
              </a:rPr>
              <a:t>Sees the explanation and the corrected file together, and the ticket closes</a:t>
            </a:r>
          </a:p>
        </p:txBody>
      </p:sp>
      <p:sp>
        <p:nvSpPr>
          <p:cNvPr id="26" name="Rectangle 25"/>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8" name="TextBox 27"/>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Scenarios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82880"/>
            <a:ext cx="10515600" cy="320040"/>
          </a:xfrm>
          <a:prstGeom prst="rect">
            <a:avLst/>
          </a:prstGeom>
          <a:noFill/>
        </p:spPr>
        <p:txBody>
          <a:bodyPr wrap="square" anchor="t" lIns="0" rIns="0" tIns="0" bIns="0">
            <a:spAutoFit/>
          </a:bodyPr>
          <a:lstStyle/>
          <a:p>
            <a:pPr algn="l">
              <a:lnSpc>
                <a:spcPct val="115000"/>
              </a:lnSpc>
            </a:pPr>
            <a:r>
              <a:rPr sz="2300" b="1">
                <a:solidFill>
                  <a:srgbClr val="FFFFFF"/>
                </a:solidFill>
                <a:latin typeface="Calibri"/>
              </a:rPr>
              <a:t>Scenario B — nobody picked it up</a:t>
            </a:r>
          </a:p>
        </p:txBody>
      </p:sp>
      <p:sp>
        <p:nvSpPr>
          <p:cNvPr id="5" name="TextBox 4"/>
          <p:cNvSpPr txBox="1"/>
          <p:nvPr/>
        </p:nvSpPr>
        <p:spPr>
          <a:xfrm>
            <a:off x="502920" y="548640"/>
            <a:ext cx="10515600" cy="256032"/>
          </a:xfrm>
          <a:prstGeom prst="rect">
            <a:avLst/>
          </a:prstGeom>
          <a:noFill/>
        </p:spPr>
        <p:txBody>
          <a:bodyPr wrap="square" anchor="t" lIns="0" rIns="0" tIns="0" bIns="0">
            <a:spAutoFit/>
          </a:bodyPr>
          <a:lstStyle/>
          <a:p>
            <a:pPr algn="l">
              <a:lnSpc>
                <a:spcPct val="115000"/>
              </a:lnSpc>
            </a:pPr>
            <a:r>
              <a:rPr sz="1150" b="0">
                <a:solidFill>
                  <a:srgbClr val="F3ECE0"/>
                </a:solidFill>
                <a:latin typeface="Calibri"/>
              </a:rPr>
              <a:t>What happens when a deadline passes and no one is watching</a:t>
            </a:r>
          </a:p>
        </p:txBody>
      </p:sp>
      <p:sp>
        <p:nvSpPr>
          <p:cNvPr id="6" name="Rectangle 5"/>
          <p:cNvSpPr/>
          <p:nvPr/>
        </p:nvSpPr>
        <p:spPr>
          <a:xfrm>
            <a:off x="548640" y="1234440"/>
            <a:ext cx="2057400" cy="786384"/>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1490472"/>
            <a:ext cx="1828800" cy="274320"/>
          </a:xfrm>
          <a:prstGeom prst="rect">
            <a:avLst/>
          </a:prstGeom>
          <a:noFill/>
        </p:spPr>
        <p:txBody>
          <a:bodyPr wrap="square" anchor="t" lIns="0" rIns="0" tIns="0" bIns="0">
            <a:spAutoFit/>
          </a:bodyPr>
          <a:lstStyle/>
          <a:p>
            <a:pPr algn="l">
              <a:lnSpc>
                <a:spcPct val="115000"/>
              </a:lnSpc>
            </a:pPr>
            <a:r>
              <a:rPr sz="1200" b="1">
                <a:solidFill>
                  <a:srgbClr val="FFFFFF"/>
                </a:solidFill>
                <a:latin typeface="Calibri"/>
              </a:rPr>
              <a:t>System</a:t>
            </a:r>
          </a:p>
        </p:txBody>
      </p:sp>
      <p:sp>
        <p:nvSpPr>
          <p:cNvPr id="8" name="Rectangle 7"/>
          <p:cNvSpPr/>
          <p:nvPr/>
        </p:nvSpPr>
        <p:spPr>
          <a:xfrm>
            <a:off x="2697480" y="1234440"/>
            <a:ext cx="8942832" cy="786384"/>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971800" y="1417320"/>
            <a:ext cx="8412480" cy="548640"/>
          </a:xfrm>
          <a:prstGeom prst="rect">
            <a:avLst/>
          </a:prstGeom>
          <a:noFill/>
        </p:spPr>
        <p:txBody>
          <a:bodyPr wrap="square" anchor="t" lIns="0" rIns="0" tIns="0" bIns="0">
            <a:spAutoFit/>
          </a:bodyPr>
          <a:lstStyle/>
          <a:p>
            <a:pPr algn="l">
              <a:lnSpc>
                <a:spcPct val="120000"/>
              </a:lnSpc>
            </a:pPr>
            <a:r>
              <a:rPr sz="1200" b="0">
                <a:solidFill>
                  <a:srgbClr val="1B2A33"/>
                </a:solidFill>
                <a:latin typeface="Calibri"/>
              </a:rPr>
              <a:t>The SLA worker finds the ticket past its resolution deadline</a:t>
            </a:r>
          </a:p>
        </p:txBody>
      </p:sp>
      <p:sp>
        <p:nvSpPr>
          <p:cNvPr id="10" name="Rectangle 9"/>
          <p:cNvSpPr/>
          <p:nvPr/>
        </p:nvSpPr>
        <p:spPr>
          <a:xfrm>
            <a:off x="548640" y="2167128"/>
            <a:ext cx="2057400" cy="786384"/>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3232" y="2423160"/>
            <a:ext cx="1828800" cy="274320"/>
          </a:xfrm>
          <a:prstGeom prst="rect">
            <a:avLst/>
          </a:prstGeom>
          <a:noFill/>
        </p:spPr>
        <p:txBody>
          <a:bodyPr wrap="square" anchor="t" lIns="0" rIns="0" tIns="0" bIns="0">
            <a:spAutoFit/>
          </a:bodyPr>
          <a:lstStyle/>
          <a:p>
            <a:pPr algn="l">
              <a:lnSpc>
                <a:spcPct val="115000"/>
              </a:lnSpc>
            </a:pPr>
            <a:r>
              <a:rPr sz="1200" b="1">
                <a:solidFill>
                  <a:srgbClr val="FFFFFF"/>
                </a:solidFill>
                <a:latin typeface="Calibri"/>
              </a:rPr>
              <a:t>System</a:t>
            </a:r>
          </a:p>
        </p:txBody>
      </p:sp>
      <p:sp>
        <p:nvSpPr>
          <p:cNvPr id="12" name="Rectangle 11"/>
          <p:cNvSpPr/>
          <p:nvPr/>
        </p:nvSpPr>
        <p:spPr>
          <a:xfrm>
            <a:off x="2697480" y="2167128"/>
            <a:ext cx="8942832" cy="786384"/>
          </a:xfrm>
          <a:prstGeom prst="rect">
            <a:avLst/>
          </a:prstGeom>
          <a:solidFill>
            <a:srgbClr val="FFFFFF"/>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971800" y="2350008"/>
            <a:ext cx="8412480" cy="548640"/>
          </a:xfrm>
          <a:prstGeom prst="rect">
            <a:avLst/>
          </a:prstGeom>
          <a:noFill/>
        </p:spPr>
        <p:txBody>
          <a:bodyPr wrap="square" anchor="t" lIns="0" rIns="0" tIns="0" bIns="0">
            <a:spAutoFit/>
          </a:bodyPr>
          <a:lstStyle/>
          <a:p>
            <a:pPr algn="l">
              <a:lnSpc>
                <a:spcPct val="120000"/>
              </a:lnSpc>
            </a:pPr>
            <a:r>
              <a:rPr sz="1200" b="0">
                <a:solidFill>
                  <a:srgbClr val="1B2A33"/>
                </a:solidFill>
                <a:latin typeface="Calibri"/>
              </a:rPr>
              <a:t>Marks the breach, matches the most specific escalation rule</a:t>
            </a:r>
          </a:p>
        </p:txBody>
      </p:sp>
      <p:sp>
        <p:nvSpPr>
          <p:cNvPr id="14" name="Rectangle 13"/>
          <p:cNvSpPr/>
          <p:nvPr/>
        </p:nvSpPr>
        <p:spPr>
          <a:xfrm>
            <a:off x="548640" y="3099816"/>
            <a:ext cx="2057400" cy="786384"/>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13232" y="3355848"/>
            <a:ext cx="1828800" cy="274320"/>
          </a:xfrm>
          <a:prstGeom prst="rect">
            <a:avLst/>
          </a:prstGeom>
          <a:noFill/>
        </p:spPr>
        <p:txBody>
          <a:bodyPr wrap="square" anchor="t" lIns="0" rIns="0" tIns="0" bIns="0">
            <a:spAutoFit/>
          </a:bodyPr>
          <a:lstStyle/>
          <a:p>
            <a:pPr algn="l">
              <a:lnSpc>
                <a:spcPct val="115000"/>
              </a:lnSpc>
            </a:pPr>
            <a:r>
              <a:rPr sz="1200" b="1">
                <a:solidFill>
                  <a:srgbClr val="FFFFFF"/>
                </a:solidFill>
                <a:latin typeface="Calibri"/>
              </a:rPr>
              <a:t>System</a:t>
            </a:r>
          </a:p>
        </p:txBody>
      </p:sp>
      <p:sp>
        <p:nvSpPr>
          <p:cNvPr id="16" name="Rectangle 15"/>
          <p:cNvSpPr/>
          <p:nvPr/>
        </p:nvSpPr>
        <p:spPr>
          <a:xfrm>
            <a:off x="2697480" y="3099816"/>
            <a:ext cx="8942832" cy="786384"/>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971800" y="3282696"/>
            <a:ext cx="8412480" cy="548640"/>
          </a:xfrm>
          <a:prstGeom prst="rect">
            <a:avLst/>
          </a:prstGeom>
          <a:noFill/>
        </p:spPr>
        <p:txBody>
          <a:bodyPr wrap="square" anchor="t" lIns="0" rIns="0" tIns="0" bIns="0">
            <a:spAutoFit/>
          </a:bodyPr>
          <a:lstStyle/>
          <a:p>
            <a:pPr algn="l">
              <a:lnSpc>
                <a:spcPct val="120000"/>
              </a:lnSpc>
            </a:pPr>
            <a:r>
              <a:rPr sz="1200" b="0">
                <a:solidFill>
                  <a:srgbClr val="1B2A33"/>
                </a:solidFill>
                <a:latin typeface="Calibri"/>
              </a:rPr>
              <a:t>Moves it to Escalated, reassigns to the least-loaded holder of the target role</a:t>
            </a:r>
          </a:p>
        </p:txBody>
      </p:sp>
      <p:sp>
        <p:nvSpPr>
          <p:cNvPr id="18" name="Rectangle 17"/>
          <p:cNvSpPr/>
          <p:nvPr/>
        </p:nvSpPr>
        <p:spPr>
          <a:xfrm>
            <a:off x="548640" y="4032504"/>
            <a:ext cx="2057400" cy="786384"/>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13232" y="4288536"/>
            <a:ext cx="1828800" cy="274320"/>
          </a:xfrm>
          <a:prstGeom prst="rect">
            <a:avLst/>
          </a:prstGeom>
          <a:noFill/>
        </p:spPr>
        <p:txBody>
          <a:bodyPr wrap="square" anchor="t" lIns="0" rIns="0" tIns="0" bIns="0">
            <a:spAutoFit/>
          </a:bodyPr>
          <a:lstStyle/>
          <a:p>
            <a:pPr algn="l">
              <a:lnSpc>
                <a:spcPct val="115000"/>
              </a:lnSpc>
            </a:pPr>
            <a:r>
              <a:rPr sz="1200" b="1">
                <a:solidFill>
                  <a:srgbClr val="FFFFFF"/>
                </a:solidFill>
                <a:latin typeface="Calibri"/>
              </a:rPr>
              <a:t>System</a:t>
            </a:r>
          </a:p>
        </p:txBody>
      </p:sp>
      <p:sp>
        <p:nvSpPr>
          <p:cNvPr id="20" name="Rectangle 19"/>
          <p:cNvSpPr/>
          <p:nvPr/>
        </p:nvSpPr>
        <p:spPr>
          <a:xfrm>
            <a:off x="2697480" y="4032504"/>
            <a:ext cx="8942832" cy="786384"/>
          </a:xfrm>
          <a:prstGeom prst="rect">
            <a:avLst/>
          </a:prstGeom>
          <a:solidFill>
            <a:srgbClr val="FFFFFF"/>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971800" y="4215384"/>
            <a:ext cx="8412480" cy="548640"/>
          </a:xfrm>
          <a:prstGeom prst="rect">
            <a:avLst/>
          </a:prstGeom>
          <a:noFill/>
        </p:spPr>
        <p:txBody>
          <a:bodyPr wrap="square" anchor="t" lIns="0" rIns="0" tIns="0" bIns="0">
            <a:spAutoFit/>
          </a:bodyPr>
          <a:lstStyle/>
          <a:p>
            <a:pPr algn="l">
              <a:lnSpc>
                <a:spcPct val="120000"/>
              </a:lnSpc>
            </a:pPr>
            <a:r>
              <a:rPr sz="1200" b="0">
                <a:solidFill>
                  <a:srgbClr val="1B2A33"/>
                </a:solidFill>
                <a:latin typeface="Calibri"/>
              </a:rPr>
              <a:t>Writes an escalation event, then emails the target and the managers</a:t>
            </a:r>
          </a:p>
        </p:txBody>
      </p:sp>
      <p:sp>
        <p:nvSpPr>
          <p:cNvPr id="22" name="Rectangle 21"/>
          <p:cNvSpPr/>
          <p:nvPr/>
        </p:nvSpPr>
        <p:spPr>
          <a:xfrm>
            <a:off x="548640" y="4965192"/>
            <a:ext cx="2057400" cy="786384"/>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13232" y="5221224"/>
            <a:ext cx="1828800" cy="274320"/>
          </a:xfrm>
          <a:prstGeom prst="rect">
            <a:avLst/>
          </a:prstGeom>
          <a:noFill/>
        </p:spPr>
        <p:txBody>
          <a:bodyPr wrap="square" anchor="t" lIns="0" rIns="0" tIns="0" bIns="0">
            <a:spAutoFit/>
          </a:bodyPr>
          <a:lstStyle/>
          <a:p>
            <a:pPr algn="l">
              <a:lnSpc>
                <a:spcPct val="115000"/>
              </a:lnSpc>
            </a:pPr>
            <a:r>
              <a:rPr sz="1200" b="1">
                <a:solidFill>
                  <a:srgbClr val="FFFFFF"/>
                </a:solidFill>
                <a:latin typeface="Calibri"/>
              </a:rPr>
              <a:t>Supervisor</a:t>
            </a:r>
          </a:p>
        </p:txBody>
      </p:sp>
      <p:sp>
        <p:nvSpPr>
          <p:cNvPr id="24" name="Rectangle 23"/>
          <p:cNvSpPr/>
          <p:nvPr/>
        </p:nvSpPr>
        <p:spPr>
          <a:xfrm>
            <a:off x="2697480" y="4965192"/>
            <a:ext cx="8942832" cy="786384"/>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971800" y="5148072"/>
            <a:ext cx="8412480" cy="548640"/>
          </a:xfrm>
          <a:prstGeom prst="rect">
            <a:avLst/>
          </a:prstGeom>
          <a:noFill/>
        </p:spPr>
        <p:txBody>
          <a:bodyPr wrap="square" anchor="t" lIns="0" rIns="0" tIns="0" bIns="0">
            <a:spAutoFit/>
          </a:bodyPr>
          <a:lstStyle/>
          <a:p>
            <a:pPr algn="l">
              <a:lnSpc>
                <a:spcPct val="120000"/>
              </a:lnSpc>
            </a:pPr>
            <a:r>
              <a:rPr sz="1200" b="0">
                <a:solidFill>
                  <a:srgbClr val="1B2A33"/>
                </a:solidFill>
                <a:latin typeface="Calibri"/>
              </a:rPr>
              <a:t>Sees it in the escalation queue and confirms someone is on it</a:t>
            </a:r>
          </a:p>
        </p:txBody>
      </p:sp>
      <p:sp>
        <p:nvSpPr>
          <p:cNvPr id="26" name="Rectangle 25"/>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8" name="TextBox 27"/>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Scenarios</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82880"/>
            <a:ext cx="10515600" cy="320040"/>
          </a:xfrm>
          <a:prstGeom prst="rect">
            <a:avLst/>
          </a:prstGeom>
          <a:noFill/>
        </p:spPr>
        <p:txBody>
          <a:bodyPr wrap="square" anchor="t" lIns="0" rIns="0" tIns="0" bIns="0">
            <a:spAutoFit/>
          </a:bodyPr>
          <a:lstStyle/>
          <a:p>
            <a:pPr algn="l">
              <a:lnSpc>
                <a:spcPct val="115000"/>
              </a:lnSpc>
            </a:pPr>
            <a:r>
              <a:rPr sz="2300" b="1">
                <a:solidFill>
                  <a:srgbClr val="FFFFFF"/>
                </a:solidFill>
                <a:latin typeface="Calibri"/>
              </a:rPr>
              <a:t>Scenario C — the agent needs more information</a:t>
            </a:r>
          </a:p>
        </p:txBody>
      </p:sp>
      <p:sp>
        <p:nvSpPr>
          <p:cNvPr id="5" name="TextBox 4"/>
          <p:cNvSpPr txBox="1"/>
          <p:nvPr/>
        </p:nvSpPr>
        <p:spPr>
          <a:xfrm>
            <a:off x="502920" y="548640"/>
            <a:ext cx="10515600" cy="256032"/>
          </a:xfrm>
          <a:prstGeom prst="rect">
            <a:avLst/>
          </a:prstGeom>
          <a:noFill/>
        </p:spPr>
        <p:txBody>
          <a:bodyPr wrap="square" anchor="t" lIns="0" rIns="0" tIns="0" bIns="0">
            <a:spAutoFit/>
          </a:bodyPr>
          <a:lstStyle/>
          <a:p>
            <a:pPr algn="l">
              <a:lnSpc>
                <a:spcPct val="115000"/>
              </a:lnSpc>
            </a:pPr>
            <a:r>
              <a:rPr sz="1150" b="0">
                <a:solidFill>
                  <a:srgbClr val="F3ECE0"/>
                </a:solidFill>
                <a:latin typeface="Calibri"/>
              </a:rPr>
              <a:t>The two-way exchange that used to happen over email</a:t>
            </a:r>
          </a:p>
        </p:txBody>
      </p:sp>
      <p:sp>
        <p:nvSpPr>
          <p:cNvPr id="6" name="Rectangle 5"/>
          <p:cNvSpPr/>
          <p:nvPr/>
        </p:nvSpPr>
        <p:spPr>
          <a:xfrm>
            <a:off x="548640" y="1234440"/>
            <a:ext cx="2057400" cy="786384"/>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1490472"/>
            <a:ext cx="1828800" cy="274320"/>
          </a:xfrm>
          <a:prstGeom prst="rect">
            <a:avLst/>
          </a:prstGeom>
          <a:noFill/>
        </p:spPr>
        <p:txBody>
          <a:bodyPr wrap="square" anchor="t" lIns="0" rIns="0" tIns="0" bIns="0">
            <a:spAutoFit/>
          </a:bodyPr>
          <a:lstStyle/>
          <a:p>
            <a:pPr algn="l">
              <a:lnSpc>
                <a:spcPct val="115000"/>
              </a:lnSpc>
            </a:pPr>
            <a:r>
              <a:rPr sz="1200" b="1">
                <a:solidFill>
                  <a:srgbClr val="FFFFFF"/>
                </a:solidFill>
                <a:latin typeface="Calibri"/>
              </a:rPr>
              <a:t>Agent</a:t>
            </a:r>
          </a:p>
        </p:txBody>
      </p:sp>
      <p:sp>
        <p:nvSpPr>
          <p:cNvPr id="8" name="Rectangle 7"/>
          <p:cNvSpPr/>
          <p:nvPr/>
        </p:nvSpPr>
        <p:spPr>
          <a:xfrm>
            <a:off x="2697480" y="1234440"/>
            <a:ext cx="8942832" cy="786384"/>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971800" y="1417320"/>
            <a:ext cx="8412480" cy="548640"/>
          </a:xfrm>
          <a:prstGeom prst="rect">
            <a:avLst/>
          </a:prstGeom>
          <a:noFill/>
        </p:spPr>
        <p:txBody>
          <a:bodyPr wrap="square" anchor="t" lIns="0" rIns="0" tIns="0" bIns="0">
            <a:spAutoFit/>
          </a:bodyPr>
          <a:lstStyle/>
          <a:p>
            <a:pPr algn="l">
              <a:lnSpc>
                <a:spcPct val="120000"/>
              </a:lnSpc>
            </a:pPr>
            <a:r>
              <a:rPr sz="1200" b="0">
                <a:solidFill>
                  <a:srgbClr val="1B2A33"/>
                </a:solidFill>
                <a:latin typeface="Calibri"/>
              </a:rPr>
              <a:t>Replies asking for the account number and a clearer screenshot</a:t>
            </a:r>
          </a:p>
        </p:txBody>
      </p:sp>
      <p:sp>
        <p:nvSpPr>
          <p:cNvPr id="10" name="Rectangle 9"/>
          <p:cNvSpPr/>
          <p:nvPr/>
        </p:nvSpPr>
        <p:spPr>
          <a:xfrm>
            <a:off x="548640" y="2167128"/>
            <a:ext cx="2057400" cy="786384"/>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3232" y="2423160"/>
            <a:ext cx="1828800" cy="274320"/>
          </a:xfrm>
          <a:prstGeom prst="rect">
            <a:avLst/>
          </a:prstGeom>
          <a:noFill/>
        </p:spPr>
        <p:txBody>
          <a:bodyPr wrap="square" anchor="t" lIns="0" rIns="0" tIns="0" bIns="0">
            <a:spAutoFit/>
          </a:bodyPr>
          <a:lstStyle/>
          <a:p>
            <a:pPr algn="l">
              <a:lnSpc>
                <a:spcPct val="115000"/>
              </a:lnSpc>
            </a:pPr>
            <a:r>
              <a:rPr sz="1200" b="1">
                <a:solidFill>
                  <a:srgbClr val="FFFFFF"/>
                </a:solidFill>
                <a:latin typeface="Calibri"/>
              </a:rPr>
              <a:t>Branch user</a:t>
            </a:r>
          </a:p>
        </p:txBody>
      </p:sp>
      <p:sp>
        <p:nvSpPr>
          <p:cNvPr id="12" name="Rectangle 11"/>
          <p:cNvSpPr/>
          <p:nvPr/>
        </p:nvSpPr>
        <p:spPr>
          <a:xfrm>
            <a:off x="2697480" y="2167128"/>
            <a:ext cx="8942832" cy="786384"/>
          </a:xfrm>
          <a:prstGeom prst="rect">
            <a:avLst/>
          </a:prstGeom>
          <a:solidFill>
            <a:srgbClr val="FFFFFF"/>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971800" y="2350008"/>
            <a:ext cx="8412480" cy="548640"/>
          </a:xfrm>
          <a:prstGeom prst="rect">
            <a:avLst/>
          </a:prstGeom>
          <a:noFill/>
        </p:spPr>
        <p:txBody>
          <a:bodyPr wrap="square" anchor="t" lIns="0" rIns="0" tIns="0" bIns="0">
            <a:spAutoFit/>
          </a:bodyPr>
          <a:lstStyle/>
          <a:p>
            <a:pPr algn="l">
              <a:lnSpc>
                <a:spcPct val="120000"/>
              </a:lnSpc>
            </a:pPr>
            <a:r>
              <a:rPr sz="1200" b="0">
                <a:solidFill>
                  <a:srgbClr val="1B2A33"/>
                </a:solidFill>
                <a:latin typeface="Calibri"/>
              </a:rPr>
              <a:t>Answers on the ticket and attaches the new screenshot</a:t>
            </a:r>
          </a:p>
        </p:txBody>
      </p:sp>
      <p:sp>
        <p:nvSpPr>
          <p:cNvPr id="14" name="Rectangle 13"/>
          <p:cNvSpPr/>
          <p:nvPr/>
        </p:nvSpPr>
        <p:spPr>
          <a:xfrm>
            <a:off x="548640" y="3099816"/>
            <a:ext cx="2057400" cy="786384"/>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13232" y="3355848"/>
            <a:ext cx="1828800" cy="274320"/>
          </a:xfrm>
          <a:prstGeom prst="rect">
            <a:avLst/>
          </a:prstGeom>
          <a:noFill/>
        </p:spPr>
        <p:txBody>
          <a:bodyPr wrap="square" anchor="t" lIns="0" rIns="0" tIns="0" bIns="0">
            <a:spAutoFit/>
          </a:bodyPr>
          <a:lstStyle/>
          <a:p>
            <a:pPr algn="l">
              <a:lnSpc>
                <a:spcPct val="115000"/>
              </a:lnSpc>
            </a:pPr>
            <a:r>
              <a:rPr sz="1200" b="1">
                <a:solidFill>
                  <a:srgbClr val="FFFFFF"/>
                </a:solidFill>
                <a:latin typeface="Calibri"/>
              </a:rPr>
              <a:t>Agent</a:t>
            </a:r>
          </a:p>
        </p:txBody>
      </p:sp>
      <p:sp>
        <p:nvSpPr>
          <p:cNvPr id="16" name="Rectangle 15"/>
          <p:cNvSpPr/>
          <p:nvPr/>
        </p:nvSpPr>
        <p:spPr>
          <a:xfrm>
            <a:off x="2697480" y="3099816"/>
            <a:ext cx="8942832" cy="786384"/>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971800" y="3282696"/>
            <a:ext cx="8412480" cy="548640"/>
          </a:xfrm>
          <a:prstGeom prst="rect">
            <a:avLst/>
          </a:prstGeom>
          <a:noFill/>
        </p:spPr>
        <p:txBody>
          <a:bodyPr wrap="square" anchor="t" lIns="0" rIns="0" tIns="0" bIns="0">
            <a:spAutoFit/>
          </a:bodyPr>
          <a:lstStyle/>
          <a:p>
            <a:pPr algn="l">
              <a:lnSpc>
                <a:spcPct val="120000"/>
              </a:lnSpc>
            </a:pPr>
            <a:r>
              <a:rPr sz="1200" b="0">
                <a:solidFill>
                  <a:srgbClr val="1B2A33"/>
                </a:solidFill>
                <a:latin typeface="Calibri"/>
              </a:rPr>
              <a:t>Continues, adding an internal note with findings the requester should not see</a:t>
            </a:r>
          </a:p>
        </p:txBody>
      </p:sp>
      <p:sp>
        <p:nvSpPr>
          <p:cNvPr id="18" name="Rectangle 17"/>
          <p:cNvSpPr/>
          <p:nvPr/>
        </p:nvSpPr>
        <p:spPr>
          <a:xfrm>
            <a:off x="548640" y="4032504"/>
            <a:ext cx="2057400" cy="786384"/>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13232" y="4288536"/>
            <a:ext cx="1828800" cy="274320"/>
          </a:xfrm>
          <a:prstGeom prst="rect">
            <a:avLst/>
          </a:prstGeom>
          <a:noFill/>
        </p:spPr>
        <p:txBody>
          <a:bodyPr wrap="square" anchor="t" lIns="0" rIns="0" tIns="0" bIns="0">
            <a:spAutoFit/>
          </a:bodyPr>
          <a:lstStyle/>
          <a:p>
            <a:pPr algn="l">
              <a:lnSpc>
                <a:spcPct val="115000"/>
              </a:lnSpc>
            </a:pPr>
            <a:r>
              <a:rPr sz="1200" b="1">
                <a:solidFill>
                  <a:srgbClr val="FFFFFF"/>
                </a:solidFill>
                <a:latin typeface="Calibri"/>
              </a:rPr>
              <a:t>Branch user</a:t>
            </a:r>
          </a:p>
        </p:txBody>
      </p:sp>
      <p:sp>
        <p:nvSpPr>
          <p:cNvPr id="20" name="Rectangle 19"/>
          <p:cNvSpPr/>
          <p:nvPr/>
        </p:nvSpPr>
        <p:spPr>
          <a:xfrm>
            <a:off x="2697480" y="4032504"/>
            <a:ext cx="8942832" cy="786384"/>
          </a:xfrm>
          <a:prstGeom prst="rect">
            <a:avLst/>
          </a:prstGeom>
          <a:solidFill>
            <a:srgbClr val="FFFFFF"/>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971800" y="4215384"/>
            <a:ext cx="8412480" cy="548640"/>
          </a:xfrm>
          <a:prstGeom prst="rect">
            <a:avLst/>
          </a:prstGeom>
          <a:noFill/>
        </p:spPr>
        <p:txBody>
          <a:bodyPr wrap="square" anchor="t" lIns="0" rIns="0" tIns="0" bIns="0">
            <a:spAutoFit/>
          </a:bodyPr>
          <a:lstStyle/>
          <a:p>
            <a:pPr algn="l">
              <a:lnSpc>
                <a:spcPct val="120000"/>
              </a:lnSpc>
            </a:pPr>
            <a:r>
              <a:rPr sz="1200" b="0">
                <a:solidFill>
                  <a:srgbClr val="1B2A33"/>
                </a:solidFill>
                <a:latin typeface="Calibri"/>
              </a:rPr>
              <a:t>Sees neither the internal note nor the file attached to it</a:t>
            </a:r>
          </a:p>
        </p:txBody>
      </p:sp>
      <p:sp>
        <p:nvSpPr>
          <p:cNvPr id="22" name="Rectangle 21"/>
          <p:cNvSpPr/>
          <p:nvPr/>
        </p:nvSpPr>
        <p:spPr>
          <a:xfrm>
            <a:off x="548640" y="4965192"/>
            <a:ext cx="2057400" cy="786384"/>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13232" y="5221224"/>
            <a:ext cx="1828800" cy="274320"/>
          </a:xfrm>
          <a:prstGeom prst="rect">
            <a:avLst/>
          </a:prstGeom>
          <a:noFill/>
        </p:spPr>
        <p:txBody>
          <a:bodyPr wrap="square" anchor="t" lIns="0" rIns="0" tIns="0" bIns="0">
            <a:spAutoFit/>
          </a:bodyPr>
          <a:lstStyle/>
          <a:p>
            <a:pPr algn="l">
              <a:lnSpc>
                <a:spcPct val="115000"/>
              </a:lnSpc>
            </a:pPr>
            <a:r>
              <a:rPr sz="1200" b="1">
                <a:solidFill>
                  <a:srgbClr val="FFFFFF"/>
                </a:solidFill>
                <a:latin typeface="Calibri"/>
              </a:rPr>
              <a:t>Agent</a:t>
            </a:r>
          </a:p>
        </p:txBody>
      </p:sp>
      <p:sp>
        <p:nvSpPr>
          <p:cNvPr id="24" name="Rectangle 23"/>
          <p:cNvSpPr/>
          <p:nvPr/>
        </p:nvSpPr>
        <p:spPr>
          <a:xfrm>
            <a:off x="2697480" y="4965192"/>
            <a:ext cx="8942832" cy="786384"/>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971800" y="5148072"/>
            <a:ext cx="8412480" cy="548640"/>
          </a:xfrm>
          <a:prstGeom prst="rect">
            <a:avLst/>
          </a:prstGeom>
          <a:noFill/>
        </p:spPr>
        <p:txBody>
          <a:bodyPr wrap="square" anchor="t" lIns="0" rIns="0" tIns="0" bIns="0">
            <a:spAutoFit/>
          </a:bodyPr>
          <a:lstStyle/>
          <a:p>
            <a:pPr algn="l">
              <a:lnSpc>
                <a:spcPct val="120000"/>
              </a:lnSpc>
            </a:pPr>
            <a:r>
              <a:rPr sz="1200" b="0">
                <a:solidFill>
                  <a:srgbClr val="1B2A33"/>
                </a:solidFill>
                <a:latin typeface="Calibri"/>
              </a:rPr>
              <a:t>Resolves with a public explanation</a:t>
            </a:r>
          </a:p>
        </p:txBody>
      </p:sp>
      <p:sp>
        <p:nvSpPr>
          <p:cNvPr id="26" name="Rectangle 25"/>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8" name="TextBox 27"/>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Scenarios</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82880"/>
            <a:ext cx="10515600" cy="320040"/>
          </a:xfrm>
          <a:prstGeom prst="rect">
            <a:avLst/>
          </a:prstGeom>
          <a:noFill/>
        </p:spPr>
        <p:txBody>
          <a:bodyPr wrap="square" anchor="t" lIns="0" rIns="0" tIns="0" bIns="0">
            <a:spAutoFit/>
          </a:bodyPr>
          <a:lstStyle/>
          <a:p>
            <a:pPr algn="l">
              <a:lnSpc>
                <a:spcPct val="115000"/>
              </a:lnSpc>
            </a:pPr>
            <a:r>
              <a:rPr sz="2300" b="1">
                <a:solidFill>
                  <a:srgbClr val="FFFFFF"/>
                </a:solidFill>
                <a:latin typeface="Calibri"/>
              </a:rPr>
              <a:t>Scenario D — it was not actually fixed</a:t>
            </a:r>
          </a:p>
        </p:txBody>
      </p:sp>
      <p:sp>
        <p:nvSpPr>
          <p:cNvPr id="5" name="TextBox 4"/>
          <p:cNvSpPr txBox="1"/>
          <p:nvPr/>
        </p:nvSpPr>
        <p:spPr>
          <a:xfrm>
            <a:off x="502920" y="548640"/>
            <a:ext cx="10515600" cy="256032"/>
          </a:xfrm>
          <a:prstGeom prst="rect">
            <a:avLst/>
          </a:prstGeom>
          <a:noFill/>
        </p:spPr>
        <p:txBody>
          <a:bodyPr wrap="square" anchor="t" lIns="0" rIns="0" tIns="0" bIns="0">
            <a:spAutoFit/>
          </a:bodyPr>
          <a:lstStyle/>
          <a:p>
            <a:pPr algn="l">
              <a:lnSpc>
                <a:spcPct val="115000"/>
              </a:lnSpc>
            </a:pPr>
            <a:r>
              <a:rPr sz="1150" b="0">
                <a:solidFill>
                  <a:srgbClr val="F3ECE0"/>
                </a:solidFill>
                <a:latin typeface="Calibri"/>
              </a:rPr>
              <a:t>Reopening, and what it does to the counts</a:t>
            </a:r>
          </a:p>
        </p:txBody>
      </p:sp>
      <p:sp>
        <p:nvSpPr>
          <p:cNvPr id="6" name="Rectangle 5"/>
          <p:cNvSpPr/>
          <p:nvPr/>
        </p:nvSpPr>
        <p:spPr>
          <a:xfrm>
            <a:off x="548640" y="1234440"/>
            <a:ext cx="2057400" cy="786384"/>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1490472"/>
            <a:ext cx="1828800" cy="274320"/>
          </a:xfrm>
          <a:prstGeom prst="rect">
            <a:avLst/>
          </a:prstGeom>
          <a:noFill/>
        </p:spPr>
        <p:txBody>
          <a:bodyPr wrap="square" anchor="t" lIns="0" rIns="0" tIns="0" bIns="0">
            <a:spAutoFit/>
          </a:bodyPr>
          <a:lstStyle/>
          <a:p>
            <a:pPr algn="l">
              <a:lnSpc>
                <a:spcPct val="115000"/>
              </a:lnSpc>
            </a:pPr>
            <a:r>
              <a:rPr sz="1200" b="1">
                <a:solidFill>
                  <a:srgbClr val="FFFFFF"/>
                </a:solidFill>
                <a:latin typeface="Calibri"/>
              </a:rPr>
              <a:t>Branch user</a:t>
            </a:r>
          </a:p>
        </p:txBody>
      </p:sp>
      <p:sp>
        <p:nvSpPr>
          <p:cNvPr id="8" name="Rectangle 7"/>
          <p:cNvSpPr/>
          <p:nvPr/>
        </p:nvSpPr>
        <p:spPr>
          <a:xfrm>
            <a:off x="2697480" y="1234440"/>
            <a:ext cx="8942832" cy="786384"/>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971800" y="1417320"/>
            <a:ext cx="8412480" cy="548640"/>
          </a:xfrm>
          <a:prstGeom prst="rect">
            <a:avLst/>
          </a:prstGeom>
          <a:noFill/>
        </p:spPr>
        <p:txBody>
          <a:bodyPr wrap="square" anchor="t" lIns="0" rIns="0" tIns="0" bIns="0">
            <a:spAutoFit/>
          </a:bodyPr>
          <a:lstStyle/>
          <a:p>
            <a:pPr algn="l">
              <a:lnSpc>
                <a:spcPct val="120000"/>
              </a:lnSpc>
            </a:pPr>
            <a:r>
              <a:rPr sz="1200" b="0">
                <a:solidFill>
                  <a:srgbClr val="1B2A33"/>
                </a:solidFill>
                <a:latin typeface="Calibri"/>
              </a:rPr>
              <a:t>Reads the resolution and finds the problem still occurring</a:t>
            </a:r>
          </a:p>
        </p:txBody>
      </p:sp>
      <p:sp>
        <p:nvSpPr>
          <p:cNvPr id="10" name="Rectangle 9"/>
          <p:cNvSpPr/>
          <p:nvPr/>
        </p:nvSpPr>
        <p:spPr>
          <a:xfrm>
            <a:off x="548640" y="2167128"/>
            <a:ext cx="2057400" cy="786384"/>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3232" y="2423160"/>
            <a:ext cx="1828800" cy="274320"/>
          </a:xfrm>
          <a:prstGeom prst="rect">
            <a:avLst/>
          </a:prstGeom>
          <a:noFill/>
        </p:spPr>
        <p:txBody>
          <a:bodyPr wrap="square" anchor="t" lIns="0" rIns="0" tIns="0" bIns="0">
            <a:spAutoFit/>
          </a:bodyPr>
          <a:lstStyle/>
          <a:p>
            <a:pPr algn="l">
              <a:lnSpc>
                <a:spcPct val="115000"/>
              </a:lnSpc>
            </a:pPr>
            <a:r>
              <a:rPr sz="1200" b="1">
                <a:solidFill>
                  <a:srgbClr val="FFFFFF"/>
                </a:solidFill>
                <a:latin typeface="Calibri"/>
              </a:rPr>
              <a:t>Branch user</a:t>
            </a:r>
          </a:p>
        </p:txBody>
      </p:sp>
      <p:sp>
        <p:nvSpPr>
          <p:cNvPr id="12" name="Rectangle 11"/>
          <p:cNvSpPr/>
          <p:nvPr/>
        </p:nvSpPr>
        <p:spPr>
          <a:xfrm>
            <a:off x="2697480" y="2167128"/>
            <a:ext cx="8942832" cy="786384"/>
          </a:xfrm>
          <a:prstGeom prst="rect">
            <a:avLst/>
          </a:prstGeom>
          <a:solidFill>
            <a:srgbClr val="FFFFFF"/>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971800" y="2350008"/>
            <a:ext cx="8412480" cy="548640"/>
          </a:xfrm>
          <a:prstGeom prst="rect">
            <a:avLst/>
          </a:prstGeom>
          <a:noFill/>
        </p:spPr>
        <p:txBody>
          <a:bodyPr wrap="square" anchor="t" lIns="0" rIns="0" tIns="0" bIns="0">
            <a:spAutoFit/>
          </a:bodyPr>
          <a:lstStyle/>
          <a:p>
            <a:pPr algn="l">
              <a:lnSpc>
                <a:spcPct val="120000"/>
              </a:lnSpc>
            </a:pPr>
            <a:r>
              <a:rPr sz="1200" b="0">
                <a:solidFill>
                  <a:srgbClr val="1B2A33"/>
                </a:solidFill>
                <a:latin typeface="Calibri"/>
              </a:rPr>
              <a:t>Reopens the ticket, explaining what is still wrong</a:t>
            </a:r>
          </a:p>
        </p:txBody>
      </p:sp>
      <p:sp>
        <p:nvSpPr>
          <p:cNvPr id="14" name="Rectangle 13"/>
          <p:cNvSpPr/>
          <p:nvPr/>
        </p:nvSpPr>
        <p:spPr>
          <a:xfrm>
            <a:off x="548640" y="3099816"/>
            <a:ext cx="2057400" cy="786384"/>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13232" y="3355848"/>
            <a:ext cx="1828800" cy="274320"/>
          </a:xfrm>
          <a:prstGeom prst="rect">
            <a:avLst/>
          </a:prstGeom>
          <a:noFill/>
        </p:spPr>
        <p:txBody>
          <a:bodyPr wrap="square" anchor="t" lIns="0" rIns="0" tIns="0" bIns="0">
            <a:spAutoFit/>
          </a:bodyPr>
          <a:lstStyle/>
          <a:p>
            <a:pPr algn="l">
              <a:lnSpc>
                <a:spcPct val="115000"/>
              </a:lnSpc>
            </a:pPr>
            <a:r>
              <a:rPr sz="1200" b="1">
                <a:solidFill>
                  <a:srgbClr val="FFFFFF"/>
                </a:solidFill>
                <a:latin typeface="Calibri"/>
              </a:rPr>
              <a:t>System</a:t>
            </a:r>
          </a:p>
        </p:txBody>
      </p:sp>
      <p:sp>
        <p:nvSpPr>
          <p:cNvPr id="16" name="Rectangle 15"/>
          <p:cNvSpPr/>
          <p:nvPr/>
        </p:nvSpPr>
        <p:spPr>
          <a:xfrm>
            <a:off x="2697480" y="3099816"/>
            <a:ext cx="8942832" cy="786384"/>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971800" y="3282696"/>
            <a:ext cx="8412480" cy="548640"/>
          </a:xfrm>
          <a:prstGeom prst="rect">
            <a:avLst/>
          </a:prstGeom>
          <a:noFill/>
        </p:spPr>
        <p:txBody>
          <a:bodyPr wrap="square" anchor="t" lIns="0" rIns="0" tIns="0" bIns="0">
            <a:spAutoFit/>
          </a:bodyPr>
          <a:lstStyle/>
          <a:p>
            <a:pPr algn="l">
              <a:lnSpc>
                <a:spcPct val="120000"/>
              </a:lnSpc>
            </a:pPr>
            <a:r>
              <a:rPr sz="1200" b="0">
                <a:solidFill>
                  <a:srgbClr val="1B2A33"/>
                </a:solidFill>
                <a:latin typeface="Calibri"/>
              </a:rPr>
              <a:t>The ticket returns to the open set and counts against the dashboard again</a:t>
            </a:r>
          </a:p>
        </p:txBody>
      </p:sp>
      <p:sp>
        <p:nvSpPr>
          <p:cNvPr id="18" name="Rectangle 17"/>
          <p:cNvSpPr/>
          <p:nvPr/>
        </p:nvSpPr>
        <p:spPr>
          <a:xfrm>
            <a:off x="548640" y="4032504"/>
            <a:ext cx="2057400" cy="786384"/>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13232" y="4288536"/>
            <a:ext cx="1828800" cy="274320"/>
          </a:xfrm>
          <a:prstGeom prst="rect">
            <a:avLst/>
          </a:prstGeom>
          <a:noFill/>
        </p:spPr>
        <p:txBody>
          <a:bodyPr wrap="square" anchor="t" lIns="0" rIns="0" tIns="0" bIns="0">
            <a:spAutoFit/>
          </a:bodyPr>
          <a:lstStyle/>
          <a:p>
            <a:pPr algn="l">
              <a:lnSpc>
                <a:spcPct val="115000"/>
              </a:lnSpc>
            </a:pPr>
            <a:r>
              <a:rPr sz="1200" b="1">
                <a:solidFill>
                  <a:srgbClr val="FFFFFF"/>
                </a:solidFill>
                <a:latin typeface="Calibri"/>
              </a:rPr>
              <a:t>Agent</a:t>
            </a:r>
          </a:p>
        </p:txBody>
      </p:sp>
      <p:sp>
        <p:nvSpPr>
          <p:cNvPr id="20" name="Rectangle 19"/>
          <p:cNvSpPr/>
          <p:nvPr/>
        </p:nvSpPr>
        <p:spPr>
          <a:xfrm>
            <a:off x="2697480" y="4032504"/>
            <a:ext cx="8942832" cy="786384"/>
          </a:xfrm>
          <a:prstGeom prst="rect">
            <a:avLst/>
          </a:prstGeom>
          <a:solidFill>
            <a:srgbClr val="FFFFFF"/>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971800" y="4215384"/>
            <a:ext cx="8412480" cy="548640"/>
          </a:xfrm>
          <a:prstGeom prst="rect">
            <a:avLst/>
          </a:prstGeom>
          <a:noFill/>
        </p:spPr>
        <p:txBody>
          <a:bodyPr wrap="square" anchor="t" lIns="0" rIns="0" tIns="0" bIns="0">
            <a:spAutoFit/>
          </a:bodyPr>
          <a:lstStyle/>
          <a:p>
            <a:pPr algn="l">
              <a:lnSpc>
                <a:spcPct val="120000"/>
              </a:lnSpc>
            </a:pPr>
            <a:r>
              <a:rPr sz="1200" b="0">
                <a:solidFill>
                  <a:srgbClr val="1B2A33"/>
                </a:solidFill>
                <a:latin typeface="Calibri"/>
              </a:rPr>
              <a:t>Picks it back up from Assigned and works it a second time</a:t>
            </a:r>
          </a:p>
        </p:txBody>
      </p:sp>
      <p:sp>
        <p:nvSpPr>
          <p:cNvPr id="22" name="Rectangle 21"/>
          <p:cNvSpPr/>
          <p:nvPr/>
        </p:nvSpPr>
        <p:spPr>
          <a:xfrm>
            <a:off x="548640" y="4965192"/>
            <a:ext cx="2057400" cy="786384"/>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13232" y="5221224"/>
            <a:ext cx="1828800" cy="274320"/>
          </a:xfrm>
          <a:prstGeom prst="rect">
            <a:avLst/>
          </a:prstGeom>
          <a:noFill/>
        </p:spPr>
        <p:txBody>
          <a:bodyPr wrap="square" anchor="t" lIns="0" rIns="0" tIns="0" bIns="0">
            <a:spAutoFit/>
          </a:bodyPr>
          <a:lstStyle/>
          <a:p>
            <a:pPr algn="l">
              <a:lnSpc>
                <a:spcPct val="115000"/>
              </a:lnSpc>
            </a:pPr>
            <a:r>
              <a:rPr sz="1200" b="1">
                <a:solidFill>
                  <a:srgbClr val="FFFFFF"/>
                </a:solidFill>
                <a:latin typeface="Calibri"/>
              </a:rPr>
              <a:t>Agent</a:t>
            </a:r>
          </a:p>
        </p:txBody>
      </p:sp>
      <p:sp>
        <p:nvSpPr>
          <p:cNvPr id="24" name="Rectangle 23"/>
          <p:cNvSpPr/>
          <p:nvPr/>
        </p:nvSpPr>
        <p:spPr>
          <a:xfrm>
            <a:off x="2697480" y="4965192"/>
            <a:ext cx="8942832" cy="786384"/>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971800" y="5148072"/>
            <a:ext cx="8412480" cy="548640"/>
          </a:xfrm>
          <a:prstGeom prst="rect">
            <a:avLst/>
          </a:prstGeom>
          <a:noFill/>
        </p:spPr>
        <p:txBody>
          <a:bodyPr wrap="square" anchor="t" lIns="0" rIns="0" tIns="0" bIns="0">
            <a:spAutoFit/>
          </a:bodyPr>
          <a:lstStyle/>
          <a:p>
            <a:pPr algn="l">
              <a:lnSpc>
                <a:spcPct val="120000"/>
              </a:lnSpc>
            </a:pPr>
            <a:r>
              <a:rPr sz="1200" b="0">
                <a:solidFill>
                  <a:srgbClr val="1B2A33"/>
                </a:solidFill>
                <a:latin typeface="Calibri"/>
              </a:rPr>
              <a:t>Resolves again — the whole history stays on the one ticket</a:t>
            </a:r>
          </a:p>
        </p:txBody>
      </p:sp>
      <p:sp>
        <p:nvSpPr>
          <p:cNvPr id="26" name="Rectangle 25"/>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8" name="TextBox 27"/>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Scenarios</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377440"/>
            <a:ext cx="1828800" cy="548640"/>
          </a:xfrm>
          <a:prstGeom prst="rect">
            <a:avLst/>
          </a:prstGeom>
          <a:noFill/>
        </p:spPr>
        <p:txBody>
          <a:bodyPr wrap="square" anchor="t" lIns="0" rIns="0" tIns="0" bIns="0">
            <a:spAutoFit/>
          </a:bodyPr>
          <a:lstStyle/>
          <a:p>
            <a:pPr algn="l">
              <a:lnSpc>
                <a:spcPct val="115000"/>
              </a:lnSpc>
            </a:pPr>
            <a:r>
              <a:rPr sz="1300" b="1">
                <a:solidFill>
                  <a:srgbClr val="C25B2E"/>
                </a:solidFill>
                <a:latin typeface="Calibri"/>
              </a:rPr>
              <a:t>SECTION 14</a:t>
            </a:r>
          </a:p>
        </p:txBody>
      </p:sp>
      <p:sp>
        <p:nvSpPr>
          <p:cNvPr id="5" name="TextBox 4"/>
          <p:cNvSpPr txBox="1"/>
          <p:nvPr/>
        </p:nvSpPr>
        <p:spPr>
          <a:xfrm>
            <a:off x="1005840" y="2788920"/>
            <a:ext cx="9601200" cy="822960"/>
          </a:xfrm>
          <a:prstGeom prst="rect">
            <a:avLst/>
          </a:prstGeom>
          <a:noFill/>
        </p:spPr>
        <p:txBody>
          <a:bodyPr wrap="square" anchor="t" lIns="0" rIns="0" tIns="0" bIns="0">
            <a:spAutoFit/>
          </a:bodyPr>
          <a:lstStyle/>
          <a:p>
            <a:pPr algn="l">
              <a:lnSpc>
                <a:spcPct val="115000"/>
              </a:lnSpc>
            </a:pPr>
            <a:r>
              <a:rPr sz="3400" b="1">
                <a:solidFill>
                  <a:srgbClr val="0E4F4A"/>
                </a:solidFill>
                <a:latin typeface="Calibri"/>
              </a:rPr>
              <a:t>Quick reference</a:t>
            </a:r>
          </a:p>
        </p:txBody>
      </p:sp>
      <p:sp>
        <p:nvSpPr>
          <p:cNvPr id="6" name="TextBox 5"/>
          <p:cNvSpPr txBox="1"/>
          <p:nvPr/>
        </p:nvSpPr>
        <p:spPr>
          <a:xfrm>
            <a:off x="1005840" y="3794760"/>
            <a:ext cx="8686800" cy="914400"/>
          </a:xfrm>
          <a:prstGeom prst="rect">
            <a:avLst/>
          </a:prstGeom>
          <a:noFill/>
        </p:spPr>
        <p:txBody>
          <a:bodyPr wrap="square" anchor="t" lIns="0" rIns="0" tIns="0" bIns="0">
            <a:spAutoFit/>
          </a:bodyPr>
          <a:lstStyle/>
          <a:p>
            <a:pPr algn="l">
              <a:lnSpc>
                <a:spcPct val="130000"/>
              </a:lnSpc>
            </a:pPr>
            <a:r>
              <a:rPr sz="1500" b="0">
                <a:solidFill>
                  <a:srgbClr val="5B6B75"/>
                </a:solidFill>
                <a:latin typeface="Calibri"/>
              </a:rPr>
              <a:t>The desk copy. Statuses, who does what, and where things live.</a:t>
            </a:r>
          </a:p>
        </p:txBody>
      </p:sp>
      <p:sp>
        <p:nvSpPr>
          <p:cNvPr id="7" name="Rectangle 6"/>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9" name="TextBox 8"/>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Section 14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82880"/>
            <a:ext cx="10515600" cy="320040"/>
          </a:xfrm>
          <a:prstGeom prst="rect">
            <a:avLst/>
          </a:prstGeom>
          <a:noFill/>
        </p:spPr>
        <p:txBody>
          <a:bodyPr wrap="square" anchor="t" lIns="0" rIns="0" tIns="0" bIns="0">
            <a:spAutoFit/>
          </a:bodyPr>
          <a:lstStyle/>
          <a:p>
            <a:pPr algn="l">
              <a:lnSpc>
                <a:spcPct val="115000"/>
              </a:lnSpc>
            </a:pPr>
            <a:r>
              <a:rPr sz="2300" b="1">
                <a:solidFill>
                  <a:srgbClr val="FFFFFF"/>
                </a:solidFill>
                <a:latin typeface="Calibri"/>
              </a:rPr>
              <a:t>Status reference</a:t>
            </a:r>
          </a:p>
        </p:txBody>
      </p:sp>
      <p:sp>
        <p:nvSpPr>
          <p:cNvPr id="5" name="TextBox 4"/>
          <p:cNvSpPr txBox="1"/>
          <p:nvPr/>
        </p:nvSpPr>
        <p:spPr>
          <a:xfrm>
            <a:off x="502920" y="548640"/>
            <a:ext cx="10515600" cy="256032"/>
          </a:xfrm>
          <a:prstGeom prst="rect">
            <a:avLst/>
          </a:prstGeom>
          <a:noFill/>
        </p:spPr>
        <p:txBody>
          <a:bodyPr wrap="square" anchor="t" lIns="0" rIns="0" tIns="0" bIns="0">
            <a:spAutoFit/>
          </a:bodyPr>
          <a:lstStyle/>
          <a:p>
            <a:pPr algn="l">
              <a:lnSpc>
                <a:spcPct val="115000"/>
              </a:lnSpc>
            </a:pPr>
            <a:r>
              <a:rPr sz="1150" b="0">
                <a:solidFill>
                  <a:srgbClr val="F3ECE0"/>
                </a:solidFill>
                <a:latin typeface="Calibri"/>
              </a:rPr>
              <a:t>Who can move a ticket into each state, and what it means</a:t>
            </a:r>
          </a:p>
        </p:txBody>
      </p:sp>
      <p:graphicFrame>
        <p:nvGraphicFramePr>
          <p:cNvPr id="6" name="Table 5"/>
          <p:cNvGraphicFramePr>
            <a:graphicFrameLocks noGrp="1"/>
          </p:cNvGraphicFramePr>
          <p:nvPr/>
        </p:nvGraphicFramePr>
        <p:xfrm>
          <a:off x="457200" y="1143000"/>
          <a:ext cx="11247120" cy="3657600"/>
        </p:xfrm>
        <a:graphic>
          <a:graphicData uri="http://schemas.openxmlformats.org/drawingml/2006/table">
            <a:tbl>
              <a:tblPr firstRow="1" bandRow="1">
                <a:tableStyleId>{5C22544A-7EE6-4342-B048-85BDC9FD1C3A}</a:tableStyleId>
              </a:tblPr>
              <a:tblGrid>
                <a:gridCol w="1920240"/>
                <a:gridCol w="6035040"/>
                <a:gridCol w="3291840"/>
              </a:tblGrid>
              <a:tr h="365760">
                <a:tc>
                  <a:txBody>
                    <a:bodyPr/>
                    <a:lstStyle/>
                    <a:p>
                      <a:r>
                        <a:rPr sz="1100" b="1">
                          <a:solidFill>
                            <a:srgbClr val="FFFFFF"/>
                          </a:solidFill>
                        </a:rPr>
                        <a:t>Status</a:t>
                      </a:r>
                    </a:p>
                  </a:txBody>
                  <a:tcPr>
                    <a:solidFill>
                      <a:srgbClr val="0E4F4A"/>
                    </a:solidFill>
                  </a:tcPr>
                </a:tc>
                <a:tc>
                  <a:txBody>
                    <a:bodyPr/>
                    <a:lstStyle/>
                    <a:p>
                      <a:r>
                        <a:rPr sz="1100" b="1">
                          <a:solidFill>
                            <a:srgbClr val="FFFFFF"/>
                          </a:solidFill>
                        </a:rPr>
                        <a:t>Means</a:t>
                      </a:r>
                    </a:p>
                  </a:txBody>
                  <a:tcPr>
                    <a:solidFill>
                      <a:srgbClr val="0E4F4A"/>
                    </a:solidFill>
                  </a:tcPr>
                </a:tc>
                <a:tc>
                  <a:txBody>
                    <a:bodyPr/>
                    <a:lstStyle/>
                    <a:p>
                      <a:r>
                        <a:rPr sz="1100" b="1">
                          <a:solidFill>
                            <a:srgbClr val="FFFFFF"/>
                          </a:solidFill>
                        </a:rPr>
                        <a:t>Set by</a:t>
                      </a:r>
                    </a:p>
                  </a:txBody>
                  <a:tcPr>
                    <a:solidFill>
                      <a:srgbClr val="0E4F4A"/>
                    </a:solidFill>
                  </a:tcPr>
                </a:tc>
              </a:tr>
              <a:tr h="365760">
                <a:tc>
                  <a:txBody>
                    <a:bodyPr/>
                    <a:lstStyle/>
                    <a:p>
                      <a:r>
                        <a:rPr sz="1050">
                          <a:solidFill>
                            <a:srgbClr val="1B2A33"/>
                          </a:solidFill>
                        </a:rPr>
                        <a:t>new</a:t>
                      </a:r>
                    </a:p>
                  </a:txBody>
                  <a:tcPr>
                    <a:solidFill>
                      <a:srgbClr val="FFFFFF"/>
                    </a:solidFill>
                  </a:tcPr>
                </a:tc>
                <a:tc>
                  <a:txBody>
                    <a:bodyPr/>
                    <a:lstStyle/>
                    <a:p>
                      <a:r>
                        <a:rPr sz="1050">
                          <a:solidFill>
                            <a:srgbClr val="1B2A33"/>
                          </a:solidFill>
                        </a:rPr>
                        <a:t>Raised, not yet looked at</a:t>
                      </a:r>
                    </a:p>
                  </a:txBody>
                  <a:tcPr>
                    <a:solidFill>
                      <a:srgbClr val="FFFFFF"/>
                    </a:solidFill>
                  </a:tcPr>
                </a:tc>
                <a:tc>
                  <a:txBody>
                    <a:bodyPr/>
                    <a:lstStyle/>
                    <a:p>
                      <a:r>
                        <a:rPr sz="1050">
                          <a:solidFill>
                            <a:srgbClr val="1B2A33"/>
                          </a:solidFill>
                        </a:rPr>
                        <a:t>System, on creation</a:t>
                      </a:r>
                    </a:p>
                  </a:txBody>
                  <a:tcPr>
                    <a:solidFill>
                      <a:srgbClr val="FFFFFF"/>
                    </a:solidFill>
                  </a:tcPr>
                </a:tc>
              </a:tr>
              <a:tr h="365760">
                <a:tc>
                  <a:txBody>
                    <a:bodyPr/>
                    <a:lstStyle/>
                    <a:p>
                      <a:r>
                        <a:rPr sz="1050">
                          <a:solidFill>
                            <a:srgbClr val="1B2A33"/>
                          </a:solidFill>
                        </a:rPr>
                        <a:t>acknowledged</a:t>
                      </a:r>
                    </a:p>
                  </a:txBody>
                  <a:tcPr>
                    <a:solidFill>
                      <a:srgbClr val="F3ECE0"/>
                    </a:solidFill>
                  </a:tcPr>
                </a:tc>
                <a:tc>
                  <a:txBody>
                    <a:bodyPr/>
                    <a:lstStyle/>
                    <a:p>
                      <a:r>
                        <a:rPr sz="1050">
                          <a:solidFill>
                            <a:srgbClr val="1B2A33"/>
                          </a:solidFill>
                        </a:rPr>
                        <a:t>Seen, not yet owned</a:t>
                      </a:r>
                    </a:p>
                  </a:txBody>
                  <a:tcPr>
                    <a:solidFill>
                      <a:srgbClr val="F3ECE0"/>
                    </a:solidFill>
                  </a:tcPr>
                </a:tc>
                <a:tc>
                  <a:txBody>
                    <a:bodyPr/>
                    <a:lstStyle/>
                    <a:p>
                      <a:r>
                        <a:rPr sz="1050">
                          <a:solidFill>
                            <a:srgbClr val="1B2A33"/>
                          </a:solidFill>
                        </a:rPr>
                        <a:t>Agent</a:t>
                      </a:r>
                    </a:p>
                  </a:txBody>
                  <a:tcPr>
                    <a:solidFill>
                      <a:srgbClr val="F3ECE0"/>
                    </a:solidFill>
                  </a:tcPr>
                </a:tc>
              </a:tr>
              <a:tr h="365760">
                <a:tc>
                  <a:txBody>
                    <a:bodyPr/>
                    <a:lstStyle/>
                    <a:p>
                      <a:r>
                        <a:rPr sz="1050">
                          <a:solidFill>
                            <a:srgbClr val="1B2A33"/>
                          </a:solidFill>
                        </a:rPr>
                        <a:t>assigned</a:t>
                      </a:r>
                    </a:p>
                  </a:txBody>
                  <a:tcPr>
                    <a:solidFill>
                      <a:srgbClr val="FFFFFF"/>
                    </a:solidFill>
                  </a:tcPr>
                </a:tc>
                <a:tc>
                  <a:txBody>
                    <a:bodyPr/>
                    <a:lstStyle/>
                    <a:p>
                      <a:r>
                        <a:rPr sz="1050">
                          <a:solidFill>
                            <a:srgbClr val="1B2A33"/>
                          </a:solidFill>
                        </a:rPr>
                        <a:t>Has an owner</a:t>
                      </a:r>
                    </a:p>
                  </a:txBody>
                  <a:tcPr>
                    <a:solidFill>
                      <a:srgbClr val="FFFFFF"/>
                    </a:solidFill>
                  </a:tcPr>
                </a:tc>
                <a:tc>
                  <a:txBody>
                    <a:bodyPr/>
                    <a:lstStyle/>
                    <a:p>
                      <a:r>
                        <a:rPr sz="1050">
                          <a:solidFill>
                            <a:srgbClr val="1B2A33"/>
                          </a:solidFill>
                        </a:rPr>
                        <a:t>System or agent</a:t>
                      </a:r>
                    </a:p>
                  </a:txBody>
                  <a:tcPr>
                    <a:solidFill>
                      <a:srgbClr val="FFFFFF"/>
                    </a:solidFill>
                  </a:tcPr>
                </a:tc>
              </a:tr>
              <a:tr h="365760">
                <a:tc>
                  <a:txBody>
                    <a:bodyPr/>
                    <a:lstStyle/>
                    <a:p>
                      <a:r>
                        <a:rPr sz="1050">
                          <a:solidFill>
                            <a:srgbClr val="1B2A33"/>
                          </a:solidFill>
                        </a:rPr>
                        <a:t>in_progress</a:t>
                      </a:r>
                    </a:p>
                  </a:txBody>
                  <a:tcPr>
                    <a:solidFill>
                      <a:srgbClr val="F3ECE0"/>
                    </a:solidFill>
                  </a:tcPr>
                </a:tc>
                <a:tc>
                  <a:txBody>
                    <a:bodyPr/>
                    <a:lstStyle/>
                    <a:p>
                      <a:r>
                        <a:rPr sz="1050">
                          <a:solidFill>
                            <a:srgbClr val="1B2A33"/>
                          </a:solidFill>
                        </a:rPr>
                        <a:t>Actively being worked</a:t>
                      </a:r>
                    </a:p>
                  </a:txBody>
                  <a:tcPr>
                    <a:solidFill>
                      <a:srgbClr val="F3ECE0"/>
                    </a:solidFill>
                  </a:tcPr>
                </a:tc>
                <a:tc>
                  <a:txBody>
                    <a:bodyPr/>
                    <a:lstStyle/>
                    <a:p>
                      <a:r>
                        <a:rPr sz="1050">
                          <a:solidFill>
                            <a:srgbClr val="1B2A33"/>
                          </a:solidFill>
                        </a:rPr>
                        <a:t>Agent</a:t>
                      </a:r>
                    </a:p>
                  </a:txBody>
                  <a:tcPr>
                    <a:solidFill>
                      <a:srgbClr val="F3ECE0"/>
                    </a:solidFill>
                  </a:tcPr>
                </a:tc>
              </a:tr>
              <a:tr h="365760">
                <a:tc>
                  <a:txBody>
                    <a:bodyPr/>
                    <a:lstStyle/>
                    <a:p>
                      <a:r>
                        <a:rPr sz="1050">
                          <a:solidFill>
                            <a:srgbClr val="1B2A33"/>
                          </a:solidFill>
                        </a:rPr>
                        <a:t>on_hold</a:t>
                      </a:r>
                    </a:p>
                  </a:txBody>
                  <a:tcPr>
                    <a:solidFill>
                      <a:srgbClr val="FFFFFF"/>
                    </a:solidFill>
                  </a:tcPr>
                </a:tc>
                <a:tc>
                  <a:txBody>
                    <a:bodyPr/>
                    <a:lstStyle/>
                    <a:p>
                      <a:r>
                        <a:rPr sz="1050">
                          <a:solidFill>
                            <a:srgbClr val="1B2A33"/>
                          </a:solidFill>
                        </a:rPr>
                        <a:t>Waiting on someone outside the team</a:t>
                      </a:r>
                    </a:p>
                  </a:txBody>
                  <a:tcPr>
                    <a:solidFill>
                      <a:srgbClr val="FFFFFF"/>
                    </a:solidFill>
                  </a:tcPr>
                </a:tc>
                <a:tc>
                  <a:txBody>
                    <a:bodyPr/>
                    <a:lstStyle/>
                    <a:p>
                      <a:r>
                        <a:rPr sz="1050">
                          <a:solidFill>
                            <a:srgbClr val="1B2A33"/>
                          </a:solidFill>
                        </a:rPr>
                        <a:t>Agent</a:t>
                      </a:r>
                    </a:p>
                  </a:txBody>
                  <a:tcPr>
                    <a:solidFill>
                      <a:srgbClr val="FFFFFF"/>
                    </a:solidFill>
                  </a:tcPr>
                </a:tc>
              </a:tr>
              <a:tr h="365760">
                <a:tc>
                  <a:txBody>
                    <a:bodyPr/>
                    <a:lstStyle/>
                    <a:p>
                      <a:r>
                        <a:rPr sz="1050">
                          <a:solidFill>
                            <a:srgbClr val="1B2A33"/>
                          </a:solidFill>
                        </a:rPr>
                        <a:t>escalated</a:t>
                      </a:r>
                    </a:p>
                  </a:txBody>
                  <a:tcPr>
                    <a:solidFill>
                      <a:srgbClr val="F3ECE0"/>
                    </a:solidFill>
                  </a:tcPr>
                </a:tc>
                <a:tc>
                  <a:txBody>
                    <a:bodyPr/>
                    <a:lstStyle/>
                    <a:p>
                      <a:r>
                        <a:rPr sz="1050">
                          <a:solidFill>
                            <a:srgbClr val="1B2A33"/>
                          </a:solidFill>
                        </a:rPr>
                        <a:t>Handed up — by hand or by SLA breach</a:t>
                      </a:r>
                    </a:p>
                  </a:txBody>
                  <a:tcPr>
                    <a:solidFill>
                      <a:srgbClr val="F3ECE0"/>
                    </a:solidFill>
                  </a:tcPr>
                </a:tc>
                <a:tc>
                  <a:txBody>
                    <a:bodyPr/>
                    <a:lstStyle/>
                    <a:p>
                      <a:r>
                        <a:rPr sz="1050">
                          <a:solidFill>
                            <a:srgbClr val="1B2A33"/>
                          </a:solidFill>
                        </a:rPr>
                        <a:t>Agent, or the SLA worker</a:t>
                      </a:r>
                    </a:p>
                  </a:txBody>
                  <a:tcPr>
                    <a:solidFill>
                      <a:srgbClr val="F3ECE0"/>
                    </a:solidFill>
                  </a:tcPr>
                </a:tc>
              </a:tr>
              <a:tr h="365760">
                <a:tc>
                  <a:txBody>
                    <a:bodyPr/>
                    <a:lstStyle/>
                    <a:p>
                      <a:r>
                        <a:rPr sz="1050">
                          <a:solidFill>
                            <a:srgbClr val="1B2A33"/>
                          </a:solidFill>
                        </a:rPr>
                        <a:t>resolved</a:t>
                      </a:r>
                    </a:p>
                  </a:txBody>
                  <a:tcPr>
                    <a:solidFill>
                      <a:srgbClr val="FFFFFF"/>
                    </a:solidFill>
                  </a:tcPr>
                </a:tc>
                <a:tc>
                  <a:txBody>
                    <a:bodyPr/>
                    <a:lstStyle/>
                    <a:p>
                      <a:r>
                        <a:rPr sz="1050">
                          <a:solidFill>
                            <a:srgbClr val="1B2A33"/>
                          </a:solidFill>
                        </a:rPr>
                        <a:t>Fixed; only from in_progress or escalated</a:t>
                      </a:r>
                    </a:p>
                  </a:txBody>
                  <a:tcPr>
                    <a:solidFill>
                      <a:srgbClr val="FFFFFF"/>
                    </a:solidFill>
                  </a:tcPr>
                </a:tc>
                <a:tc>
                  <a:txBody>
                    <a:bodyPr/>
                    <a:lstStyle/>
                    <a:p>
                      <a:r>
                        <a:rPr sz="1050">
                          <a:solidFill>
                            <a:srgbClr val="1B2A33"/>
                          </a:solidFill>
                        </a:rPr>
                        <a:t>Agent</a:t>
                      </a:r>
                    </a:p>
                  </a:txBody>
                  <a:tcPr>
                    <a:solidFill>
                      <a:srgbClr val="FFFFFF"/>
                    </a:solidFill>
                  </a:tcPr>
                </a:tc>
              </a:tr>
              <a:tr h="365760">
                <a:tc>
                  <a:txBody>
                    <a:bodyPr/>
                    <a:lstStyle/>
                    <a:p>
                      <a:r>
                        <a:rPr sz="1050">
                          <a:solidFill>
                            <a:srgbClr val="1B2A33"/>
                          </a:solidFill>
                        </a:rPr>
                        <a:t>closed</a:t>
                      </a:r>
                    </a:p>
                  </a:txBody>
                  <a:tcPr>
                    <a:solidFill>
                      <a:srgbClr val="F3ECE0"/>
                    </a:solidFill>
                  </a:tcPr>
                </a:tc>
                <a:tc>
                  <a:txBody>
                    <a:bodyPr/>
                    <a:lstStyle/>
                    <a:p>
                      <a:r>
                        <a:rPr sz="1050">
                          <a:solidFill>
                            <a:srgbClr val="1B2A33"/>
                          </a:solidFill>
                        </a:rPr>
                        <a:t>Finished, or withdrawn; reachable from any open state</a:t>
                      </a:r>
                    </a:p>
                  </a:txBody>
                  <a:tcPr>
                    <a:solidFill>
                      <a:srgbClr val="F3ECE0"/>
                    </a:solidFill>
                  </a:tcPr>
                </a:tc>
                <a:tc>
                  <a:txBody>
                    <a:bodyPr/>
                    <a:lstStyle/>
                    <a:p>
                      <a:r>
                        <a:rPr sz="1050">
                          <a:solidFill>
                            <a:srgbClr val="1B2A33"/>
                          </a:solidFill>
                        </a:rPr>
                        <a:t>Agent, or the requester</a:t>
                      </a:r>
                    </a:p>
                  </a:txBody>
                  <a:tcPr>
                    <a:solidFill>
                      <a:srgbClr val="F3ECE0"/>
                    </a:solidFill>
                  </a:tcPr>
                </a:tc>
              </a:tr>
              <a:tr h="365760">
                <a:tc>
                  <a:txBody>
                    <a:bodyPr/>
                    <a:lstStyle/>
                    <a:p>
                      <a:r>
                        <a:rPr sz="1050">
                          <a:solidFill>
                            <a:srgbClr val="1B2A33"/>
                          </a:solidFill>
                        </a:rPr>
                        <a:t>reopened</a:t>
                      </a:r>
                    </a:p>
                  </a:txBody>
                  <a:tcPr>
                    <a:solidFill>
                      <a:srgbClr val="FFFFFF"/>
                    </a:solidFill>
                  </a:tcPr>
                </a:tc>
                <a:tc>
                  <a:txBody>
                    <a:bodyPr/>
                    <a:lstStyle/>
                    <a:p>
                      <a:r>
                        <a:rPr sz="1050">
                          <a:solidFill>
                            <a:srgbClr val="1B2A33"/>
                          </a:solidFill>
                        </a:rPr>
                        <a:t>Was not actually fixed; returns to the open set</a:t>
                      </a:r>
                    </a:p>
                  </a:txBody>
                  <a:tcPr>
                    <a:solidFill>
                      <a:srgbClr val="FFFFFF"/>
                    </a:solidFill>
                  </a:tcPr>
                </a:tc>
                <a:tc>
                  <a:txBody>
                    <a:bodyPr/>
                    <a:lstStyle/>
                    <a:p>
                      <a:r>
                        <a:rPr sz="1050">
                          <a:solidFill>
                            <a:srgbClr val="1B2A33"/>
                          </a:solidFill>
                        </a:rPr>
                        <a:t>Requester or agent</a:t>
                      </a:r>
                    </a:p>
                  </a:txBody>
                  <a:tcPr>
                    <a:solidFill>
                      <a:srgbClr val="FFFFFF"/>
                    </a:solidFill>
                  </a:tcPr>
                </a:tc>
              </a:tr>
            </a:tbl>
          </a:graphicData>
        </a:graphic>
      </p:graphicFrame>
      <p:sp>
        <p:nvSpPr>
          <p:cNvPr id="7" name="Rectangle 6"/>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9" name="TextBox 8"/>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Reference</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82880"/>
            <a:ext cx="10515600" cy="320040"/>
          </a:xfrm>
          <a:prstGeom prst="rect">
            <a:avLst/>
          </a:prstGeom>
          <a:noFill/>
        </p:spPr>
        <p:txBody>
          <a:bodyPr wrap="square" anchor="t" lIns="0" rIns="0" tIns="0" bIns="0">
            <a:spAutoFit/>
          </a:bodyPr>
          <a:lstStyle/>
          <a:p>
            <a:pPr algn="l">
              <a:lnSpc>
                <a:spcPct val="115000"/>
              </a:lnSpc>
            </a:pPr>
            <a:r>
              <a:rPr sz="2300" b="1">
                <a:solidFill>
                  <a:srgbClr val="FFFFFF"/>
                </a:solidFill>
                <a:latin typeface="Calibri"/>
              </a:rPr>
              <a:t>Where to click</a:t>
            </a:r>
          </a:p>
        </p:txBody>
      </p:sp>
      <p:sp>
        <p:nvSpPr>
          <p:cNvPr id="5" name="TextBox 4"/>
          <p:cNvSpPr txBox="1"/>
          <p:nvPr/>
        </p:nvSpPr>
        <p:spPr>
          <a:xfrm>
            <a:off x="502920" y="548640"/>
            <a:ext cx="10515600" cy="256032"/>
          </a:xfrm>
          <a:prstGeom prst="rect">
            <a:avLst/>
          </a:prstGeom>
          <a:noFill/>
        </p:spPr>
        <p:txBody>
          <a:bodyPr wrap="square" anchor="t" lIns="0" rIns="0" tIns="0" bIns="0">
            <a:spAutoFit/>
          </a:bodyPr>
          <a:lstStyle/>
          <a:p>
            <a:pPr algn="l">
              <a:lnSpc>
                <a:spcPct val="115000"/>
              </a:lnSpc>
            </a:pPr>
            <a:r>
              <a:rPr sz="1150" b="0">
                <a:solidFill>
                  <a:srgbClr val="F3ECE0"/>
                </a:solidFill>
                <a:latin typeface="Calibri"/>
              </a:rPr>
              <a:t>The shortest path to the thing you need</a:t>
            </a:r>
          </a:p>
        </p:txBody>
      </p:sp>
      <p:graphicFrame>
        <p:nvGraphicFramePr>
          <p:cNvPr id="6" name="Table 5"/>
          <p:cNvGraphicFramePr>
            <a:graphicFrameLocks noGrp="1"/>
          </p:cNvGraphicFramePr>
          <p:nvPr/>
        </p:nvGraphicFramePr>
        <p:xfrm>
          <a:off x="457200" y="1143000"/>
          <a:ext cx="11247120" cy="4023360"/>
        </p:xfrm>
        <a:graphic>
          <a:graphicData uri="http://schemas.openxmlformats.org/drawingml/2006/table">
            <a:tbl>
              <a:tblPr firstRow="1" bandRow="1">
                <a:tableStyleId>{5C22544A-7EE6-4342-B048-85BDC9FD1C3A}</a:tableStyleId>
              </a:tblPr>
              <a:tblGrid>
                <a:gridCol w="3657600"/>
                <a:gridCol w="3931920"/>
                <a:gridCol w="3657600"/>
              </a:tblGrid>
              <a:tr h="365760">
                <a:tc>
                  <a:txBody>
                    <a:bodyPr/>
                    <a:lstStyle/>
                    <a:p>
                      <a:r>
                        <a:rPr sz="1100" b="1">
                          <a:solidFill>
                            <a:srgbClr val="FFFFFF"/>
                          </a:solidFill>
                        </a:rPr>
                        <a:t>I want to…</a:t>
                      </a:r>
                    </a:p>
                  </a:txBody>
                  <a:tcPr>
                    <a:solidFill>
                      <a:srgbClr val="0E4F4A"/>
                    </a:solidFill>
                  </a:tcPr>
                </a:tc>
                <a:tc>
                  <a:txBody>
                    <a:bodyPr/>
                    <a:lstStyle/>
                    <a:p>
                      <a:r>
                        <a:rPr sz="1100" b="1">
                          <a:solidFill>
                            <a:srgbClr val="FFFFFF"/>
                          </a:solidFill>
                        </a:rPr>
                        <a:t>Go to</a:t>
                      </a:r>
                    </a:p>
                  </a:txBody>
                  <a:tcPr>
                    <a:solidFill>
                      <a:srgbClr val="0E4F4A"/>
                    </a:solidFill>
                  </a:tcPr>
                </a:tc>
                <a:tc>
                  <a:txBody>
                    <a:bodyPr/>
                    <a:lstStyle/>
                    <a:p>
                      <a:r>
                        <a:rPr sz="1100" b="1">
                          <a:solidFill>
                            <a:srgbClr val="FFFFFF"/>
                          </a:solidFill>
                        </a:rPr>
                        <a:t>Who can</a:t>
                      </a:r>
                    </a:p>
                  </a:txBody>
                  <a:tcPr>
                    <a:solidFill>
                      <a:srgbClr val="0E4F4A"/>
                    </a:solidFill>
                  </a:tcPr>
                </a:tc>
              </a:tr>
              <a:tr h="365760">
                <a:tc>
                  <a:txBody>
                    <a:bodyPr/>
                    <a:lstStyle/>
                    <a:p>
                      <a:r>
                        <a:rPr sz="1050">
                          <a:solidFill>
                            <a:srgbClr val="1B2A33"/>
                          </a:solidFill>
                        </a:rPr>
                        <a:t>Raise a problem</a:t>
                      </a:r>
                    </a:p>
                  </a:txBody>
                  <a:tcPr>
                    <a:solidFill>
                      <a:srgbClr val="FFFFFF"/>
                    </a:solidFill>
                  </a:tcPr>
                </a:tc>
                <a:tc>
                  <a:txBody>
                    <a:bodyPr/>
                    <a:lstStyle/>
                    <a:p>
                      <a:r>
                        <a:rPr sz="1050">
                          <a:solidFill>
                            <a:srgbClr val="1B2A33"/>
                          </a:solidFill>
                        </a:rPr>
                        <a:t>Tickets → New Ticket</a:t>
                      </a:r>
                    </a:p>
                  </a:txBody>
                  <a:tcPr>
                    <a:solidFill>
                      <a:srgbClr val="FFFFFF"/>
                    </a:solidFill>
                  </a:tcPr>
                </a:tc>
                <a:tc>
                  <a:txBody>
                    <a:bodyPr/>
                    <a:lstStyle/>
                    <a:p>
                      <a:r>
                        <a:rPr sz="1050">
                          <a:solidFill>
                            <a:srgbClr val="1B2A33"/>
                          </a:solidFill>
                        </a:rPr>
                        <a:t>Everyone</a:t>
                      </a:r>
                    </a:p>
                  </a:txBody>
                  <a:tcPr>
                    <a:solidFill>
                      <a:srgbClr val="FFFFFF"/>
                    </a:solidFill>
                  </a:tcPr>
                </a:tc>
              </a:tr>
              <a:tr h="365760">
                <a:tc>
                  <a:txBody>
                    <a:bodyPr/>
                    <a:lstStyle/>
                    <a:p>
                      <a:r>
                        <a:rPr sz="1050">
                          <a:solidFill>
                            <a:srgbClr val="1B2A33"/>
                          </a:solidFill>
                        </a:rPr>
                        <a:t>Follow my ticket</a:t>
                      </a:r>
                    </a:p>
                  </a:txBody>
                  <a:tcPr>
                    <a:solidFill>
                      <a:srgbClr val="F3ECE0"/>
                    </a:solidFill>
                  </a:tcPr>
                </a:tc>
                <a:tc>
                  <a:txBody>
                    <a:bodyPr/>
                    <a:lstStyle/>
                    <a:p>
                      <a:r>
                        <a:rPr sz="1050">
                          <a:solidFill>
                            <a:srgbClr val="1B2A33"/>
                          </a:solidFill>
                        </a:rPr>
                        <a:t>Tickets → open it</a:t>
                      </a:r>
                    </a:p>
                  </a:txBody>
                  <a:tcPr>
                    <a:solidFill>
                      <a:srgbClr val="F3ECE0"/>
                    </a:solidFill>
                  </a:tcPr>
                </a:tc>
                <a:tc>
                  <a:txBody>
                    <a:bodyPr/>
                    <a:lstStyle/>
                    <a:p>
                      <a:r>
                        <a:rPr sz="1050">
                          <a:solidFill>
                            <a:srgbClr val="1B2A33"/>
                          </a:solidFill>
                        </a:rPr>
                        <a:t>Everyone (own only, for branch users)</a:t>
                      </a:r>
                    </a:p>
                  </a:txBody>
                  <a:tcPr>
                    <a:solidFill>
                      <a:srgbClr val="F3ECE0"/>
                    </a:solidFill>
                  </a:tcPr>
                </a:tc>
              </a:tr>
              <a:tr h="365760">
                <a:tc>
                  <a:txBody>
                    <a:bodyPr/>
                    <a:lstStyle/>
                    <a:p>
                      <a:r>
                        <a:rPr sz="1050">
                          <a:solidFill>
                            <a:srgbClr val="1B2A33"/>
                          </a:solidFill>
                        </a:rPr>
                        <a:t>Find what is breaching</a:t>
                      </a:r>
                    </a:p>
                  </a:txBody>
                  <a:tcPr>
                    <a:solidFill>
                      <a:srgbClr val="FFFFFF"/>
                    </a:solidFill>
                  </a:tcPr>
                </a:tc>
                <a:tc>
                  <a:txBody>
                    <a:bodyPr/>
                    <a:lstStyle/>
                    <a:p>
                      <a:r>
                        <a:rPr sz="1050">
                          <a:solidFill>
                            <a:srgbClr val="1B2A33"/>
                          </a:solidFill>
                        </a:rPr>
                        <a:t>Dashboard → SLA Breached tile</a:t>
                      </a:r>
                    </a:p>
                  </a:txBody>
                  <a:tcPr>
                    <a:solidFill>
                      <a:srgbClr val="FFFFFF"/>
                    </a:solidFill>
                  </a:tcPr>
                </a:tc>
                <a:tc>
                  <a:txBody>
                    <a:bodyPr/>
                    <a:lstStyle/>
                    <a:p>
                      <a:r>
                        <a:rPr sz="1050">
                          <a:solidFill>
                            <a:srgbClr val="1B2A33"/>
                          </a:solidFill>
                        </a:rPr>
                        <a:t>Agent and above</a:t>
                      </a:r>
                    </a:p>
                  </a:txBody>
                  <a:tcPr>
                    <a:solidFill>
                      <a:srgbClr val="FFFFFF"/>
                    </a:solidFill>
                  </a:tcPr>
                </a:tc>
              </a:tr>
              <a:tr h="365760">
                <a:tc>
                  <a:txBody>
                    <a:bodyPr/>
                    <a:lstStyle/>
                    <a:p>
                      <a:r>
                        <a:rPr sz="1050">
                          <a:solidFill>
                            <a:srgbClr val="1B2A33"/>
                          </a:solidFill>
                        </a:rPr>
                        <a:t>See what escalated</a:t>
                      </a:r>
                    </a:p>
                  </a:txBody>
                  <a:tcPr>
                    <a:solidFill>
                      <a:srgbClr val="F3ECE0"/>
                    </a:solidFill>
                  </a:tcPr>
                </a:tc>
                <a:tc>
                  <a:txBody>
                    <a:bodyPr/>
                    <a:lstStyle/>
                    <a:p>
                      <a:r>
                        <a:rPr sz="1050">
                          <a:solidFill>
                            <a:srgbClr val="1B2A33"/>
                          </a:solidFill>
                        </a:rPr>
                        <a:t>Escalations</a:t>
                      </a:r>
                    </a:p>
                  </a:txBody>
                  <a:tcPr>
                    <a:solidFill>
                      <a:srgbClr val="F3ECE0"/>
                    </a:solidFill>
                  </a:tcPr>
                </a:tc>
                <a:tc>
                  <a:txBody>
                    <a:bodyPr/>
                    <a:lstStyle/>
                    <a:p>
                      <a:r>
                        <a:rPr sz="1050">
                          <a:solidFill>
                            <a:srgbClr val="1B2A33"/>
                          </a:solidFill>
                        </a:rPr>
                        <a:t>Supervisor, admin</a:t>
                      </a:r>
                    </a:p>
                  </a:txBody>
                  <a:tcPr>
                    <a:solidFill>
                      <a:srgbClr val="F3ECE0"/>
                    </a:solidFill>
                  </a:tcPr>
                </a:tc>
              </a:tr>
              <a:tr h="365760">
                <a:tc>
                  <a:txBody>
                    <a:bodyPr/>
                    <a:lstStyle/>
                    <a:p>
                      <a:r>
                        <a:rPr sz="1050">
                          <a:solidFill>
                            <a:srgbClr val="1B2A33"/>
                          </a:solidFill>
                        </a:rPr>
                        <a:t>Check deadlines</a:t>
                      </a:r>
                    </a:p>
                  </a:txBody>
                  <a:tcPr>
                    <a:solidFill>
                      <a:srgbClr val="FFFFFF"/>
                    </a:solidFill>
                  </a:tcPr>
                </a:tc>
                <a:tc>
                  <a:txBody>
                    <a:bodyPr/>
                    <a:lstStyle/>
                    <a:p>
                      <a:r>
                        <a:rPr sz="1050">
                          <a:solidFill>
                            <a:srgbClr val="1B2A33"/>
                          </a:solidFill>
                        </a:rPr>
                        <a:t>SLA Monitor</a:t>
                      </a:r>
                    </a:p>
                  </a:txBody>
                  <a:tcPr>
                    <a:solidFill>
                      <a:srgbClr val="FFFFFF"/>
                    </a:solidFill>
                  </a:tcPr>
                </a:tc>
                <a:tc>
                  <a:txBody>
                    <a:bodyPr/>
                    <a:lstStyle/>
                    <a:p>
                      <a:r>
                        <a:rPr sz="1050">
                          <a:solidFill>
                            <a:srgbClr val="1B2A33"/>
                          </a:solidFill>
                        </a:rPr>
                        <a:t>Supervisor, admin</a:t>
                      </a:r>
                    </a:p>
                  </a:txBody>
                  <a:tcPr>
                    <a:solidFill>
                      <a:srgbClr val="FFFFFF"/>
                    </a:solidFill>
                  </a:tcPr>
                </a:tc>
              </a:tr>
              <a:tr h="365760">
                <a:tc>
                  <a:txBody>
                    <a:bodyPr/>
                    <a:lstStyle/>
                    <a:p>
                      <a:r>
                        <a:rPr sz="1050">
                          <a:solidFill>
                            <a:srgbClr val="1B2A33"/>
                          </a:solidFill>
                        </a:rPr>
                        <a:t>Add or change a user</a:t>
                      </a:r>
                    </a:p>
                  </a:txBody>
                  <a:tcPr>
                    <a:solidFill>
                      <a:srgbClr val="F3ECE0"/>
                    </a:solidFill>
                  </a:tcPr>
                </a:tc>
                <a:tc>
                  <a:txBody>
                    <a:bodyPr/>
                    <a:lstStyle/>
                    <a:p>
                      <a:r>
                        <a:rPr sz="1050">
                          <a:solidFill>
                            <a:srgbClr val="1B2A33"/>
                          </a:solidFill>
                        </a:rPr>
                        <a:t>Users</a:t>
                      </a:r>
                    </a:p>
                  </a:txBody>
                  <a:tcPr>
                    <a:solidFill>
                      <a:srgbClr val="F3ECE0"/>
                    </a:solidFill>
                  </a:tcPr>
                </a:tc>
                <a:tc>
                  <a:txBody>
                    <a:bodyPr/>
                    <a:lstStyle/>
                    <a:p>
                      <a:r>
                        <a:rPr sz="1050">
                          <a:solidFill>
                            <a:srgbClr val="1B2A33"/>
                          </a:solidFill>
                        </a:rPr>
                        <a:t>Admin</a:t>
                      </a:r>
                    </a:p>
                  </a:txBody>
                  <a:tcPr>
                    <a:solidFill>
                      <a:srgbClr val="F3ECE0"/>
                    </a:solidFill>
                  </a:tcPr>
                </a:tc>
              </a:tr>
              <a:tr h="365760">
                <a:tc>
                  <a:txBody>
                    <a:bodyPr/>
                    <a:lstStyle/>
                    <a:p>
                      <a:r>
                        <a:rPr sz="1050">
                          <a:solidFill>
                            <a:srgbClr val="1B2A33"/>
                          </a:solidFill>
                        </a:rPr>
                        <a:t>Change the org tree</a:t>
                      </a:r>
                    </a:p>
                  </a:txBody>
                  <a:tcPr>
                    <a:solidFill>
                      <a:srgbClr val="FFFFFF"/>
                    </a:solidFill>
                  </a:tcPr>
                </a:tc>
                <a:tc>
                  <a:txBody>
                    <a:bodyPr/>
                    <a:lstStyle/>
                    <a:p>
                      <a:r>
                        <a:rPr sz="1050">
                          <a:solidFill>
                            <a:srgbClr val="1B2A33"/>
                          </a:solidFill>
                        </a:rPr>
                        <a:t>Org Management</a:t>
                      </a:r>
                    </a:p>
                  </a:txBody>
                  <a:tcPr>
                    <a:solidFill>
                      <a:srgbClr val="FFFFFF"/>
                    </a:solidFill>
                  </a:tcPr>
                </a:tc>
                <a:tc>
                  <a:txBody>
                    <a:bodyPr/>
                    <a:lstStyle/>
                    <a:p>
                      <a:r>
                        <a:rPr sz="1050">
                          <a:solidFill>
                            <a:srgbClr val="1B2A33"/>
                          </a:solidFill>
                        </a:rPr>
                        <a:t>Admin</a:t>
                      </a:r>
                    </a:p>
                  </a:txBody>
                  <a:tcPr>
                    <a:solidFill>
                      <a:srgbClr val="FFFFFF"/>
                    </a:solidFill>
                  </a:tcPr>
                </a:tc>
              </a:tr>
              <a:tr h="365760">
                <a:tc>
                  <a:txBody>
                    <a:bodyPr/>
                    <a:lstStyle/>
                    <a:p>
                      <a:r>
                        <a:rPr sz="1050">
                          <a:solidFill>
                            <a:srgbClr val="1B2A33"/>
                          </a:solidFill>
                        </a:rPr>
                        <a:t>Export figures</a:t>
                      </a:r>
                    </a:p>
                  </a:txBody>
                  <a:tcPr>
                    <a:solidFill>
                      <a:srgbClr val="F3ECE0"/>
                    </a:solidFill>
                  </a:tcPr>
                </a:tc>
                <a:tc>
                  <a:txBody>
                    <a:bodyPr/>
                    <a:lstStyle/>
                    <a:p>
                      <a:r>
                        <a:rPr sz="1050">
                          <a:solidFill>
                            <a:srgbClr val="1B2A33"/>
                          </a:solidFill>
                        </a:rPr>
                        <a:t>Reports → CSV / PDF / Excel</a:t>
                      </a:r>
                    </a:p>
                  </a:txBody>
                  <a:tcPr>
                    <a:solidFill>
                      <a:srgbClr val="F3ECE0"/>
                    </a:solidFill>
                  </a:tcPr>
                </a:tc>
                <a:tc>
                  <a:txBody>
                    <a:bodyPr/>
                    <a:lstStyle/>
                    <a:p>
                      <a:r>
                        <a:rPr sz="1050">
                          <a:solidFill>
                            <a:srgbClr val="1B2A33"/>
                          </a:solidFill>
                        </a:rPr>
                        <a:t>Supervisor, admin, auditor</a:t>
                      </a:r>
                    </a:p>
                  </a:txBody>
                  <a:tcPr>
                    <a:solidFill>
                      <a:srgbClr val="F3ECE0"/>
                    </a:solidFill>
                  </a:tcPr>
                </a:tc>
              </a:tr>
              <a:tr h="365760">
                <a:tc>
                  <a:txBody>
                    <a:bodyPr/>
                    <a:lstStyle/>
                    <a:p>
                      <a:r>
                        <a:rPr sz="1050">
                          <a:solidFill>
                            <a:srgbClr val="1B2A33"/>
                          </a:solidFill>
                        </a:rPr>
                        <a:t>Review who changed what</a:t>
                      </a:r>
                    </a:p>
                  </a:txBody>
                  <a:tcPr>
                    <a:solidFill>
                      <a:srgbClr val="FFFFFF"/>
                    </a:solidFill>
                  </a:tcPr>
                </a:tc>
                <a:tc>
                  <a:txBody>
                    <a:bodyPr/>
                    <a:lstStyle/>
                    <a:p>
                      <a:r>
                        <a:rPr sz="1050">
                          <a:solidFill>
                            <a:srgbClr val="1B2A33"/>
                          </a:solidFill>
                        </a:rPr>
                        <a:t>Audit</a:t>
                      </a:r>
                    </a:p>
                  </a:txBody>
                  <a:tcPr>
                    <a:solidFill>
                      <a:srgbClr val="FFFFFF"/>
                    </a:solidFill>
                  </a:tcPr>
                </a:tc>
                <a:tc>
                  <a:txBody>
                    <a:bodyPr/>
                    <a:lstStyle/>
                    <a:p>
                      <a:r>
                        <a:rPr sz="1050">
                          <a:solidFill>
                            <a:srgbClr val="1B2A33"/>
                          </a:solidFill>
                        </a:rPr>
                        <a:t>Admin, auditor</a:t>
                      </a:r>
                    </a:p>
                  </a:txBody>
                  <a:tcPr>
                    <a:solidFill>
                      <a:srgbClr val="FFFFFF"/>
                    </a:solidFill>
                  </a:tcPr>
                </a:tc>
              </a:tr>
              <a:tr h="365760">
                <a:tc>
                  <a:txBody>
                    <a:bodyPr/>
                    <a:lstStyle/>
                    <a:p>
                      <a:r>
                        <a:rPr sz="1050">
                          <a:solidFill>
                            <a:srgbClr val="1B2A33"/>
                          </a:solidFill>
                        </a:rPr>
                        <a:t>Turn on my second factor</a:t>
                      </a:r>
                    </a:p>
                  </a:txBody>
                  <a:tcPr>
                    <a:solidFill>
                      <a:srgbClr val="F3ECE0"/>
                    </a:solidFill>
                  </a:tcPr>
                </a:tc>
                <a:tc>
                  <a:txBody>
                    <a:bodyPr/>
                    <a:lstStyle/>
                    <a:p>
                      <a:r>
                        <a:rPr sz="1050">
                          <a:solidFill>
                            <a:srgbClr val="1B2A33"/>
                          </a:solidFill>
                        </a:rPr>
                        <a:t>Security</a:t>
                      </a:r>
                    </a:p>
                  </a:txBody>
                  <a:tcPr>
                    <a:solidFill>
                      <a:srgbClr val="F3ECE0"/>
                    </a:solidFill>
                  </a:tcPr>
                </a:tc>
                <a:tc>
                  <a:txBody>
                    <a:bodyPr/>
                    <a:lstStyle/>
                    <a:p>
                      <a:r>
                        <a:rPr sz="1050">
                          <a:solidFill>
                            <a:srgbClr val="1B2A33"/>
                          </a:solidFill>
                        </a:rPr>
                        <a:t>Everyone</a:t>
                      </a:r>
                    </a:p>
                  </a:txBody>
                  <a:tcPr>
                    <a:solidFill>
                      <a:srgbClr val="F3ECE0"/>
                    </a:solidFill>
                  </a:tcPr>
                </a:tc>
              </a:tr>
            </a:tbl>
          </a:graphicData>
        </a:graphic>
      </p:graphicFrame>
      <p:sp>
        <p:nvSpPr>
          <p:cNvPr id="7" name="Rectangle 6"/>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9" name="TextBox 8"/>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Reference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82880"/>
            <a:ext cx="10515600" cy="320040"/>
          </a:xfrm>
          <a:prstGeom prst="rect">
            <a:avLst/>
          </a:prstGeom>
          <a:noFill/>
        </p:spPr>
        <p:txBody>
          <a:bodyPr wrap="square" anchor="t" lIns="0" rIns="0" tIns="0" bIns="0">
            <a:spAutoFit/>
          </a:bodyPr>
          <a:lstStyle/>
          <a:p>
            <a:pPr algn="l">
              <a:lnSpc>
                <a:spcPct val="115000"/>
              </a:lnSpc>
            </a:pPr>
            <a:r>
              <a:rPr sz="2300" b="1">
                <a:solidFill>
                  <a:srgbClr val="FFFFFF"/>
                </a:solidFill>
                <a:latin typeface="Calibri"/>
              </a:rPr>
              <a:t>What this system does not do</a:t>
            </a:r>
          </a:p>
        </p:txBody>
      </p:sp>
      <p:sp>
        <p:nvSpPr>
          <p:cNvPr id="5" name="TextBox 4"/>
          <p:cNvSpPr txBox="1"/>
          <p:nvPr/>
        </p:nvSpPr>
        <p:spPr>
          <a:xfrm>
            <a:off x="502920" y="548640"/>
            <a:ext cx="10515600" cy="256032"/>
          </a:xfrm>
          <a:prstGeom prst="rect">
            <a:avLst/>
          </a:prstGeom>
          <a:noFill/>
        </p:spPr>
        <p:txBody>
          <a:bodyPr wrap="square" anchor="t" lIns="0" rIns="0" tIns="0" bIns="0">
            <a:spAutoFit/>
          </a:bodyPr>
          <a:lstStyle/>
          <a:p>
            <a:pPr algn="l">
              <a:lnSpc>
                <a:spcPct val="115000"/>
              </a:lnSpc>
            </a:pPr>
            <a:r>
              <a:rPr sz="1150" b="0">
                <a:solidFill>
                  <a:srgbClr val="F3ECE0"/>
                </a:solidFill>
                <a:latin typeface="Calibri"/>
              </a:rPr>
              <a:t>Stated plainly, so nobody waits for a feature that is not coming today</a:t>
            </a:r>
          </a:p>
        </p:txBody>
      </p:sp>
      <p:sp>
        <p:nvSpPr>
          <p:cNvPr id="6" name="Rectangle 5"/>
          <p:cNvSpPr/>
          <p:nvPr/>
        </p:nvSpPr>
        <p:spPr>
          <a:xfrm>
            <a:off x="548640" y="1234440"/>
            <a:ext cx="11064240" cy="768096"/>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362456"/>
            <a:ext cx="3657600" cy="274320"/>
          </a:xfrm>
          <a:prstGeom prst="rect">
            <a:avLst/>
          </a:prstGeom>
          <a:noFill/>
        </p:spPr>
        <p:txBody>
          <a:bodyPr wrap="square" anchor="t" lIns="0" rIns="0" tIns="0" bIns="0">
            <a:spAutoFit/>
          </a:bodyPr>
          <a:lstStyle/>
          <a:p>
            <a:pPr algn="l">
              <a:lnSpc>
                <a:spcPct val="115000"/>
              </a:lnSpc>
            </a:pPr>
            <a:r>
              <a:rPr sz="1250" b="1">
                <a:solidFill>
                  <a:srgbClr val="C25B2E"/>
                </a:solidFill>
                <a:latin typeface="Calibri"/>
              </a:rPr>
              <a:t>No approval workflow</a:t>
            </a:r>
          </a:p>
        </p:txBody>
      </p:sp>
      <p:sp>
        <p:nvSpPr>
          <p:cNvPr id="8" name="TextBox 7"/>
          <p:cNvSpPr txBox="1"/>
          <p:nvPr/>
        </p:nvSpPr>
        <p:spPr>
          <a:xfrm>
            <a:off x="4663440" y="1362456"/>
            <a:ext cx="6766560" cy="548640"/>
          </a:xfrm>
          <a:prstGeom prst="rect">
            <a:avLst/>
          </a:prstGeom>
          <a:noFill/>
        </p:spPr>
        <p:txBody>
          <a:bodyPr wrap="square" anchor="t" lIns="0" rIns="0" tIns="0" bIns="0">
            <a:spAutoFit/>
          </a:bodyPr>
          <a:lstStyle/>
          <a:p>
            <a:pPr algn="l">
              <a:lnSpc>
                <a:spcPct val="120000"/>
              </a:lnSpc>
            </a:pPr>
            <a:r>
              <a:rPr sz="1150" b="0">
                <a:solidFill>
                  <a:srgbClr val="1B2A33"/>
                </a:solidFill>
                <a:latin typeface="Calibri"/>
              </a:rPr>
              <a:t>Nothing routes for sign-off before proceeding.</a:t>
            </a:r>
          </a:p>
        </p:txBody>
      </p:sp>
      <p:sp>
        <p:nvSpPr>
          <p:cNvPr id="9" name="Rectangle 8"/>
          <p:cNvSpPr/>
          <p:nvPr/>
        </p:nvSpPr>
        <p:spPr>
          <a:xfrm>
            <a:off x="548640" y="2148840"/>
            <a:ext cx="11064240" cy="768096"/>
          </a:xfrm>
          <a:prstGeom prst="rect">
            <a:avLst/>
          </a:prstGeom>
          <a:solidFill>
            <a:srgbClr val="FFFFFF"/>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2276856"/>
            <a:ext cx="3657600" cy="274320"/>
          </a:xfrm>
          <a:prstGeom prst="rect">
            <a:avLst/>
          </a:prstGeom>
          <a:noFill/>
        </p:spPr>
        <p:txBody>
          <a:bodyPr wrap="square" anchor="t" lIns="0" rIns="0" tIns="0" bIns="0">
            <a:spAutoFit/>
          </a:bodyPr>
          <a:lstStyle/>
          <a:p>
            <a:pPr algn="l">
              <a:lnSpc>
                <a:spcPct val="115000"/>
              </a:lnSpc>
            </a:pPr>
            <a:r>
              <a:rPr sz="1250" b="1">
                <a:solidFill>
                  <a:srgbClr val="C25B2E"/>
                </a:solidFill>
                <a:latin typeface="Calibri"/>
              </a:rPr>
              <a:t>No in-app notifications</a:t>
            </a:r>
          </a:p>
        </p:txBody>
      </p:sp>
      <p:sp>
        <p:nvSpPr>
          <p:cNvPr id="11" name="TextBox 10"/>
          <p:cNvSpPr txBox="1"/>
          <p:nvPr/>
        </p:nvSpPr>
        <p:spPr>
          <a:xfrm>
            <a:off x="4663440" y="2276856"/>
            <a:ext cx="6766560" cy="548640"/>
          </a:xfrm>
          <a:prstGeom prst="rect">
            <a:avLst/>
          </a:prstGeom>
          <a:noFill/>
        </p:spPr>
        <p:txBody>
          <a:bodyPr wrap="square" anchor="t" lIns="0" rIns="0" tIns="0" bIns="0">
            <a:spAutoFit/>
          </a:bodyPr>
          <a:lstStyle/>
          <a:p>
            <a:pPr algn="l">
              <a:lnSpc>
                <a:spcPct val="120000"/>
              </a:lnSpc>
            </a:pPr>
            <a:r>
              <a:rPr sz="1150" b="0">
                <a:solidFill>
                  <a:srgbClr val="1B2A33"/>
                </a:solidFill>
                <a:latin typeface="Calibri"/>
              </a:rPr>
              <a:t>Notifications are email only. There is no bell icon.</a:t>
            </a:r>
          </a:p>
        </p:txBody>
      </p:sp>
      <p:sp>
        <p:nvSpPr>
          <p:cNvPr id="12" name="Rectangle 11"/>
          <p:cNvSpPr/>
          <p:nvPr/>
        </p:nvSpPr>
        <p:spPr>
          <a:xfrm>
            <a:off x="548640" y="3063240"/>
            <a:ext cx="11064240" cy="768096"/>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3191256"/>
            <a:ext cx="3657600" cy="274320"/>
          </a:xfrm>
          <a:prstGeom prst="rect">
            <a:avLst/>
          </a:prstGeom>
          <a:noFill/>
        </p:spPr>
        <p:txBody>
          <a:bodyPr wrap="square" anchor="t" lIns="0" rIns="0" tIns="0" bIns="0">
            <a:spAutoFit/>
          </a:bodyPr>
          <a:lstStyle/>
          <a:p>
            <a:pPr algn="l">
              <a:lnSpc>
                <a:spcPct val="115000"/>
              </a:lnSpc>
            </a:pPr>
            <a:r>
              <a:rPr sz="1250" b="1">
                <a:solidFill>
                  <a:srgbClr val="C25B2E"/>
                </a:solidFill>
                <a:latin typeface="Calibri"/>
              </a:rPr>
              <a:t>No ticket merging</a:t>
            </a:r>
          </a:p>
        </p:txBody>
      </p:sp>
      <p:sp>
        <p:nvSpPr>
          <p:cNvPr id="14" name="TextBox 13"/>
          <p:cNvSpPr txBox="1"/>
          <p:nvPr/>
        </p:nvSpPr>
        <p:spPr>
          <a:xfrm>
            <a:off x="4663440" y="3191256"/>
            <a:ext cx="6766560" cy="548640"/>
          </a:xfrm>
          <a:prstGeom prst="rect">
            <a:avLst/>
          </a:prstGeom>
          <a:noFill/>
        </p:spPr>
        <p:txBody>
          <a:bodyPr wrap="square" anchor="t" lIns="0" rIns="0" tIns="0" bIns="0">
            <a:spAutoFit/>
          </a:bodyPr>
          <a:lstStyle/>
          <a:p>
            <a:pPr algn="l">
              <a:lnSpc>
                <a:spcPct val="120000"/>
              </a:lnSpc>
            </a:pPr>
            <a:r>
              <a:rPr sz="1150" b="0">
                <a:solidFill>
                  <a:srgbClr val="1B2A33"/>
                </a:solidFill>
                <a:latin typeface="Calibri"/>
              </a:rPr>
              <a:t>Duplicates can be marked as such, but two tickets cannot be combined into one.</a:t>
            </a:r>
          </a:p>
        </p:txBody>
      </p:sp>
      <p:sp>
        <p:nvSpPr>
          <p:cNvPr id="15" name="Rectangle 14"/>
          <p:cNvSpPr/>
          <p:nvPr/>
        </p:nvSpPr>
        <p:spPr>
          <a:xfrm>
            <a:off x="548640" y="3977640"/>
            <a:ext cx="11064240" cy="768096"/>
          </a:xfrm>
          <a:prstGeom prst="rect">
            <a:avLst/>
          </a:prstGeom>
          <a:solidFill>
            <a:srgbClr val="FFFFFF"/>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105656"/>
            <a:ext cx="3657600" cy="274320"/>
          </a:xfrm>
          <a:prstGeom prst="rect">
            <a:avLst/>
          </a:prstGeom>
          <a:noFill/>
        </p:spPr>
        <p:txBody>
          <a:bodyPr wrap="square" anchor="t" lIns="0" rIns="0" tIns="0" bIns="0">
            <a:spAutoFit/>
          </a:bodyPr>
          <a:lstStyle/>
          <a:p>
            <a:pPr algn="l">
              <a:lnSpc>
                <a:spcPct val="115000"/>
              </a:lnSpc>
            </a:pPr>
            <a:r>
              <a:rPr sz="1250" b="1">
                <a:solidFill>
                  <a:srgbClr val="C25B2E"/>
                </a:solidFill>
                <a:latin typeface="Calibri"/>
              </a:rPr>
              <a:t>No customer portal</a:t>
            </a:r>
          </a:p>
        </p:txBody>
      </p:sp>
      <p:sp>
        <p:nvSpPr>
          <p:cNvPr id="17" name="TextBox 16"/>
          <p:cNvSpPr txBox="1"/>
          <p:nvPr/>
        </p:nvSpPr>
        <p:spPr>
          <a:xfrm>
            <a:off x="4663440" y="4105656"/>
            <a:ext cx="6766560" cy="548640"/>
          </a:xfrm>
          <a:prstGeom prst="rect">
            <a:avLst/>
          </a:prstGeom>
          <a:noFill/>
        </p:spPr>
        <p:txBody>
          <a:bodyPr wrap="square" anchor="t" lIns="0" rIns="0" tIns="0" bIns="0">
            <a:spAutoFit/>
          </a:bodyPr>
          <a:lstStyle/>
          <a:p>
            <a:pPr algn="l">
              <a:lnSpc>
                <a:spcPct val="120000"/>
              </a:lnSpc>
            </a:pPr>
            <a:r>
              <a:rPr sz="1150" b="0">
                <a:solidFill>
                  <a:srgbClr val="1B2A33"/>
                </a:solidFill>
                <a:latin typeface="Calibri"/>
              </a:rPr>
              <a:t>Every account is an employee account; branch staff raise tickets on customers' behalf.</a:t>
            </a:r>
          </a:p>
        </p:txBody>
      </p:sp>
      <p:sp>
        <p:nvSpPr>
          <p:cNvPr id="18" name="Rectangle 17"/>
          <p:cNvSpPr/>
          <p:nvPr/>
        </p:nvSpPr>
        <p:spPr>
          <a:xfrm>
            <a:off x="548640" y="4892040"/>
            <a:ext cx="11064240" cy="768096"/>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68680" y="5020056"/>
            <a:ext cx="3657600" cy="274320"/>
          </a:xfrm>
          <a:prstGeom prst="rect">
            <a:avLst/>
          </a:prstGeom>
          <a:noFill/>
        </p:spPr>
        <p:txBody>
          <a:bodyPr wrap="square" anchor="t" lIns="0" rIns="0" tIns="0" bIns="0">
            <a:spAutoFit/>
          </a:bodyPr>
          <a:lstStyle/>
          <a:p>
            <a:pPr algn="l">
              <a:lnSpc>
                <a:spcPct val="115000"/>
              </a:lnSpc>
            </a:pPr>
            <a:r>
              <a:rPr sz="1250" b="1">
                <a:solidFill>
                  <a:srgbClr val="C25B2E"/>
                </a:solidFill>
                <a:latin typeface="Calibri"/>
              </a:rPr>
              <a:t>No per-user permissions</a:t>
            </a:r>
          </a:p>
        </p:txBody>
      </p:sp>
      <p:sp>
        <p:nvSpPr>
          <p:cNvPr id="20" name="TextBox 19"/>
          <p:cNvSpPr txBox="1"/>
          <p:nvPr/>
        </p:nvSpPr>
        <p:spPr>
          <a:xfrm>
            <a:off x="4663440" y="5020056"/>
            <a:ext cx="6766560" cy="548640"/>
          </a:xfrm>
          <a:prstGeom prst="rect">
            <a:avLst/>
          </a:prstGeom>
          <a:noFill/>
        </p:spPr>
        <p:txBody>
          <a:bodyPr wrap="square" anchor="t" lIns="0" rIns="0" tIns="0" bIns="0">
            <a:spAutoFit/>
          </a:bodyPr>
          <a:lstStyle/>
          <a:p>
            <a:pPr algn="l">
              <a:lnSpc>
                <a:spcPct val="120000"/>
              </a:lnSpc>
            </a:pPr>
            <a:r>
              <a:rPr sz="1150" b="0">
                <a:solidFill>
                  <a:srgbClr val="1B2A33"/>
                </a:solidFill>
                <a:latin typeface="Calibri"/>
              </a:rPr>
              <a:t>One role per user. Anything finer is expressed through the org tree.</a:t>
            </a:r>
          </a:p>
        </p:txBody>
      </p:sp>
      <p:sp>
        <p:nvSpPr>
          <p:cNvPr id="21" name="TextBox 20"/>
          <p:cNvSpPr txBox="1"/>
          <p:nvPr/>
        </p:nvSpPr>
        <p:spPr>
          <a:xfrm>
            <a:off x="548640" y="5943600"/>
            <a:ext cx="11064240" cy="365760"/>
          </a:xfrm>
          <a:prstGeom prst="rect">
            <a:avLst/>
          </a:prstGeom>
          <a:noFill/>
        </p:spPr>
        <p:txBody>
          <a:bodyPr wrap="square" anchor="t" lIns="0" rIns="0" tIns="0" bIns="0">
            <a:spAutoFit/>
          </a:bodyPr>
          <a:lstStyle/>
          <a:p>
            <a:pPr algn="l">
              <a:lnSpc>
                <a:spcPct val="115000"/>
              </a:lnSpc>
            </a:pPr>
            <a:r>
              <a:rPr sz="1150" b="0">
                <a:solidFill>
                  <a:srgbClr val="5B6B75"/>
                </a:solidFill>
                <a:latin typeface="Calibri"/>
              </a:rPr>
              <a:t>If one of these would help, it belongs on the ticket list — not in a workaround.</a:t>
            </a:r>
          </a:p>
        </p:txBody>
      </p:sp>
      <p:sp>
        <p:nvSpPr>
          <p:cNvPr id="22" name="Rectangle 21"/>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4" name="TextBox 23"/>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Reference</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377440"/>
            <a:ext cx="10607040" cy="960120"/>
          </a:xfrm>
          <a:prstGeom prst="rect">
            <a:avLst/>
          </a:prstGeom>
          <a:noFill/>
        </p:spPr>
        <p:txBody>
          <a:bodyPr wrap="square" anchor="t" lIns="0" rIns="0" tIns="0" bIns="0">
            <a:spAutoFit/>
          </a:bodyPr>
          <a:lstStyle/>
          <a:p>
            <a:pPr algn="l">
              <a:lnSpc>
                <a:spcPct val="120000"/>
              </a:lnSpc>
            </a:pPr>
            <a:r>
              <a:rPr sz="2600" b="1">
                <a:solidFill>
                  <a:srgbClr val="FFFFFF"/>
                </a:solidFill>
                <a:latin typeface="Calibri"/>
              </a:rPr>
              <a:t>Questions, or something here that does not</a:t>
            </a:r>
          </a:p>
          <a:p>
            <a:pPr algn="l">
              <a:lnSpc>
                <a:spcPct val="120000"/>
              </a:lnSpc>
            </a:pPr>
            <a:r>
              <a:rPr sz="2600" b="1">
                <a:solidFill>
                  <a:srgbClr val="FFFFFF"/>
                </a:solidFill>
                <a:latin typeface="Calibri"/>
              </a:rPr>
              <a:t>match what you see?</a:t>
            </a:r>
          </a:p>
        </p:txBody>
      </p:sp>
      <p:sp>
        <p:nvSpPr>
          <p:cNvPr id="4" name="TextBox 3"/>
          <p:cNvSpPr txBox="1"/>
          <p:nvPr/>
        </p:nvSpPr>
        <p:spPr>
          <a:xfrm>
            <a:off x="914400" y="3520440"/>
            <a:ext cx="10058400" cy="1280160"/>
          </a:xfrm>
          <a:prstGeom prst="rect">
            <a:avLst/>
          </a:prstGeom>
          <a:noFill/>
        </p:spPr>
        <p:txBody>
          <a:bodyPr wrap="square" anchor="t" lIns="0" rIns="0" tIns="0" bIns="0">
            <a:spAutoFit/>
          </a:bodyPr>
          <a:lstStyle/>
          <a:p>
            <a:pPr algn="l">
              <a:lnSpc>
                <a:spcPct val="140000"/>
              </a:lnSpc>
            </a:pPr>
            <a:r>
              <a:rPr sz="1500" b="0">
                <a:solidFill>
                  <a:srgbClr val="F3ECE0"/>
                </a:solidFill>
                <a:latin typeface="Calibri"/>
              </a:rPr>
              <a:t>This deck describes the application at commit 7dda03a. If a screen has changed, the deck is wrong and not the application — raise it so this can be recaptured.</a:t>
            </a:r>
          </a:p>
          <a:p>
            <a:pPr algn="l">
              <a:lnSpc>
                <a:spcPct val="140000"/>
              </a:lnSpc>
            </a:pPr>
          </a:p>
          <a:p>
            <a:pPr algn="l">
              <a:lnSpc>
                <a:spcPct val="140000"/>
              </a:lnSpc>
            </a:pPr>
            <a:r>
              <a:rPr sz="1500" b="0">
                <a:solidFill>
                  <a:srgbClr val="F3ECE0"/>
                </a:solidFill>
                <a:latin typeface="Calibri"/>
              </a:rPr>
              <a:t>Operational procedures — deploying, restoring, what to do at 3am — are in docs/runbook.md.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