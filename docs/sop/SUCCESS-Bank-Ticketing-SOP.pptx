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4A"/>
        </a:solidFill>
        <a:effectLst/>
      </p:bgPr>
    </p:bg>
    <p:spTree>
      <p:nvGrpSpPr>
        <p:cNvPr id="1" name=""/>
        <p:cNvGrpSpPr/>
        <p:nvPr/>
      </p:nvGrpSpPr>
      <p:grpSpPr/>
      <p:sp>
        <p:nvSpPr>
          <p:cNvPr id="2" name="Rectangle 1"/>
          <p:cNvSpPr/>
          <p:nvPr/>
        </p:nvSpPr>
        <p:spPr>
          <a:xfrm>
            <a:off x="0" y="2999232"/>
            <a:ext cx="12191695" cy="548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457200"/>
          </a:xfrm>
          <a:prstGeom prst="rect">
            <a:avLst/>
          </a:prstGeom>
          <a:noFill/>
        </p:spPr>
        <p:txBody>
          <a:bodyPr wrap="square" anchor="t" lIns="0" rIns="0" tIns="0" bIns="0">
            <a:spAutoFit/>
          </a:bodyPr>
          <a:lstStyle/>
          <a:p>
            <a:pPr algn="l">
              <a:lnSpc>
                <a:spcPct val="115000"/>
              </a:lnSpc>
            </a:pPr>
            <a:r>
              <a:rPr sz="1500" b="1">
                <a:solidFill>
                  <a:srgbClr val="F3ECE0"/>
                </a:solidFill>
                <a:latin typeface="Calibri"/>
              </a:rPr>
              <a:t>STANDARD OPERATING PROCEDURE</a:t>
            </a:r>
          </a:p>
        </p:txBody>
      </p:sp>
      <p:sp>
        <p:nvSpPr>
          <p:cNvPr id="4" name="TextBox 3"/>
          <p:cNvSpPr txBox="1"/>
          <p:nvPr/>
        </p:nvSpPr>
        <p:spPr>
          <a:xfrm>
            <a:off x="914400" y="1554480"/>
            <a:ext cx="10607040" cy="1325880"/>
          </a:xfrm>
          <a:prstGeom prst="rect">
            <a:avLst/>
          </a:prstGeom>
          <a:noFill/>
        </p:spPr>
        <p:txBody>
          <a:bodyPr wrap="square" anchor="t" lIns="0" rIns="0" tIns="0" bIns="0">
            <a:spAutoFit/>
          </a:bodyPr>
          <a:lstStyle/>
          <a:p>
            <a:pPr algn="l">
              <a:lnSpc>
                <a:spcPct val="112000"/>
              </a:lnSpc>
            </a:pPr>
            <a:r>
              <a:rPr sz="3800" b="1">
                <a:solidFill>
                  <a:srgbClr val="FFFFFF"/>
                </a:solidFill>
                <a:latin typeface="Calibri"/>
              </a:rPr>
              <a:t>SUCCESS Bank</a:t>
            </a:r>
          </a:p>
          <a:p>
            <a:pPr algn="l">
              <a:lnSpc>
                <a:spcPct val="112000"/>
              </a:lnSpc>
            </a:pPr>
            <a:r>
              <a:rPr sz="3800" b="1">
                <a:solidFill>
                  <a:srgbClr val="FFFFFF"/>
                </a:solidFill>
                <a:latin typeface="Calibri"/>
              </a:rPr>
              <a:t>Internal Ticketing</a:t>
            </a:r>
          </a:p>
        </p:txBody>
      </p:sp>
      <p:sp>
        <p:nvSpPr>
          <p:cNvPr id="5" name="TextBox 4"/>
          <p:cNvSpPr txBox="1"/>
          <p:nvPr/>
        </p:nvSpPr>
        <p:spPr>
          <a:xfrm>
            <a:off x="914400" y="3246120"/>
            <a:ext cx="9144000" cy="1005840"/>
          </a:xfrm>
          <a:prstGeom prst="rect">
            <a:avLst/>
          </a:prstGeom>
          <a:noFill/>
        </p:spPr>
        <p:txBody>
          <a:bodyPr wrap="square" anchor="t" lIns="0" rIns="0" tIns="0" bIns="0">
            <a:spAutoFit/>
          </a:bodyPr>
          <a:lstStyle/>
          <a:p>
            <a:pPr algn="l">
              <a:lnSpc>
                <a:spcPct val="135000"/>
              </a:lnSpc>
            </a:pPr>
            <a:r>
              <a:rPr sz="1700" b="0">
                <a:solidFill>
                  <a:srgbClr val="F3ECE0"/>
                </a:solidFill>
                <a:latin typeface="Calibri"/>
              </a:rPr>
              <a:t>A role-by-role operational guide.</a:t>
            </a:r>
          </a:p>
          <a:p>
            <a:pPr algn="l">
              <a:lnSpc>
                <a:spcPct val="135000"/>
              </a:lnSpc>
            </a:pPr>
            <a:r>
              <a:rPr sz="1700" b="0">
                <a:solidFill>
                  <a:srgbClr val="F3ECE0"/>
                </a:solidFill>
                <a:latin typeface="Calibri"/>
              </a:rPr>
              <a:t>Every screen in this deck was captured from the running application.</a:t>
            </a:r>
          </a:p>
        </p:txBody>
      </p:sp>
      <p:sp>
        <p:nvSpPr>
          <p:cNvPr id="6" name="Rectangle 5"/>
          <p:cNvSpPr/>
          <p:nvPr/>
        </p:nvSpPr>
        <p:spPr>
          <a:xfrm>
            <a:off x="914400"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Branch User</a:t>
            </a:r>
          </a:p>
        </p:txBody>
      </p:sp>
      <p:sp>
        <p:nvSpPr>
          <p:cNvPr id="8" name="TextBox 7"/>
          <p:cNvSpPr txBox="1"/>
          <p:nvPr/>
        </p:nvSpPr>
        <p:spPr>
          <a:xfrm>
            <a:off x="1078992"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raises the ticket</a:t>
            </a:r>
          </a:p>
        </p:txBody>
      </p:sp>
      <p:sp>
        <p:nvSpPr>
          <p:cNvPr id="9" name="Rectangle 8"/>
          <p:cNvSpPr/>
          <p:nvPr/>
        </p:nvSpPr>
        <p:spPr>
          <a:xfrm>
            <a:off x="2999231"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3823"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Agent</a:t>
            </a:r>
          </a:p>
        </p:txBody>
      </p:sp>
      <p:sp>
        <p:nvSpPr>
          <p:cNvPr id="11" name="TextBox 10"/>
          <p:cNvSpPr txBox="1"/>
          <p:nvPr/>
        </p:nvSpPr>
        <p:spPr>
          <a:xfrm>
            <a:off x="3163823"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works and resolves it</a:t>
            </a:r>
          </a:p>
        </p:txBody>
      </p:sp>
      <p:sp>
        <p:nvSpPr>
          <p:cNvPr id="12" name="Rectangle 11"/>
          <p:cNvSpPr/>
          <p:nvPr/>
        </p:nvSpPr>
        <p:spPr>
          <a:xfrm>
            <a:off x="5084062"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48654"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Supervisor</a:t>
            </a:r>
          </a:p>
        </p:txBody>
      </p:sp>
      <p:sp>
        <p:nvSpPr>
          <p:cNvPr id="14" name="TextBox 13"/>
          <p:cNvSpPr txBox="1"/>
          <p:nvPr/>
        </p:nvSpPr>
        <p:spPr>
          <a:xfrm>
            <a:off x="5248654"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watches SLA and escalations</a:t>
            </a:r>
          </a:p>
        </p:txBody>
      </p:sp>
      <p:sp>
        <p:nvSpPr>
          <p:cNvPr id="15" name="Rectangle 14"/>
          <p:cNvSpPr/>
          <p:nvPr/>
        </p:nvSpPr>
        <p:spPr>
          <a:xfrm>
            <a:off x="7168893"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5"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Admin</a:t>
            </a:r>
          </a:p>
        </p:txBody>
      </p:sp>
      <p:sp>
        <p:nvSpPr>
          <p:cNvPr id="17" name="TextBox 16"/>
          <p:cNvSpPr txBox="1"/>
          <p:nvPr/>
        </p:nvSpPr>
        <p:spPr>
          <a:xfrm>
            <a:off x="7333485"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configures the system</a:t>
            </a:r>
          </a:p>
        </p:txBody>
      </p:sp>
      <p:sp>
        <p:nvSpPr>
          <p:cNvPr id="18" name="Rectangle 17"/>
          <p:cNvSpPr/>
          <p:nvPr/>
        </p:nvSpPr>
        <p:spPr>
          <a:xfrm>
            <a:off x="9253724"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16"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Auditor</a:t>
            </a:r>
          </a:p>
        </p:txBody>
      </p:sp>
      <p:sp>
        <p:nvSpPr>
          <p:cNvPr id="20" name="TextBox 19"/>
          <p:cNvSpPr txBox="1"/>
          <p:nvPr/>
        </p:nvSpPr>
        <p:spPr>
          <a:xfrm>
            <a:off x="9418316"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reads everything, changes nothing</a:t>
            </a:r>
          </a:p>
        </p:txBody>
      </p:sp>
      <p:sp>
        <p:nvSpPr>
          <p:cNvPr id="21" name="TextBox 20"/>
          <p:cNvSpPr txBox="1"/>
          <p:nvPr/>
        </p:nvSpPr>
        <p:spPr>
          <a:xfrm>
            <a:off x="914400" y="5806440"/>
            <a:ext cx="10058400" cy="274320"/>
          </a:xfrm>
          <a:prstGeom prst="rect">
            <a:avLst/>
          </a:prstGeom>
          <a:noFill/>
        </p:spPr>
        <p:txBody>
          <a:bodyPr wrap="square" anchor="t" lIns="0" rIns="0" tIns="0" bIns="0">
            <a:spAutoFit/>
          </a:bodyPr>
          <a:lstStyle/>
          <a:p>
            <a:pPr algn="l">
              <a:lnSpc>
                <a:spcPct val="115000"/>
              </a:lnSpc>
            </a:pPr>
            <a:r>
              <a:rPr sz="1000" b="0">
                <a:solidFill>
                  <a:srgbClr val="F3ECE0"/>
                </a:solidFill>
                <a:latin typeface="Calibri"/>
              </a:rPr>
              <a:t>Version 1.0  ·  Built at commit 37f71d3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to use this deck</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Read it in order the first time; use Section 14 as a desk reference after that</a:t>
            </a:r>
          </a:p>
        </p:txBody>
      </p:sp>
      <p:sp>
        <p:nvSpPr>
          <p:cNvPr id="5" name="TextBox 4"/>
          <p:cNvSpPr txBox="1"/>
          <p:nvPr/>
        </p:nvSpPr>
        <p:spPr>
          <a:xfrm>
            <a:off x="548640" y="128016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THIS IS</a:t>
            </a:r>
          </a:p>
        </p:txBody>
      </p:sp>
      <p:sp>
        <p:nvSpPr>
          <p:cNvPr id="6" name="TextBox 5"/>
          <p:cNvSpPr txBox="1"/>
          <p:nvPr/>
        </p:nvSpPr>
        <p:spPr>
          <a:xfrm>
            <a:off x="548640" y="1600200"/>
            <a:ext cx="5120640" cy="20116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A step-by-step operational guide. Each role is taken from signing in to a finished ticket, using screens captured from the running application.</a:t>
            </a:r>
          </a:p>
          <a:p>
            <a:pPr algn="l">
              <a:lnSpc>
                <a:spcPct val="130000"/>
              </a:lnSpc>
            </a:pPr>
          </a:p>
          <a:p>
            <a:pPr algn="l">
              <a:lnSpc>
                <a:spcPct val="130000"/>
              </a:lnSpc>
            </a:pPr>
            <a:r>
              <a:rPr sz="1300" b="0">
                <a:solidFill>
                  <a:srgbClr val="1B2A33"/>
                </a:solidFill>
                <a:latin typeface="Calibri"/>
              </a:rPr>
              <a:t>Every workflow slide follows the same shape: what you do, what the system does back, and who picks it up next.</a:t>
            </a:r>
          </a:p>
        </p:txBody>
      </p:sp>
      <p:sp>
        <p:nvSpPr>
          <p:cNvPr id="7" name="TextBox 6"/>
          <p:cNvSpPr txBox="1"/>
          <p:nvPr/>
        </p:nvSpPr>
        <p:spPr>
          <a:xfrm>
            <a:off x="548640" y="365760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IT IS NOT</a:t>
            </a:r>
          </a:p>
        </p:txBody>
      </p:sp>
      <p:sp>
        <p:nvSpPr>
          <p:cNvPr id="8" name="TextBox 7"/>
          <p:cNvSpPr txBox="1"/>
          <p:nvPr/>
        </p:nvSpPr>
        <p:spPr>
          <a:xfrm>
            <a:off x="548640" y="3977639"/>
            <a:ext cx="5120640" cy="146304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Not a feature tour, and not a specification. Where the system does not do something people often expect — approvals, in-app notifications, ticket merging — this deck says so rather than staying silent.</a:t>
            </a:r>
          </a:p>
        </p:txBody>
      </p:sp>
      <p:sp>
        <p:nvSpPr>
          <p:cNvPr id="9" name="Rectangle 8"/>
          <p:cNvSpPr/>
          <p:nvPr/>
        </p:nvSpPr>
        <p:spPr>
          <a:xfrm>
            <a:off x="6309360" y="1280160"/>
            <a:ext cx="5349240" cy="4206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1554480"/>
            <a:ext cx="475488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FIND YOUR ROLE</a:t>
            </a:r>
          </a:p>
        </p:txBody>
      </p:sp>
      <p:sp>
        <p:nvSpPr>
          <p:cNvPr id="11" name="Rectangle 10"/>
          <p:cNvSpPr/>
          <p:nvPr/>
        </p:nvSpPr>
        <p:spPr>
          <a:xfrm>
            <a:off x="6629400" y="19659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965960"/>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Branch User</a:t>
            </a:r>
          </a:p>
        </p:txBody>
      </p:sp>
      <p:sp>
        <p:nvSpPr>
          <p:cNvPr id="13" name="TextBox 12"/>
          <p:cNvSpPr txBox="1"/>
          <p:nvPr/>
        </p:nvSpPr>
        <p:spPr>
          <a:xfrm>
            <a:off x="6812280" y="2203704"/>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raise tickets and follow them</a:t>
            </a:r>
          </a:p>
        </p:txBody>
      </p:sp>
      <p:sp>
        <p:nvSpPr>
          <p:cNvPr id="14" name="TextBox 13"/>
          <p:cNvSpPr txBox="1"/>
          <p:nvPr/>
        </p:nvSpPr>
        <p:spPr>
          <a:xfrm>
            <a:off x="10332720" y="1984248"/>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6</a:t>
            </a:r>
          </a:p>
        </p:txBody>
      </p:sp>
      <p:sp>
        <p:nvSpPr>
          <p:cNvPr id="15" name="Rectangle 14"/>
          <p:cNvSpPr/>
          <p:nvPr/>
        </p:nvSpPr>
        <p:spPr>
          <a:xfrm>
            <a:off x="6629400" y="262432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2624328"/>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Agent</a:t>
            </a:r>
          </a:p>
        </p:txBody>
      </p:sp>
      <p:sp>
        <p:nvSpPr>
          <p:cNvPr id="17" name="TextBox 16"/>
          <p:cNvSpPr txBox="1"/>
          <p:nvPr/>
        </p:nvSpPr>
        <p:spPr>
          <a:xfrm>
            <a:off x="6812280" y="2862072"/>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work and resolve them</a:t>
            </a:r>
          </a:p>
        </p:txBody>
      </p:sp>
      <p:sp>
        <p:nvSpPr>
          <p:cNvPr id="18" name="TextBox 17"/>
          <p:cNvSpPr txBox="1"/>
          <p:nvPr/>
        </p:nvSpPr>
        <p:spPr>
          <a:xfrm>
            <a:off x="10332720" y="2642616"/>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7</a:t>
            </a:r>
          </a:p>
        </p:txBody>
      </p:sp>
      <p:sp>
        <p:nvSpPr>
          <p:cNvPr id="19" name="Rectangle 18"/>
          <p:cNvSpPr/>
          <p:nvPr/>
        </p:nvSpPr>
        <p:spPr>
          <a:xfrm>
            <a:off x="6629400" y="328269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3282696"/>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Supervisor</a:t>
            </a:r>
          </a:p>
        </p:txBody>
      </p:sp>
      <p:sp>
        <p:nvSpPr>
          <p:cNvPr id="21" name="TextBox 20"/>
          <p:cNvSpPr txBox="1"/>
          <p:nvPr/>
        </p:nvSpPr>
        <p:spPr>
          <a:xfrm>
            <a:off x="6812280" y="3520440"/>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watch SLA and escalations</a:t>
            </a:r>
          </a:p>
        </p:txBody>
      </p:sp>
      <p:sp>
        <p:nvSpPr>
          <p:cNvPr id="22" name="TextBox 21"/>
          <p:cNvSpPr txBox="1"/>
          <p:nvPr/>
        </p:nvSpPr>
        <p:spPr>
          <a:xfrm>
            <a:off x="10332720" y="3300984"/>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8</a:t>
            </a:r>
          </a:p>
        </p:txBody>
      </p:sp>
      <p:sp>
        <p:nvSpPr>
          <p:cNvPr id="23" name="Rectangle 22"/>
          <p:cNvSpPr/>
          <p:nvPr/>
        </p:nvSpPr>
        <p:spPr>
          <a:xfrm>
            <a:off x="6629400" y="394106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3941064"/>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Admin</a:t>
            </a:r>
          </a:p>
        </p:txBody>
      </p:sp>
      <p:sp>
        <p:nvSpPr>
          <p:cNvPr id="25" name="TextBox 24"/>
          <p:cNvSpPr txBox="1"/>
          <p:nvPr/>
        </p:nvSpPr>
        <p:spPr>
          <a:xfrm>
            <a:off x="6812280" y="4178808"/>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configure the system</a:t>
            </a:r>
          </a:p>
        </p:txBody>
      </p:sp>
      <p:sp>
        <p:nvSpPr>
          <p:cNvPr id="26" name="TextBox 25"/>
          <p:cNvSpPr txBox="1"/>
          <p:nvPr/>
        </p:nvSpPr>
        <p:spPr>
          <a:xfrm>
            <a:off x="10332720" y="3959352"/>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9</a:t>
            </a:r>
          </a:p>
        </p:txBody>
      </p:sp>
      <p:sp>
        <p:nvSpPr>
          <p:cNvPr id="27" name="Rectangle 26"/>
          <p:cNvSpPr/>
          <p:nvPr/>
        </p:nvSpPr>
        <p:spPr>
          <a:xfrm>
            <a:off x="6629400" y="459943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4599432"/>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Auditor</a:t>
            </a:r>
          </a:p>
        </p:txBody>
      </p:sp>
      <p:sp>
        <p:nvSpPr>
          <p:cNvPr id="29" name="TextBox 28"/>
          <p:cNvSpPr txBox="1"/>
          <p:nvPr/>
        </p:nvSpPr>
        <p:spPr>
          <a:xfrm>
            <a:off x="6812280" y="4837176"/>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review; you change nothing</a:t>
            </a:r>
          </a:p>
        </p:txBody>
      </p:sp>
      <p:sp>
        <p:nvSpPr>
          <p:cNvPr id="30" name="TextBox 29"/>
          <p:cNvSpPr txBox="1"/>
          <p:nvPr/>
        </p:nvSpPr>
        <p:spPr>
          <a:xfrm>
            <a:off x="10332720" y="4617720"/>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10</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02</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What the system is for</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One record for every operational problem, from the moment it is raised to the moment it is closed.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problem it replaces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a shared record beats a shared inbox</a:t>
            </a:r>
          </a:p>
        </p:txBody>
      </p:sp>
      <p:sp>
        <p:nvSpPr>
          <p:cNvPr id="5" name="Rectangle 4"/>
          <p:cNvSpPr/>
          <p:nvPr/>
        </p:nvSpPr>
        <p:spPr>
          <a:xfrm>
            <a:off x="54864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9202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484632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Without it</a:t>
            </a:r>
          </a:p>
        </p:txBody>
      </p:sp>
      <p:sp>
        <p:nvSpPr>
          <p:cNvPr id="8" name="TextBox 7"/>
          <p:cNvSpPr txBox="1"/>
          <p:nvPr/>
        </p:nvSpPr>
        <p:spPr>
          <a:xfrm>
            <a:off x="82296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 blocked card is reported by phone. A duplicated debit goes to somebody's inbox. Nobody can say how long either has been open, who owns it, or what was decided.</a:t>
            </a:r>
          </a:p>
        </p:txBody>
      </p:sp>
      <p:sp>
        <p:nvSpPr>
          <p:cNvPr id="9" name="Rectangle 8"/>
          <p:cNvSpPr/>
          <p:nvPr/>
        </p:nvSpPr>
        <p:spPr>
          <a:xfrm>
            <a:off x="630936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280160"/>
            <a:ext cx="54864" cy="19202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508760"/>
            <a:ext cx="484632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With it</a:t>
            </a:r>
          </a:p>
        </p:txBody>
      </p:sp>
      <p:sp>
        <p:nvSpPr>
          <p:cNvPr id="12" name="TextBox 11"/>
          <p:cNvSpPr txBox="1"/>
          <p:nvPr/>
        </p:nvSpPr>
        <p:spPr>
          <a:xfrm>
            <a:off x="658368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Every problem gets a number, an owner, a deadline and a history. Months later an auditor can answer who changed what, and when.</a:t>
            </a:r>
          </a:p>
        </p:txBody>
      </p:sp>
      <p:sp>
        <p:nvSpPr>
          <p:cNvPr id="13" name="TextBox 12"/>
          <p:cNvSpPr txBox="1"/>
          <p:nvPr/>
        </p:nvSpPr>
        <p:spPr>
          <a:xfrm>
            <a:off x="548640" y="3520440"/>
            <a:ext cx="1097280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HOW A TICKET ARRIVES</a:t>
            </a:r>
          </a:p>
        </p:txBody>
      </p:sp>
      <p:sp>
        <p:nvSpPr>
          <p:cNvPr id="14" name="Rectangle 13"/>
          <p:cNvSpPr/>
          <p:nvPr/>
        </p:nvSpPr>
        <p:spPr>
          <a:xfrm>
            <a:off x="54864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Portal</a:t>
            </a:r>
          </a:p>
        </p:txBody>
      </p:sp>
      <p:sp>
        <p:nvSpPr>
          <p:cNvPr id="16" name="TextBox 15"/>
          <p:cNvSpPr txBox="1"/>
          <p:nvPr/>
        </p:nvSpPr>
        <p:spPr>
          <a:xfrm>
            <a:off x="82296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branch user fills in the form and attaches evidence</a:t>
            </a:r>
          </a:p>
        </p:txBody>
      </p:sp>
      <p:sp>
        <p:nvSpPr>
          <p:cNvPr id="17" name="Rectangle 16"/>
          <p:cNvSpPr/>
          <p:nvPr/>
        </p:nvSpPr>
        <p:spPr>
          <a:xfrm>
            <a:off x="630936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Email</a:t>
            </a:r>
          </a:p>
        </p:txBody>
      </p:sp>
      <p:sp>
        <p:nvSpPr>
          <p:cNvPr id="19" name="TextBox 18"/>
          <p:cNvSpPr txBox="1"/>
          <p:nvPr/>
        </p:nvSpPr>
        <p:spPr>
          <a:xfrm>
            <a:off x="658368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message to the support mailbox becomes a ticket automatically</a:t>
            </a:r>
          </a:p>
        </p:txBody>
      </p:sp>
      <p:sp>
        <p:nvSpPr>
          <p:cNvPr id="20" name="TextBox 19"/>
          <p:cNvSpPr txBox="1"/>
          <p:nvPr/>
        </p:nvSpPr>
        <p:spPr>
          <a:xfrm>
            <a:off x="548640" y="5029200"/>
            <a:ext cx="10972800" cy="822960"/>
          </a:xfrm>
          <a:prstGeom prst="rect">
            <a:avLst/>
          </a:prstGeom>
          <a:noFill/>
        </p:spPr>
        <p:txBody>
          <a:bodyPr wrap="square" anchor="t" lIns="0" rIns="0" tIns="0" bIns="0">
            <a:spAutoFit/>
          </a:bodyPr>
          <a:lstStyle/>
          <a:p>
            <a:pPr algn="l">
              <a:lnSpc>
                <a:spcPct val="125000"/>
              </a:lnSpc>
            </a:pPr>
            <a:r>
              <a:rPr sz="1100" b="0">
                <a:solidFill>
                  <a:srgbClr val="5B6B75"/>
                </a:solidFill>
                <a:latin typeface="Calibri"/>
              </a:rPr>
              <a:t>Email intake is implemented but off by default (IMAP_ENABLED=false) and needs a real mailbox. Everything else in this deck works out of the box.</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03</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Roles and permissions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Five roles, one per user. This is the whole model — there are no per-user overrides.</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can do what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Enforced server-side in core/authz.py — the interface only hides what the API would refuse anyway</a:t>
            </a:r>
          </a:p>
        </p:txBody>
      </p:sp>
      <p:graphicFrame>
        <p:nvGraphicFramePr>
          <p:cNvPr id="5" name="Table 4"/>
          <p:cNvGraphicFramePr>
            <a:graphicFrameLocks noGrp="1"/>
          </p:cNvGraphicFramePr>
          <p:nvPr/>
        </p:nvGraphicFramePr>
        <p:xfrm>
          <a:off x="457200" y="1188720"/>
          <a:ext cx="11247120" cy="2194560"/>
        </p:xfrm>
        <a:graphic>
          <a:graphicData uri="http://schemas.openxmlformats.org/drawingml/2006/table">
            <a:tbl>
              <a:tblPr firstRow="1" bandRow="1">
                <a:tableStyleId>{5C22544A-7EE6-4342-B048-85BDC9FD1C3A}</a:tableStyleId>
              </a:tblPr>
              <a:tblGrid>
                <a:gridCol w="1600200"/>
                <a:gridCol w="3063240"/>
                <a:gridCol w="2606040"/>
                <a:gridCol w="1783080"/>
                <a:gridCol w="960120"/>
                <a:gridCol w="1234440"/>
              </a:tblGrid>
              <a:tr h="365760">
                <a:tc>
                  <a:txBody>
                    <a:bodyPr/>
                    <a:lstStyle/>
                    <a:p>
                      <a:r>
                        <a:rPr sz="1050" b="1">
                          <a:solidFill>
                            <a:srgbClr val="FFFFFF"/>
                          </a:solidFill>
                        </a:rPr>
                        <a:t>Role</a:t>
                      </a:r>
                    </a:p>
                  </a:txBody>
                  <a:tcPr>
                    <a:solidFill>
                      <a:srgbClr val="0E4F4A"/>
                    </a:solidFill>
                  </a:tcPr>
                </a:tc>
                <a:tc>
                  <a:txBody>
                    <a:bodyPr/>
                    <a:lstStyle/>
                    <a:p>
                      <a:r>
                        <a:rPr sz="1050" b="1">
                          <a:solidFill>
                            <a:srgbClr val="FFFFFF"/>
                          </a:solidFill>
                        </a:rPr>
                        <a:t>Tickets</a:t>
                      </a:r>
                    </a:p>
                  </a:txBody>
                  <a:tcPr>
                    <a:solidFill>
                      <a:srgbClr val="0E4F4A"/>
                    </a:solidFill>
                  </a:tcPr>
                </a:tc>
                <a:tc>
                  <a:txBody>
                    <a:bodyPr/>
                    <a:lstStyle/>
                    <a:p>
                      <a:r>
                        <a:rPr sz="1050" b="1">
                          <a:solidFill>
                            <a:srgbClr val="FFFFFF"/>
                          </a:solidFill>
                        </a:rPr>
                        <a:t>Assignment</a:t>
                      </a:r>
                    </a:p>
                  </a:txBody>
                  <a:tcPr>
                    <a:solidFill>
                      <a:srgbClr val="0E4F4A"/>
                    </a:solidFill>
                  </a:tcPr>
                </a:tc>
                <a:tc>
                  <a:txBody>
                    <a:bodyPr/>
                    <a:lstStyle/>
                    <a:p>
                      <a:r>
                        <a:rPr sz="1050" b="1">
                          <a:solidFill>
                            <a:srgbClr val="FFFFFF"/>
                          </a:solidFill>
                        </a:rPr>
                        <a:t>Users &amp; org</a:t>
                      </a:r>
                    </a:p>
                  </a:txBody>
                  <a:tcPr>
                    <a:solidFill>
                      <a:srgbClr val="0E4F4A"/>
                    </a:solidFill>
                  </a:tcPr>
                </a:tc>
                <a:tc>
                  <a:txBody>
                    <a:bodyPr/>
                    <a:lstStyle/>
                    <a:p>
                      <a:r>
                        <a:rPr sz="1050" b="1">
                          <a:solidFill>
                            <a:srgbClr val="FFFFFF"/>
                          </a:solidFill>
                        </a:rPr>
                        <a:t>Audit</a:t>
                      </a:r>
                    </a:p>
                  </a:txBody>
                  <a:tcPr>
                    <a:solidFill>
                      <a:srgbClr val="0E4F4A"/>
                    </a:solidFill>
                  </a:tcPr>
                </a:tc>
                <a:tc>
                  <a:txBody>
                    <a:bodyPr/>
                    <a:lstStyle/>
                    <a:p>
                      <a:r>
                        <a:rPr sz="1050" b="1">
                          <a:solidFill>
                            <a:srgbClr val="FFFFFF"/>
                          </a:solidFill>
                        </a:rPr>
                        <a:t>Escalations</a:t>
                      </a:r>
                    </a:p>
                  </a:txBody>
                  <a:tcPr>
                    <a:solidFill>
                      <a:srgbClr val="0E4F4A"/>
                    </a:solidFill>
                  </a:tcPr>
                </a:tc>
              </a:tr>
              <a:tr h="365760">
                <a:tc>
                  <a:txBody>
                    <a:bodyPr/>
                    <a:lstStyle/>
                    <a:p>
                      <a:r>
                        <a:rPr sz="1000">
                          <a:solidFill>
                            <a:srgbClr val="1B2A33"/>
                          </a:solidFill>
                        </a:rPr>
                        <a:t>Branch User</a:t>
                      </a:r>
                    </a:p>
                  </a:txBody>
                  <a:tcPr>
                    <a:solidFill>
                      <a:srgbClr val="FFFFFF"/>
                    </a:solidFill>
                  </a:tcPr>
                </a:tc>
                <a:tc>
                  <a:txBody>
                    <a:bodyPr/>
                    <a:lstStyle/>
                    <a:p>
                      <a:r>
                        <a:rPr sz="1000">
                          <a:solidFill>
                            <a:srgbClr val="1B2A33"/>
                          </a:solidFill>
                        </a:rPr>
                        <a:t>Own only — raise, comment, attach</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r>
              <a:tr h="365760">
                <a:tc>
                  <a:txBody>
                    <a:bodyPr/>
                    <a:lstStyle/>
                    <a:p>
                      <a:r>
                        <a:rPr sz="1000">
                          <a:solidFill>
                            <a:srgbClr val="1B2A33"/>
                          </a:solidFill>
                        </a:rPr>
                        <a:t>Agent</a:t>
                      </a:r>
                    </a:p>
                  </a:txBody>
                  <a:tcPr>
                    <a:solidFill>
                      <a:srgbClr val="F3ECE0"/>
                    </a:solidFill>
                  </a:tcPr>
                </a:tc>
                <a:tc>
                  <a:txBody>
                    <a:bodyPr/>
                    <a:lstStyle/>
                    <a:p>
                      <a:r>
                        <a:rPr sz="1000">
                          <a:solidFill>
                            <a:srgbClr val="1B2A33"/>
                          </a:solidFill>
                        </a:rPr>
                        <a:t>Any in scope — progress, resolve</a:t>
                      </a:r>
                    </a:p>
                  </a:txBody>
                  <a:tcPr>
                    <a:solidFill>
                      <a:srgbClr val="F3ECE0"/>
                    </a:solidFill>
                  </a:tcPr>
                </a:tc>
                <a:tc>
                  <a:txBody>
                    <a:bodyPr/>
                    <a:lstStyle/>
                    <a:p>
                      <a:r>
                        <a:rPr sz="1000">
                          <a:solidFill>
                            <a:srgbClr val="1B2A33"/>
                          </a:solidFill>
                        </a:rPr>
                        <a:t>Assign to a person</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r>
              <a:tr h="365760">
                <a:tc>
                  <a:txBody>
                    <a:bodyPr/>
                    <a:lstStyle/>
                    <a:p>
                      <a:r>
                        <a:rPr sz="1000">
                          <a:solidFill>
                            <a:srgbClr val="1B2A33"/>
                          </a:solidFill>
                        </a:rPr>
                        <a:t>Supervisor</a:t>
                      </a:r>
                    </a:p>
                  </a:txBody>
                  <a:tcPr>
                    <a:solidFill>
                      <a:srgbClr val="FFFFFF"/>
                    </a:solidFill>
                  </a:tcPr>
                </a:tc>
                <a:tc>
                  <a:txBody>
                    <a:bodyPr/>
                    <a:lstStyle/>
                    <a:p>
                      <a:r>
                        <a:rPr sz="1000">
                          <a:solidFill>
                            <a:srgbClr val="1B2A33"/>
                          </a:solidFill>
                        </a:rPr>
                        <a:t>As agent</a:t>
                      </a:r>
                    </a:p>
                  </a:txBody>
                  <a:tcPr>
                    <a:solidFill>
                      <a:srgbClr val="FFFFFF"/>
                    </a:solidFill>
                  </a:tcPr>
                </a:tc>
                <a:tc>
                  <a:txBody>
                    <a:bodyPr/>
                    <a:lstStyle/>
                    <a:p>
                      <a:r>
                        <a:rPr sz="1000">
                          <a:solidFill>
                            <a:srgbClr val="1B2A33"/>
                          </a:solidFill>
                        </a:rPr>
                        <a:t>Also auto-assign, rules, leave</a:t>
                      </a:r>
                    </a:p>
                  </a:txBody>
                  <a:tcPr>
                    <a:solidFill>
                      <a:srgbClr val="FFFFFF"/>
                    </a:solidFill>
                  </a:tcPr>
                </a:tc>
                <a:tc>
                  <a:txBody>
                    <a:bodyPr/>
                    <a:lstStyle/>
                    <a:p>
                      <a:r>
                        <a:rPr sz="1000">
                          <a:solidFill>
                            <a:srgbClr val="1B2A33"/>
                          </a:solidFill>
                        </a:rPr>
                        <a:t>Read directory</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r>
              <a:tr h="365760">
                <a:tc>
                  <a:txBody>
                    <a:bodyPr/>
                    <a:lstStyle/>
                    <a:p>
                      <a:r>
                        <a:rPr sz="1000">
                          <a:solidFill>
                            <a:srgbClr val="1B2A33"/>
                          </a:solidFill>
                        </a:rPr>
                        <a:t>Admin</a:t>
                      </a:r>
                    </a:p>
                  </a:txBody>
                  <a:tcPr>
                    <a:solidFill>
                      <a:srgbClr val="F3ECE0"/>
                    </a:solidFill>
                  </a:tcPr>
                </a:tc>
                <a:tc>
                  <a:txBody>
                    <a:bodyPr/>
                    <a:lstStyle/>
                    <a:p>
                      <a:r>
                        <a:rPr sz="1000">
                          <a:solidFill>
                            <a:srgbClr val="1B2A33"/>
                          </a:solidFill>
                        </a:rPr>
                        <a:t>As agent</a:t>
                      </a:r>
                    </a:p>
                  </a:txBody>
                  <a:tcPr>
                    <a:solidFill>
                      <a:srgbClr val="F3ECE0"/>
                    </a:solidFill>
                  </a:tcPr>
                </a:tc>
                <a:tc>
                  <a:txBody>
                    <a:bodyPr/>
                    <a:lstStyle/>
                    <a:p>
                      <a:r>
                        <a:rPr sz="1000">
                          <a:solidFill>
                            <a:srgbClr val="1B2A33"/>
                          </a:solidFill>
                        </a:rPr>
                        <a:t>As supervisor, plus the delay</a:t>
                      </a:r>
                    </a:p>
                  </a:txBody>
                  <a:tcPr>
                    <a:solidFill>
                      <a:srgbClr val="F3ECE0"/>
                    </a:solidFill>
                  </a:tcPr>
                </a:tc>
                <a:tc>
                  <a:txBody>
                    <a:bodyPr/>
                    <a:lstStyle/>
                    <a:p>
                      <a:r>
                        <a:rPr sz="1000">
                          <a:solidFill>
                            <a:srgbClr val="1B2A33"/>
                          </a:solidFill>
                        </a:rPr>
                        <a:t>Full control</a:t>
                      </a:r>
                    </a:p>
                  </a:txBody>
                  <a:tcPr>
                    <a:solidFill>
                      <a:srgbClr val="F3ECE0"/>
                    </a:solidFill>
                  </a:tcPr>
                </a:tc>
                <a:tc>
                  <a:txBody>
                    <a:bodyPr/>
                    <a:lstStyle/>
                    <a:p>
                      <a:r>
                        <a:rPr sz="1000">
                          <a:solidFill>
                            <a:srgbClr val="1B2A33"/>
                          </a:solidFill>
                        </a:rPr>
                        <a:t>Yes</a:t>
                      </a:r>
                    </a:p>
                  </a:txBody>
                  <a:tcPr>
                    <a:solidFill>
                      <a:srgbClr val="F3ECE0"/>
                    </a:solidFill>
                  </a:tcPr>
                </a:tc>
                <a:tc>
                  <a:txBody>
                    <a:bodyPr/>
                    <a:lstStyle/>
                    <a:p>
                      <a:r>
                        <a:rPr sz="1000">
                          <a:solidFill>
                            <a:srgbClr val="1B2A33"/>
                          </a:solidFill>
                        </a:rPr>
                        <a:t>Yes</a:t>
                      </a:r>
                    </a:p>
                  </a:txBody>
                  <a:tcPr>
                    <a:solidFill>
                      <a:srgbClr val="F3ECE0"/>
                    </a:solidFill>
                  </a:tcPr>
                </a:tc>
              </a:tr>
              <a:tr h="365760">
                <a:tc>
                  <a:txBody>
                    <a:bodyPr/>
                    <a:lstStyle/>
                    <a:p>
                      <a:r>
                        <a:rPr sz="1000">
                          <a:solidFill>
                            <a:srgbClr val="1B2A33"/>
                          </a:solidFill>
                        </a:rPr>
                        <a:t>Auditor</a:t>
                      </a:r>
                    </a:p>
                  </a:txBody>
                  <a:tcPr>
                    <a:solidFill>
                      <a:srgbClr val="FFFFFF"/>
                    </a:solidFill>
                  </a:tcPr>
                </a:tc>
                <a:tc>
                  <a:txBody>
                    <a:bodyPr/>
                    <a:lstStyle/>
                    <a:p>
                      <a:r>
                        <a:rPr sz="1000">
                          <a:solidFill>
                            <a:srgbClr val="1B2A33"/>
                          </a:solidFill>
                        </a:rPr>
                        <a:t>Read only — no writes at all</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c>
                  <a:txBody>
                    <a:bodyPr/>
                    <a:lstStyle/>
                    <a:p>
                      <a:r>
                        <a:rPr sz="1000">
                          <a:solidFill>
                            <a:srgbClr val="1B2A33"/>
                          </a:solidFill>
                        </a:rPr>
                        <a:t>—</a:t>
                      </a:r>
                    </a:p>
                  </a:txBody>
                  <a:tcPr>
                    <a:solidFill>
                      <a:srgbClr val="FFFFFF"/>
                    </a:solidFill>
                  </a:tcPr>
                </a:tc>
              </a:tr>
            </a:tbl>
          </a:graphicData>
        </a:graphic>
      </p:graphicFrame>
      <p:sp>
        <p:nvSpPr>
          <p:cNvPr id="6" name="Rectangle 5"/>
          <p:cNvSpPr/>
          <p:nvPr/>
        </p:nvSpPr>
        <p:spPr>
          <a:xfrm>
            <a:off x="457200" y="3886200"/>
            <a:ext cx="1124712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3886200"/>
            <a:ext cx="54864" cy="105156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69080"/>
            <a:ext cx="10789920" cy="73152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Super admin is a second tier on top of Admin, not a sixth role. Only a super admin can create another super admin or change one's password — otherwise any admin could take over the account.</a:t>
            </a:r>
          </a:p>
        </p:txBody>
      </p:sp>
      <p:sp>
        <p:nvSpPr>
          <p:cNvPr id="9" name="TextBox 8"/>
          <p:cNvSpPr txBox="1"/>
          <p:nvPr/>
        </p:nvSpPr>
        <p:spPr>
          <a:xfrm>
            <a:off x="457200" y="5120640"/>
            <a:ext cx="11247120" cy="731520"/>
          </a:xfrm>
          <a:prstGeom prst="rect">
            <a:avLst/>
          </a:prstGeom>
          <a:noFill/>
        </p:spPr>
        <p:txBody>
          <a:bodyPr wrap="square" anchor="t" lIns="0" rIns="0" tIns="0" bIns="0">
            <a:spAutoFit/>
          </a:bodyPr>
          <a:lstStyle/>
          <a:p>
            <a:pPr algn="l">
              <a:lnSpc>
                <a:spcPct val="125000"/>
              </a:lnSpc>
            </a:pPr>
            <a:r>
              <a:rPr sz="1200" b="0">
                <a:solidFill>
                  <a:srgbClr val="5B6B75"/>
                </a:solidFill>
                <a:latin typeface="Calibri"/>
              </a:rPr>
              <a:t>The auditor is read-only everywhere. It can open any ticket, dashboard and report, and every attempt to write is refused with a 403 — including comments and attachments.</a:t>
            </a:r>
          </a:p>
        </p:txBody>
      </p:sp>
      <p:sp>
        <p:nvSpPr>
          <p:cNvPr id="10" name="Rectangle 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2" name="TextBox 1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Roles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04</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ticket lifecycle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Nine statuses. The API enforces which moves are legal — an illegal jump is refused, not merely discouraged.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flow</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Reproduced from VALID_TRANSITIONS in ticket_service.py — these are the only legal moves</a:t>
            </a:r>
          </a:p>
        </p:txBody>
      </p:sp>
      <p:sp>
        <p:nvSpPr>
          <p:cNvPr id="5" name="Rounded Rectangle 4"/>
          <p:cNvSpPr/>
          <p:nvPr/>
        </p:nvSpPr>
        <p:spPr>
          <a:xfrm>
            <a:off x="566928"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new</a:t>
            </a:r>
          </a:p>
        </p:txBody>
      </p:sp>
      <p:sp>
        <p:nvSpPr>
          <p:cNvPr id="6" name="Right Arrow 5"/>
          <p:cNvSpPr/>
          <p:nvPr/>
        </p:nvSpPr>
        <p:spPr>
          <a:xfrm>
            <a:off x="2167128"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432304"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acknowledged</a:t>
            </a:r>
          </a:p>
        </p:txBody>
      </p:sp>
      <p:sp>
        <p:nvSpPr>
          <p:cNvPr id="8" name="Right Arrow 7"/>
          <p:cNvSpPr/>
          <p:nvPr/>
        </p:nvSpPr>
        <p:spPr>
          <a:xfrm>
            <a:off x="4032504"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assigned</a:t>
            </a:r>
          </a:p>
        </p:txBody>
      </p:sp>
      <p:sp>
        <p:nvSpPr>
          <p:cNvPr id="10" name="Right Arrow 9"/>
          <p:cNvSpPr/>
          <p:nvPr/>
        </p:nvSpPr>
        <p:spPr>
          <a:xfrm>
            <a:off x="5897880"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63056"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in_progress</a:t>
            </a:r>
          </a:p>
        </p:txBody>
      </p:sp>
      <p:sp>
        <p:nvSpPr>
          <p:cNvPr id="12" name="Right Arrow 11"/>
          <p:cNvSpPr/>
          <p:nvPr/>
        </p:nvSpPr>
        <p:spPr>
          <a:xfrm>
            <a:off x="7763256"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28432" y="1371600"/>
            <a:ext cx="1572768" cy="548640"/>
          </a:xfrm>
          <a:prstGeom prst="round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resolved</a:t>
            </a:r>
          </a:p>
        </p:txBody>
      </p:sp>
      <p:sp>
        <p:nvSpPr>
          <p:cNvPr id="14" name="Right Arrow 13"/>
          <p:cNvSpPr/>
          <p:nvPr/>
        </p:nvSpPr>
        <p:spPr>
          <a:xfrm>
            <a:off x="9628632"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93808" y="1371600"/>
            <a:ext cx="1572768" cy="54864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closed</a:t>
            </a:r>
          </a:p>
        </p:txBody>
      </p:sp>
      <p:sp>
        <p:nvSpPr>
          <p:cNvPr id="16" name="Rectangle 15"/>
          <p:cNvSpPr/>
          <p:nvPr/>
        </p:nvSpPr>
        <p:spPr>
          <a:xfrm>
            <a:off x="6931152" y="1920240"/>
            <a:ext cx="36576" cy="20116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16752" y="2084832"/>
            <a:ext cx="1865376"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8464"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30368" y="239572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on_hold</a:t>
            </a:r>
          </a:p>
        </p:txBody>
      </p:sp>
      <p:sp>
        <p:nvSpPr>
          <p:cNvPr id="20" name="Rectangle 19"/>
          <p:cNvSpPr/>
          <p:nvPr/>
        </p:nvSpPr>
        <p:spPr>
          <a:xfrm>
            <a:off x="7863840"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95744" y="2395728"/>
            <a:ext cx="1572768" cy="475488"/>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escalated</a:t>
            </a:r>
          </a:p>
        </p:txBody>
      </p:sp>
      <p:sp>
        <p:nvSpPr>
          <p:cNvPr id="22" name="TextBox 21"/>
          <p:cNvSpPr txBox="1"/>
          <p:nvPr/>
        </p:nvSpPr>
        <p:spPr>
          <a:xfrm>
            <a:off x="566928" y="2468880"/>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Both pause the ticket and</a:t>
            </a:r>
          </a:p>
          <a:p>
            <a:pPr algn="l">
              <a:lnSpc>
                <a:spcPct val="115000"/>
              </a:lnSpc>
            </a:pPr>
            <a:r>
              <a:rPr sz="950" b="0">
                <a:solidFill>
                  <a:srgbClr val="5B6B75"/>
                </a:solidFill>
                <a:latin typeface="Calibri"/>
              </a:rPr>
              <a:t>both return to in_progress.</a:t>
            </a:r>
          </a:p>
        </p:txBody>
      </p:sp>
      <p:sp>
        <p:nvSpPr>
          <p:cNvPr id="23" name="Rounded Rectangle 22"/>
          <p:cNvSpPr/>
          <p:nvPr/>
        </p:nvSpPr>
        <p:spPr>
          <a:xfrm>
            <a:off x="4297680" y="340156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reopened</a:t>
            </a:r>
          </a:p>
        </p:txBody>
      </p:sp>
      <p:sp>
        <p:nvSpPr>
          <p:cNvPr id="24" name="Rectangle 23"/>
          <p:cNvSpPr/>
          <p:nvPr/>
        </p:nvSpPr>
        <p:spPr>
          <a:xfrm>
            <a:off x="10661904" y="1920240"/>
            <a:ext cx="36576" cy="171907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44768" y="3621024"/>
            <a:ext cx="4553712"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eft Arrow 25"/>
          <p:cNvSpPr/>
          <p:nvPr/>
        </p:nvSpPr>
        <p:spPr>
          <a:xfrm>
            <a:off x="5907024" y="3566160"/>
            <a:ext cx="237744" cy="146304"/>
          </a:xfrm>
          <a:prstGeom prst="lef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65776" y="2121408"/>
            <a:ext cx="36576" cy="128016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5001768" y="1920240"/>
            <a:ext cx="164592" cy="219456"/>
          </a:xfrm>
          <a:prstGeom prst="up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3456432"/>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closed can be reopened; it</a:t>
            </a:r>
          </a:p>
          <a:p>
            <a:pPr algn="l">
              <a:lnSpc>
                <a:spcPct val="115000"/>
              </a:lnSpc>
            </a:pPr>
            <a:r>
              <a:rPr sz="950" b="0">
                <a:solidFill>
                  <a:srgbClr val="5B6B75"/>
                </a:solidFill>
                <a:latin typeface="Calibri"/>
              </a:rPr>
              <a:t>returns to assigned.</a:t>
            </a:r>
          </a:p>
        </p:txBody>
      </p:sp>
      <p:sp>
        <p:nvSpPr>
          <p:cNvPr id="30" name="TextBox 29"/>
          <p:cNvSpPr txBox="1"/>
          <p:nvPr/>
        </p:nvSpPr>
        <p:spPr>
          <a:xfrm>
            <a:off x="566928" y="4206240"/>
            <a:ext cx="11064240" cy="237744"/>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PEOPLE GET WRONG</a:t>
            </a:r>
          </a:p>
        </p:txBody>
      </p:sp>
      <p:sp>
        <p:nvSpPr>
          <p:cNvPr id="31" name="Rectangle 30"/>
          <p:cNvSpPr/>
          <p:nvPr/>
        </p:nvSpPr>
        <p:spPr>
          <a:xfrm>
            <a:off x="566928" y="4526280"/>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608576"/>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closed is reachable from any open state</a:t>
            </a:r>
          </a:p>
        </p:txBody>
      </p:sp>
      <p:sp>
        <p:nvSpPr>
          <p:cNvPr id="33" name="TextBox 32"/>
          <p:cNvSpPr txBox="1"/>
          <p:nvPr/>
        </p:nvSpPr>
        <p:spPr>
          <a:xfrm>
            <a:off x="822960" y="4846320"/>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Closing early is a withdrawal — the problem went away, or it was raised in error.</a:t>
            </a:r>
          </a:p>
        </p:txBody>
      </p:sp>
      <p:sp>
        <p:nvSpPr>
          <p:cNvPr id="34" name="Rectangle 33"/>
          <p:cNvSpPr/>
          <p:nvPr/>
        </p:nvSpPr>
        <p:spPr>
          <a:xfrm>
            <a:off x="566928" y="5239512"/>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5321808"/>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resolved is NOT reachable from assigned</a:t>
            </a:r>
          </a:p>
        </p:txBody>
      </p:sp>
      <p:sp>
        <p:nvSpPr>
          <p:cNvPr id="36" name="TextBox 35"/>
          <p:cNvSpPr txBox="1"/>
          <p:nvPr/>
        </p:nvSpPr>
        <p:spPr>
          <a:xfrm>
            <a:off x="822960" y="5559552"/>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The ticket must have been worked first, so 'resolved' means something.</a:t>
            </a:r>
          </a:p>
        </p:txBody>
      </p:sp>
      <p:sp>
        <p:nvSpPr>
          <p:cNvPr id="37" name="Rectangle 3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9" name="TextBox 3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Lifecycle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05</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End to end, across the roles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seams matter more than the steps. This is where a ticket changes hands.</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holds the ticket, and when</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Left to right in time; each band is one role</a:t>
            </a:r>
          </a:p>
        </p:txBody>
      </p:sp>
      <p:sp>
        <p:nvSpPr>
          <p:cNvPr id="5" name="Rectangle 4"/>
          <p:cNvSpPr/>
          <p:nvPr/>
        </p:nvSpPr>
        <p:spPr>
          <a:xfrm>
            <a:off x="457200" y="1234440"/>
            <a:ext cx="1691640" cy="96926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BRANCH USER</a:t>
            </a:r>
          </a:p>
        </p:txBody>
      </p:sp>
      <p:sp>
        <p:nvSpPr>
          <p:cNvPr id="7" name="Rectangle 6"/>
          <p:cNvSpPr/>
          <p:nvPr/>
        </p:nvSpPr>
        <p:spPr>
          <a:xfrm>
            <a:off x="2194560" y="1234440"/>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258568"/>
            <a:ext cx="1691640" cy="969264"/>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587752"/>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AGENT</a:t>
            </a:r>
          </a:p>
        </p:txBody>
      </p:sp>
      <p:sp>
        <p:nvSpPr>
          <p:cNvPr id="10" name="Rectangle 9"/>
          <p:cNvSpPr/>
          <p:nvPr/>
        </p:nvSpPr>
        <p:spPr>
          <a:xfrm>
            <a:off x="2194560" y="2258568"/>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3282696"/>
            <a:ext cx="1691640" cy="9692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611880"/>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SUPERVISOR</a:t>
            </a:r>
          </a:p>
        </p:txBody>
      </p:sp>
      <p:sp>
        <p:nvSpPr>
          <p:cNvPr id="13" name="Rectangle 12"/>
          <p:cNvSpPr/>
          <p:nvPr/>
        </p:nvSpPr>
        <p:spPr>
          <a:xfrm>
            <a:off x="2194560" y="3282696"/>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306824"/>
            <a:ext cx="1691640" cy="96926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636008"/>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SYSTEM</a:t>
            </a:r>
          </a:p>
        </p:txBody>
      </p:sp>
      <p:sp>
        <p:nvSpPr>
          <p:cNvPr id="16" name="Rectangle 15"/>
          <p:cNvSpPr/>
          <p:nvPr/>
        </p:nvSpPr>
        <p:spPr>
          <a:xfrm>
            <a:off x="2194560" y="4306824"/>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1714500"/>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122" y="1728216"/>
            <a:ext cx="27432" cy="3072384"/>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75838" y="4786884"/>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3223260"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47388" y="4786884"/>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09110"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22826" y="3762756"/>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270248"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294376" y="3762756"/>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56098"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9814"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5317236"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41364"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3086" y="2752344"/>
            <a:ext cx="27432" cy="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16802"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6364224"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88352"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450074" y="2752344"/>
            <a:ext cx="27432" cy="204825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63790" y="4786884"/>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Arrow 35"/>
          <p:cNvSpPr/>
          <p:nvPr/>
        </p:nvSpPr>
        <p:spPr>
          <a:xfrm>
            <a:off x="7411212"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35340" y="4786884"/>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97062"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10778" y="3762756"/>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ight Arrow 39"/>
          <p:cNvSpPr/>
          <p:nvPr/>
        </p:nvSpPr>
        <p:spPr>
          <a:xfrm>
            <a:off x="8458200"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482328" y="3762756"/>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544050"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557766"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Arrow 43"/>
          <p:cNvSpPr/>
          <p:nvPr/>
        </p:nvSpPr>
        <p:spPr>
          <a:xfrm>
            <a:off x="9505188"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529316"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591038" y="1728216"/>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604754" y="1714500"/>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10552176" y="1673352"/>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304288" y="1380744"/>
            <a:ext cx="896112"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Raise ticket</a:t>
            </a:r>
          </a:p>
          <a:p>
            <a:pPr algn="ctr">
              <a:lnSpc>
                <a:spcPct val="110000"/>
              </a:lnSpc>
            </a:pPr>
            <a:r>
              <a:rPr sz="800" b="1">
                <a:solidFill>
                  <a:srgbClr val="FFFFFF"/>
                </a:solidFill>
              </a:rPr>
              <a:t>+ attach evidence</a:t>
            </a:r>
          </a:p>
        </p:txBody>
      </p:sp>
      <p:sp>
        <p:nvSpPr>
          <p:cNvPr id="50" name="Rounded Rectangle 49"/>
          <p:cNvSpPr/>
          <p:nvPr/>
        </p:nvSpPr>
        <p:spPr>
          <a:xfrm>
            <a:off x="3351276" y="4453128"/>
            <a:ext cx="896112"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Number it,</a:t>
            </a:r>
          </a:p>
          <a:p>
            <a:pPr algn="ctr">
              <a:lnSpc>
                <a:spcPct val="110000"/>
              </a:lnSpc>
            </a:pPr>
            <a:r>
              <a:rPr sz="800" b="1">
                <a:solidFill>
                  <a:srgbClr val="FFFFFF"/>
                </a:solidFill>
              </a:rPr>
              <a:t>stamp SLA</a:t>
            </a:r>
          </a:p>
        </p:txBody>
      </p:sp>
      <p:sp>
        <p:nvSpPr>
          <p:cNvPr id="51" name="Rounded Rectangle 50"/>
          <p:cNvSpPr/>
          <p:nvPr/>
        </p:nvSpPr>
        <p:spPr>
          <a:xfrm>
            <a:off x="4398264" y="3429000"/>
            <a:ext cx="896112"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Assign, or</a:t>
            </a:r>
          </a:p>
          <a:p>
            <a:pPr algn="ctr">
              <a:lnSpc>
                <a:spcPct val="110000"/>
              </a:lnSpc>
            </a:pPr>
            <a:r>
              <a:rPr sz="800" b="1">
                <a:solidFill>
                  <a:srgbClr val="FFFFFF"/>
                </a:solidFill>
              </a:rPr>
              <a:t>auto-assign</a:t>
            </a:r>
          </a:p>
        </p:txBody>
      </p:sp>
      <p:sp>
        <p:nvSpPr>
          <p:cNvPr id="52" name="Rounded Rectangle 51"/>
          <p:cNvSpPr/>
          <p:nvPr/>
        </p:nvSpPr>
        <p:spPr>
          <a:xfrm>
            <a:off x="5445252"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Take it,</a:t>
            </a:r>
          </a:p>
          <a:p>
            <a:pPr algn="ctr">
              <a:lnSpc>
                <a:spcPct val="110000"/>
              </a:lnSpc>
            </a:pPr>
            <a:r>
              <a:rPr sz="800" b="1">
                <a:solidFill>
                  <a:srgbClr val="FFFFFF"/>
                </a:solidFill>
              </a:rPr>
              <a:t>investigate</a:t>
            </a:r>
          </a:p>
        </p:txBody>
      </p:sp>
      <p:sp>
        <p:nvSpPr>
          <p:cNvPr id="53" name="Rounded Rectangle 52"/>
          <p:cNvSpPr/>
          <p:nvPr/>
        </p:nvSpPr>
        <p:spPr>
          <a:xfrm>
            <a:off x="6492240"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Reply</a:t>
            </a:r>
          </a:p>
          <a:p>
            <a:pPr algn="ctr">
              <a:lnSpc>
                <a:spcPct val="110000"/>
              </a:lnSpc>
            </a:pPr>
            <a:r>
              <a:rPr sz="800" b="1">
                <a:solidFill>
                  <a:srgbClr val="FFFFFF"/>
                </a:solidFill>
              </a:rPr>
              <a:t>+ attach fix</a:t>
            </a:r>
          </a:p>
        </p:txBody>
      </p:sp>
      <p:sp>
        <p:nvSpPr>
          <p:cNvPr id="54" name="Rounded Rectangle 53"/>
          <p:cNvSpPr/>
          <p:nvPr/>
        </p:nvSpPr>
        <p:spPr>
          <a:xfrm>
            <a:off x="7539228" y="4453128"/>
            <a:ext cx="896112"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SLA breach?</a:t>
            </a:r>
          </a:p>
          <a:p>
            <a:pPr algn="ctr">
              <a:lnSpc>
                <a:spcPct val="110000"/>
              </a:lnSpc>
            </a:pPr>
            <a:r>
              <a:rPr sz="800" b="1">
                <a:solidFill>
                  <a:srgbClr val="FFFFFF"/>
                </a:solidFill>
              </a:rPr>
              <a:t>escalate</a:t>
            </a:r>
          </a:p>
        </p:txBody>
      </p:sp>
      <p:sp>
        <p:nvSpPr>
          <p:cNvPr id="55" name="Rounded Rectangle 54"/>
          <p:cNvSpPr/>
          <p:nvPr/>
        </p:nvSpPr>
        <p:spPr>
          <a:xfrm>
            <a:off x="8586216" y="3429000"/>
            <a:ext cx="896112"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Review,</a:t>
            </a:r>
          </a:p>
          <a:p>
            <a:pPr algn="ctr">
              <a:lnSpc>
                <a:spcPct val="110000"/>
              </a:lnSpc>
            </a:pPr>
            <a:r>
              <a:rPr sz="800" b="1">
                <a:solidFill>
                  <a:srgbClr val="FFFFFF"/>
                </a:solidFill>
              </a:rPr>
              <a:t>reassign</a:t>
            </a:r>
          </a:p>
        </p:txBody>
      </p:sp>
      <p:sp>
        <p:nvSpPr>
          <p:cNvPr id="56" name="Rounded Rectangle 55"/>
          <p:cNvSpPr/>
          <p:nvPr/>
        </p:nvSpPr>
        <p:spPr>
          <a:xfrm>
            <a:off x="9633204"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Resolve</a:t>
            </a:r>
          </a:p>
        </p:txBody>
      </p:sp>
      <p:sp>
        <p:nvSpPr>
          <p:cNvPr id="57" name="Rounded Rectangle 56"/>
          <p:cNvSpPr/>
          <p:nvPr/>
        </p:nvSpPr>
        <p:spPr>
          <a:xfrm>
            <a:off x="10680192" y="1380744"/>
            <a:ext cx="896112"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See resolution,</a:t>
            </a:r>
          </a:p>
          <a:p>
            <a:pPr algn="ctr">
              <a:lnSpc>
                <a:spcPct val="110000"/>
              </a:lnSpc>
            </a:pPr>
            <a:r>
              <a:rPr sz="800" b="1">
                <a:solidFill>
                  <a:srgbClr val="FFFFFF"/>
                </a:solidFill>
              </a:rPr>
              <a:t>close or reopen</a:t>
            </a:r>
          </a:p>
        </p:txBody>
      </p:sp>
      <p:sp>
        <p:nvSpPr>
          <p:cNvPr id="58" name="TextBox 57"/>
          <p:cNvSpPr txBox="1"/>
          <p:nvPr/>
        </p:nvSpPr>
        <p:spPr>
          <a:xfrm>
            <a:off x="457200" y="5486400"/>
            <a:ext cx="11247120" cy="822960"/>
          </a:xfrm>
          <a:prstGeom prst="rect">
            <a:avLst/>
          </a:prstGeom>
          <a:noFill/>
        </p:spPr>
        <p:txBody>
          <a:bodyPr wrap="square" anchor="t" lIns="0" rIns="0" tIns="0" bIns="0">
            <a:spAutoFit/>
          </a:bodyPr>
          <a:lstStyle/>
          <a:p>
            <a:pPr algn="l">
              <a:lnSpc>
                <a:spcPct val="130000"/>
              </a:lnSpc>
            </a:pPr>
            <a:r>
              <a:rPr sz="1150" b="0">
                <a:solidFill>
                  <a:srgbClr val="5B6B75"/>
                </a:solidFill>
                <a:latin typeface="Calibri"/>
              </a:rPr>
              <a:t>The connectors are the handoffs. Two of them are a person deciding: the supervisor choosing an owner, and the branch user closing or reopening. The rest happen because the system moved the ticket, or because the next role was already watching. Note what the system does not do — it numbers the ticket and starts the clock, but it does not choose who works it.</a:t>
            </a:r>
          </a:p>
        </p:txBody>
      </p:sp>
      <p:sp>
        <p:nvSpPr>
          <p:cNvPr id="59" name="Rectangle 5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61" name="TextBox 6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End to 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06</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Branch user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raise the problem, supply the evidence, answer questions, and see the resolution.</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Sign in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4749136" y="323871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4749136" y="365444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4749136" y="394248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bank email address</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password</a:t>
            </a:r>
          </a:p>
        </p:txBody>
      </p:sp>
      <p:sp>
        <p:nvSpPr>
          <p:cNvPr id="17" name="Oval 16"/>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8" name="TextBox 17"/>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Sign in</a:t>
            </a:r>
          </a:p>
        </p:txBody>
      </p:sp>
      <p:sp>
        <p:nvSpPr>
          <p:cNvPr id="19" name="Rectangle 18"/>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your bank email and password, then select Sign in.</a:t>
            </a:r>
          </a:p>
        </p:txBody>
      </p:sp>
      <p:sp>
        <p:nvSpPr>
          <p:cNvPr id="22" name="Rectangle 21"/>
          <p:cNvSpPr/>
          <p:nvPr/>
        </p:nvSpPr>
        <p:spPr>
          <a:xfrm>
            <a:off x="8458200" y="309524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8726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land on your dashboard. If your account has a second factor enabled, you are asked for a 6-digit code first.</a:t>
            </a:r>
          </a:p>
        </p:txBody>
      </p:sp>
      <p:sp>
        <p:nvSpPr>
          <p:cNvPr id="25" name="Rectangle 24"/>
          <p:cNvSpPr/>
          <p:nvPr/>
        </p:nvSpPr>
        <p:spPr>
          <a:xfrm>
            <a:off x="8458200" y="395935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95935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415137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02 — read your dashboard.</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your dashboard</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444398" y="126758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2" name="TextBox 11"/>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Dashboard, Tickets and Security — the whole menu for this role</a:t>
            </a:r>
          </a:p>
        </p:txBody>
      </p:sp>
      <p:sp>
        <p:nvSpPr>
          <p:cNvPr id="13" name="Rectangle 12"/>
          <p:cNvSpPr/>
          <p:nvPr/>
        </p:nvSpPr>
        <p:spPr>
          <a:xfrm>
            <a:off x="8458200" y="203911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203911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23113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the tiles for anything of yours that is breaching or still open.</a:t>
            </a:r>
          </a:p>
        </p:txBody>
      </p:sp>
      <p:sp>
        <p:nvSpPr>
          <p:cNvPr id="16" name="Rectangle 15"/>
          <p:cNvSpPr/>
          <p:nvPr/>
        </p:nvSpPr>
        <p:spPr>
          <a:xfrm>
            <a:off x="8458200" y="274320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74320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93522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tile opens the exact list it counts — a tile reading 3 opens three tickets.</a:t>
            </a:r>
          </a:p>
        </p:txBody>
      </p:sp>
      <p:sp>
        <p:nvSpPr>
          <p:cNvPr id="19" name="Rectangle 18"/>
          <p:cNvSpPr/>
          <p:nvPr/>
        </p:nvSpPr>
        <p:spPr>
          <a:xfrm>
            <a:off x="8458200" y="344728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4728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931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03 — open the ticket list.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only your own tickets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420977" y="190510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6846807" y="160074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Search and filters</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New Ticket</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Scan the list, or filter to what you are looking for.</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see only tickets you raised. This is enforced by the server, not hidden by the page.</a:t>
            </a:r>
          </a:p>
        </p:txBody>
      </p:sp>
      <p:sp>
        <p:nvSpPr>
          <p:cNvPr id="22" name="Rectangle 21"/>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04 — raise a new ticket.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Open the new ticket form</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27742" y="216913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1527742" y="282490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527742" y="413450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Title — one line naming the problem</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Description — what happened, and for whom</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8" name="TextBox 17"/>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a:t>
            </a:r>
          </a:p>
        </p:txBody>
      </p:sp>
      <p:sp>
        <p:nvSpPr>
          <p:cNvPr id="19" name="Rectangle 18"/>
          <p:cNvSpPr/>
          <p:nvPr/>
        </p:nvSpPr>
        <p:spPr>
          <a:xfrm>
            <a:off x="8458200" y="25603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5603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7523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New Ticket from the ticket list.</a:t>
            </a:r>
          </a:p>
        </p:txBody>
      </p:sp>
      <p:sp>
        <p:nvSpPr>
          <p:cNvPr id="22" name="Rectangle 21"/>
          <p:cNvSpPr/>
          <p:nvPr/>
        </p:nvSpPr>
        <p:spPr>
          <a:xfrm>
            <a:off x="8458200" y="3104388"/>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1043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9641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 empty form opens. Nothing is submitted until you choose Create Ticket.</a:t>
            </a:r>
          </a:p>
        </p:txBody>
      </p:sp>
      <p:sp>
        <p:nvSpPr>
          <p:cNvPr id="25" name="Rectangle 24"/>
          <p:cNvSpPr/>
          <p:nvPr/>
        </p:nvSpPr>
        <p:spPr>
          <a:xfrm>
            <a:off x="8458200" y="380847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80847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400050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05 — fill it in and attach evidence.</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Describe it, and attach the evidence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27742" y="216913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1527742" y="282490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527742" y="413450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1527742" y="509990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Be specific: account, amount, date</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What happened, and what the customer expects</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 and category</a:t>
            </a:r>
          </a:p>
        </p:txBody>
      </p:sp>
      <p:sp>
        <p:nvSpPr>
          <p:cNvPr id="20" name="Oval 19"/>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432304"/>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evidence — drag files here, or choose them</a:t>
            </a:r>
          </a:p>
        </p:txBody>
      </p:sp>
      <p:sp>
        <p:nvSpPr>
          <p:cNvPr id="22" name="Rectangle 21"/>
          <p:cNvSpPr/>
          <p:nvPr/>
        </p:nvSpPr>
        <p:spPr>
          <a:xfrm>
            <a:off x="8458200" y="2990088"/>
            <a:ext cx="45720" cy="8229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99008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318211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Complete the form and attach a screenshot, statement or spreadsheet. Up to 15 MB per file; images, PDF, Word, Excel, text and CSV.</a:t>
            </a:r>
          </a:p>
        </p:txBody>
      </p:sp>
      <p:sp>
        <p:nvSpPr>
          <p:cNvPr id="25" name="Rectangle 24"/>
          <p:cNvSpPr/>
          <p:nvPr/>
        </p:nvSpPr>
        <p:spPr>
          <a:xfrm>
            <a:off x="8458200" y="40142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40142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42062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are held in the browser and uploaded the moment the ticket is created — so evidence arrives with the report, not after it.</a:t>
            </a:r>
          </a:p>
        </p:txBody>
      </p:sp>
      <p:sp>
        <p:nvSpPr>
          <p:cNvPr id="28" name="Rectangle 27"/>
          <p:cNvSpPr/>
          <p:nvPr/>
        </p:nvSpPr>
        <p:spPr>
          <a:xfrm>
            <a:off x="8458200" y="50383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50383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52303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06 — submit and follow it.</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Follow your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5910498" y="320318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5702344" y="385174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506235" y="471057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5702344" y="570670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Number, status and SLA countdown</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attachments</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more detail for the agent</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owns it now</a:t>
            </a:r>
          </a:p>
        </p:txBody>
      </p:sp>
      <p:sp>
        <p:nvSpPr>
          <p:cNvPr id="22" name="Rectangle 21"/>
          <p:cNvSpPr/>
          <p:nvPr/>
        </p:nvSpPr>
        <p:spPr>
          <a:xfrm>
            <a:off x="8458200" y="26517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the ticket from your list to see where it stands.</a:t>
            </a:r>
          </a:p>
        </p:txBody>
      </p:sp>
      <p:sp>
        <p:nvSpPr>
          <p:cNvPr id="25" name="Rectangle 24"/>
          <p:cNvSpPr/>
          <p:nvPr/>
        </p:nvSpPr>
        <p:spPr>
          <a:xfrm>
            <a:off x="8458200" y="335584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35584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54787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ticket was numbered, given SLA deadlines and assigned automatically — no one had to triage it by hand.</a:t>
            </a:r>
          </a:p>
        </p:txBody>
      </p:sp>
      <p:sp>
        <p:nvSpPr>
          <p:cNvPr id="28" name="Rectangle 27"/>
          <p:cNvSpPr/>
          <p:nvPr/>
        </p:nvSpPr>
        <p:spPr>
          <a:xfrm>
            <a:off x="8458200" y="4219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219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411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07 — answer questions and read the resolution.</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and read the resolution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06235" y="159162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2980979" y="305197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Replies appear here</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a file to your reply</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Answer any question the agent asks, attaching more evidence if needed.</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When the agent resolves it, their explanation and any file they attached appear here together.</a:t>
            </a:r>
          </a:p>
        </p:txBody>
      </p:sp>
      <p:sp>
        <p:nvSpPr>
          <p:cNvPr id="22" name="Rectangle 21"/>
          <p:cNvSpPr/>
          <p:nvPr/>
        </p:nvSpPr>
        <p:spPr>
          <a:xfrm>
            <a:off x="8458200" y="3698748"/>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If it is fixed, the ticket is closed. If not, it can be reopened.</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a branch user cannot see</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rules worth knowing before you ask where something went</a:t>
            </a:r>
          </a:p>
        </p:txBody>
      </p:sp>
      <p:sp>
        <p:nvSpPr>
          <p:cNvPr id="5" name="Rectangle 4"/>
          <p:cNvSpPr/>
          <p:nvPr/>
        </p:nvSpPr>
        <p:spPr>
          <a:xfrm>
            <a:off x="548640" y="1234440"/>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34440"/>
            <a:ext cx="54864" cy="113385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399032"/>
            <a:ext cx="10515600" cy="292608"/>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Internal notes — and their attachments</a:t>
            </a:r>
          </a:p>
        </p:txBody>
      </p:sp>
      <p:sp>
        <p:nvSpPr>
          <p:cNvPr id="8" name="TextBox 7"/>
          <p:cNvSpPr txBox="1"/>
          <p:nvPr/>
        </p:nvSpPr>
        <p:spPr>
          <a:xfrm>
            <a:off x="868680" y="1764792"/>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Agents can mark a note internal. You will not see the note, and you will not see any file attached to it. It is not hidden in the page; the server refuses to send it.</a:t>
            </a:r>
          </a:p>
        </p:txBody>
      </p:sp>
      <p:sp>
        <p:nvSpPr>
          <p:cNvPr id="9" name="Rectangle 8"/>
          <p:cNvSpPr/>
          <p:nvPr/>
        </p:nvSpPr>
        <p:spPr>
          <a:xfrm>
            <a:off x="548640" y="2532888"/>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32888"/>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697480"/>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Other people's tickets</a:t>
            </a:r>
          </a:p>
        </p:txBody>
      </p:sp>
      <p:sp>
        <p:nvSpPr>
          <p:cNvPr id="12" name="TextBox 11"/>
          <p:cNvSpPr txBox="1"/>
          <p:nvPr/>
        </p:nvSpPr>
        <p:spPr>
          <a:xfrm>
            <a:off x="868680" y="3063240"/>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You see only tickets you raised. Opening someone else's by its link returns nothing.</a:t>
            </a:r>
          </a:p>
        </p:txBody>
      </p:sp>
      <p:sp>
        <p:nvSpPr>
          <p:cNvPr id="13" name="Rectangle 12"/>
          <p:cNvSpPr/>
          <p:nvPr/>
        </p:nvSpPr>
        <p:spPr>
          <a:xfrm>
            <a:off x="548640" y="3831336"/>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831336"/>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995928"/>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Team-wide numbers</a:t>
            </a:r>
          </a:p>
        </p:txBody>
      </p:sp>
      <p:sp>
        <p:nvSpPr>
          <p:cNvPr id="16" name="TextBox 15"/>
          <p:cNvSpPr txBox="1"/>
          <p:nvPr/>
        </p:nvSpPr>
        <p:spPr>
          <a:xfrm>
            <a:off x="868680" y="4361688"/>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SLA health, category and department breakdowns and AI metrics are for agents and above. Your dashboard shows your own three counts instead.</a:t>
            </a:r>
          </a:p>
        </p:txBody>
      </p:sp>
      <p:sp>
        <p:nvSpPr>
          <p:cNvPr id="17" name="TextBox 16"/>
          <p:cNvSpPr txBox="1"/>
          <p:nvPr/>
        </p:nvSpPr>
        <p:spPr>
          <a:xfrm>
            <a:off x="548640" y="5349240"/>
            <a:ext cx="11064240" cy="109728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If you believe a ticket of yours is missing, it is far more likely that it was raised by a colleague than that it was deleted — tickets are never deleted, and every change is recorded in the audit trail.</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Branch User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07</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Agent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pick the ticket up, investigate, keep the requester informed, and resolve it.</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Start from the dashboard</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2290461" y="19905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3858913" y="19905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5872861" y="272120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Breached — deal with these first</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Critical open</a:t>
            </a:r>
          </a:p>
        </p:txBody>
      </p:sp>
      <p:sp>
        <p:nvSpPr>
          <p:cNvPr id="17" name="Oval 16"/>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8" name="TextBox 17"/>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panel</a:t>
            </a:r>
          </a:p>
        </p:txBody>
      </p:sp>
      <p:sp>
        <p:nvSpPr>
          <p:cNvPr id="19" name="Rectangle 18"/>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KPI strip before opening anything.</a:t>
            </a:r>
          </a:p>
        </p:txBody>
      </p:sp>
      <p:sp>
        <p:nvSpPr>
          <p:cNvPr id="22" name="Rectangle 21"/>
          <p:cNvSpPr/>
          <p:nvPr/>
        </p:nvSpPr>
        <p:spPr>
          <a:xfrm>
            <a:off x="8458200" y="309524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872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tile is a live count and opens the exact list behind it.</a:t>
            </a:r>
          </a:p>
        </p:txBody>
      </p:sp>
      <p:sp>
        <p:nvSpPr>
          <p:cNvPr id="25" name="Rectangle 24"/>
          <p:cNvSpPr/>
          <p:nvPr/>
        </p:nvSpPr>
        <p:spPr>
          <a:xfrm>
            <a:off x="8458200" y="379933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79933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399135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09 — open the queue.</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Work the queue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6954340" y="190510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by status, priority or owner</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unassigned or to your own, and choose what to work on.</a:t>
            </a:r>
          </a:p>
        </p:txBody>
      </p:sp>
      <p:sp>
        <p:nvSpPr>
          <p:cNvPr id="16" name="Rectangle 15"/>
          <p:cNvSpPr/>
          <p:nvPr/>
        </p:nvSpPr>
        <p:spPr>
          <a:xfrm>
            <a:off x="8458200" y="2574036"/>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Agents see every ticket in their org scope, not just their own.</a:t>
            </a:r>
          </a:p>
        </p:txBody>
      </p:sp>
      <p:sp>
        <p:nvSpPr>
          <p:cNvPr id="19" name="Rectangle 18"/>
          <p:cNvSpPr/>
          <p:nvPr/>
        </p:nvSpPr>
        <p:spPr>
          <a:xfrm>
            <a:off x="8458200" y="327812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27812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47014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10 — start with what is breaching.</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Deal with breaches first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6531887" y="190510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filter the tile applied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the SLA Breached tile on the dashboard.</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list is filtered to exactly the tickets the tile counted — the number on the card and the length of this list always agree.</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11 — open one and investigate.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Investigate the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06235" y="21542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5702344" y="214513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741273" y="304668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5702344" y="428908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problem as reported</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Status, SLA countdown, AI category and risk</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Insights — summarise or suggest</a:t>
            </a:r>
          </a:p>
        </p:txBody>
      </p:sp>
      <p:sp>
        <p:nvSpPr>
          <p:cNvPr id="20" name="Oval 19"/>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432304"/>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Evidence the requester attached</a:t>
            </a:r>
          </a:p>
        </p:txBody>
      </p:sp>
      <p:sp>
        <p:nvSpPr>
          <p:cNvPr id="22" name="Rectangle 21"/>
          <p:cNvSpPr/>
          <p:nvPr/>
        </p:nvSpPr>
        <p:spPr>
          <a:xfrm>
            <a:off x="8458200" y="2820924"/>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82092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301294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description and the attached evidence, then move the ticket to In Progress.</a:t>
            </a:r>
          </a:p>
        </p:txBody>
      </p:sp>
      <p:sp>
        <p:nvSpPr>
          <p:cNvPr id="25" name="Rectangle 24"/>
          <p:cNvSpPr/>
          <p:nvPr/>
        </p:nvSpPr>
        <p:spPr>
          <a:xfrm>
            <a:off x="8458200" y="3685032"/>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68503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877056"/>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status change is recorded in the audit trail with your name, and the first-response clock stops.</a:t>
            </a:r>
          </a:p>
        </p:txBody>
      </p:sp>
      <p:sp>
        <p:nvSpPr>
          <p:cNvPr id="28" name="Rectangle 27"/>
          <p:cNvSpPr/>
          <p:nvPr/>
        </p:nvSpPr>
        <p:spPr>
          <a:xfrm>
            <a:off x="8458200" y="454914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54914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74116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12 — reply, and attach the fix.</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 and attach the fix to your reply</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06235" y="322527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2980979" y="359299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reply</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files to this reply</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Write what you found and attach the corrected statement or screenshot.</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attached here belong to this reply, so the requester sees your fix beside the answer that explains it.</a:t>
            </a:r>
          </a:p>
        </p:txBody>
      </p:sp>
      <p:sp>
        <p:nvSpPr>
          <p:cNvPr id="22" name="Rectangle 21"/>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13 — resolve, or escalate.</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Resolve, or escalate — and what each means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Both are one action on the ticket page</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63040"/>
            <a:ext cx="1042416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Resolve</a:t>
            </a:r>
          </a:p>
        </p:txBody>
      </p:sp>
      <p:sp>
        <p:nvSpPr>
          <p:cNvPr id="8" name="TextBox 7"/>
          <p:cNvSpPr txBox="1"/>
          <p:nvPr/>
        </p:nvSpPr>
        <p:spPr>
          <a:xfrm>
            <a:off x="868680" y="181051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the problem is fixed. Only available once the ticket has been worked — you cannot jump straight from Assigned to Resolved, which is what makes 'resolved' mean something.</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80360"/>
            <a:ext cx="1042416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Escalate</a:t>
            </a:r>
          </a:p>
        </p:txBody>
      </p:sp>
      <p:sp>
        <p:nvSpPr>
          <p:cNvPr id="12" name="TextBox 11"/>
          <p:cNvSpPr txBox="1"/>
          <p:nvPr/>
        </p:nvSpPr>
        <p:spPr>
          <a:xfrm>
            <a:off x="868680" y="322783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it needs someone else. The ticket moves to Escalated, is reassigned to the least-loaded holder of the target role, and an escalation event is recorded. Escalating twice for the same reason does nothing — the second is suppressed.</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97680"/>
            <a:ext cx="10424160" cy="274320"/>
          </a:xfrm>
          <a:prstGeom prst="rect">
            <a:avLst/>
          </a:prstGeom>
          <a:noFill/>
        </p:spPr>
        <p:txBody>
          <a:bodyPr wrap="square" anchor="t" lIns="0" rIns="0" tIns="0" bIns="0">
            <a:spAutoFit/>
          </a:bodyPr>
          <a:lstStyle/>
          <a:p>
            <a:pPr algn="l">
              <a:lnSpc>
                <a:spcPct val="115000"/>
              </a:lnSpc>
            </a:pPr>
            <a:r>
              <a:rPr sz="1500" b="1">
                <a:solidFill>
                  <a:srgbClr val="B47A14"/>
                </a:solidFill>
                <a:latin typeface="Calibri"/>
              </a:rPr>
              <a:t>Put on hold</a:t>
            </a:r>
          </a:p>
        </p:txBody>
      </p:sp>
      <p:sp>
        <p:nvSpPr>
          <p:cNvPr id="16" name="TextBox 15"/>
          <p:cNvSpPr txBox="1"/>
          <p:nvPr/>
        </p:nvSpPr>
        <p:spPr>
          <a:xfrm>
            <a:off x="868680" y="464515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you are waiting on someone outside the team. The ticket stays open and keeps counting toward your queue.</a:t>
            </a:r>
          </a:p>
        </p:txBody>
      </p:sp>
      <p:sp>
        <p:nvSpPr>
          <p:cNvPr id="17" name="TextBox 16"/>
          <p:cNvSpPr txBox="1"/>
          <p:nvPr/>
        </p:nvSpPr>
        <p:spPr>
          <a:xfrm>
            <a:off x="548640" y="562356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Closing is always available, from any open state — it means the problem went away or the ticket was raised in error, not that it was solved.</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08</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Supervisor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watch the deadlines and the escalations, and step in before a breach becomes a complaint.</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Watch the team's position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444398" y="126758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2290461" y="19905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Monitor and Escalations in the menu</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Breached — the number that matters most</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strip; anything breaching needs an owner today.</a:t>
            </a:r>
          </a:p>
        </p:txBody>
      </p:sp>
      <p:sp>
        <p:nvSpPr>
          <p:cNvPr id="19" name="Rectangle 18"/>
          <p:cNvSpPr/>
          <p:nvPr/>
        </p:nvSpPr>
        <p:spPr>
          <a:xfrm>
            <a:off x="8458200" y="300380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Supervisors see the same tiles as agents, plus the SLA monitor and escalation queue in the menu.</a:t>
            </a:r>
          </a:p>
        </p:txBody>
      </p:sp>
      <p:sp>
        <p:nvSpPr>
          <p:cNvPr id="22" name="Rectangle 21"/>
          <p:cNvSpPr/>
          <p:nvPr/>
        </p:nvSpPr>
        <p:spPr>
          <a:xfrm>
            <a:off x="8458200" y="386791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8679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05993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14 — open the SLA monitor.</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SLA monitor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Work down from the tickets nearest their deadline.</a:t>
            </a:r>
          </a:p>
        </p:txBody>
      </p:sp>
      <p:sp>
        <p:nvSpPr>
          <p:cNvPr id="12" name="Rectangle 11"/>
          <p:cNvSpPr/>
          <p:nvPr/>
        </p:nvSpPr>
        <p:spPr>
          <a:xfrm>
            <a:off x="8458200" y="1892808"/>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At risk means due within the hour. Breached means the deadline has already passed and, if a rule matched, escalation has already fired.</a:t>
            </a:r>
          </a:p>
        </p:txBody>
      </p:sp>
      <p:sp>
        <p:nvSpPr>
          <p:cNvPr id="15" name="Rectangle 14"/>
          <p:cNvSpPr/>
          <p:nvPr/>
        </p:nvSpPr>
        <p:spPr>
          <a:xfrm>
            <a:off x="8458200" y="291693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91693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310896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15 — review escalations.</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Review the escalation queue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what escalated and whether the target is acting on it.</a:t>
            </a:r>
          </a:p>
        </p:txBody>
      </p:sp>
      <p:sp>
        <p:nvSpPr>
          <p:cNvPr id="12" name="Rectangle 11"/>
          <p:cNvSpPr/>
          <p:nvPr/>
        </p:nvSpPr>
        <p:spPr>
          <a:xfrm>
            <a:off x="8458200" y="1892808"/>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Escalations arrive here whether raised by hand or fired automatically by the SLA worker — both run the same engine, so the evidence is identical.</a:t>
            </a:r>
          </a:p>
        </p:txBody>
      </p:sp>
      <p:sp>
        <p:nvSpPr>
          <p:cNvPr id="15" name="Rectangle 14"/>
          <p:cNvSpPr/>
          <p:nvPr/>
        </p:nvSpPr>
        <p:spPr>
          <a:xfrm>
            <a:off x="8458200" y="291693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91693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310896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Reassign if the target is wrong; otherwise the agent resolves it.</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Decide who works it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6919776" y="458816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7334548" y="458816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No owner yet — raising a ticket does not choose one</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Open the assign list</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 ticket with no owner and select Assign.</a:t>
            </a:r>
          </a:p>
        </p:txBody>
      </p:sp>
      <p:sp>
        <p:nvSpPr>
          <p:cNvPr id="19" name="Rectangle 18"/>
          <p:cNvSpPr/>
          <p:nvPr/>
        </p:nvSpPr>
        <p:spPr>
          <a:xfrm>
            <a:off x="8458200" y="3003804"/>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Raising a ticket stamps its SLA deadlines but does not choose an owner. That is deliberate: who carries the work is a shift decision, and a machine making it at 2am is how tickets end up with whoever happens to be idlest rather than whoever should have them.</a:t>
            </a:r>
          </a:p>
        </p:txBody>
      </p:sp>
      <p:sp>
        <p:nvSpPr>
          <p:cNvPr id="22" name="Rectangle 21"/>
          <p:cNvSpPr/>
          <p:nvPr/>
        </p:nvSpPr>
        <p:spPr>
          <a:xfrm>
            <a:off x="8458200" y="4507992"/>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450799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70001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17 — pick a person, or let the router pick.</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Pick a person, or let the router pick</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6226953" y="431596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7184769" y="450799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6269967" y="525496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Hand the choice to the router</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Each candidate's open queue — what the router ranks on</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8" name="TextBox 17"/>
          <p:cNvSpPr txBox="1"/>
          <p:nvPr/>
        </p:nvSpPr>
        <p:spPr>
          <a:xfrm>
            <a:off x="8787384" y="2171700"/>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Anyone on leave is marked, and sorted to the bottom</a:t>
            </a:r>
          </a:p>
        </p:txBody>
      </p:sp>
      <p:sp>
        <p:nvSpPr>
          <p:cNvPr id="19" name="Rectangle 18"/>
          <p:cNvSpPr/>
          <p:nvPr/>
        </p:nvSpPr>
        <p:spPr>
          <a:xfrm>
            <a:off x="8458200" y="272948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72948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9215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name, or select Auto-assign to take the lightest queue.</a:t>
            </a:r>
          </a:p>
        </p:txBody>
      </p:sp>
      <p:sp>
        <p:nvSpPr>
          <p:cNvPr id="22" name="Rectangle 21"/>
          <p:cNvSpPr/>
          <p:nvPr/>
        </p:nvSpPr>
        <p:spPr>
          <a:xfrm>
            <a:off x="8458200" y="3433572"/>
            <a:ext cx="45720" cy="14630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43357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625596"/>
            <a:ext cx="3127248" cy="12801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name shows the number of open tickets that person is already carrying — the same number the router ranks on, so you can see what you are overriding. Anyone on leave is labelled with their return date and sorted to the bottom. You can still assign to them knowingly; auto-assign will not.</a:t>
            </a:r>
          </a:p>
        </p:txBody>
      </p:sp>
      <p:sp>
        <p:nvSpPr>
          <p:cNvPr id="25" name="Rectangle 24"/>
          <p:cNvSpPr/>
          <p:nvPr/>
        </p:nvSpPr>
        <p:spPr>
          <a:xfrm>
            <a:off x="8458200" y="509778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509778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528980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agent picks it up from their queue.</a:t>
            </a:r>
          </a:p>
        </p:txBody>
      </p:sp>
      <p:sp>
        <p:nvSpPr>
          <p:cNvPr id="28" name="Rectangle 27"/>
          <p:cNvSpPr/>
          <p:nvPr/>
        </p:nvSpPr>
        <p:spPr>
          <a:xfrm>
            <a:off x="411480" y="6062472"/>
            <a:ext cx="7680960" cy="3749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6126480"/>
            <a:ext cx="7351776" cy="265176"/>
          </a:xfrm>
          <a:prstGeom prst="rect">
            <a:avLst/>
          </a:prstGeom>
          <a:noFill/>
        </p:spPr>
        <p:txBody>
          <a:bodyPr wrap="square" anchor="ctr" lIns="0" rIns="0" tIns="0" bIns="0">
            <a:spAutoFit/>
          </a:bodyPr>
          <a:lstStyle/>
          <a:p>
            <a:pPr algn="l">
              <a:lnSpc>
                <a:spcPct val="115000"/>
              </a:lnSpc>
            </a:pPr>
            <a:r>
              <a:rPr sz="1000" b="0">
                <a:solidFill>
                  <a:srgbClr val="1B2A33"/>
                </a:solidFill>
                <a:latin typeface="Calibri"/>
              </a:rPr>
              <a:t>Auto-assign is supervisor and above; an agent may assign a specific ticket.</a:t>
            </a:r>
          </a:p>
        </p:txBody>
      </p:sp>
      <p:sp>
        <p:nvSpPr>
          <p:cNvPr id="30" name="Rectangle 2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2" name="TextBox 3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the router actually does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steps, and it stops at the first that yields somebody</a:t>
            </a:r>
          </a:p>
        </p:txBody>
      </p:sp>
      <p:sp>
        <p:nvSpPr>
          <p:cNvPr id="5" name="TextBox 4"/>
          <p:cNvSpPr txBox="1"/>
          <p:nvPr/>
        </p:nvSpPr>
        <p:spPr>
          <a:xfrm>
            <a:off x="566928" y="1188720"/>
            <a:ext cx="11064240" cy="457200"/>
          </a:xfrm>
          <a:prstGeom prst="rect">
            <a:avLst/>
          </a:prstGeom>
          <a:noFill/>
        </p:spPr>
        <p:txBody>
          <a:bodyPr wrap="square" anchor="t" lIns="0" rIns="0" tIns="0" bIns="0">
            <a:spAutoFit/>
          </a:bodyPr>
          <a:lstStyle/>
          <a:p>
            <a:pPr algn="l">
              <a:lnSpc>
                <a:spcPct val="125000"/>
              </a:lnSpc>
            </a:pPr>
            <a:r>
              <a:rPr sz="1250" b="0">
                <a:solidFill>
                  <a:srgbClr val="1B2A33"/>
                </a:solidFill>
                <a:latin typeface="Calibri"/>
              </a:rPr>
              <a:t>Auto-assign is not a black box. It runs the same search every time, and each step falls through to the next rather than failing.</a:t>
            </a:r>
          </a:p>
        </p:txBody>
      </p:sp>
      <p:sp>
        <p:nvSpPr>
          <p:cNvPr id="6" name="Rectangle 5"/>
          <p:cNvSpPr/>
          <p:nvPr/>
        </p:nvSpPr>
        <p:spPr>
          <a:xfrm>
            <a:off x="566928" y="1828800"/>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38528"/>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A category rule</a:t>
            </a:r>
          </a:p>
        </p:txBody>
      </p:sp>
      <p:sp>
        <p:nvSpPr>
          <p:cNvPr id="8" name="TextBox 7"/>
          <p:cNvSpPr txBox="1"/>
          <p:nvPr/>
        </p:nvSpPr>
        <p:spPr>
          <a:xfrm>
            <a:off x="4206240" y="1938528"/>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If a rule names an owner for this category, they get it. Optional: most categories have none.</a:t>
            </a:r>
          </a:p>
        </p:txBody>
      </p:sp>
      <p:sp>
        <p:nvSpPr>
          <p:cNvPr id="9" name="Rectangle 8"/>
          <p:cNvSpPr/>
          <p:nvPr/>
        </p:nvSpPr>
        <p:spPr>
          <a:xfrm>
            <a:off x="566928" y="2670048"/>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779776"/>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Someone in the ticket's branch</a:t>
            </a:r>
          </a:p>
        </p:txBody>
      </p:sp>
      <p:sp>
        <p:nvSpPr>
          <p:cNvPr id="11" name="TextBox 10"/>
          <p:cNvSpPr txBox="1"/>
          <p:nvPr/>
        </p:nvSpPr>
        <p:spPr>
          <a:xfrm>
            <a:off x="4206240" y="2779776"/>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Of the people left, whoever in that branch is carrying the fewest open tickets.</a:t>
            </a:r>
          </a:p>
        </p:txBody>
      </p:sp>
      <p:sp>
        <p:nvSpPr>
          <p:cNvPr id="12" name="Rectangle 11"/>
          <p:cNvSpPr/>
          <p:nvPr/>
        </p:nvSpPr>
        <p:spPr>
          <a:xfrm>
            <a:off x="566928" y="3511296"/>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621024"/>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Anyone assignable</a:t>
            </a:r>
          </a:p>
        </p:txBody>
      </p:sp>
      <p:sp>
        <p:nvSpPr>
          <p:cNvPr id="14" name="TextBox 13"/>
          <p:cNvSpPr txBox="1"/>
          <p:nvPr/>
        </p:nvSpPr>
        <p:spPr>
          <a:xfrm>
            <a:off x="4206240" y="3621024"/>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Failing both, the lightest open queue anywhere.</a:t>
            </a:r>
          </a:p>
        </p:txBody>
      </p:sp>
      <p:sp>
        <p:nvSpPr>
          <p:cNvPr id="15" name="TextBox 14"/>
          <p:cNvSpPr txBox="1"/>
          <p:nvPr/>
        </p:nvSpPr>
        <p:spPr>
          <a:xfrm>
            <a:off x="566928" y="4480560"/>
            <a:ext cx="11064240" cy="256032"/>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THAT HOLD AT EVERY STEP</a:t>
            </a:r>
          </a:p>
        </p:txBody>
      </p:sp>
      <p:sp>
        <p:nvSpPr>
          <p:cNvPr id="16" name="Rectangle 15"/>
          <p:cNvSpPr/>
          <p:nvPr/>
        </p:nvSpPr>
        <p:spPr>
          <a:xfrm>
            <a:off x="566928" y="4773168"/>
            <a:ext cx="11064240" cy="6766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846320"/>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Agents before supervisors</a:t>
            </a:r>
          </a:p>
        </p:txBody>
      </p:sp>
      <p:sp>
        <p:nvSpPr>
          <p:cNvPr id="18" name="TextBox 17"/>
          <p:cNvSpPr txBox="1"/>
          <p:nvPr/>
        </p:nvSpPr>
        <p:spPr>
          <a:xfrm>
            <a:off x="822960" y="5084064"/>
            <a:ext cx="10607040" cy="32918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Ranking on workload alone sends everything to whoever is idlest, which is reliably a supervisor — they carry no queue of their own — and frontline work would skip the agents entirely.</a:t>
            </a:r>
          </a:p>
        </p:txBody>
      </p:sp>
      <p:sp>
        <p:nvSpPr>
          <p:cNvPr id="19" name="Rectangle 18"/>
          <p:cNvSpPr/>
          <p:nvPr/>
        </p:nvSpPr>
        <p:spPr>
          <a:xfrm>
            <a:off x="566928" y="5559552"/>
            <a:ext cx="11064240" cy="6766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632704"/>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Nobody on leave, ever</a:t>
            </a:r>
          </a:p>
        </p:txBody>
      </p:sp>
      <p:sp>
        <p:nvSpPr>
          <p:cNvPr id="21" name="TextBox 20"/>
          <p:cNvSpPr txBox="1"/>
          <p:nvPr/>
        </p:nvSpPr>
        <p:spPr>
          <a:xfrm>
            <a:off x="822960" y="5870448"/>
            <a:ext cx="10607040" cy="32918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A category rule naming someone who is away is skipped rather than obeyed. Parking tickets on an absent person is worse than having no rule.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ticket nobody picked up</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moving assignment to a person does not risk the SLA</a:t>
            </a:r>
          </a:p>
        </p:txBody>
      </p:sp>
      <p:sp>
        <p:nvSpPr>
          <p:cNvPr id="5" name="Rectangle 4"/>
          <p:cNvSpPr/>
          <p:nvPr/>
        </p:nvSpPr>
        <p:spPr>
          <a:xfrm>
            <a:off x="548640" y="1234440"/>
            <a:ext cx="11064240" cy="11887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34440"/>
            <a:ext cx="54864" cy="118872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82296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SLA deadlines are stamped when the ticket is raised, and the clock runs from that moment. If assignment waited for a person and nobody was on shift, a ticket raised overnight could breach — and then escalate — without ever having had an owner.</a:t>
            </a:r>
          </a:p>
        </p:txBody>
      </p:sp>
      <p:sp>
        <p:nvSpPr>
          <p:cNvPr id="8" name="Rectangle 7"/>
          <p:cNvSpPr/>
          <p:nvPr/>
        </p:nvSpPr>
        <p:spPr>
          <a:xfrm>
            <a:off x="548640" y="2743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52928"/>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The safety net</a:t>
            </a:r>
          </a:p>
        </p:txBody>
      </p:sp>
      <p:sp>
        <p:nvSpPr>
          <p:cNvPr id="10" name="TextBox 9"/>
          <p:cNvSpPr txBox="1"/>
          <p:nvPr/>
        </p:nvSpPr>
        <p:spPr>
          <a:xfrm>
            <a:off x="3566160" y="2852928"/>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 background worker assigns anything still unassigned after a set delay, using the same router.</a:t>
            </a:r>
          </a:p>
        </p:txBody>
      </p:sp>
      <p:sp>
        <p:nvSpPr>
          <p:cNvPr id="11" name="Rectangle 10"/>
          <p:cNvSpPr/>
          <p:nvPr/>
        </p:nvSpPr>
        <p:spPr>
          <a:xfrm>
            <a:off x="548640" y="3584448"/>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694176"/>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You set the delay</a:t>
            </a:r>
          </a:p>
        </p:txBody>
      </p:sp>
      <p:sp>
        <p:nvSpPr>
          <p:cNvPr id="13" name="TextBox 12"/>
          <p:cNvSpPr txBox="1"/>
          <p:nvPr/>
        </p:nvSpPr>
        <p:spPr>
          <a:xfrm>
            <a:off x="3566160" y="3694176"/>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 sets it while the system is running — two hours by default, anywhere from fifteen minutes to a week.</a:t>
            </a:r>
          </a:p>
        </p:txBody>
      </p:sp>
      <p:sp>
        <p:nvSpPr>
          <p:cNvPr id="14" name="Rectangle 13"/>
          <p:cNvSpPr/>
          <p:nvPr/>
        </p:nvSpPr>
        <p:spPr>
          <a:xfrm>
            <a:off x="548640" y="4425696"/>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35424"/>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It never overrides you</a:t>
            </a:r>
          </a:p>
        </p:txBody>
      </p:sp>
      <p:sp>
        <p:nvSpPr>
          <p:cNvPr id="16" name="TextBox 15"/>
          <p:cNvSpPr txBox="1"/>
          <p:nvPr/>
        </p:nvSpPr>
        <p:spPr>
          <a:xfrm>
            <a:off x="3566160" y="4535424"/>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It only touches tickets with no owner. It never reassigns one somebody has already given out.</a:t>
            </a:r>
          </a:p>
        </p:txBody>
      </p:sp>
      <p:sp>
        <p:nvSpPr>
          <p:cNvPr id="17" name="TextBox 16"/>
          <p:cNvSpPr txBox="1"/>
          <p:nvPr/>
        </p:nvSpPr>
        <p:spPr>
          <a:xfrm>
            <a:off x="548640" y="544068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So the window is yours to triage in, not a gap. Shorten it if tickets sit too long; lengthen it if the system is assigning work your supervisors wanted to place themselves.</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escalation actually fires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Nobody has to be watching for this to happen</a:t>
            </a:r>
          </a:p>
        </p:txBody>
      </p:sp>
      <p:sp>
        <p:nvSpPr>
          <p:cNvPr id="5" name="Rectangle 4"/>
          <p:cNvSpPr/>
          <p:nvPr/>
        </p:nvSpPr>
        <p:spPr>
          <a:xfrm>
            <a:off x="548640" y="1234440"/>
            <a:ext cx="1106424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63040"/>
            <a:ext cx="10424160" cy="6400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Every 5 minutes a background worker looks for tickets past their resolution deadline. For each one it finds, it marks the breach and evaluates the escalation rules.</a:t>
            </a:r>
          </a:p>
        </p:txBody>
      </p:sp>
      <p:sp>
        <p:nvSpPr>
          <p:cNvPr id="7" name="Rectangle 6"/>
          <p:cNvSpPr/>
          <p:nvPr/>
        </p:nvSpPr>
        <p:spPr>
          <a:xfrm>
            <a:off x="548640" y="251460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61518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Rule matched</a:t>
            </a:r>
          </a:p>
        </p:txBody>
      </p:sp>
      <p:sp>
        <p:nvSpPr>
          <p:cNvPr id="9" name="TextBox 8"/>
          <p:cNvSpPr txBox="1"/>
          <p:nvPr/>
        </p:nvSpPr>
        <p:spPr>
          <a:xfrm>
            <a:off x="3566160" y="261518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most specific rule wins. A category-specific rule beats a catch-all, and priority_threshold is read as a minimum, so a 'high' rule also covers critical.</a:t>
            </a:r>
          </a:p>
        </p:txBody>
      </p:sp>
      <p:sp>
        <p:nvSpPr>
          <p:cNvPr id="10" name="Rectangle 9"/>
          <p:cNvSpPr/>
          <p:nvPr/>
        </p:nvSpPr>
        <p:spPr>
          <a:xfrm>
            <a:off x="548640" y="333756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3814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Ticket moved</a:t>
            </a:r>
          </a:p>
        </p:txBody>
      </p:sp>
      <p:sp>
        <p:nvSpPr>
          <p:cNvPr id="12" name="TextBox 11"/>
          <p:cNvSpPr txBox="1"/>
          <p:nvPr/>
        </p:nvSpPr>
        <p:spPr>
          <a:xfrm>
            <a:off x="3566160" y="343814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Status becomes Escalated and it is reassigned to the least-loaded holder of the target role.</a:t>
            </a:r>
          </a:p>
        </p:txBody>
      </p:sp>
      <p:sp>
        <p:nvSpPr>
          <p:cNvPr id="13" name="Rectangle 12"/>
          <p:cNvSpPr/>
          <p:nvPr/>
        </p:nvSpPr>
        <p:spPr>
          <a:xfrm>
            <a:off x="548640" y="416052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6110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Evidence written</a:t>
            </a:r>
          </a:p>
        </p:txBody>
      </p:sp>
      <p:sp>
        <p:nvSpPr>
          <p:cNvPr id="15" name="TextBox 14"/>
          <p:cNvSpPr txBox="1"/>
          <p:nvPr/>
        </p:nvSpPr>
        <p:spPr>
          <a:xfrm>
            <a:off x="3566160" y="426110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An escalation_events row records the trigger, the rule and the target.</a:t>
            </a:r>
          </a:p>
        </p:txBody>
      </p:sp>
      <p:sp>
        <p:nvSpPr>
          <p:cNvPr id="16" name="Rectangle 15"/>
          <p:cNvSpPr/>
          <p:nvPr/>
        </p:nvSpPr>
        <p:spPr>
          <a:xfrm>
            <a:off x="548640" y="498348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508406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4 — People told</a:t>
            </a:r>
          </a:p>
        </p:txBody>
      </p:sp>
      <p:sp>
        <p:nvSpPr>
          <p:cNvPr id="18" name="TextBox 17"/>
          <p:cNvSpPr txBox="1"/>
          <p:nvPr/>
        </p:nvSpPr>
        <p:spPr>
          <a:xfrm>
            <a:off x="3566160" y="508406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target and the manager list are emailed after the change commits — a failed email never rolls back the escalation.</a:t>
            </a:r>
          </a:p>
        </p:txBody>
      </p:sp>
      <p:sp>
        <p:nvSpPr>
          <p:cNvPr id="19" name="TextBox 18"/>
          <p:cNvSpPr txBox="1"/>
          <p:nvPr/>
        </p:nvSpPr>
        <p:spPr>
          <a:xfrm>
            <a:off x="548640" y="5897880"/>
            <a:ext cx="11064240" cy="45720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A ticket will not escalate twice for the same trigger — otherwise the worker would raise a new event every five minutes until somebody resolved it.</a:t>
            </a:r>
          </a:p>
        </p:txBody>
      </p:sp>
      <p:sp>
        <p:nvSpPr>
          <p:cNvPr id="20" name="Rectangle 1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2" name="TextBox 2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09</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Admin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decide who exists, what they may do, and how the organisation is shaped.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Manage users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7011947" y="160074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a user</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Create a user, set their role, and place them in an org unit.</a:t>
            </a:r>
          </a:p>
        </p:txBody>
      </p:sp>
      <p:sp>
        <p:nvSpPr>
          <p:cNvPr id="16" name="Rectangle 15"/>
          <p:cNvSpPr/>
          <p:nvPr/>
        </p:nvSpPr>
        <p:spPr>
          <a:xfrm>
            <a:off x="8458200" y="2574036"/>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role decides what they may do. There are no per-user permission overrides.</a:t>
            </a:r>
          </a:p>
        </p:txBody>
      </p:sp>
      <p:sp>
        <p:nvSpPr>
          <p:cNvPr id="19" name="Rectangle 18"/>
          <p:cNvSpPr/>
          <p:nvPr/>
        </p:nvSpPr>
        <p:spPr>
          <a:xfrm>
            <a:off x="8458200" y="327812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27812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47014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19 — shape the organisation.</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who is available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5742285" y="221474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6976615" y="245765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Availability is separate from Active — one gates login, the other routing</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Record a leave window</a:t>
            </a:r>
          </a:p>
        </p:txBody>
      </p:sp>
      <p:sp>
        <p:nvSpPr>
          <p:cNvPr id="16" name="Rectangle 15"/>
          <p:cNvSpPr/>
          <p:nvPr/>
        </p:nvSpPr>
        <p:spPr>
          <a:xfrm>
            <a:off x="8458200" y="2299716"/>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Availability column before wondering why work is not reaching someone.</a:t>
            </a:r>
          </a:p>
        </p:txBody>
      </p:sp>
      <p:sp>
        <p:nvSpPr>
          <p:cNvPr id="19" name="Rectangle 18"/>
          <p:cNvSpPr/>
          <p:nvPr/>
        </p:nvSpPr>
        <p:spPr>
          <a:xfrm>
            <a:off x="8458200" y="3163824"/>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16382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355848"/>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Availability and Active are different columns because they mean different things. Active is whether the account works at all; availability is whether the router sends new tickets there. Someone on leave can still sign in and finish what they already hold.</a:t>
            </a:r>
          </a:p>
        </p:txBody>
      </p:sp>
      <p:sp>
        <p:nvSpPr>
          <p:cNvPr id="22" name="Rectangle 21"/>
          <p:cNvSpPr/>
          <p:nvPr/>
        </p:nvSpPr>
        <p:spPr>
          <a:xfrm>
            <a:off x="8458200" y="4668012"/>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46680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86003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Record a leave window with the Leave button.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Record a leave window</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2808158" y="32689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3949549" y="32689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2808158" y="408793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First and last day, both inclusive</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Leave the end date empty for indefinite leave</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8" name="TextBox 17"/>
          <p:cNvSpPr txBox="1"/>
          <p:nvPr/>
        </p:nvSpPr>
        <p:spPr>
          <a:xfrm>
            <a:off x="8787384" y="2171700"/>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Clears the window and makes them available again</a:t>
            </a:r>
          </a:p>
        </p:txBody>
      </p:sp>
      <p:sp>
        <p:nvSpPr>
          <p:cNvPr id="19" name="Rectangle 18"/>
          <p:cNvSpPr/>
          <p:nvPr/>
        </p:nvSpPr>
        <p:spPr>
          <a:xfrm>
            <a:off x="8458200" y="272948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72948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9215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the first and last day away, then save.</a:t>
            </a:r>
          </a:p>
        </p:txBody>
      </p:sp>
      <p:sp>
        <p:nvSpPr>
          <p:cNvPr id="22" name="Rectangle 21"/>
          <p:cNvSpPr/>
          <p:nvPr/>
        </p:nvSpPr>
        <p:spPr>
          <a:xfrm>
            <a:off x="8458200" y="3433572"/>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43357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625596"/>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Auto-assign skips them for that window and starts including them again the day after it ends — nobody has to remember to switch them back on. A supervisor can still assign to them deliberately, which is why they stay in the list rather than disappearing from it.</a:t>
            </a:r>
          </a:p>
        </p:txBody>
      </p:sp>
      <p:sp>
        <p:nvSpPr>
          <p:cNvPr id="25" name="Rectangle 24"/>
          <p:cNvSpPr/>
          <p:nvPr/>
        </p:nvSpPr>
        <p:spPr>
          <a:xfrm>
            <a:off x="8458200" y="493776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493776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512978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21 — shape the organisation.</a:t>
            </a:r>
          </a:p>
        </p:txBody>
      </p:sp>
      <p:sp>
        <p:nvSpPr>
          <p:cNvPr id="28" name="Rectangle 27"/>
          <p:cNvSpPr/>
          <p:nvPr/>
        </p:nvSpPr>
        <p:spPr>
          <a:xfrm>
            <a:off x="411480" y="6062472"/>
            <a:ext cx="7680960" cy="3749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6126480"/>
            <a:ext cx="7351776" cy="265176"/>
          </a:xfrm>
          <a:prstGeom prst="rect">
            <a:avLst/>
          </a:prstGeom>
          <a:noFill/>
        </p:spPr>
        <p:txBody>
          <a:bodyPr wrap="square" anchor="ctr" lIns="0" rIns="0" tIns="0" bIns="0">
            <a:spAutoFit/>
          </a:bodyPr>
          <a:lstStyle/>
          <a:p>
            <a:pPr algn="l">
              <a:lnSpc>
                <a:spcPct val="115000"/>
              </a:lnSpc>
            </a:pPr>
            <a:r>
              <a:rPr sz="1000" b="0">
                <a:solidFill>
                  <a:srgbClr val="1B2A33"/>
                </a:solidFill>
                <a:latin typeface="Calibri"/>
              </a:rPr>
              <a:t>Supervisors can set leave too — rota changes should not wait for an admin.</a:t>
            </a:r>
          </a:p>
        </p:txBody>
      </p:sp>
      <p:sp>
        <p:nvSpPr>
          <p:cNvPr id="30" name="Rectangle 2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2" name="TextBox 3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Shape the organisation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Define hierarchy levels, then units within them.</a:t>
            </a:r>
          </a:p>
        </p:txBody>
      </p:sp>
      <p:sp>
        <p:nvSpPr>
          <p:cNvPr id="12" name="Rectangle 11"/>
          <p:cNvSpPr/>
          <p:nvPr/>
        </p:nvSpPr>
        <p:spPr>
          <a:xfrm>
            <a:off x="8458200" y="189280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org tree drives ticket visibility: a user sees their unit's subtree, plus anything assigned to them personally.</a:t>
            </a:r>
          </a:p>
        </p:txBody>
      </p:sp>
      <p:sp>
        <p:nvSpPr>
          <p:cNvPr id="15" name="Rectangle 14"/>
          <p:cNvSpPr/>
          <p:nvPr/>
        </p:nvSpPr>
        <p:spPr>
          <a:xfrm>
            <a:off x="8458200" y="275691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75691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294894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22 — maintain the branch network.</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Maintain the branch network</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Add branches, set managers and capacity, and mark degraded ones.</a:t>
            </a:r>
          </a:p>
        </p:txBody>
      </p:sp>
      <p:sp>
        <p:nvSpPr>
          <p:cNvPr id="12" name="Rectangle 11"/>
          <p:cNvSpPr/>
          <p:nvPr/>
        </p:nvSpPr>
        <p:spPr>
          <a:xfrm>
            <a:off x="8458200" y="189280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Ticket counts are computed per request, never stored — a counter that drifts is wrong forever with nothing to reveal it.</a:t>
            </a:r>
          </a:p>
        </p:txBody>
      </p:sp>
      <p:sp>
        <p:nvSpPr>
          <p:cNvPr id="15" name="Rectangle 14"/>
          <p:cNvSpPr/>
          <p:nvPr/>
        </p:nvSpPr>
        <p:spPr>
          <a:xfrm>
            <a:off x="8458200" y="275691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75691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294894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23 — pull reports.</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Pull reports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period, then export.</a:t>
            </a:r>
          </a:p>
        </p:txBody>
      </p:sp>
      <p:sp>
        <p:nvSpPr>
          <p:cNvPr id="12" name="Rectangle 11"/>
          <p:cNvSpPr/>
          <p:nvPr/>
        </p:nvSpPr>
        <p:spPr>
          <a:xfrm>
            <a:off x="8458200" y="1732788"/>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7327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192481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export is generated from what is on screen, so it matches the filters you applied rather than silently re-running an unfiltered query.</a:t>
            </a:r>
          </a:p>
        </p:txBody>
      </p:sp>
      <p:sp>
        <p:nvSpPr>
          <p:cNvPr id="15" name="Rectangle 14"/>
          <p:cNvSpPr/>
          <p:nvPr/>
        </p:nvSpPr>
        <p:spPr>
          <a:xfrm>
            <a:off x="8458200" y="275691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75691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294894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24 — protect your own account.</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Turn on your second factor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Security, scan the QR code, and enter one code to confirm.</a:t>
            </a:r>
          </a:p>
        </p:txBody>
      </p:sp>
      <p:sp>
        <p:nvSpPr>
          <p:cNvPr id="12" name="Rectangle 11"/>
          <p:cNvSpPr/>
          <p:nvPr/>
        </p:nvSpPr>
        <p:spPr>
          <a:xfrm>
            <a:off x="8458200" y="1892808"/>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MFA is only switched on once a correct code proves the app is working — so a failed scan cannot lock you out. Ten single-use recovery codes are shown once, and never again.</a:t>
            </a:r>
          </a:p>
        </p:txBody>
      </p:sp>
      <p:sp>
        <p:nvSpPr>
          <p:cNvPr id="15" name="Rectangle 14"/>
          <p:cNvSpPr/>
          <p:nvPr/>
        </p:nvSpPr>
        <p:spPr>
          <a:xfrm>
            <a:off x="8458200" y="3076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3076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3268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Save the recovery codes somewhere safe before leaving this screen.</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Save the recovery codes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This is the one screen you cannot go back to</a:t>
            </a:r>
          </a:p>
        </p:txBody>
      </p:sp>
      <p:sp>
        <p:nvSpPr>
          <p:cNvPr id="5" name="Rectangle 4"/>
          <p:cNvSpPr/>
          <p:nvPr/>
        </p:nvSpPr>
        <p:spPr>
          <a:xfrm>
            <a:off x="548640" y="1280160"/>
            <a:ext cx="11064240" cy="14630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4630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36192"/>
            <a:ext cx="10424160" cy="1051560"/>
          </a:xfrm>
          <a:prstGeom prst="rect">
            <a:avLst/>
          </a:prstGeom>
          <a:noFill/>
        </p:spPr>
        <p:txBody>
          <a:bodyPr wrap="square" anchor="t" lIns="0" rIns="0" tIns="0" bIns="0">
            <a:spAutoFit/>
          </a:bodyPr>
          <a:lstStyle/>
          <a:p>
            <a:pPr algn="l">
              <a:lnSpc>
                <a:spcPct val="135000"/>
              </a:lnSpc>
            </a:pPr>
            <a:r>
              <a:rPr sz="1400" b="0">
                <a:solidFill>
                  <a:srgbClr val="1B2A33"/>
                </a:solidFill>
                <a:latin typeface="Calibri"/>
              </a:rPr>
              <a:t>Ten recovery codes are shown once, when you switch MFA on. Only their hashes are stored, so nobody — including an administrator — can show them to you again. Each works once, in place of a code from your app.</a:t>
            </a:r>
          </a:p>
        </p:txBody>
      </p:sp>
      <p:sp>
        <p:nvSpPr>
          <p:cNvPr id="8" name="Rectangle 7"/>
          <p:cNvSpPr/>
          <p:nvPr/>
        </p:nvSpPr>
        <p:spPr>
          <a:xfrm>
            <a:off x="548640" y="301752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12724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your phone, still have codes</a:t>
            </a:r>
          </a:p>
        </p:txBody>
      </p:sp>
      <p:sp>
        <p:nvSpPr>
          <p:cNvPr id="10" name="TextBox 9"/>
          <p:cNvSpPr txBox="1"/>
          <p:nvPr/>
        </p:nvSpPr>
        <p:spPr>
          <a:xfrm>
            <a:off x="4937760" y="312724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Use any unused recovery code at sign-in. It works once, then it is spent.</a:t>
            </a:r>
          </a:p>
        </p:txBody>
      </p:sp>
      <p:sp>
        <p:nvSpPr>
          <p:cNvPr id="11" name="Rectangle 10"/>
          <p:cNvSpPr/>
          <p:nvPr/>
        </p:nvSpPr>
        <p:spPr>
          <a:xfrm>
            <a:off x="548640" y="3886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99592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both</a:t>
            </a:r>
          </a:p>
        </p:txBody>
      </p:sp>
      <p:sp>
        <p:nvSpPr>
          <p:cNvPr id="13" name="TextBox 12"/>
          <p:cNvSpPr txBox="1"/>
          <p:nvPr/>
        </p:nvSpPr>
        <p:spPr>
          <a:xfrm>
            <a:off x="4937760" y="399592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administrator clears your enrolment, and you set it up again from scratch.</a:t>
            </a:r>
          </a:p>
        </p:txBody>
      </p:sp>
      <p:sp>
        <p:nvSpPr>
          <p:cNvPr id="14" name="Rectangle 13"/>
          <p:cNvSpPr/>
          <p:nvPr/>
        </p:nvSpPr>
        <p:spPr>
          <a:xfrm>
            <a:off x="548640" y="475488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86460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the only super admin</a:t>
            </a:r>
          </a:p>
        </p:txBody>
      </p:sp>
      <p:sp>
        <p:nvSpPr>
          <p:cNvPr id="16" name="TextBox 15"/>
          <p:cNvSpPr txBox="1"/>
          <p:nvPr/>
        </p:nvSpPr>
        <p:spPr>
          <a:xfrm>
            <a:off x="4937760" y="486460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There is no route through the interface, by design. The flag has to be set on the database row.</a:t>
            </a:r>
          </a:p>
        </p:txBody>
      </p:sp>
      <p:sp>
        <p:nvSpPr>
          <p:cNvPr id="17" name="Rectangle 1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9" name="TextBox 1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Admin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10</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Auditor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can open everything and change nothing. Every write is refused by the server.</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the whole picture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dashboard.</a:t>
            </a:r>
          </a:p>
        </p:txBody>
      </p:sp>
      <p:sp>
        <p:nvSpPr>
          <p:cNvPr id="12" name="Rectangle 11"/>
          <p:cNvSpPr/>
          <p:nvPr/>
        </p:nvSpPr>
        <p:spPr>
          <a:xfrm>
            <a:off x="8458200" y="173278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7327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192481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Auditors have full visibility. What they do not have is any way to change what they are looking at.</a:t>
            </a:r>
          </a:p>
        </p:txBody>
      </p:sp>
      <p:sp>
        <p:nvSpPr>
          <p:cNvPr id="15" name="Rectangle 14"/>
          <p:cNvSpPr/>
          <p:nvPr/>
        </p:nvSpPr>
        <p:spPr>
          <a:xfrm>
            <a:off x="8458200" y="259689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59689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278892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26 — open the audit trail.</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audit trail</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the entity or person you are reviewing.</a:t>
            </a:r>
          </a:p>
        </p:txBody>
      </p:sp>
      <p:sp>
        <p:nvSpPr>
          <p:cNvPr id="12" name="Rectangle 11"/>
          <p:cNvSpPr/>
          <p:nvPr/>
        </p:nvSpPr>
        <p:spPr>
          <a:xfrm>
            <a:off x="8458200" y="189280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state change writes a row: actor, role, IP, request id, and the values before and after.</a:t>
            </a:r>
          </a:p>
        </p:txBody>
      </p:sp>
      <p:sp>
        <p:nvSpPr>
          <p:cNvPr id="15" name="Rectangle 14"/>
          <p:cNvSpPr/>
          <p:nvPr/>
        </p:nvSpPr>
        <p:spPr>
          <a:xfrm>
            <a:off x="8458200" y="275691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75691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294894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27 — inspect any ticket.</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Inspect any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any ticket and read its comments, attachments and timeline.</a:t>
            </a:r>
          </a:p>
        </p:txBody>
      </p:sp>
      <p:sp>
        <p:nvSpPr>
          <p:cNvPr id="12" name="Rectangle 11"/>
          <p:cNvSpPr/>
          <p:nvPr/>
        </p:nvSpPr>
        <p:spPr>
          <a:xfrm>
            <a:off x="8458200" y="1892808"/>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There is no scope limit — an auditor sees every ticket, not a subset. Internal notes are visible to them too. Write controls are not offered, and would be refused if called directly.</a:t>
            </a:r>
          </a:p>
        </p:txBody>
      </p:sp>
      <p:sp>
        <p:nvSpPr>
          <p:cNvPr id="15" name="Rectangle 14"/>
          <p:cNvSpPr/>
          <p:nvPr/>
        </p:nvSpPr>
        <p:spPr>
          <a:xfrm>
            <a:off x="8458200" y="3076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3076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3268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This is the end of the auditor's workflow — there is nothing to submit.</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A caveat worth recording</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Honest limitation of the audit trail as it stands today</a:t>
            </a:r>
          </a:p>
        </p:txBody>
      </p:sp>
      <p:sp>
        <p:nvSpPr>
          <p:cNvPr id="5" name="Rectangle 4"/>
          <p:cNvSpPr/>
          <p:nvPr/>
        </p:nvSpPr>
        <p:spPr>
          <a:xfrm>
            <a:off x="548640" y="1371600"/>
            <a:ext cx="11064240" cy="18288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54864" cy="182880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45920"/>
            <a:ext cx="10424160" cy="320040"/>
          </a:xfrm>
          <a:prstGeom prst="rect">
            <a:avLst/>
          </a:prstGeom>
          <a:noFill/>
        </p:spPr>
        <p:txBody>
          <a:bodyPr wrap="square" anchor="t" lIns="0" rIns="0" tIns="0" bIns="0">
            <a:spAutoFit/>
          </a:bodyPr>
          <a:lstStyle/>
          <a:p>
            <a:pPr algn="l">
              <a:lnSpc>
                <a:spcPct val="115000"/>
              </a:lnSpc>
            </a:pPr>
            <a:r>
              <a:rPr sz="1600" b="1">
                <a:solidFill>
                  <a:srgbClr val="C25B2E"/>
                </a:solidFill>
                <a:latin typeface="Calibri"/>
              </a:rPr>
              <a:t>The audit trail is append-only by convention, not by enforcement.</a:t>
            </a:r>
          </a:p>
        </p:txBody>
      </p:sp>
      <p:sp>
        <p:nvSpPr>
          <p:cNvPr id="8" name="TextBox 7"/>
          <p:cNvSpPr txBox="1"/>
          <p:nvPr/>
        </p:nvSpPr>
        <p:spPr>
          <a:xfrm>
            <a:off x="868680" y="2103120"/>
            <a:ext cx="10424160" cy="1005840"/>
          </a:xfrm>
          <a:prstGeom prst="rect">
            <a:avLst/>
          </a:prstGeom>
          <a:noFill/>
        </p:spPr>
        <p:txBody>
          <a:bodyPr wrap="square" anchor="t" lIns="0" rIns="0" tIns="0" bIns="0">
            <a:spAutoFit/>
          </a:bodyPr>
          <a:lstStyle/>
          <a:p>
            <a:pPr algn="l">
              <a:lnSpc>
                <a:spcPct val="135000"/>
              </a:lnSpc>
            </a:pPr>
            <a:r>
              <a:rPr sz="1300" b="0">
                <a:solidFill>
                  <a:srgbClr val="1B2A33"/>
                </a:solidFill>
                <a:latin typeface="Calibri"/>
              </a:rPr>
              <a:t>The application only ever inserts rows. But there is no database trigger and no revoked permission, so anything holding the database credentials could alter history. Closing this is the first item on the outstanding work list.</a:t>
            </a:r>
          </a:p>
        </p:txBody>
      </p:sp>
      <p:sp>
        <p:nvSpPr>
          <p:cNvPr id="9" name="TextBox 8"/>
          <p:cNvSpPr txBox="1"/>
          <p:nvPr/>
        </p:nvSpPr>
        <p:spPr>
          <a:xfrm>
            <a:off x="548640" y="3566160"/>
            <a:ext cx="11064240" cy="82296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It is recorded here rather than left out, because an auditor is exactly the person who needs to know how much weight the trail can carry.</a:t>
            </a:r>
          </a:p>
        </p:txBody>
      </p:sp>
      <p:sp>
        <p:nvSpPr>
          <p:cNvPr id="10" name="Rectangle 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2" name="TextBox 1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Auditor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11</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Attachments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Where files can be added, who can see them, and the one rule people assume wrong.</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Three places a file can be attached</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flow is the same in each: choose the files, then they upload once the thing they belong to exists</a:t>
            </a:r>
          </a:p>
        </p:txBody>
      </p:sp>
      <p:sp>
        <p:nvSpPr>
          <p:cNvPr id="5" name="Rectangle 4"/>
          <p:cNvSpPr/>
          <p:nvPr/>
        </p:nvSpPr>
        <p:spPr>
          <a:xfrm>
            <a:off x="548640" y="1280160"/>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26464"/>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the ticket, when it is raised</a:t>
            </a:r>
          </a:p>
        </p:txBody>
      </p:sp>
      <p:sp>
        <p:nvSpPr>
          <p:cNvPr id="7" name="TextBox 6"/>
          <p:cNvSpPr txBox="1"/>
          <p:nvPr/>
        </p:nvSpPr>
        <p:spPr>
          <a:xfrm>
            <a:off x="868680" y="1755648"/>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Evidence travels with the report rather than arriving afterwards.</a:t>
            </a:r>
          </a:p>
        </p:txBody>
      </p:sp>
      <p:sp>
        <p:nvSpPr>
          <p:cNvPr id="8" name="TextBox 7"/>
          <p:cNvSpPr txBox="1"/>
          <p:nvPr/>
        </p:nvSpPr>
        <p:spPr>
          <a:xfrm>
            <a:off x="7040880" y="1426464"/>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9" name="TextBox 8"/>
          <p:cNvSpPr txBox="1"/>
          <p:nvPr/>
        </p:nvSpPr>
        <p:spPr>
          <a:xfrm>
            <a:off x="7040880" y="1682496"/>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Branch user, agent</a:t>
            </a:r>
          </a:p>
        </p:txBody>
      </p:sp>
      <p:sp>
        <p:nvSpPr>
          <p:cNvPr id="10" name="Rectangle 9"/>
          <p:cNvSpPr/>
          <p:nvPr/>
        </p:nvSpPr>
        <p:spPr>
          <a:xfrm>
            <a:off x="548640" y="2450592"/>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596896"/>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a reply</a:t>
            </a:r>
          </a:p>
        </p:txBody>
      </p:sp>
      <p:sp>
        <p:nvSpPr>
          <p:cNvPr id="12" name="TextBox 11"/>
          <p:cNvSpPr txBox="1"/>
          <p:nvPr/>
        </p:nvSpPr>
        <p:spPr>
          <a:xfrm>
            <a:off x="868680" y="2926080"/>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belongs to that reply, so a fix sits beside the answer explaining it.</a:t>
            </a:r>
          </a:p>
        </p:txBody>
      </p:sp>
      <p:sp>
        <p:nvSpPr>
          <p:cNvPr id="13" name="TextBox 12"/>
          <p:cNvSpPr txBox="1"/>
          <p:nvPr/>
        </p:nvSpPr>
        <p:spPr>
          <a:xfrm>
            <a:off x="7040880" y="2596896"/>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4" name="TextBox 13"/>
          <p:cNvSpPr txBox="1"/>
          <p:nvPr/>
        </p:nvSpPr>
        <p:spPr>
          <a:xfrm>
            <a:off x="7040880" y="2852928"/>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comment</a:t>
            </a:r>
          </a:p>
        </p:txBody>
      </p:sp>
      <p:sp>
        <p:nvSpPr>
          <p:cNvPr id="15" name="Rectangle 14"/>
          <p:cNvSpPr/>
          <p:nvPr/>
        </p:nvSpPr>
        <p:spPr>
          <a:xfrm>
            <a:off x="548640" y="3621024"/>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67328"/>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From the attachments panel</a:t>
            </a:r>
          </a:p>
        </p:txBody>
      </p:sp>
      <p:sp>
        <p:nvSpPr>
          <p:cNvPr id="17" name="TextBox 16"/>
          <p:cNvSpPr txBox="1"/>
          <p:nvPr/>
        </p:nvSpPr>
        <p:spPr>
          <a:xfrm>
            <a:off x="868680" y="4096512"/>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index for the whole ticket; files from replies are marked as such.</a:t>
            </a:r>
          </a:p>
        </p:txBody>
      </p:sp>
      <p:sp>
        <p:nvSpPr>
          <p:cNvPr id="18" name="TextBox 17"/>
          <p:cNvSpPr txBox="1"/>
          <p:nvPr/>
        </p:nvSpPr>
        <p:spPr>
          <a:xfrm>
            <a:off x="7040880" y="3767328"/>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9" name="TextBox 18"/>
          <p:cNvSpPr txBox="1"/>
          <p:nvPr/>
        </p:nvSpPr>
        <p:spPr>
          <a:xfrm>
            <a:off x="7040880" y="4023360"/>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write</a:t>
            </a:r>
          </a:p>
        </p:txBody>
      </p:sp>
      <p:sp>
        <p:nvSpPr>
          <p:cNvPr id="20" name="TextBox 19"/>
          <p:cNvSpPr txBox="1"/>
          <p:nvPr/>
        </p:nvSpPr>
        <p:spPr>
          <a:xfrm>
            <a:off x="548640" y="4937760"/>
            <a:ext cx="11064240" cy="118872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Limits: 15 MB per file. Images, PDF, Word, Excel, text and CSV are accepted. Executables and archives are refused outright — there is no malware scanner, and an unscanned archive is the usual way something nasty arrives.</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rule people get wrong</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An internal note's attachment is as invisible as the note</a:t>
            </a:r>
          </a:p>
        </p:txBody>
      </p:sp>
      <p:sp>
        <p:nvSpPr>
          <p:cNvPr id="5" name="Rectangle 4"/>
          <p:cNvSpPr/>
          <p:nvPr/>
        </p:nvSpPr>
        <p:spPr>
          <a:xfrm>
            <a:off x="54864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21945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08760"/>
            <a:ext cx="4754880" cy="292608"/>
          </a:xfrm>
          <a:prstGeom prst="rect">
            <a:avLst/>
          </a:prstGeom>
          <a:noFill/>
        </p:spPr>
        <p:txBody>
          <a:bodyPr wrap="square" anchor="t" lIns="0" rIns="0" tIns="0" bIns="0">
            <a:spAutoFit/>
          </a:bodyPr>
          <a:lstStyle/>
          <a:p>
            <a:pPr algn="l">
              <a:lnSpc>
                <a:spcPct val="115000"/>
              </a:lnSpc>
            </a:pPr>
            <a:r>
              <a:rPr sz="1400" b="1">
                <a:solidFill>
                  <a:srgbClr val="0E4F4A"/>
                </a:solidFill>
                <a:latin typeface="Calibri"/>
              </a:rPr>
              <a:t>What agents assume</a:t>
            </a:r>
          </a:p>
        </p:txBody>
      </p:sp>
      <p:sp>
        <p:nvSpPr>
          <p:cNvPr id="8" name="TextBox 7"/>
          <p:cNvSpPr txBox="1"/>
          <p:nvPr/>
        </p:nvSpPr>
        <p:spPr>
          <a:xfrm>
            <a:off x="86868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note is internal, so the requester will not read my text — but the file I attached is just a file on the ticket."</a:t>
            </a:r>
          </a:p>
        </p:txBody>
      </p:sp>
      <p:sp>
        <p:nvSpPr>
          <p:cNvPr id="9" name="Rectangle 8"/>
          <p:cNvSpPr/>
          <p:nvPr/>
        </p:nvSpPr>
        <p:spPr>
          <a:xfrm>
            <a:off x="630936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280160"/>
            <a:ext cx="54864" cy="21945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508760"/>
            <a:ext cx="4754880" cy="292608"/>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What actually happens</a:t>
            </a:r>
          </a:p>
        </p:txBody>
      </p:sp>
      <p:sp>
        <p:nvSpPr>
          <p:cNvPr id="12" name="TextBox 11"/>
          <p:cNvSpPr txBox="1"/>
          <p:nvPr/>
        </p:nvSpPr>
        <p:spPr>
          <a:xfrm>
            <a:off x="662940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file is hidden too. It is filtered from the list and refused on download — and the refusal is a 404, so the response does not even confirm the note exists.</a:t>
            </a:r>
          </a:p>
        </p:txBody>
      </p:sp>
      <p:sp>
        <p:nvSpPr>
          <p:cNvPr id="13" name="TextBox 12"/>
          <p:cNvSpPr txBox="1"/>
          <p:nvPr/>
        </p:nvSpPr>
        <p:spPr>
          <a:xfrm>
            <a:off x="548640" y="3794760"/>
            <a:ext cx="11064240" cy="10972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This matters because the file is usually the sensitive part. Hiding the note while serving its attachment would leak exactly what the flag exists to withhold.</a:t>
            </a:r>
          </a:p>
        </p:txBody>
      </p:sp>
      <p:sp>
        <p:nvSpPr>
          <p:cNvPr id="14" name="Rectangle 13"/>
          <p:cNvSpPr/>
          <p:nvPr/>
        </p:nvSpPr>
        <p:spPr>
          <a:xfrm>
            <a:off x="548640" y="4846320"/>
            <a:ext cx="1106424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29200"/>
            <a:ext cx="10424160" cy="59436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Related: you cannot attach a file to somebody else's comment. Without that rule an agent could hang a file off the requester's own message, where it would read as something they had sent.</a:t>
            </a:r>
          </a:p>
        </p:txBody>
      </p:sp>
      <p:sp>
        <p:nvSpPr>
          <p:cNvPr id="16" name="Rectangle 1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8" name="TextBox 1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12</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AI assistant</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It answers questions about the work in front of you. It cannot change anything.</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it can and cannot do</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properties are enforced by the server, not by the prompt</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cannot see more than you can</a:t>
            </a:r>
          </a:p>
        </p:txBody>
      </p:sp>
      <p:sp>
        <p:nvSpPr>
          <p:cNvPr id="8" name="TextBox 7"/>
          <p:cNvSpPr txBox="1"/>
          <p:nvPr/>
        </p:nvSpPr>
        <p:spPr>
          <a:xfrm>
            <a:off x="868680" y="179222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Context is fetched through the same visibility rules as the rest of the application. Point it at a ticket your role cannot open and it is told the ticket is unavailable — no title, no number, nothing.</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6207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says when it does not know</a:t>
            </a:r>
          </a:p>
        </p:txBody>
      </p:sp>
      <p:sp>
        <p:nvSpPr>
          <p:cNvPr id="12" name="TextBox 11"/>
          <p:cNvSpPr txBox="1"/>
          <p:nvPr/>
        </p:nvSpPr>
        <p:spPr>
          <a:xfrm>
            <a:off x="868680" y="320954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Rather than producing generic advice. An assistant that invents ticket facts in a bank is worse than one that declines.</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79392"/>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It cannot act</a:t>
            </a:r>
          </a:p>
        </p:txBody>
      </p:sp>
      <p:sp>
        <p:nvSpPr>
          <p:cNvPr id="16" name="TextBox 15"/>
          <p:cNvSpPr txBox="1"/>
          <p:nvPr/>
        </p:nvSpPr>
        <p:spPr>
          <a:xfrm>
            <a:off x="868680" y="462686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It has no write access. It will not change a status, assign a ticket or post a comment. Everything it produces is for you to act on.</a:t>
            </a:r>
          </a:p>
        </p:txBody>
      </p:sp>
      <p:sp>
        <p:nvSpPr>
          <p:cNvPr id="17" name="TextBox 16"/>
          <p:cNvSpPr txBox="1"/>
          <p:nvPr/>
        </p:nvSpPr>
        <p:spPr>
          <a:xfrm>
            <a:off x="548640" y="5623560"/>
            <a:ext cx="11064240" cy="64008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If it reports that it cannot connect, the cause is almost always the local model rather than the application. The message it shows includes the specific fix.</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Assistant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13</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knowledge base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Ask a question, get an answer with the passage it came from. Administrators decide which documents exist and who may search them.</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Why this is not just a search box</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properties the server enforces, not the prompt</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can only quote what you may already read</a:t>
            </a:r>
          </a:p>
        </p:txBody>
      </p:sp>
      <p:sp>
        <p:nvSpPr>
          <p:cNvPr id="8" name="TextBox 7"/>
          <p:cNvSpPr txBox="1"/>
          <p:nvPr/>
        </p:nvSpPr>
        <p:spPr>
          <a:xfrm>
            <a:off x="868680" y="179222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Access is applied to the search itself, before anything is generated. A passage your role has not been granted is never retrieved, so it cannot appear in an answer — you get the same response as if the document did not exist.</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6207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Every claim carries its source</a:t>
            </a:r>
          </a:p>
        </p:txBody>
      </p:sp>
      <p:sp>
        <p:nvSpPr>
          <p:cNvPr id="12" name="TextBox 11"/>
          <p:cNvSpPr txBox="1"/>
          <p:nvPr/>
        </p:nvSpPr>
        <p:spPr>
          <a:xfrm>
            <a:off x="868680" y="320954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Each factual sentence is marked with the passage it came from, and you can open that document, section and page to check it. If the assistant produces a source that does not exist, the sentence it supported is removed before you see it.</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79392"/>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It refuses rather than guessing</a:t>
            </a:r>
          </a:p>
        </p:txBody>
      </p:sp>
      <p:sp>
        <p:nvSpPr>
          <p:cNvPr id="16" name="TextBox 15"/>
          <p:cNvSpPr txBox="1"/>
          <p:nvPr/>
        </p:nvSpPr>
        <p:spPr>
          <a:xfrm>
            <a:off x="868680" y="462686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When the documents do not cover your question it says so and stops. That is the correct answer, not a failure — and it names what would help, such as asking an administrator whether the relevant document has been uploaded.</a:t>
            </a:r>
          </a:p>
        </p:txBody>
      </p:sp>
      <p:sp>
        <p:nvSpPr>
          <p:cNvPr id="17" name="TextBox 16"/>
          <p:cNvSpPr txBox="1"/>
          <p:nvPr/>
        </p:nvSpPr>
        <p:spPr>
          <a:xfrm>
            <a:off x="548640" y="5623560"/>
            <a:ext cx="11064240" cy="64008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Find it in the sidebar under Knowledge Base. Agents, supervisors and administrators can ask questions; only administrators can upload documents or change who may search a collection.</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Knowledge base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Ask the knowledge base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 &amp; ABOVE</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27742" y="303564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1527742" y="336928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527742" y="388007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1527742" y="475186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Ask in plain words — no query syntax</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Confidence, computed from the evidence</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Cited sources: document, section, page</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Also retrieved but not cited</a:t>
            </a:r>
          </a:p>
        </p:txBody>
      </p:sp>
      <p:sp>
        <p:nvSpPr>
          <p:cNvPr id="22" name="Rectangle 21"/>
          <p:cNvSpPr/>
          <p:nvPr/>
        </p:nvSpPr>
        <p:spPr>
          <a:xfrm>
            <a:off x="8458200" y="2651760"/>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Type your question in plain words and select Ask. There is no query syntax and no filters.</a:t>
            </a:r>
          </a:p>
        </p:txBody>
      </p:sp>
      <p:sp>
        <p:nvSpPr>
          <p:cNvPr id="25" name="Rectangle 24"/>
          <p:cNvSpPr/>
          <p:nvPr/>
        </p:nvSpPr>
        <p:spPr>
          <a:xfrm>
            <a:off x="8458200" y="3515868"/>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51586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707892"/>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get an answer with a confidence band, and every factual sentence marked with the passage it came from. Cited sources are listed below with their document, section and page.</a:t>
            </a:r>
          </a:p>
        </p:txBody>
      </p:sp>
      <p:sp>
        <p:nvSpPr>
          <p:cNvPr id="28" name="Rectangle 27"/>
          <p:cNvSpPr/>
          <p:nvPr/>
        </p:nvSpPr>
        <p:spPr>
          <a:xfrm>
            <a:off x="8458200" y="470001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70001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8920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29 — read what it retrieved but did not use.</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Check the answer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 &amp; ABOVE</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27742" y="303564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1527742" y="336928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527742" y="388007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1527742" y="475186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Ask in plain words — no query syntax</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Confidence, computed from the evidence</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Cited sources: document, section, page</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Also retrieved but not cited</a:t>
            </a:r>
          </a:p>
        </p:txBody>
      </p:sp>
      <p:sp>
        <p:nvSpPr>
          <p:cNvPr id="22" name="Rectangle 21"/>
          <p:cNvSpPr/>
          <p:nvPr/>
        </p:nvSpPr>
        <p:spPr>
          <a:xfrm>
            <a:off x="8458200" y="26517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cited sources, and the passages listed under Also retrieved, not cited.</a:t>
            </a:r>
          </a:p>
        </p:txBody>
      </p:sp>
      <p:sp>
        <p:nvSpPr>
          <p:cNvPr id="25" name="Rectangle 24"/>
          <p:cNvSpPr/>
          <p:nvPr/>
        </p:nvSpPr>
        <p:spPr>
          <a:xfrm>
            <a:off x="8458200" y="3355848"/>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35584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547872"/>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second list is what the search considered and the answer did not use. Seeing both tells you how much was weighed; a thin list is a reason to treat the answer carefully.</a:t>
            </a:r>
          </a:p>
        </p:txBody>
      </p:sp>
      <p:sp>
        <p:nvSpPr>
          <p:cNvPr id="28" name="Rectangle 27"/>
          <p:cNvSpPr/>
          <p:nvPr/>
        </p:nvSpPr>
        <p:spPr>
          <a:xfrm>
            <a:off x="8458200" y="453999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53999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73202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30 — what happens when it has nothing.</a:t>
            </a:r>
          </a:p>
        </p:txBody>
      </p:sp>
      <p:sp>
        <p:nvSpPr>
          <p:cNvPr id="31" name="Rectangle 30"/>
          <p:cNvSpPr/>
          <p:nvPr/>
        </p:nvSpPr>
        <p:spPr>
          <a:xfrm>
            <a:off x="411480" y="6062472"/>
            <a:ext cx="7680960" cy="3749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6072" y="6126480"/>
            <a:ext cx="7351776" cy="265176"/>
          </a:xfrm>
          <a:prstGeom prst="rect">
            <a:avLst/>
          </a:prstGeom>
          <a:noFill/>
        </p:spPr>
        <p:txBody>
          <a:bodyPr wrap="square" anchor="ctr" lIns="0" rIns="0" tIns="0" bIns="0">
            <a:spAutoFit/>
          </a:bodyPr>
          <a:lstStyle/>
          <a:p>
            <a:pPr algn="l">
              <a:lnSpc>
                <a:spcPct val="115000"/>
              </a:lnSpc>
            </a:pPr>
            <a:r>
              <a:rPr sz="1000" b="0">
                <a:solidFill>
                  <a:srgbClr val="1B2A33"/>
                </a:solidFill>
                <a:latin typeface="Calibri"/>
              </a:rPr>
              <a:t>The confidence band is computed from the evidence, not asked of the assistant.</a:t>
            </a:r>
          </a:p>
        </p:txBody>
      </p:sp>
      <p:sp>
        <p:nvSpPr>
          <p:cNvPr id="33" name="Rectangle 3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5" name="TextBox 3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30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When it declines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 &amp; ABOVE</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618377" y="343841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It says so and stops, rather than guessing</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Ask something the uploaded documents do not cover.</a:t>
            </a:r>
          </a:p>
        </p:txBody>
      </p:sp>
      <p:sp>
        <p:nvSpPr>
          <p:cNvPr id="16" name="Rectangle 15"/>
          <p:cNvSpPr/>
          <p:nvPr/>
        </p:nvSpPr>
        <p:spPr>
          <a:xfrm>
            <a:off x="8458200" y="2574036"/>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It reports that it has no grounded answer and explains why, rather than producing something plausible. Try different wording, or ask an administrator whether the document exists.</a:t>
            </a:r>
          </a:p>
        </p:txBody>
      </p:sp>
      <p:sp>
        <p:nvSpPr>
          <p:cNvPr id="19" name="Rectangle 18"/>
          <p:cNvSpPr/>
          <p:nvPr/>
        </p:nvSpPr>
        <p:spPr>
          <a:xfrm>
            <a:off x="8458200" y="375818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75818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9502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31 — administrators: stocking the base.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30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31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Upload and grant access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 ONLY</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3149193" y="362132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6038002" y="32785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591494" y="398808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3149193" y="54681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Which roles may search this collection</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Upload PDF, Word, Markdown, text or CSV</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 collection nobody can read is flagged</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 document that failed says why</a:t>
            </a:r>
          </a:p>
        </p:txBody>
      </p:sp>
      <p:sp>
        <p:nvSpPr>
          <p:cNvPr id="22" name="Rectangle 21"/>
          <p:cNvSpPr/>
          <p:nvPr/>
        </p:nvSpPr>
        <p:spPr>
          <a:xfrm>
            <a:off x="8458200" y="2651760"/>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a collection, choose Upload document, then set which roles may search it.</a:t>
            </a:r>
          </a:p>
        </p:txBody>
      </p:sp>
      <p:sp>
        <p:nvSpPr>
          <p:cNvPr id="25" name="Rectangle 24"/>
          <p:cNvSpPr/>
          <p:nvPr/>
        </p:nvSpPr>
        <p:spPr>
          <a:xfrm>
            <a:off x="8458200" y="3515868"/>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51586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70789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file is parsed, split into passages and indexed. It becomes searchable only once every passage is indexed — a document is never half-available.</a:t>
            </a:r>
          </a:p>
        </p:txBody>
      </p:sp>
      <p:sp>
        <p:nvSpPr>
          <p:cNvPr id="28" name="Rectangle 27"/>
          <p:cNvSpPr/>
          <p:nvPr/>
        </p:nvSpPr>
        <p:spPr>
          <a:xfrm>
            <a:off x="8458200" y="453999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53999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73202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32 — the two states worth knowing.</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31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Two states you will meet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Both are the system being honest rather than broken</a:t>
            </a:r>
          </a:p>
        </p:txBody>
      </p:sp>
      <p:sp>
        <p:nvSpPr>
          <p:cNvPr id="5" name="Rectangle 4"/>
          <p:cNvSpPr/>
          <p:nvPr/>
        </p:nvSpPr>
        <p:spPr>
          <a:xfrm>
            <a:off x="548640" y="1371600"/>
            <a:ext cx="11064240" cy="148132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54864" cy="148132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54480"/>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“No roles granted — not searchable”</a:t>
            </a:r>
          </a:p>
        </p:txBody>
      </p:sp>
      <p:sp>
        <p:nvSpPr>
          <p:cNvPr id="8" name="TextBox 7"/>
          <p:cNvSpPr txBox="1"/>
          <p:nvPr/>
        </p:nvSpPr>
        <p:spPr>
          <a:xfrm>
            <a:off x="868680" y="1920240"/>
            <a:ext cx="10424160" cy="82296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A new collection is readable by nobody until you grant a role. It will accept uploads and answer nothing until you do, so the list says so rather than leaving you to wonder why search returns silence.</a:t>
            </a:r>
          </a:p>
        </p:txBody>
      </p:sp>
      <p:sp>
        <p:nvSpPr>
          <p:cNvPr id="9" name="Rectangle 8"/>
          <p:cNvSpPr/>
          <p:nvPr/>
        </p:nvSpPr>
        <p:spPr>
          <a:xfrm>
            <a:off x="548640" y="3108960"/>
            <a:ext cx="11064240" cy="148132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108960"/>
            <a:ext cx="54864" cy="148132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91840"/>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A document marked Failed, with the reason</a:t>
            </a:r>
          </a:p>
        </p:txBody>
      </p:sp>
      <p:sp>
        <p:nvSpPr>
          <p:cNvPr id="12" name="TextBox 11"/>
          <p:cNvSpPr txBox="1"/>
          <p:nvPr/>
        </p:nvSpPr>
        <p:spPr>
          <a:xfrm>
            <a:off x="868680" y="3657600"/>
            <a:ext cx="10424160" cy="82296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Most often a scanned PDF with no text layer, or the local model being unreachable. The previous version of that document keeps answering throughout — select Re-index once the cause is fixed.</a:t>
            </a:r>
          </a:p>
        </p:txBody>
      </p:sp>
      <p:sp>
        <p:nvSpPr>
          <p:cNvPr id="13" name="TextBox 12"/>
          <p:cNvSpPr txBox="1"/>
          <p:nvPr/>
        </p:nvSpPr>
        <p:spPr>
          <a:xfrm>
            <a:off x="548640" y="5120640"/>
            <a:ext cx="11064240" cy="1005840"/>
          </a:xfrm>
          <a:prstGeom prst="rect">
            <a:avLst/>
          </a:prstGeom>
          <a:noFill/>
        </p:spPr>
        <p:txBody>
          <a:bodyPr wrap="square" anchor="t" lIns="0" rIns="0" tIns="0" bIns="0">
            <a:spAutoFit/>
          </a:bodyPr>
          <a:lstStyle/>
          <a:p>
            <a:pPr algn="l">
              <a:lnSpc>
                <a:spcPct val="130000"/>
              </a:lnSpc>
            </a:pPr>
            <a:r>
              <a:rPr sz="1150" b="0">
                <a:solidFill>
                  <a:srgbClr val="5B6B75"/>
                </a:solidFill>
                <a:latin typeface="Calibri"/>
              </a:rPr>
              <a:t>Branch users and auditors cannot search the knowledge base at all, and there is no navigation entry for them. It holds internal staff procedure, and an auditor is an oversight role rather than a working one.</a:t>
            </a:r>
          </a:p>
        </p:txBody>
      </p:sp>
      <p:sp>
        <p:nvSpPr>
          <p:cNvPr id="14" name="Rectangle 13"/>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6" name="TextBox 15"/>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Knowledge base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14</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Common scenarios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Four situations, start to finish, naming who does what at each hop.</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A — a duplicated debit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everyday case: raised with evidence, worked, resolved</a:t>
            </a:r>
          </a:p>
        </p:txBody>
      </p:sp>
      <p:sp>
        <p:nvSpPr>
          <p:cNvPr id="5" name="Rectangle 4"/>
          <p:cNvSpPr/>
          <p:nvPr/>
        </p:nvSpPr>
        <p:spPr>
          <a:xfrm>
            <a:off x="548640" y="1207008"/>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7" name="Rectangle 6"/>
          <p:cNvSpPr/>
          <p:nvPr/>
        </p:nvSpPr>
        <p:spPr>
          <a:xfrm>
            <a:off x="2697480" y="1207008"/>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Raises the ticket with a screenshot, the statement and a CSV of the transactions</a:t>
            </a:r>
          </a:p>
        </p:txBody>
      </p:sp>
      <p:sp>
        <p:nvSpPr>
          <p:cNvPr id="9" name="Rectangle 8"/>
          <p:cNvSpPr/>
          <p:nvPr/>
        </p:nvSpPr>
        <p:spPr>
          <a:xfrm>
            <a:off x="548640" y="2054352"/>
            <a:ext cx="2057400" cy="70104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54352"/>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1" name="Rectangle 10"/>
          <p:cNvSpPr/>
          <p:nvPr/>
        </p:nvSpPr>
        <p:spPr>
          <a:xfrm>
            <a:off x="2697480" y="2054352"/>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054352"/>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Numbers it and stamps both SLA deadlines. It does not pick an owner</a:t>
            </a:r>
          </a:p>
        </p:txBody>
      </p:sp>
      <p:sp>
        <p:nvSpPr>
          <p:cNvPr id="13" name="Rectangle 12"/>
          <p:cNvSpPr/>
          <p:nvPr/>
        </p:nvSpPr>
        <p:spPr>
          <a:xfrm>
            <a:off x="548640" y="2901696"/>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901696"/>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Supervisor</a:t>
            </a:r>
          </a:p>
        </p:txBody>
      </p:sp>
      <p:sp>
        <p:nvSpPr>
          <p:cNvPr id="15" name="Rectangle 14"/>
          <p:cNvSpPr/>
          <p:nvPr/>
        </p:nvSpPr>
        <p:spPr>
          <a:xfrm>
            <a:off x="2697480" y="2901696"/>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2901696"/>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Assigns it — by hand, or with Auto-assign to take the lightest queue</a:t>
            </a:r>
          </a:p>
        </p:txBody>
      </p:sp>
      <p:sp>
        <p:nvSpPr>
          <p:cNvPr id="17" name="Rectangle 16"/>
          <p:cNvSpPr/>
          <p:nvPr/>
        </p:nvSpPr>
        <p:spPr>
          <a:xfrm>
            <a:off x="548640" y="3749040"/>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749040"/>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19" name="Rectangle 18"/>
          <p:cNvSpPr/>
          <p:nvPr/>
        </p:nvSpPr>
        <p:spPr>
          <a:xfrm>
            <a:off x="2697480" y="3749040"/>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3749040"/>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Moves it to In Progress, checks the evidence, confirms the duplicate</a:t>
            </a:r>
          </a:p>
        </p:txBody>
      </p:sp>
      <p:sp>
        <p:nvSpPr>
          <p:cNvPr id="21" name="Rectangle 20"/>
          <p:cNvSpPr/>
          <p:nvPr/>
        </p:nvSpPr>
        <p:spPr>
          <a:xfrm>
            <a:off x="548640" y="4596384"/>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596384"/>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596384"/>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596384"/>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Replies with the corrected statement attached to that reply, then resolves</a:t>
            </a:r>
          </a:p>
        </p:txBody>
      </p:sp>
      <p:sp>
        <p:nvSpPr>
          <p:cNvPr id="25" name="Rectangle 24"/>
          <p:cNvSpPr/>
          <p:nvPr/>
        </p:nvSpPr>
        <p:spPr>
          <a:xfrm>
            <a:off x="548640" y="5443728"/>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5443728"/>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27" name="Rectangle 26"/>
          <p:cNvSpPr/>
          <p:nvPr/>
        </p:nvSpPr>
        <p:spPr>
          <a:xfrm>
            <a:off x="2697480" y="5443728"/>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71800" y="5443728"/>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Sees the explanation and the corrected file together, and the ticket closes</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B — nobody picked it up</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What happens when a deadline passes and no one is watching</a:t>
            </a:r>
          </a:p>
        </p:txBody>
      </p:sp>
      <p:sp>
        <p:nvSpPr>
          <p:cNvPr id="5" name="Rectangle 4"/>
          <p:cNvSpPr/>
          <p:nvPr/>
        </p:nvSpPr>
        <p:spPr>
          <a:xfrm>
            <a:off x="548640" y="120700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7" name="Rectangle 6"/>
          <p:cNvSpPr/>
          <p:nvPr/>
        </p:nvSpPr>
        <p:spPr>
          <a:xfrm>
            <a:off x="2697480" y="120700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The SLA worker finds the ticket past its resolution deadline</a:t>
            </a:r>
          </a:p>
        </p:txBody>
      </p:sp>
      <p:sp>
        <p:nvSpPr>
          <p:cNvPr id="9" name="Rectangle 8"/>
          <p:cNvSpPr/>
          <p:nvPr/>
        </p:nvSpPr>
        <p:spPr>
          <a:xfrm>
            <a:off x="548640" y="213969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39696"/>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1" name="Rectangle 10"/>
          <p:cNvSpPr/>
          <p:nvPr/>
        </p:nvSpPr>
        <p:spPr>
          <a:xfrm>
            <a:off x="2697480" y="213969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139696"/>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Marks the breach, matches the most specific escalation rule</a:t>
            </a:r>
          </a:p>
        </p:txBody>
      </p:sp>
      <p:sp>
        <p:nvSpPr>
          <p:cNvPr id="13" name="Rectangle 12"/>
          <p:cNvSpPr/>
          <p:nvPr/>
        </p:nvSpPr>
        <p:spPr>
          <a:xfrm>
            <a:off x="548640" y="307238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72384"/>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5" name="Rectangle 14"/>
          <p:cNvSpPr/>
          <p:nvPr/>
        </p:nvSpPr>
        <p:spPr>
          <a:xfrm>
            <a:off x="2697480" y="307238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072384"/>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Moves it to Escalated, reassigns to the least-loaded holder of the target role</a:t>
            </a:r>
          </a:p>
        </p:txBody>
      </p:sp>
      <p:sp>
        <p:nvSpPr>
          <p:cNvPr id="17" name="Rectangle 16"/>
          <p:cNvSpPr/>
          <p:nvPr/>
        </p:nvSpPr>
        <p:spPr>
          <a:xfrm>
            <a:off x="548640" y="4005072"/>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005072"/>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9" name="Rectangle 18"/>
          <p:cNvSpPr/>
          <p:nvPr/>
        </p:nvSpPr>
        <p:spPr>
          <a:xfrm>
            <a:off x="2697480" y="400507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005072"/>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Writes an escalation event, then emails the target and the managers</a:t>
            </a:r>
          </a:p>
        </p:txBody>
      </p:sp>
      <p:sp>
        <p:nvSpPr>
          <p:cNvPr id="21" name="Rectangle 20"/>
          <p:cNvSpPr/>
          <p:nvPr/>
        </p:nvSpPr>
        <p:spPr>
          <a:xfrm>
            <a:off x="548640" y="493776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937760"/>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Supervisor</a:t>
            </a:r>
          </a:p>
        </p:txBody>
      </p:sp>
      <p:sp>
        <p:nvSpPr>
          <p:cNvPr id="23" name="Rectangle 22"/>
          <p:cNvSpPr/>
          <p:nvPr/>
        </p:nvSpPr>
        <p:spPr>
          <a:xfrm>
            <a:off x="2697480" y="493776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937760"/>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Sees it in the escalation queue and confirms someone is on it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C — the agent needs more information</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two-way exchange that used to happen over email</a:t>
            </a:r>
          </a:p>
        </p:txBody>
      </p:sp>
      <p:sp>
        <p:nvSpPr>
          <p:cNvPr id="5" name="Rectangle 4"/>
          <p:cNvSpPr/>
          <p:nvPr/>
        </p:nvSpPr>
        <p:spPr>
          <a:xfrm>
            <a:off x="548640" y="120700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7" name="Rectangle 6"/>
          <p:cNvSpPr/>
          <p:nvPr/>
        </p:nvSpPr>
        <p:spPr>
          <a:xfrm>
            <a:off x="2697480" y="120700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Replies asking for the account number and a clearer screenshot</a:t>
            </a:r>
          </a:p>
        </p:txBody>
      </p:sp>
      <p:sp>
        <p:nvSpPr>
          <p:cNvPr id="9" name="Rectangle 8"/>
          <p:cNvSpPr/>
          <p:nvPr/>
        </p:nvSpPr>
        <p:spPr>
          <a:xfrm>
            <a:off x="548640" y="213969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39696"/>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11" name="Rectangle 10"/>
          <p:cNvSpPr/>
          <p:nvPr/>
        </p:nvSpPr>
        <p:spPr>
          <a:xfrm>
            <a:off x="2697480" y="213969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139696"/>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Answers on the ticket and attaches the new screenshot</a:t>
            </a:r>
          </a:p>
        </p:txBody>
      </p:sp>
      <p:sp>
        <p:nvSpPr>
          <p:cNvPr id="13" name="Rectangle 12"/>
          <p:cNvSpPr/>
          <p:nvPr/>
        </p:nvSpPr>
        <p:spPr>
          <a:xfrm>
            <a:off x="548640" y="307238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72384"/>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15" name="Rectangle 14"/>
          <p:cNvSpPr/>
          <p:nvPr/>
        </p:nvSpPr>
        <p:spPr>
          <a:xfrm>
            <a:off x="2697480" y="307238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072384"/>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Continues, adding an internal note with findings the requester should not see</a:t>
            </a:r>
          </a:p>
        </p:txBody>
      </p:sp>
      <p:sp>
        <p:nvSpPr>
          <p:cNvPr id="17" name="Rectangle 16"/>
          <p:cNvSpPr/>
          <p:nvPr/>
        </p:nvSpPr>
        <p:spPr>
          <a:xfrm>
            <a:off x="548640" y="400507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005072"/>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19" name="Rectangle 18"/>
          <p:cNvSpPr/>
          <p:nvPr/>
        </p:nvSpPr>
        <p:spPr>
          <a:xfrm>
            <a:off x="2697480" y="400507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005072"/>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Sees neither the internal note nor the file attached to it</a:t>
            </a:r>
          </a:p>
        </p:txBody>
      </p:sp>
      <p:sp>
        <p:nvSpPr>
          <p:cNvPr id="21" name="Rectangle 20"/>
          <p:cNvSpPr/>
          <p:nvPr/>
        </p:nvSpPr>
        <p:spPr>
          <a:xfrm>
            <a:off x="548640" y="493776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937760"/>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3776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937760"/>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Resolves with a public explanation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D — it was not actually fixed</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Reopening, and what it does to the counts</a:t>
            </a:r>
          </a:p>
        </p:txBody>
      </p:sp>
      <p:sp>
        <p:nvSpPr>
          <p:cNvPr id="5" name="Rectangle 4"/>
          <p:cNvSpPr/>
          <p:nvPr/>
        </p:nvSpPr>
        <p:spPr>
          <a:xfrm>
            <a:off x="548640" y="120700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7" name="Rectangle 6"/>
          <p:cNvSpPr/>
          <p:nvPr/>
        </p:nvSpPr>
        <p:spPr>
          <a:xfrm>
            <a:off x="2697480" y="120700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Reads the resolution and finds the problem still occurring</a:t>
            </a:r>
          </a:p>
        </p:txBody>
      </p:sp>
      <p:sp>
        <p:nvSpPr>
          <p:cNvPr id="9" name="Rectangle 8"/>
          <p:cNvSpPr/>
          <p:nvPr/>
        </p:nvSpPr>
        <p:spPr>
          <a:xfrm>
            <a:off x="548640" y="213969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39696"/>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11" name="Rectangle 10"/>
          <p:cNvSpPr/>
          <p:nvPr/>
        </p:nvSpPr>
        <p:spPr>
          <a:xfrm>
            <a:off x="2697480" y="213969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139696"/>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Reopens the ticket, explaining what is still wrong</a:t>
            </a:r>
          </a:p>
        </p:txBody>
      </p:sp>
      <p:sp>
        <p:nvSpPr>
          <p:cNvPr id="13" name="Rectangle 12"/>
          <p:cNvSpPr/>
          <p:nvPr/>
        </p:nvSpPr>
        <p:spPr>
          <a:xfrm>
            <a:off x="548640" y="307238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72384"/>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5" name="Rectangle 14"/>
          <p:cNvSpPr/>
          <p:nvPr/>
        </p:nvSpPr>
        <p:spPr>
          <a:xfrm>
            <a:off x="2697480" y="307238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072384"/>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The ticket returns to the open set and counts against the dashboard again</a:t>
            </a:r>
          </a:p>
        </p:txBody>
      </p:sp>
      <p:sp>
        <p:nvSpPr>
          <p:cNvPr id="17" name="Rectangle 16"/>
          <p:cNvSpPr/>
          <p:nvPr/>
        </p:nvSpPr>
        <p:spPr>
          <a:xfrm>
            <a:off x="548640" y="400507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005072"/>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19" name="Rectangle 18"/>
          <p:cNvSpPr/>
          <p:nvPr/>
        </p:nvSpPr>
        <p:spPr>
          <a:xfrm>
            <a:off x="2697480" y="400507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005072"/>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Picks it back up from Assigned and works it a second time</a:t>
            </a:r>
          </a:p>
        </p:txBody>
      </p:sp>
      <p:sp>
        <p:nvSpPr>
          <p:cNvPr id="21" name="Rectangle 20"/>
          <p:cNvSpPr/>
          <p:nvPr/>
        </p:nvSpPr>
        <p:spPr>
          <a:xfrm>
            <a:off x="548640" y="493776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937760"/>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3776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937760"/>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Resolves again — the whole history stays on the one ticket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15</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Quick reference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desk copy. Statuses, who does what, and where things live.</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reference</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Who can move a ticket into each state, and what it means</a:t>
            </a:r>
          </a:p>
        </p:txBody>
      </p:sp>
      <p:graphicFrame>
        <p:nvGraphicFramePr>
          <p:cNvPr id="5" name="Table 4"/>
          <p:cNvGraphicFramePr>
            <a:graphicFrameLocks noGrp="1"/>
          </p:cNvGraphicFramePr>
          <p:nvPr/>
        </p:nvGraphicFramePr>
        <p:xfrm>
          <a:off x="457200" y="1143000"/>
          <a:ext cx="11247120" cy="3657600"/>
        </p:xfrm>
        <a:graphic>
          <a:graphicData uri="http://schemas.openxmlformats.org/drawingml/2006/table">
            <a:tbl>
              <a:tblPr firstRow="1" bandRow="1">
                <a:tableStyleId>{5C22544A-7EE6-4342-B048-85BDC9FD1C3A}</a:tableStyleId>
              </a:tblPr>
              <a:tblGrid>
                <a:gridCol w="1920240"/>
                <a:gridCol w="6035040"/>
                <a:gridCol w="3291840"/>
              </a:tblGrid>
              <a:tr h="365760">
                <a:tc>
                  <a:txBody>
                    <a:bodyPr/>
                    <a:lstStyle/>
                    <a:p>
                      <a:r>
                        <a:rPr sz="1100" b="1">
                          <a:solidFill>
                            <a:srgbClr val="FFFFFF"/>
                          </a:solidFill>
                        </a:rPr>
                        <a:t>Status</a:t>
                      </a:r>
                    </a:p>
                  </a:txBody>
                  <a:tcPr>
                    <a:solidFill>
                      <a:srgbClr val="0E4F4A"/>
                    </a:solidFill>
                  </a:tcPr>
                </a:tc>
                <a:tc>
                  <a:txBody>
                    <a:bodyPr/>
                    <a:lstStyle/>
                    <a:p>
                      <a:r>
                        <a:rPr sz="1100" b="1">
                          <a:solidFill>
                            <a:srgbClr val="FFFFFF"/>
                          </a:solidFill>
                        </a:rPr>
                        <a:t>Means</a:t>
                      </a:r>
                    </a:p>
                  </a:txBody>
                  <a:tcPr>
                    <a:solidFill>
                      <a:srgbClr val="0E4F4A"/>
                    </a:solidFill>
                  </a:tcPr>
                </a:tc>
                <a:tc>
                  <a:txBody>
                    <a:bodyPr/>
                    <a:lstStyle/>
                    <a:p>
                      <a:r>
                        <a:rPr sz="1100" b="1">
                          <a:solidFill>
                            <a:srgbClr val="FFFFFF"/>
                          </a:solidFill>
                        </a:rPr>
                        <a:t>Set by</a:t>
                      </a:r>
                    </a:p>
                  </a:txBody>
                  <a:tcPr>
                    <a:solidFill>
                      <a:srgbClr val="0E4F4A"/>
                    </a:solidFill>
                  </a:tcPr>
                </a:tc>
              </a:tr>
              <a:tr h="365760">
                <a:tc>
                  <a:txBody>
                    <a:bodyPr/>
                    <a:lstStyle/>
                    <a:p>
                      <a:r>
                        <a:rPr sz="1050">
                          <a:solidFill>
                            <a:srgbClr val="1B2A33"/>
                          </a:solidFill>
                        </a:rPr>
                        <a:t>new</a:t>
                      </a:r>
                    </a:p>
                  </a:txBody>
                  <a:tcPr>
                    <a:solidFill>
                      <a:srgbClr val="FFFFFF"/>
                    </a:solidFill>
                  </a:tcPr>
                </a:tc>
                <a:tc>
                  <a:txBody>
                    <a:bodyPr/>
                    <a:lstStyle/>
                    <a:p>
                      <a:r>
                        <a:rPr sz="1050">
                          <a:solidFill>
                            <a:srgbClr val="1B2A33"/>
                          </a:solidFill>
                        </a:rPr>
                        <a:t>Raised, not yet looked at</a:t>
                      </a:r>
                    </a:p>
                  </a:txBody>
                  <a:tcPr>
                    <a:solidFill>
                      <a:srgbClr val="FFFFFF"/>
                    </a:solidFill>
                  </a:tcPr>
                </a:tc>
                <a:tc>
                  <a:txBody>
                    <a:bodyPr/>
                    <a:lstStyle/>
                    <a:p>
                      <a:r>
                        <a:rPr sz="1050">
                          <a:solidFill>
                            <a:srgbClr val="1B2A33"/>
                          </a:solidFill>
                        </a:rPr>
                        <a:t>System, on creation</a:t>
                      </a:r>
                    </a:p>
                  </a:txBody>
                  <a:tcPr>
                    <a:solidFill>
                      <a:srgbClr val="FFFFFF"/>
                    </a:solidFill>
                  </a:tcPr>
                </a:tc>
              </a:tr>
              <a:tr h="365760">
                <a:tc>
                  <a:txBody>
                    <a:bodyPr/>
                    <a:lstStyle/>
                    <a:p>
                      <a:r>
                        <a:rPr sz="1050">
                          <a:solidFill>
                            <a:srgbClr val="1B2A33"/>
                          </a:solidFill>
                        </a:rPr>
                        <a:t>acknowledged</a:t>
                      </a:r>
                    </a:p>
                  </a:txBody>
                  <a:tcPr>
                    <a:solidFill>
                      <a:srgbClr val="F3ECE0"/>
                    </a:solidFill>
                  </a:tcPr>
                </a:tc>
                <a:tc>
                  <a:txBody>
                    <a:bodyPr/>
                    <a:lstStyle/>
                    <a:p>
                      <a:r>
                        <a:rPr sz="1050">
                          <a:solidFill>
                            <a:srgbClr val="1B2A33"/>
                          </a:solidFill>
                        </a:rPr>
                        <a:t>Seen, not yet owned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assigned</a:t>
                      </a:r>
                    </a:p>
                  </a:txBody>
                  <a:tcPr>
                    <a:solidFill>
                      <a:srgbClr val="FFFFFF"/>
                    </a:solidFill>
                  </a:tcPr>
                </a:tc>
                <a:tc>
                  <a:txBody>
                    <a:bodyPr/>
                    <a:lstStyle/>
                    <a:p>
                      <a:r>
                        <a:rPr sz="1050">
                          <a:solidFill>
                            <a:srgbClr val="1B2A33"/>
                          </a:solidFill>
                        </a:rPr>
                        <a:t>Has an owner</a:t>
                      </a:r>
                    </a:p>
                  </a:txBody>
                  <a:tcPr>
                    <a:solidFill>
                      <a:srgbClr val="FFFFFF"/>
                    </a:solidFill>
                  </a:tcPr>
                </a:tc>
                <a:tc>
                  <a:txBody>
                    <a:bodyPr/>
                    <a:lstStyle/>
                    <a:p>
                      <a:r>
                        <a:rPr sz="1050">
                          <a:solidFill>
                            <a:srgbClr val="1B2A33"/>
                          </a:solidFill>
                        </a:rPr>
                        <a:t>Supervisor, or agent; system after the delay</a:t>
                      </a:r>
                    </a:p>
                  </a:txBody>
                  <a:tcPr>
                    <a:solidFill>
                      <a:srgbClr val="FFFFFF"/>
                    </a:solidFill>
                  </a:tcPr>
                </a:tc>
              </a:tr>
              <a:tr h="365760">
                <a:tc>
                  <a:txBody>
                    <a:bodyPr/>
                    <a:lstStyle/>
                    <a:p>
                      <a:r>
                        <a:rPr sz="1050">
                          <a:solidFill>
                            <a:srgbClr val="1B2A33"/>
                          </a:solidFill>
                        </a:rPr>
                        <a:t>in_progress</a:t>
                      </a:r>
                    </a:p>
                  </a:txBody>
                  <a:tcPr>
                    <a:solidFill>
                      <a:srgbClr val="F3ECE0"/>
                    </a:solidFill>
                  </a:tcPr>
                </a:tc>
                <a:tc>
                  <a:txBody>
                    <a:bodyPr/>
                    <a:lstStyle/>
                    <a:p>
                      <a:r>
                        <a:rPr sz="1050">
                          <a:solidFill>
                            <a:srgbClr val="1B2A33"/>
                          </a:solidFill>
                        </a:rPr>
                        <a:t>Actively being worked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on_hold</a:t>
                      </a:r>
                    </a:p>
                  </a:txBody>
                  <a:tcPr>
                    <a:solidFill>
                      <a:srgbClr val="FFFFFF"/>
                    </a:solidFill>
                  </a:tcPr>
                </a:tc>
                <a:tc>
                  <a:txBody>
                    <a:bodyPr/>
                    <a:lstStyle/>
                    <a:p>
                      <a:r>
                        <a:rPr sz="1050">
                          <a:solidFill>
                            <a:srgbClr val="1B2A33"/>
                          </a:solidFill>
                        </a:rPr>
                        <a:t>Waiting on someone outside the team</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escalated</a:t>
                      </a:r>
                    </a:p>
                  </a:txBody>
                  <a:tcPr>
                    <a:solidFill>
                      <a:srgbClr val="F3ECE0"/>
                    </a:solidFill>
                  </a:tcPr>
                </a:tc>
                <a:tc>
                  <a:txBody>
                    <a:bodyPr/>
                    <a:lstStyle/>
                    <a:p>
                      <a:r>
                        <a:rPr sz="1050">
                          <a:solidFill>
                            <a:srgbClr val="1B2A33"/>
                          </a:solidFill>
                        </a:rPr>
                        <a:t>Handed up — by hand or by SLA breach</a:t>
                      </a:r>
                    </a:p>
                  </a:txBody>
                  <a:tcPr>
                    <a:solidFill>
                      <a:srgbClr val="F3ECE0"/>
                    </a:solidFill>
                  </a:tcPr>
                </a:tc>
                <a:tc>
                  <a:txBody>
                    <a:bodyPr/>
                    <a:lstStyle/>
                    <a:p>
                      <a:r>
                        <a:rPr sz="1050">
                          <a:solidFill>
                            <a:srgbClr val="1B2A33"/>
                          </a:solidFill>
                        </a:rPr>
                        <a:t>Agent, or the SLA worker</a:t>
                      </a:r>
                    </a:p>
                  </a:txBody>
                  <a:tcPr>
                    <a:solidFill>
                      <a:srgbClr val="F3ECE0"/>
                    </a:solidFill>
                  </a:tcPr>
                </a:tc>
              </a:tr>
              <a:tr h="365760">
                <a:tc>
                  <a:txBody>
                    <a:bodyPr/>
                    <a:lstStyle/>
                    <a:p>
                      <a:r>
                        <a:rPr sz="1050">
                          <a:solidFill>
                            <a:srgbClr val="1B2A33"/>
                          </a:solidFill>
                        </a:rPr>
                        <a:t>resolved</a:t>
                      </a:r>
                    </a:p>
                  </a:txBody>
                  <a:tcPr>
                    <a:solidFill>
                      <a:srgbClr val="FFFFFF"/>
                    </a:solidFill>
                  </a:tcPr>
                </a:tc>
                <a:tc>
                  <a:txBody>
                    <a:bodyPr/>
                    <a:lstStyle/>
                    <a:p>
                      <a:r>
                        <a:rPr sz="1050">
                          <a:solidFill>
                            <a:srgbClr val="1B2A33"/>
                          </a:solidFill>
                        </a:rPr>
                        <a:t>Fixed; only from in_progress or escalated</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closed</a:t>
                      </a:r>
                    </a:p>
                  </a:txBody>
                  <a:tcPr>
                    <a:solidFill>
                      <a:srgbClr val="F3ECE0"/>
                    </a:solidFill>
                  </a:tcPr>
                </a:tc>
                <a:tc>
                  <a:txBody>
                    <a:bodyPr/>
                    <a:lstStyle/>
                    <a:p>
                      <a:r>
                        <a:rPr sz="1050">
                          <a:solidFill>
                            <a:srgbClr val="1B2A33"/>
                          </a:solidFill>
                        </a:rPr>
                        <a:t>Finished, or withdrawn; reachable from any open state</a:t>
                      </a:r>
                    </a:p>
                  </a:txBody>
                  <a:tcPr>
                    <a:solidFill>
                      <a:srgbClr val="F3ECE0"/>
                    </a:solidFill>
                  </a:tcPr>
                </a:tc>
                <a:tc>
                  <a:txBody>
                    <a:bodyPr/>
                    <a:lstStyle/>
                    <a:p>
                      <a:r>
                        <a:rPr sz="1050">
                          <a:solidFill>
                            <a:srgbClr val="1B2A33"/>
                          </a:solidFill>
                        </a:rPr>
                        <a:t>Agent, or the requester</a:t>
                      </a:r>
                    </a:p>
                  </a:txBody>
                  <a:tcPr>
                    <a:solidFill>
                      <a:srgbClr val="F3ECE0"/>
                    </a:solidFill>
                  </a:tcPr>
                </a:tc>
              </a:tr>
              <a:tr h="365760">
                <a:tc>
                  <a:txBody>
                    <a:bodyPr/>
                    <a:lstStyle/>
                    <a:p>
                      <a:r>
                        <a:rPr sz="1050">
                          <a:solidFill>
                            <a:srgbClr val="1B2A33"/>
                          </a:solidFill>
                        </a:rPr>
                        <a:t>reopened</a:t>
                      </a:r>
                    </a:p>
                  </a:txBody>
                  <a:tcPr>
                    <a:solidFill>
                      <a:srgbClr val="FFFFFF"/>
                    </a:solidFill>
                  </a:tcPr>
                </a:tc>
                <a:tc>
                  <a:txBody>
                    <a:bodyPr/>
                    <a:lstStyle/>
                    <a:p>
                      <a:r>
                        <a:rPr sz="1050">
                          <a:solidFill>
                            <a:srgbClr val="1B2A33"/>
                          </a:solidFill>
                        </a:rPr>
                        <a:t>Was not actually fixed; returns to the open set</a:t>
                      </a:r>
                    </a:p>
                  </a:txBody>
                  <a:tcPr>
                    <a:solidFill>
                      <a:srgbClr val="FFFFFF"/>
                    </a:solidFill>
                  </a:tcPr>
                </a:tc>
                <a:tc>
                  <a:txBody>
                    <a:bodyPr/>
                    <a:lstStyle/>
                    <a:p>
                      <a:r>
                        <a:rPr sz="1050">
                          <a:solidFill>
                            <a:srgbClr val="1B2A33"/>
                          </a:solidFill>
                        </a:rPr>
                        <a:t>Requester or agent</a:t>
                      </a:r>
                    </a:p>
                  </a:txBody>
                  <a:tcPr>
                    <a:solidFill>
                      <a:srgbClr val="FFFFFF"/>
                    </a:solidFill>
                  </a:tcPr>
                </a:tc>
              </a:tr>
            </a:tbl>
          </a:graphicData>
        </a:graphic>
      </p:graphicFrame>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Where to click</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shortest path to the thing you need</a:t>
            </a:r>
          </a:p>
        </p:txBody>
      </p:sp>
      <p:graphicFrame>
        <p:nvGraphicFramePr>
          <p:cNvPr id="5" name="Table 4"/>
          <p:cNvGraphicFramePr>
            <a:graphicFrameLocks noGrp="1"/>
          </p:cNvGraphicFramePr>
          <p:nvPr/>
        </p:nvGraphicFramePr>
        <p:xfrm>
          <a:off x="457200" y="1143000"/>
          <a:ext cx="11247120" cy="5120640"/>
        </p:xfrm>
        <a:graphic>
          <a:graphicData uri="http://schemas.openxmlformats.org/drawingml/2006/table">
            <a:tbl>
              <a:tblPr firstRow="1" bandRow="1">
                <a:tableStyleId>{5C22544A-7EE6-4342-B048-85BDC9FD1C3A}</a:tableStyleId>
              </a:tblPr>
              <a:tblGrid>
                <a:gridCol w="3657600"/>
                <a:gridCol w="3931920"/>
                <a:gridCol w="3657600"/>
              </a:tblGrid>
              <a:tr h="365760">
                <a:tc>
                  <a:txBody>
                    <a:bodyPr/>
                    <a:lstStyle/>
                    <a:p>
                      <a:r>
                        <a:rPr sz="1100" b="1">
                          <a:solidFill>
                            <a:srgbClr val="FFFFFF"/>
                          </a:solidFill>
                        </a:rPr>
                        <a:t>I want to…</a:t>
                      </a:r>
                    </a:p>
                  </a:txBody>
                  <a:tcPr>
                    <a:solidFill>
                      <a:srgbClr val="0E4F4A"/>
                    </a:solidFill>
                  </a:tcPr>
                </a:tc>
                <a:tc>
                  <a:txBody>
                    <a:bodyPr/>
                    <a:lstStyle/>
                    <a:p>
                      <a:r>
                        <a:rPr sz="1100" b="1">
                          <a:solidFill>
                            <a:srgbClr val="FFFFFF"/>
                          </a:solidFill>
                        </a:rPr>
                        <a:t>Go to</a:t>
                      </a:r>
                    </a:p>
                  </a:txBody>
                  <a:tcPr>
                    <a:solidFill>
                      <a:srgbClr val="0E4F4A"/>
                    </a:solidFill>
                  </a:tcPr>
                </a:tc>
                <a:tc>
                  <a:txBody>
                    <a:bodyPr/>
                    <a:lstStyle/>
                    <a:p>
                      <a:r>
                        <a:rPr sz="1100" b="1">
                          <a:solidFill>
                            <a:srgbClr val="FFFFFF"/>
                          </a:solidFill>
                        </a:rPr>
                        <a:t>Who can</a:t>
                      </a:r>
                    </a:p>
                  </a:txBody>
                  <a:tcPr>
                    <a:solidFill>
                      <a:srgbClr val="0E4F4A"/>
                    </a:solidFill>
                  </a:tcPr>
                </a:tc>
              </a:tr>
              <a:tr h="365760">
                <a:tc>
                  <a:txBody>
                    <a:bodyPr/>
                    <a:lstStyle/>
                    <a:p>
                      <a:r>
                        <a:rPr sz="1050">
                          <a:solidFill>
                            <a:srgbClr val="1B2A33"/>
                          </a:solidFill>
                        </a:rPr>
                        <a:t>Raise a problem</a:t>
                      </a:r>
                    </a:p>
                  </a:txBody>
                  <a:tcPr>
                    <a:solidFill>
                      <a:srgbClr val="FFFFFF"/>
                    </a:solidFill>
                  </a:tcPr>
                </a:tc>
                <a:tc>
                  <a:txBody>
                    <a:bodyPr/>
                    <a:lstStyle/>
                    <a:p>
                      <a:r>
                        <a:rPr sz="1050">
                          <a:solidFill>
                            <a:srgbClr val="1B2A33"/>
                          </a:solidFill>
                        </a:rPr>
                        <a:t>Tickets → New Ticket</a:t>
                      </a:r>
                    </a:p>
                  </a:txBody>
                  <a:tcPr>
                    <a:solidFill>
                      <a:srgbClr val="FFFFFF"/>
                    </a:solidFill>
                  </a:tcPr>
                </a:tc>
                <a:tc>
                  <a:txBody>
                    <a:bodyPr/>
                    <a:lstStyle/>
                    <a:p>
                      <a:r>
                        <a:rPr sz="1050">
                          <a:solidFill>
                            <a:srgbClr val="1B2A33"/>
                          </a:solidFill>
                        </a:rPr>
                        <a:t>Everyone</a:t>
                      </a:r>
                    </a:p>
                  </a:txBody>
                  <a:tcPr>
                    <a:solidFill>
                      <a:srgbClr val="FFFFFF"/>
                    </a:solidFill>
                  </a:tcPr>
                </a:tc>
              </a:tr>
              <a:tr h="365760">
                <a:tc>
                  <a:txBody>
                    <a:bodyPr/>
                    <a:lstStyle/>
                    <a:p>
                      <a:r>
                        <a:rPr sz="1050">
                          <a:solidFill>
                            <a:srgbClr val="1B2A33"/>
                          </a:solidFill>
                        </a:rPr>
                        <a:t>Follow my ticket</a:t>
                      </a:r>
                    </a:p>
                  </a:txBody>
                  <a:tcPr>
                    <a:solidFill>
                      <a:srgbClr val="F3ECE0"/>
                    </a:solidFill>
                  </a:tcPr>
                </a:tc>
                <a:tc>
                  <a:txBody>
                    <a:bodyPr/>
                    <a:lstStyle/>
                    <a:p>
                      <a:r>
                        <a:rPr sz="1050">
                          <a:solidFill>
                            <a:srgbClr val="1B2A33"/>
                          </a:solidFill>
                        </a:rPr>
                        <a:t>Tickets → open it</a:t>
                      </a:r>
                    </a:p>
                  </a:txBody>
                  <a:tcPr>
                    <a:solidFill>
                      <a:srgbClr val="F3ECE0"/>
                    </a:solidFill>
                  </a:tcPr>
                </a:tc>
                <a:tc>
                  <a:txBody>
                    <a:bodyPr/>
                    <a:lstStyle/>
                    <a:p>
                      <a:r>
                        <a:rPr sz="1050">
                          <a:solidFill>
                            <a:srgbClr val="1B2A33"/>
                          </a:solidFill>
                        </a:rPr>
                        <a:t>Everyone (own only, for branch users)</a:t>
                      </a:r>
                    </a:p>
                  </a:txBody>
                  <a:tcPr>
                    <a:solidFill>
                      <a:srgbClr val="F3ECE0"/>
                    </a:solidFill>
                  </a:tcPr>
                </a:tc>
              </a:tr>
              <a:tr h="365760">
                <a:tc>
                  <a:txBody>
                    <a:bodyPr/>
                    <a:lstStyle/>
                    <a:p>
                      <a:r>
                        <a:rPr sz="1050">
                          <a:solidFill>
                            <a:srgbClr val="1B2A33"/>
                          </a:solidFill>
                        </a:rPr>
                        <a:t>Find what is breaching</a:t>
                      </a:r>
                    </a:p>
                  </a:txBody>
                  <a:tcPr>
                    <a:solidFill>
                      <a:srgbClr val="FFFFFF"/>
                    </a:solidFill>
                  </a:tcPr>
                </a:tc>
                <a:tc>
                  <a:txBody>
                    <a:bodyPr/>
                    <a:lstStyle/>
                    <a:p>
                      <a:r>
                        <a:rPr sz="1050">
                          <a:solidFill>
                            <a:srgbClr val="1B2A33"/>
                          </a:solidFill>
                        </a:rPr>
                        <a:t>Dashboard → SLA Breached tile</a:t>
                      </a:r>
                    </a:p>
                  </a:txBody>
                  <a:tcPr>
                    <a:solidFill>
                      <a:srgbClr val="FFFFFF"/>
                    </a:solidFill>
                  </a:tcPr>
                </a:tc>
                <a:tc>
                  <a:txBody>
                    <a:bodyPr/>
                    <a:lstStyle/>
                    <a:p>
                      <a:r>
                        <a:rPr sz="1050">
                          <a:solidFill>
                            <a:srgbClr val="1B2A33"/>
                          </a:solidFill>
                        </a:rPr>
                        <a:t>Agent and above</a:t>
                      </a:r>
                    </a:p>
                  </a:txBody>
                  <a:tcPr>
                    <a:solidFill>
                      <a:srgbClr val="FFFFFF"/>
                    </a:solidFill>
                  </a:tcPr>
                </a:tc>
              </a:tr>
              <a:tr h="365760">
                <a:tc>
                  <a:txBody>
                    <a:bodyPr/>
                    <a:lstStyle/>
                    <a:p>
                      <a:r>
                        <a:rPr sz="1050">
                          <a:solidFill>
                            <a:srgbClr val="1B2A33"/>
                          </a:solidFill>
                        </a:rPr>
                        <a:t>Give a ticket an owner</a:t>
                      </a:r>
                    </a:p>
                  </a:txBody>
                  <a:tcPr>
                    <a:solidFill>
                      <a:srgbClr val="F3ECE0"/>
                    </a:solidFill>
                  </a:tcPr>
                </a:tc>
                <a:tc>
                  <a:txBody>
                    <a:bodyPr/>
                    <a:lstStyle/>
                    <a:p>
                      <a:r>
                        <a:rPr sz="1050">
                          <a:solidFill>
                            <a:srgbClr val="1B2A33"/>
                          </a:solidFill>
                        </a:rPr>
                        <a:t>Ticket → Assignee → Assign</a:t>
                      </a:r>
                    </a:p>
                  </a:txBody>
                  <a:tcPr>
                    <a:solidFill>
                      <a:srgbClr val="F3ECE0"/>
                    </a:solidFill>
                  </a:tcPr>
                </a:tc>
                <a:tc>
                  <a:txBody>
                    <a:bodyPr/>
                    <a:lstStyle/>
                    <a:p>
                      <a:r>
                        <a:rPr sz="1050">
                          <a:solidFill>
                            <a:srgbClr val="1B2A33"/>
                          </a:solidFill>
                        </a:rPr>
                        <a:t>Agent and above</a:t>
                      </a:r>
                    </a:p>
                  </a:txBody>
                  <a:tcPr>
                    <a:solidFill>
                      <a:srgbClr val="F3ECE0"/>
                    </a:solidFill>
                  </a:tcPr>
                </a:tc>
              </a:tr>
              <a:tr h="365760">
                <a:tc>
                  <a:txBody>
                    <a:bodyPr/>
                    <a:lstStyle/>
                    <a:p>
                      <a:r>
                        <a:rPr sz="1050">
                          <a:solidFill>
                            <a:srgbClr val="1B2A33"/>
                          </a:solidFill>
                        </a:rPr>
                        <a:t>Let the router choose</a:t>
                      </a:r>
                    </a:p>
                  </a:txBody>
                  <a:tcPr>
                    <a:solidFill>
                      <a:srgbClr val="FFFFFF"/>
                    </a:solidFill>
                  </a:tcPr>
                </a:tc>
                <a:tc>
                  <a:txBody>
                    <a:bodyPr/>
                    <a:lstStyle/>
                    <a:p>
                      <a:r>
                        <a:rPr sz="1050">
                          <a:solidFill>
                            <a:srgbClr val="1B2A33"/>
                          </a:solidFill>
                        </a:rPr>
                        <a:t>Ticket → Assignee → Auto-assign</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Say someone is away</a:t>
                      </a:r>
                    </a:p>
                  </a:txBody>
                  <a:tcPr>
                    <a:solidFill>
                      <a:srgbClr val="F3ECE0"/>
                    </a:solidFill>
                  </a:tcPr>
                </a:tc>
                <a:tc>
                  <a:txBody>
                    <a:bodyPr/>
                    <a:lstStyle/>
                    <a:p>
                      <a:r>
                        <a:rPr sz="1050">
                          <a:solidFill>
                            <a:srgbClr val="1B2A33"/>
                          </a:solidFill>
                        </a:rPr>
                        <a:t>Users → Leave</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See what escalated</a:t>
                      </a:r>
                    </a:p>
                  </a:txBody>
                  <a:tcPr>
                    <a:solidFill>
                      <a:srgbClr val="FFFFFF"/>
                    </a:solidFill>
                  </a:tcPr>
                </a:tc>
                <a:tc>
                  <a:txBody>
                    <a:bodyPr/>
                    <a:lstStyle/>
                    <a:p>
                      <a:r>
                        <a:rPr sz="1050">
                          <a:solidFill>
                            <a:srgbClr val="1B2A33"/>
                          </a:solidFill>
                        </a:rPr>
                        <a:t>Escalations</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Check deadlines</a:t>
                      </a:r>
                    </a:p>
                  </a:txBody>
                  <a:tcPr>
                    <a:solidFill>
                      <a:srgbClr val="F3ECE0"/>
                    </a:solidFill>
                  </a:tcPr>
                </a:tc>
                <a:tc>
                  <a:txBody>
                    <a:bodyPr/>
                    <a:lstStyle/>
                    <a:p>
                      <a:r>
                        <a:rPr sz="1050">
                          <a:solidFill>
                            <a:srgbClr val="1B2A33"/>
                          </a:solidFill>
                        </a:rPr>
                        <a:t>SLA Monitor</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Add or change a user</a:t>
                      </a:r>
                    </a:p>
                  </a:txBody>
                  <a:tcPr>
                    <a:solidFill>
                      <a:srgbClr val="FFFFFF"/>
                    </a:solidFill>
                  </a:tcPr>
                </a:tc>
                <a:tc>
                  <a:txBody>
                    <a:bodyPr/>
                    <a:lstStyle/>
                    <a:p>
                      <a:r>
                        <a:rPr sz="1050">
                          <a:solidFill>
                            <a:srgbClr val="1B2A33"/>
                          </a:solidFill>
                        </a:rPr>
                        <a:t>Users</a:t>
                      </a:r>
                    </a:p>
                  </a:txBody>
                  <a:tcPr>
                    <a:solidFill>
                      <a:srgbClr val="FFFFFF"/>
                    </a:solidFill>
                  </a:tcPr>
                </a:tc>
                <a:tc>
                  <a:txBody>
                    <a:bodyPr/>
                    <a:lstStyle/>
                    <a:p>
                      <a:r>
                        <a:rPr sz="1050">
                          <a:solidFill>
                            <a:srgbClr val="1B2A33"/>
                          </a:solidFill>
                        </a:rPr>
                        <a:t>Admin</a:t>
                      </a:r>
                    </a:p>
                  </a:txBody>
                  <a:tcPr>
                    <a:solidFill>
                      <a:srgbClr val="FFFFFF"/>
                    </a:solidFill>
                  </a:tcPr>
                </a:tc>
              </a:tr>
              <a:tr h="365760">
                <a:tc>
                  <a:txBody>
                    <a:bodyPr/>
                    <a:lstStyle/>
                    <a:p>
                      <a:r>
                        <a:rPr sz="1050">
                          <a:solidFill>
                            <a:srgbClr val="1B2A33"/>
                          </a:solidFill>
                        </a:rPr>
                        <a:t>Change the org tree</a:t>
                      </a:r>
                    </a:p>
                  </a:txBody>
                  <a:tcPr>
                    <a:solidFill>
                      <a:srgbClr val="F3ECE0"/>
                    </a:solidFill>
                  </a:tcPr>
                </a:tc>
                <a:tc>
                  <a:txBody>
                    <a:bodyPr/>
                    <a:lstStyle/>
                    <a:p>
                      <a:r>
                        <a:rPr sz="1050">
                          <a:solidFill>
                            <a:srgbClr val="1B2A33"/>
                          </a:solidFill>
                        </a:rPr>
                        <a:t>Org Management</a:t>
                      </a:r>
                    </a:p>
                  </a:txBody>
                  <a:tcPr>
                    <a:solidFill>
                      <a:srgbClr val="F3ECE0"/>
                    </a:solidFill>
                  </a:tcPr>
                </a:tc>
                <a:tc>
                  <a:txBody>
                    <a:bodyPr/>
                    <a:lstStyle/>
                    <a:p>
                      <a:r>
                        <a:rPr sz="1050">
                          <a:solidFill>
                            <a:srgbClr val="1B2A33"/>
                          </a:solidFill>
                        </a:rPr>
                        <a:t>Admin</a:t>
                      </a:r>
                    </a:p>
                  </a:txBody>
                  <a:tcPr>
                    <a:solidFill>
                      <a:srgbClr val="F3ECE0"/>
                    </a:solidFill>
                  </a:tcPr>
                </a:tc>
              </a:tr>
              <a:tr h="365760">
                <a:tc>
                  <a:txBody>
                    <a:bodyPr/>
                    <a:lstStyle/>
                    <a:p>
                      <a:r>
                        <a:rPr sz="1050">
                          <a:solidFill>
                            <a:srgbClr val="1B2A33"/>
                          </a:solidFill>
                        </a:rPr>
                        <a:t>Export figures</a:t>
                      </a:r>
                    </a:p>
                  </a:txBody>
                  <a:tcPr>
                    <a:solidFill>
                      <a:srgbClr val="FFFFFF"/>
                    </a:solidFill>
                  </a:tcPr>
                </a:tc>
                <a:tc>
                  <a:txBody>
                    <a:bodyPr/>
                    <a:lstStyle/>
                    <a:p>
                      <a:r>
                        <a:rPr sz="1050">
                          <a:solidFill>
                            <a:srgbClr val="1B2A33"/>
                          </a:solidFill>
                        </a:rPr>
                        <a:t>Reports → CSV / PDF / Excel</a:t>
                      </a:r>
                    </a:p>
                  </a:txBody>
                  <a:tcPr>
                    <a:solidFill>
                      <a:srgbClr val="FFFFFF"/>
                    </a:solidFill>
                  </a:tcPr>
                </a:tc>
                <a:tc>
                  <a:txBody>
                    <a:bodyPr/>
                    <a:lstStyle/>
                    <a:p>
                      <a:r>
                        <a:rPr sz="1050">
                          <a:solidFill>
                            <a:srgbClr val="1B2A33"/>
                          </a:solidFill>
                        </a:rPr>
                        <a:t>Supervisor, admin, auditor</a:t>
                      </a:r>
                    </a:p>
                  </a:txBody>
                  <a:tcPr>
                    <a:solidFill>
                      <a:srgbClr val="FFFFFF"/>
                    </a:solidFill>
                  </a:tcPr>
                </a:tc>
              </a:tr>
              <a:tr h="365760">
                <a:tc>
                  <a:txBody>
                    <a:bodyPr/>
                    <a:lstStyle/>
                    <a:p>
                      <a:r>
                        <a:rPr sz="1050">
                          <a:solidFill>
                            <a:srgbClr val="1B2A33"/>
                          </a:solidFill>
                        </a:rPr>
                        <a:t>Review who changed what</a:t>
                      </a:r>
                    </a:p>
                  </a:txBody>
                  <a:tcPr>
                    <a:solidFill>
                      <a:srgbClr val="F3ECE0"/>
                    </a:solidFill>
                  </a:tcPr>
                </a:tc>
                <a:tc>
                  <a:txBody>
                    <a:bodyPr/>
                    <a:lstStyle/>
                    <a:p>
                      <a:r>
                        <a:rPr sz="1050">
                          <a:solidFill>
                            <a:srgbClr val="1B2A33"/>
                          </a:solidFill>
                        </a:rPr>
                        <a:t>Audit</a:t>
                      </a:r>
                    </a:p>
                  </a:txBody>
                  <a:tcPr>
                    <a:solidFill>
                      <a:srgbClr val="F3ECE0"/>
                    </a:solidFill>
                  </a:tcPr>
                </a:tc>
                <a:tc>
                  <a:txBody>
                    <a:bodyPr/>
                    <a:lstStyle/>
                    <a:p>
                      <a:r>
                        <a:rPr sz="1050">
                          <a:solidFill>
                            <a:srgbClr val="1B2A33"/>
                          </a:solidFill>
                        </a:rPr>
                        <a:t>Admin, auditor</a:t>
                      </a:r>
                    </a:p>
                  </a:txBody>
                  <a:tcPr>
                    <a:solidFill>
                      <a:srgbClr val="F3ECE0"/>
                    </a:solidFill>
                  </a:tcPr>
                </a:tc>
              </a:tr>
              <a:tr h="365760">
                <a:tc>
                  <a:txBody>
                    <a:bodyPr/>
                    <a:lstStyle/>
                    <a:p>
                      <a:r>
                        <a:rPr sz="1050">
                          <a:solidFill>
                            <a:srgbClr val="1B2A33"/>
                          </a:solidFill>
                        </a:rPr>
                        <a:t>Turn on my second factor</a:t>
                      </a:r>
                    </a:p>
                  </a:txBody>
                  <a:tcPr>
                    <a:solidFill>
                      <a:srgbClr val="FFFFFF"/>
                    </a:solidFill>
                  </a:tcPr>
                </a:tc>
                <a:tc>
                  <a:txBody>
                    <a:bodyPr/>
                    <a:lstStyle/>
                    <a:p>
                      <a:r>
                        <a:rPr sz="1050">
                          <a:solidFill>
                            <a:srgbClr val="1B2A33"/>
                          </a:solidFill>
                        </a:rPr>
                        <a:t>Security</a:t>
                      </a:r>
                    </a:p>
                  </a:txBody>
                  <a:tcPr>
                    <a:solidFill>
                      <a:srgbClr val="FFFFFF"/>
                    </a:solidFill>
                  </a:tcPr>
                </a:tc>
                <a:tc>
                  <a:txBody>
                    <a:bodyPr/>
                    <a:lstStyle/>
                    <a:p>
                      <a:r>
                        <a:rPr sz="1050">
                          <a:solidFill>
                            <a:srgbClr val="1B2A33"/>
                          </a:solidFill>
                        </a:rPr>
                        <a:t>Everyone</a:t>
                      </a:r>
                    </a:p>
                  </a:txBody>
                  <a:tcPr>
                    <a:solidFill>
                      <a:srgbClr val="FFFFFF"/>
                    </a:solidFill>
                  </a:tcPr>
                </a:tc>
              </a:tr>
            </a:tbl>
          </a:graphicData>
        </a:graphic>
      </p:graphicFrame>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this system does not do</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Stated plainly, so nobody waits for a feature that is not coming today</a:t>
            </a:r>
          </a:p>
        </p:txBody>
      </p:sp>
      <p:sp>
        <p:nvSpPr>
          <p:cNvPr id="5" name="Rectangle 4"/>
          <p:cNvSpPr/>
          <p:nvPr/>
        </p:nvSpPr>
        <p:spPr>
          <a:xfrm>
            <a:off x="548640" y="12344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624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approval workflow</a:t>
            </a:r>
          </a:p>
        </p:txBody>
      </p:sp>
      <p:sp>
        <p:nvSpPr>
          <p:cNvPr id="7" name="TextBox 6"/>
          <p:cNvSpPr txBox="1"/>
          <p:nvPr/>
        </p:nvSpPr>
        <p:spPr>
          <a:xfrm>
            <a:off x="4663440" y="13624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Nothing routes for sign-off before proceeding.</a:t>
            </a:r>
          </a:p>
        </p:txBody>
      </p:sp>
      <p:sp>
        <p:nvSpPr>
          <p:cNvPr id="8" name="Rectangle 7"/>
          <p:cNvSpPr/>
          <p:nvPr/>
        </p:nvSpPr>
        <p:spPr>
          <a:xfrm>
            <a:off x="548640" y="21488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768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in-app notifications</a:t>
            </a:r>
          </a:p>
        </p:txBody>
      </p:sp>
      <p:sp>
        <p:nvSpPr>
          <p:cNvPr id="10" name="TextBox 9"/>
          <p:cNvSpPr txBox="1"/>
          <p:nvPr/>
        </p:nvSpPr>
        <p:spPr>
          <a:xfrm>
            <a:off x="4663440" y="22768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Notifications are email only. There is no bell icon.</a:t>
            </a:r>
          </a:p>
        </p:txBody>
      </p:sp>
      <p:sp>
        <p:nvSpPr>
          <p:cNvPr id="11" name="Rectangle 10"/>
          <p:cNvSpPr/>
          <p:nvPr/>
        </p:nvSpPr>
        <p:spPr>
          <a:xfrm>
            <a:off x="548640" y="30632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912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ticket merging</a:t>
            </a:r>
          </a:p>
        </p:txBody>
      </p:sp>
      <p:sp>
        <p:nvSpPr>
          <p:cNvPr id="13" name="TextBox 12"/>
          <p:cNvSpPr txBox="1"/>
          <p:nvPr/>
        </p:nvSpPr>
        <p:spPr>
          <a:xfrm>
            <a:off x="4663440" y="31912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Duplicates can be marked as such, but two tickets cannot be combined into one.</a:t>
            </a:r>
          </a:p>
        </p:txBody>
      </p:sp>
      <p:sp>
        <p:nvSpPr>
          <p:cNvPr id="14" name="Rectangle 13"/>
          <p:cNvSpPr/>
          <p:nvPr/>
        </p:nvSpPr>
        <p:spPr>
          <a:xfrm>
            <a:off x="548640" y="39776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056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customer portal</a:t>
            </a:r>
          </a:p>
        </p:txBody>
      </p:sp>
      <p:sp>
        <p:nvSpPr>
          <p:cNvPr id="16" name="TextBox 15"/>
          <p:cNvSpPr txBox="1"/>
          <p:nvPr/>
        </p:nvSpPr>
        <p:spPr>
          <a:xfrm>
            <a:off x="4663440" y="41056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Every account is an employee account; branch staff raise tickets on customers' behalf.</a:t>
            </a:r>
          </a:p>
        </p:txBody>
      </p:sp>
      <p:sp>
        <p:nvSpPr>
          <p:cNvPr id="17" name="Rectangle 16"/>
          <p:cNvSpPr/>
          <p:nvPr/>
        </p:nvSpPr>
        <p:spPr>
          <a:xfrm>
            <a:off x="548640" y="48920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200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per-user permissions</a:t>
            </a:r>
          </a:p>
        </p:txBody>
      </p:sp>
      <p:sp>
        <p:nvSpPr>
          <p:cNvPr id="19" name="TextBox 18"/>
          <p:cNvSpPr txBox="1"/>
          <p:nvPr/>
        </p:nvSpPr>
        <p:spPr>
          <a:xfrm>
            <a:off x="4663440" y="50200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One role per user. Anything finer is expressed through the org tree.</a:t>
            </a:r>
          </a:p>
        </p:txBody>
      </p:sp>
      <p:sp>
        <p:nvSpPr>
          <p:cNvPr id="20" name="TextBox 19"/>
          <p:cNvSpPr txBox="1"/>
          <p:nvPr/>
        </p:nvSpPr>
        <p:spPr>
          <a:xfrm>
            <a:off x="548640" y="5943600"/>
            <a:ext cx="11064240" cy="365760"/>
          </a:xfrm>
          <a:prstGeom prst="rect">
            <a:avLst/>
          </a:prstGeom>
          <a:noFill/>
        </p:spPr>
        <p:txBody>
          <a:bodyPr wrap="square" anchor="t" lIns="0" rIns="0" tIns="0" bIns="0">
            <a:spAutoFit/>
          </a:bodyPr>
          <a:lstStyle/>
          <a:p>
            <a:pPr algn="l">
              <a:lnSpc>
                <a:spcPct val="115000"/>
              </a:lnSpc>
            </a:pPr>
            <a:r>
              <a:rPr sz="1150" b="0">
                <a:solidFill>
                  <a:srgbClr val="5B6B75"/>
                </a:solidFill>
                <a:latin typeface="Calibri"/>
              </a:rPr>
              <a:t>If one of these would help, it belongs on the ticket list — not in a workaround.</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E4F4A"/>
        </a:solidFill>
        <a:effectLst/>
      </p:bgPr>
    </p:bg>
    <p:spTree>
      <p:nvGrpSpPr>
        <p:cNvPr id="1" name=""/>
        <p:cNvGrpSpPr/>
        <p:nvPr/>
      </p:nvGrpSpPr>
      <p:grpSpPr/>
      <p:sp>
        <p:nvSpPr>
          <p:cNvPr id="2" name="TextBox 1"/>
          <p:cNvSpPr txBox="1"/>
          <p:nvPr/>
        </p:nvSpPr>
        <p:spPr>
          <a:xfrm>
            <a:off x="914400" y="2377440"/>
            <a:ext cx="10607040" cy="960120"/>
          </a:xfrm>
          <a:prstGeom prst="rect">
            <a:avLst/>
          </a:prstGeom>
          <a:noFill/>
        </p:spPr>
        <p:txBody>
          <a:bodyPr wrap="square" anchor="t" lIns="0" rIns="0" tIns="0" bIns="0">
            <a:spAutoFit/>
          </a:bodyPr>
          <a:lstStyle/>
          <a:p>
            <a:pPr algn="l">
              <a:lnSpc>
                <a:spcPct val="120000"/>
              </a:lnSpc>
            </a:pPr>
            <a:r>
              <a:rPr sz="2600" b="1">
                <a:solidFill>
                  <a:srgbClr val="FFFFFF"/>
                </a:solidFill>
                <a:latin typeface="Calibri"/>
              </a:rPr>
              <a:t>Questions, or something here that does not</a:t>
            </a:r>
          </a:p>
          <a:p>
            <a:pPr algn="l">
              <a:lnSpc>
                <a:spcPct val="120000"/>
              </a:lnSpc>
            </a:pPr>
            <a:r>
              <a:rPr sz="2600" b="1">
                <a:solidFill>
                  <a:srgbClr val="FFFFFF"/>
                </a:solidFill>
                <a:latin typeface="Calibri"/>
              </a:rPr>
              <a:t>match what you see?</a:t>
            </a:r>
          </a:p>
        </p:txBody>
      </p:sp>
      <p:sp>
        <p:nvSpPr>
          <p:cNvPr id="3" name="TextBox 2"/>
          <p:cNvSpPr txBox="1"/>
          <p:nvPr/>
        </p:nvSpPr>
        <p:spPr>
          <a:xfrm>
            <a:off x="914400" y="3520440"/>
            <a:ext cx="10058400" cy="1280160"/>
          </a:xfrm>
          <a:prstGeom prst="rect">
            <a:avLst/>
          </a:prstGeom>
          <a:noFill/>
        </p:spPr>
        <p:txBody>
          <a:bodyPr wrap="square" anchor="t" lIns="0" rIns="0" tIns="0" bIns="0">
            <a:spAutoFit/>
          </a:bodyPr>
          <a:lstStyle/>
          <a:p>
            <a:pPr algn="l">
              <a:lnSpc>
                <a:spcPct val="140000"/>
              </a:lnSpc>
            </a:pPr>
            <a:r>
              <a:rPr sz="1500" b="0">
                <a:solidFill>
                  <a:srgbClr val="F3ECE0"/>
                </a:solidFill>
                <a:latin typeface="Calibri"/>
              </a:rPr>
              <a:t>This deck describes the application at commit 37f71d3. If a screen has changed, the deck is wrong and not the application — raise it so this can be recaptured.</a:t>
            </a:r>
          </a:p>
          <a:p>
            <a:pPr algn="l">
              <a:lnSpc>
                <a:spcPct val="140000"/>
              </a:lnSpc>
            </a:pPr>
          </a:p>
          <a:p>
            <a:pPr algn="l">
              <a:lnSpc>
                <a:spcPct val="140000"/>
              </a:lnSpc>
            </a:pPr>
            <a:r>
              <a:rPr sz="1500" b="0">
                <a:solidFill>
                  <a:srgbClr val="F3ECE0"/>
                </a:solidFill>
                <a:latin typeface="Calibri"/>
              </a:rPr>
              <a:t>Operational procedures — deploying, restoring, what to do at 3am — are in docs/runbook.md.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