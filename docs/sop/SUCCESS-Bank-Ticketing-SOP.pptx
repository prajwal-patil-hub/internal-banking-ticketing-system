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31720"/>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5" name="TextBox 4"/>
          <p:cNvSpPr txBox="1"/>
          <p:nvPr/>
        </p:nvSpPr>
        <p:spPr>
          <a:xfrm>
            <a:off x="914400" y="1600200"/>
            <a:ext cx="10058400" cy="914400"/>
          </a:xfrm>
          <a:prstGeom prst="rect">
            <a:avLst/>
          </a:prstGeom>
          <a:noFill/>
        </p:spPr>
        <p:txBody>
          <a:bodyPr wrap="square" anchor="t" lIns="0" rIns="0" tIns="0" bIns="0">
            <a:spAutoFit/>
          </a:bodyPr>
          <a:lstStyle/>
          <a:p>
            <a:pPr algn="l">
              <a:lnSpc>
                <a:spcPct val="115000"/>
              </a:lnSpc>
            </a:pPr>
            <a:r>
              <a:rPr sz="4000" b="1">
                <a:solidFill>
                  <a:srgbClr val="FFFFFF"/>
                </a:solidFill>
                <a:latin typeface="Calibri"/>
              </a:rPr>
              <a:t>SUCCESS Bank — Internal Ticketing</a:t>
            </a:r>
          </a:p>
        </p:txBody>
      </p:sp>
      <p:sp>
        <p:nvSpPr>
          <p:cNvPr id="6" name="TextBox 5"/>
          <p:cNvSpPr txBox="1"/>
          <p:nvPr/>
        </p:nvSpPr>
        <p:spPr>
          <a:xfrm>
            <a:off x="914400" y="2697480"/>
            <a:ext cx="9144000" cy="128016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7" name="Rectangle 6"/>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9" name="TextBox 8"/>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10" name="Rectangle 9"/>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2" name="TextBox 11"/>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3" name="Rectangle 12"/>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5" name="TextBox 14"/>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6" name="Rectangle 15"/>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8" name="TextBox 17"/>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9" name="Rectangle 18"/>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1" name="TextBox 20"/>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2" name="TextBox 21"/>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c554e3c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6" name="TextBox 5"/>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7" name="TextBox 6"/>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8" name="TextBox 7"/>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9" name="TextBox 8"/>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10" name="Rectangle 9"/>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2" name="Rectangle 11"/>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4" name="TextBox 13"/>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5" name="TextBox 14"/>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6" name="Rectangle 15"/>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8" name="TextBox 17"/>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9" name="TextBox 18"/>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20" name="Rectangle 19"/>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2" name="TextBox 21"/>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3" name="TextBox 22"/>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4" name="Rectangle 23"/>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6" name="TextBox 25"/>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7" name="TextBox 26"/>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8" name="Rectangle 27"/>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30" name="TextBox 29"/>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1" name="TextBox 30"/>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6" name="Rectangle 5"/>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9" name="TextBox 8"/>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10" name="Rectangle 9"/>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3" name="TextBox 12"/>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4" name="TextBox 13"/>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5" name="Rectangle 14"/>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7" name="TextBox 16"/>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8" name="Rectangle 17"/>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20" name="TextBox 19"/>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1" name="TextBox 20"/>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6" name="Table 5"/>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737360"/>
                <a:gridCol w="3657600"/>
                <a:gridCol w="2194560"/>
                <a:gridCol w="1554480"/>
                <a:gridCol w="210312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 log</a:t>
                      </a:r>
                    </a:p>
                  </a:txBody>
                  <a:tcPr>
                    <a:solidFill>
                      <a:srgbClr val="0E4F4A"/>
                    </a:solidFill>
                  </a:tcPr>
                </a:tc>
                <a:tc>
                  <a:txBody>
                    <a:bodyPr/>
                    <a:lstStyle/>
                    <a:p>
                      <a:r>
                        <a:rPr sz="1050" b="1">
                          <a:solidFill>
                            <a:srgbClr val="FFFFFF"/>
                          </a:solidFill>
                        </a:rPr>
                        <a:t>Escalation queue</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assign, progress, resolve</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7" name="Rectangle 6"/>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10" name="TextBox 9"/>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1" name="Rectangle 1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3" name="TextBox 1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a:t>
            </a:r>
          </a:p>
        </p:txBody>
      </p:sp>
      <p:sp>
        <p:nvSpPr>
          <p:cNvPr id="6" name="Rounded Rectangle 5"/>
          <p:cNvSpPr/>
          <p:nvPr/>
        </p:nvSpPr>
        <p:spPr>
          <a:xfrm>
            <a:off x="502920" y="1417320"/>
            <a:ext cx="1572768" cy="566928"/>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new</a:t>
            </a:r>
          </a:p>
        </p:txBody>
      </p:sp>
      <p:sp>
        <p:nvSpPr>
          <p:cNvPr id="7" name="Right Arrow 6"/>
          <p:cNvSpPr/>
          <p:nvPr/>
        </p:nvSpPr>
        <p:spPr>
          <a:xfrm>
            <a:off x="2112264" y="1627632"/>
            <a:ext cx="256032"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368296" y="1417320"/>
            <a:ext cx="1572768" cy="566928"/>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acknowledged</a:t>
            </a:r>
          </a:p>
        </p:txBody>
      </p:sp>
      <p:sp>
        <p:nvSpPr>
          <p:cNvPr id="9" name="Right Arrow 8"/>
          <p:cNvSpPr/>
          <p:nvPr/>
        </p:nvSpPr>
        <p:spPr>
          <a:xfrm>
            <a:off x="3977640" y="1627632"/>
            <a:ext cx="256032"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33672" y="1417320"/>
            <a:ext cx="1572768" cy="566928"/>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assigned</a:t>
            </a:r>
          </a:p>
        </p:txBody>
      </p:sp>
      <p:sp>
        <p:nvSpPr>
          <p:cNvPr id="11" name="Right Arrow 10"/>
          <p:cNvSpPr/>
          <p:nvPr/>
        </p:nvSpPr>
        <p:spPr>
          <a:xfrm>
            <a:off x="5843016" y="1627632"/>
            <a:ext cx="256032"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9048" y="1417320"/>
            <a:ext cx="1572768" cy="566928"/>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in_progress</a:t>
            </a:r>
          </a:p>
        </p:txBody>
      </p:sp>
      <p:sp>
        <p:nvSpPr>
          <p:cNvPr id="13" name="Right Arrow 12"/>
          <p:cNvSpPr/>
          <p:nvPr/>
        </p:nvSpPr>
        <p:spPr>
          <a:xfrm>
            <a:off x="7708392" y="1627632"/>
            <a:ext cx="256032"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64424" y="1417320"/>
            <a:ext cx="1572768" cy="566928"/>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resolved</a:t>
            </a:r>
          </a:p>
        </p:txBody>
      </p:sp>
      <p:sp>
        <p:nvSpPr>
          <p:cNvPr id="15" name="Right Arrow 14"/>
          <p:cNvSpPr/>
          <p:nvPr/>
        </p:nvSpPr>
        <p:spPr>
          <a:xfrm>
            <a:off x="9573768" y="1627632"/>
            <a:ext cx="256032"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29800" y="1417320"/>
            <a:ext cx="1572768" cy="566928"/>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closed</a:t>
            </a:r>
          </a:p>
        </p:txBody>
      </p:sp>
      <p:sp>
        <p:nvSpPr>
          <p:cNvPr id="17" name="Rounded Rectangle 16"/>
          <p:cNvSpPr/>
          <p:nvPr/>
        </p:nvSpPr>
        <p:spPr>
          <a:xfrm>
            <a:off x="4251960" y="2514600"/>
            <a:ext cx="1572768" cy="56692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on_hold</a:t>
            </a:r>
          </a:p>
        </p:txBody>
      </p:sp>
      <p:sp>
        <p:nvSpPr>
          <p:cNvPr id="18" name="Rounded Rectangle 17"/>
          <p:cNvSpPr/>
          <p:nvPr/>
        </p:nvSpPr>
        <p:spPr>
          <a:xfrm>
            <a:off x="6126480" y="2514600"/>
            <a:ext cx="1572768" cy="56692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escalated</a:t>
            </a:r>
          </a:p>
        </p:txBody>
      </p:sp>
      <p:sp>
        <p:nvSpPr>
          <p:cNvPr id="19" name="Rounded Rectangle 18"/>
          <p:cNvSpPr/>
          <p:nvPr/>
        </p:nvSpPr>
        <p:spPr>
          <a:xfrm>
            <a:off x="8001000" y="2514600"/>
            <a:ext cx="1572768" cy="56692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rPr>
              <a:t>reopened</a:t>
            </a:r>
          </a:p>
        </p:txBody>
      </p:sp>
      <p:sp>
        <p:nvSpPr>
          <p:cNvPr id="20" name="TextBox 19"/>
          <p:cNvSpPr txBox="1"/>
          <p:nvPr/>
        </p:nvSpPr>
        <p:spPr>
          <a:xfrm>
            <a:off x="502920" y="3291840"/>
            <a:ext cx="111556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TWO RULES PEOPLE GET WRONG</a:t>
            </a:r>
          </a:p>
        </p:txBody>
      </p:sp>
      <p:sp>
        <p:nvSpPr>
          <p:cNvPr id="21" name="Rectangle 20"/>
          <p:cNvSpPr/>
          <p:nvPr/>
        </p:nvSpPr>
        <p:spPr>
          <a:xfrm>
            <a:off x="502920" y="3639312"/>
            <a:ext cx="11155680" cy="74980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749040"/>
            <a:ext cx="1060704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closed is reachable from any open state</a:t>
            </a:r>
          </a:p>
        </p:txBody>
      </p:sp>
      <p:sp>
        <p:nvSpPr>
          <p:cNvPr id="23" name="TextBox 22"/>
          <p:cNvSpPr txBox="1"/>
          <p:nvPr/>
        </p:nvSpPr>
        <p:spPr>
          <a:xfrm>
            <a:off x="777240" y="4023360"/>
            <a:ext cx="10607040" cy="292608"/>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Closing early is a withdrawal — the problem went away, or it was raised in error.</a:t>
            </a:r>
          </a:p>
        </p:txBody>
      </p:sp>
      <p:sp>
        <p:nvSpPr>
          <p:cNvPr id="24" name="Rectangle 23"/>
          <p:cNvSpPr/>
          <p:nvPr/>
        </p:nvSpPr>
        <p:spPr>
          <a:xfrm>
            <a:off x="502920" y="4507992"/>
            <a:ext cx="11155680" cy="74980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17720"/>
            <a:ext cx="1060704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resolved is NOT reachable from assigned</a:t>
            </a:r>
          </a:p>
        </p:txBody>
      </p:sp>
      <p:sp>
        <p:nvSpPr>
          <p:cNvPr id="26" name="TextBox 25"/>
          <p:cNvSpPr txBox="1"/>
          <p:nvPr/>
        </p:nvSpPr>
        <p:spPr>
          <a:xfrm>
            <a:off x="777240" y="4892040"/>
            <a:ext cx="10607040" cy="292608"/>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ticket must have been worked (in_progress or escalated) first, so 'resolved' means something.</a:t>
            </a:r>
          </a:p>
        </p:txBody>
      </p:sp>
      <p:sp>
        <p:nvSpPr>
          <p:cNvPr id="27" name="TextBox 26"/>
          <p:cNvSpPr txBox="1"/>
          <p:nvPr/>
        </p:nvSpPr>
        <p:spPr>
          <a:xfrm>
            <a:off x="502920" y="5440680"/>
            <a:ext cx="11155680" cy="45720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on_hold, escalated and reopened re-enter the flow: on_hold and escalated return to in_progress, and reopened goes back to assigned.</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6" name="Rectangle 5"/>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8" name="Rectangle 7"/>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1" name="Rectangle 10"/>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4" name="Rectangle 13"/>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7" name="Rectangle 16"/>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1399032"/>
            <a:ext cx="1088136" cy="658368"/>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Raise ticket</a:t>
            </a:r>
          </a:p>
          <a:p>
            <a:r>
              <a:t>+ attach evidence</a:t>
            </a:r>
          </a:p>
        </p:txBody>
      </p:sp>
      <p:sp>
        <p:nvSpPr>
          <p:cNvPr id="19" name="Rounded Rectangle 18"/>
          <p:cNvSpPr/>
          <p:nvPr/>
        </p:nvSpPr>
        <p:spPr>
          <a:xfrm>
            <a:off x="3511296" y="4471416"/>
            <a:ext cx="1088136" cy="658368"/>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Auto-assign</a:t>
            </a:r>
          </a:p>
          <a:p>
            <a:r>
              <a:t>+ stamp SLA</a:t>
            </a:r>
          </a:p>
        </p:txBody>
      </p:sp>
      <p:sp>
        <p:nvSpPr>
          <p:cNvPr id="20" name="Rounded Rectangle 19"/>
          <p:cNvSpPr/>
          <p:nvPr/>
        </p:nvSpPr>
        <p:spPr>
          <a:xfrm>
            <a:off x="4690872" y="2423160"/>
            <a:ext cx="1088136" cy="658368"/>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Take it,</a:t>
            </a:r>
          </a:p>
          <a:p>
            <a:r>
              <a:t>investigate</a:t>
            </a:r>
          </a:p>
        </p:txBody>
      </p:sp>
      <p:sp>
        <p:nvSpPr>
          <p:cNvPr id="21" name="Rounded Rectangle 20"/>
          <p:cNvSpPr/>
          <p:nvPr/>
        </p:nvSpPr>
        <p:spPr>
          <a:xfrm>
            <a:off x="5870448" y="2423160"/>
            <a:ext cx="1088136" cy="658368"/>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Reply</a:t>
            </a:r>
          </a:p>
          <a:p>
            <a:r>
              <a:t>+ attach fix</a:t>
            </a:r>
          </a:p>
        </p:txBody>
      </p:sp>
      <p:sp>
        <p:nvSpPr>
          <p:cNvPr id="22" name="Rounded Rectangle 21"/>
          <p:cNvSpPr/>
          <p:nvPr/>
        </p:nvSpPr>
        <p:spPr>
          <a:xfrm>
            <a:off x="7050024" y="4471416"/>
            <a:ext cx="1088136" cy="658368"/>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SLA breach?</a:t>
            </a:r>
          </a:p>
          <a:p>
            <a:r>
              <a:t>escalate</a:t>
            </a:r>
          </a:p>
        </p:txBody>
      </p:sp>
      <p:sp>
        <p:nvSpPr>
          <p:cNvPr id="23" name="Rounded Rectangle 22"/>
          <p:cNvSpPr/>
          <p:nvPr/>
        </p:nvSpPr>
        <p:spPr>
          <a:xfrm>
            <a:off x="8229600" y="3447288"/>
            <a:ext cx="1088136" cy="65836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Review,</a:t>
            </a:r>
          </a:p>
          <a:p>
            <a:r>
              <a:t>reassign</a:t>
            </a:r>
          </a:p>
        </p:txBody>
      </p:sp>
      <p:sp>
        <p:nvSpPr>
          <p:cNvPr id="24" name="Rounded Rectangle 23"/>
          <p:cNvSpPr/>
          <p:nvPr/>
        </p:nvSpPr>
        <p:spPr>
          <a:xfrm>
            <a:off x="9409176" y="2423160"/>
            <a:ext cx="1088136" cy="658368"/>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Resolve</a:t>
            </a:r>
          </a:p>
        </p:txBody>
      </p:sp>
      <p:sp>
        <p:nvSpPr>
          <p:cNvPr id="25" name="Rounded Rectangle 24"/>
          <p:cNvSpPr/>
          <p:nvPr/>
        </p:nvSpPr>
        <p:spPr>
          <a:xfrm>
            <a:off x="10588752" y="1399032"/>
            <a:ext cx="1088136" cy="658368"/>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FFFFFF"/>
                </a:solidFill>
              </a:rPr>
              <a:t>See resolution,</a:t>
            </a:r>
          </a:p>
          <a:p>
            <a:r>
              <a:t>close or reopen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0-login.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3014662"/>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53958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4096512" y="406450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bank email address</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password</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Sign in</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Enter your bank email and password, then select Sign in.</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You land on your dashboard. If your account has a second factor enabled, you are asked for a 6-digit code first.</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02 — read your dashboard.</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0-branch-dashboard.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966063" y="167849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478274" y="2442019"/>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7532370" y="544839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Dashboard, Tickets and Security — the whole menu for this role</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ticket counts</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assistant, if you need help</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Check the tiles for anything of yours that is breaching or still open.</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Each tile opens the exact list it counts — a tile reading 3 opens three tickets.</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03 — open the ticket list.</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1-branch-ticket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06025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396424"/>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Filters — status, priority, search</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tickets, newest first</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Scan the list, or filter to what you are looking for.</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You see only tickets you raised. This is enforced by the server, not hidden by the page.</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04 — raise a new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2-branch-create-empty.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3714750" y="225113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3714750" y="3157823"/>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3714750" y="4589430"/>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Title — one line naming the problem</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Description — what happened, and for whom</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Priority and category</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Select New Ticket from the ticket list.</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An empty form opens. Nothing is submitted until you choose Create Ticket.</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05 — fill it in and attach evidence.</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3-branch-create-filled.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3714750" y="225113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3714750" y="3396424"/>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3714750" y="4971192"/>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Be specific: account, amount, date</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What happened, and what the customer expects</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Drag files here, or choose them</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Complete the form and attach a screenshot, statement or spreadsheet. Up to 15 MB per file; images, PDF, Word, Excel, text and CSV.</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Files are held in the browser and uploaded the moment the ticket is created — so evidence arrives with the report, not after it.</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06 — submit and follow it.</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5-branch-ticket-detail.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2569464" y="163077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6845198" y="2680620"/>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6845198" y="396906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Oval 12"/>
          <p:cNvSpPr/>
          <p:nvPr/>
        </p:nvSpPr>
        <p:spPr>
          <a:xfrm>
            <a:off x="3638397" y="4828032"/>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14" name="TextBox 13"/>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6" name="TextBox 15"/>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Number, status, SLA countdown</a:t>
            </a:r>
          </a:p>
        </p:txBody>
      </p:sp>
      <p:sp>
        <p:nvSpPr>
          <p:cNvPr id="17" name="Oval 16"/>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8" name="TextBox 17"/>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attachments</a:t>
            </a:r>
          </a:p>
        </p:txBody>
      </p:sp>
      <p:sp>
        <p:nvSpPr>
          <p:cNvPr id="19" name="Oval 18"/>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20" name="TextBox 19"/>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Who owns it now</a:t>
            </a:r>
          </a:p>
        </p:txBody>
      </p:sp>
      <p:sp>
        <p:nvSpPr>
          <p:cNvPr id="21" name="Oval 20"/>
          <p:cNvSpPr/>
          <p:nvPr/>
        </p:nvSpPr>
        <p:spPr>
          <a:xfrm>
            <a:off x="8366760" y="2459736"/>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4</a:t>
            </a:r>
          </a:p>
        </p:txBody>
      </p:sp>
      <p:sp>
        <p:nvSpPr>
          <p:cNvPr id="22" name="TextBox 21"/>
          <p:cNvSpPr txBox="1"/>
          <p:nvPr/>
        </p:nvSpPr>
        <p:spPr>
          <a:xfrm>
            <a:off x="8677656" y="2441448"/>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Add more detail for the agent</a:t>
            </a:r>
          </a:p>
        </p:txBody>
      </p:sp>
      <p:sp>
        <p:nvSpPr>
          <p:cNvPr id="23" name="Rectangle 22"/>
          <p:cNvSpPr/>
          <p:nvPr/>
        </p:nvSpPr>
        <p:spPr>
          <a:xfrm>
            <a:off x="8366760" y="2880360"/>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2880360"/>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513064" y="30632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Open the ticket from your list to see where it stands.</a:t>
            </a:r>
          </a:p>
        </p:txBody>
      </p:sp>
      <p:sp>
        <p:nvSpPr>
          <p:cNvPr id="26" name="Rectangle 25"/>
          <p:cNvSpPr/>
          <p:nvPr/>
        </p:nvSpPr>
        <p:spPr>
          <a:xfrm>
            <a:off x="8366760" y="3666744"/>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3666744"/>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513064" y="38496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The ticket was numbered, given SLA deadlines and assigned automatically — no one had to triage it by hand.</a:t>
            </a:r>
          </a:p>
        </p:txBody>
      </p:sp>
      <p:sp>
        <p:nvSpPr>
          <p:cNvPr id="29" name="Rectangle 28"/>
          <p:cNvSpPr/>
          <p:nvPr/>
        </p:nvSpPr>
        <p:spPr>
          <a:xfrm>
            <a:off x="8366760" y="4453128"/>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13064" y="4453128"/>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513064" y="4636008"/>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07 — answer questions and read the resolution.</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6-branch-ticket-comment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3638397" y="2680620"/>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3638397" y="396906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agent's replies appear here</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reply — you can attach files too</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Answer any question the agent asks, attaching more evidence if needed.</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When the agent resolves it, their explanation and any file they attached appear here together.</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If it is fixed, the ticket is closed. If not, it can be reopened.</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Two rules worth knowing before you ask where something went</a:t>
            </a:r>
          </a:p>
        </p:txBody>
      </p:sp>
      <p:sp>
        <p:nvSpPr>
          <p:cNvPr id="6" name="Rectangle 5"/>
          <p:cNvSpPr/>
          <p:nvPr/>
        </p:nvSpPr>
        <p:spPr>
          <a:xfrm>
            <a:off x="548640" y="1325880"/>
            <a:ext cx="11064240" cy="13716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25880"/>
            <a:ext cx="54864" cy="13716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9" name="TextBox 8"/>
          <p:cNvSpPr txBox="1"/>
          <p:nvPr/>
        </p:nvSpPr>
        <p:spPr>
          <a:xfrm>
            <a:off x="868680" y="190195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10" name="Rectangle 9"/>
          <p:cNvSpPr/>
          <p:nvPr/>
        </p:nvSpPr>
        <p:spPr>
          <a:xfrm>
            <a:off x="548640" y="2926080"/>
            <a:ext cx="11064240" cy="13716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926080"/>
            <a:ext cx="54864" cy="13716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2724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3" name="TextBox 12"/>
          <p:cNvSpPr txBox="1"/>
          <p:nvPr/>
        </p:nvSpPr>
        <p:spPr>
          <a:xfrm>
            <a:off x="868680" y="350215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4" name="TextBox 13"/>
          <p:cNvSpPr txBox="1"/>
          <p:nvPr/>
        </p:nvSpPr>
        <p:spPr>
          <a:xfrm>
            <a:off x="548640" y="46634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5" name="Rectangle 1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7" name="TextBox 1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agent-dashboard.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2569464"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5012740"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6768846" y="363502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SLA Breached — deal with these first</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Critical open</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AI panel: what the model sorted and scored</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Sign in and read the KPI strip before opening anything.</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Every tile is a live count and opens the exact list behind it.</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09 — open the queue.</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1-agent-ticket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06025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63502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Filter by status, priority or assignee</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Every ticket in your scope</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Filter to unassigned or to your own, and choose what to work on.</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Agents see every ticket in their org scope, not just their own.</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10 — start with what is breaching.</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2-agent-breached.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1773936"/>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396424"/>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filter the SLA Breached tile applied</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Open tickets already past their deadline</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Select the SLA Breached tile on the dashboard.</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The list is filtered to exactly the tickets the tile counted — the number on the card and the length of this list always agree.</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11 — open one and investigate.</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3-agent-ticket-detail.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2569464" y="163077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3638397" y="3014662"/>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6845198" y="2537460"/>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Oval 12"/>
          <p:cNvSpPr/>
          <p:nvPr/>
        </p:nvSpPr>
        <p:spPr>
          <a:xfrm>
            <a:off x="6845198" y="396906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14" name="TextBox 13"/>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6" name="TextBox 15"/>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Status, SLA countdown, AI category and risk</a:t>
            </a:r>
          </a:p>
        </p:txBody>
      </p:sp>
      <p:sp>
        <p:nvSpPr>
          <p:cNvPr id="17" name="Oval 16"/>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8" name="TextBox 17"/>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AI Insights — summarise, or suggest next steps</a:t>
            </a:r>
          </a:p>
        </p:txBody>
      </p:sp>
      <p:sp>
        <p:nvSpPr>
          <p:cNvPr id="19" name="Oval 18"/>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20" name="TextBox 19"/>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Evidence the requester attached</a:t>
            </a:r>
          </a:p>
        </p:txBody>
      </p:sp>
      <p:sp>
        <p:nvSpPr>
          <p:cNvPr id="21" name="Oval 20"/>
          <p:cNvSpPr/>
          <p:nvPr/>
        </p:nvSpPr>
        <p:spPr>
          <a:xfrm>
            <a:off x="8366760" y="2459736"/>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4</a:t>
            </a:r>
          </a:p>
        </p:txBody>
      </p:sp>
      <p:sp>
        <p:nvSpPr>
          <p:cNvPr id="22" name="TextBox 21"/>
          <p:cNvSpPr txBox="1"/>
          <p:nvPr/>
        </p:nvSpPr>
        <p:spPr>
          <a:xfrm>
            <a:off x="8677656" y="2441448"/>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Reporter, assignee, category, source</a:t>
            </a:r>
          </a:p>
        </p:txBody>
      </p:sp>
      <p:sp>
        <p:nvSpPr>
          <p:cNvPr id="23" name="Rectangle 22"/>
          <p:cNvSpPr/>
          <p:nvPr/>
        </p:nvSpPr>
        <p:spPr>
          <a:xfrm>
            <a:off x="8366760" y="2880360"/>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2880360"/>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513064" y="30632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Read the description and the attached evidence, then move the ticket to In Progress.</a:t>
            </a:r>
          </a:p>
        </p:txBody>
      </p:sp>
      <p:sp>
        <p:nvSpPr>
          <p:cNvPr id="26" name="Rectangle 25"/>
          <p:cNvSpPr/>
          <p:nvPr/>
        </p:nvSpPr>
        <p:spPr>
          <a:xfrm>
            <a:off x="8366760" y="3666744"/>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3666744"/>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513064" y="38496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The status change is recorded in the audit trail with your name, and the first-response clock stops.</a:t>
            </a:r>
          </a:p>
        </p:txBody>
      </p:sp>
      <p:sp>
        <p:nvSpPr>
          <p:cNvPr id="29" name="Rectangle 28"/>
          <p:cNvSpPr/>
          <p:nvPr/>
        </p:nvSpPr>
        <p:spPr>
          <a:xfrm>
            <a:off x="8366760" y="4453128"/>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13064" y="4453128"/>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513064" y="4636008"/>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12 — reply, and attach the fix.</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4-agent-ticket-comment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3638397" y="2442019"/>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3638397" y="396906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3638397" y="4732591"/>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Oval 12"/>
          <p:cNvSpPr/>
          <p:nvPr/>
        </p:nvSpPr>
        <p:spPr>
          <a:xfrm>
            <a:off x="2416759" y="5209794"/>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14" name="TextBox 13"/>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6" name="TextBox 15"/>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conversation so far</a:t>
            </a:r>
          </a:p>
        </p:txBody>
      </p:sp>
      <p:sp>
        <p:nvSpPr>
          <p:cNvPr id="17" name="Oval 16"/>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8" name="TextBox 17"/>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Your reply</a:t>
            </a:r>
          </a:p>
        </p:txBody>
      </p:sp>
      <p:sp>
        <p:nvSpPr>
          <p:cNvPr id="19" name="Oval 18"/>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20" name="TextBox 19"/>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Attach files to this reply</a:t>
            </a:r>
          </a:p>
        </p:txBody>
      </p:sp>
      <p:sp>
        <p:nvSpPr>
          <p:cNvPr id="21" name="Oval 20"/>
          <p:cNvSpPr/>
          <p:nvPr/>
        </p:nvSpPr>
        <p:spPr>
          <a:xfrm>
            <a:off x="8366760" y="2459736"/>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4</a:t>
            </a:r>
          </a:p>
        </p:txBody>
      </p:sp>
      <p:sp>
        <p:nvSpPr>
          <p:cNvPr id="22" name="TextBox 21"/>
          <p:cNvSpPr txBox="1"/>
          <p:nvPr/>
        </p:nvSpPr>
        <p:spPr>
          <a:xfrm>
            <a:off x="8677656" y="2441448"/>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Internal note — hidden from the requester</a:t>
            </a:r>
          </a:p>
        </p:txBody>
      </p:sp>
      <p:sp>
        <p:nvSpPr>
          <p:cNvPr id="23" name="Rectangle 22"/>
          <p:cNvSpPr/>
          <p:nvPr/>
        </p:nvSpPr>
        <p:spPr>
          <a:xfrm>
            <a:off x="8366760" y="2880360"/>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2880360"/>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513064" y="30632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Write what you found and attach the corrected statement or screenshot.</a:t>
            </a:r>
          </a:p>
        </p:txBody>
      </p:sp>
      <p:sp>
        <p:nvSpPr>
          <p:cNvPr id="26" name="Rectangle 25"/>
          <p:cNvSpPr/>
          <p:nvPr/>
        </p:nvSpPr>
        <p:spPr>
          <a:xfrm>
            <a:off x="8366760" y="3666744"/>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3666744"/>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513064" y="38496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Files attached here belong to this reply, so the requester sees your fix beside the answer that explains it.</a:t>
            </a:r>
          </a:p>
        </p:txBody>
      </p:sp>
      <p:sp>
        <p:nvSpPr>
          <p:cNvPr id="29" name="Rectangle 28"/>
          <p:cNvSpPr/>
          <p:nvPr/>
        </p:nvSpPr>
        <p:spPr>
          <a:xfrm>
            <a:off x="8366760" y="4453128"/>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13064" y="4453128"/>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513064" y="4636008"/>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13 — resolve, or escalate.</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6" name="Rectangle 5"/>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9" name="TextBox 8"/>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10" name="Rectangle 9"/>
          <p:cNvSpPr/>
          <p:nvPr/>
        </p:nvSpPr>
        <p:spPr>
          <a:xfrm>
            <a:off x="548640" y="2697480"/>
            <a:ext cx="11064240" cy="1207008"/>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3" name="TextBox 12"/>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4" name="Rectangle 13"/>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7" name="TextBox 16"/>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8" name="TextBox 17"/>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0-supervisor-dashboard.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2569464"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6768846" y="363502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Breached — the number that matters most</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AI panel</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Read the strip; anything breaching needs an owner today.</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Supervisors see the same tiles as agents, plus the SLA monitor and escalation queue in the menu.</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15 — open the SLA monitor.</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1-supervisor-sla.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20341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87362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On time, at risk, breached</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Tickets closest to their deadline</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Work down from the tickets nearest their deadline.</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At risk means due within the hour. Breached means the deadline has already passed and, if a rule matched, escalation has already fired.</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16 — review escalations.</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2-supervisor-escalation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20341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87362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Escalation events, newest first</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What triggered each, and who it went to</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Check what escalated and whether the target is acting on it.</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Reassign if the target is wrong; otherwise the agent resolves it.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6" name="Rectangle 5"/>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8" name="Rectangle 7"/>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10" name="TextBox 9"/>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1" name="Rectangle 10"/>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3" name="TextBox 12"/>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4" name="Rectangle 13"/>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6" name="TextBox 15"/>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7" name="Rectangle 16"/>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9" name="TextBox 18"/>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20" name="TextBox 19"/>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1-admin-user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014662"/>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6997903"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Everyone with an account</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Role — one per user, the whole permission model</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Add a user</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Create a user, set their role, and place them in an org unit.</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The role decides what they may do. There are no per-user permission overrides.</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18 — shape the organisation.</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2-admin-org.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442019"/>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96906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Hierarchy levels and org units</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tree that decides who sees which tickets</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Define hierarchy levels, then units within them.</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The org tree drives ticket visibility: a user sees their unit's subtree, plus anything assigned to them personally.</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19 — maintain the branch network.</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3-admin-branche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06025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63502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Branches, with live ticket load</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Status is separate from active</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Add branches, set managers and capacity, and mark degraded ones.</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Ticket counts are computed per request, never stored — a counter that drifts is wrong forever with nothing to reveal it.</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20 — pull reports.</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4-admin-report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20341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96906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Oval 11"/>
          <p:cNvSpPr/>
          <p:nvPr/>
        </p:nvSpPr>
        <p:spPr>
          <a:xfrm>
            <a:off x="6768846"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5" name="TextBox 14"/>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Filter the period and the scope</a:t>
            </a:r>
          </a:p>
        </p:txBody>
      </p:sp>
      <p:sp>
        <p:nvSpPr>
          <p:cNvPr id="16" name="Oval 15"/>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7" name="TextBox 16"/>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charts you can export</a:t>
            </a:r>
          </a:p>
        </p:txBody>
      </p:sp>
      <p:sp>
        <p:nvSpPr>
          <p:cNvPr id="18" name="Oval 17"/>
          <p:cNvSpPr/>
          <p:nvPr/>
        </p:nvSpPr>
        <p:spPr>
          <a:xfrm>
            <a:off x="8366760" y="2130552"/>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3</a:t>
            </a:r>
          </a:p>
        </p:txBody>
      </p:sp>
      <p:sp>
        <p:nvSpPr>
          <p:cNvPr id="19" name="TextBox 18"/>
          <p:cNvSpPr txBox="1"/>
          <p:nvPr/>
        </p:nvSpPr>
        <p:spPr>
          <a:xfrm>
            <a:off x="8677656" y="2112264"/>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Export as CSV, PDF or Excel</a:t>
            </a:r>
          </a:p>
        </p:txBody>
      </p:sp>
      <p:sp>
        <p:nvSpPr>
          <p:cNvPr id="20" name="Rectangle 19"/>
          <p:cNvSpPr/>
          <p:nvPr/>
        </p:nvSpPr>
        <p:spPr>
          <a:xfrm>
            <a:off x="8366760" y="2551176"/>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2551176"/>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513064" y="27340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Choose a period, then export.</a:t>
            </a:r>
          </a:p>
        </p:txBody>
      </p:sp>
      <p:sp>
        <p:nvSpPr>
          <p:cNvPr id="23" name="Rectangle 22"/>
          <p:cNvSpPr/>
          <p:nvPr/>
        </p:nvSpPr>
        <p:spPr>
          <a:xfrm>
            <a:off x="8366760" y="3337560"/>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337560"/>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513064" y="35204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26" name="Rectangle 25"/>
          <p:cNvSpPr/>
          <p:nvPr/>
        </p:nvSpPr>
        <p:spPr>
          <a:xfrm>
            <a:off x="8366760" y="4123944"/>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13064" y="4123944"/>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513064" y="4306824"/>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21 — protect your own account.</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5-admin-security.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3714750" y="2680620"/>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3714750" y="415994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Scan this with an authenticator app</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Confirm one code to switch it on</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Open Security, scan the QR code, and enter one code to confirm.</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Save the recovery codes somewhere safe before leaving this screen.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6" name="Rectangle 5"/>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9" name="Rectangle 8"/>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1" name="TextBox 10"/>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2" name="Rectangle 11"/>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4" name="TextBox 13"/>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5" name="Rectangle 14"/>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7" name="TextBox 16"/>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0-auditor-dashboard.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196481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TextBox 10"/>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3" name="TextBox 12"/>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The same tiles everyone else sees</a:t>
            </a:r>
          </a:p>
        </p:txBody>
      </p:sp>
      <p:sp>
        <p:nvSpPr>
          <p:cNvPr id="14" name="Rectangle 13"/>
          <p:cNvSpPr/>
          <p:nvPr/>
        </p:nvSpPr>
        <p:spPr>
          <a:xfrm>
            <a:off x="8366760" y="1892808"/>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13064" y="1892808"/>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513064" y="2075688"/>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Sign in and read the dashboard.</a:t>
            </a:r>
          </a:p>
        </p:txBody>
      </p:sp>
      <p:sp>
        <p:nvSpPr>
          <p:cNvPr id="17" name="Rectangle 16"/>
          <p:cNvSpPr/>
          <p:nvPr/>
        </p:nvSpPr>
        <p:spPr>
          <a:xfrm>
            <a:off x="8366760" y="2679192"/>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679192"/>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513064" y="28620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Auditors have full visibility. What they do not have is any way to change what they are looking at.</a:t>
            </a:r>
          </a:p>
        </p:txBody>
      </p:sp>
      <p:sp>
        <p:nvSpPr>
          <p:cNvPr id="20" name="Rectangle 19"/>
          <p:cNvSpPr/>
          <p:nvPr/>
        </p:nvSpPr>
        <p:spPr>
          <a:xfrm>
            <a:off x="8366760" y="3465576"/>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465576"/>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513064" y="36484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23 — open the audit trail.</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1-auditor-audit-log.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203418"/>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778186"/>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Filter by entity, action or actor</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Who changed what, when, and from where</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Filter to the entity or person you are reviewing.</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Every state change writes a row: actor, role, IP, request id, and the values before and after.</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Step 24 — inspect any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4048" y="1115568"/>
            <a:ext cx="7690104" cy="4826889"/>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2-auditor-tickets.png"/>
          <p:cNvPicPr>
            <a:picLocks noChangeAspect="1"/>
          </p:cNvPicPr>
          <p:nvPr/>
        </p:nvPicPr>
        <p:blipFill>
          <a:blip r:embed="rId2"/>
          <a:stretch>
            <a:fillRect/>
          </a:stretch>
        </p:blipFill>
        <p:spPr>
          <a:xfrm>
            <a:off x="411480" y="1143000"/>
            <a:ext cx="7635240" cy="4772025"/>
          </a:xfrm>
          <a:prstGeom prst="rect">
            <a:avLst/>
          </a:prstGeom>
        </p:spPr>
      </p:pic>
      <p:sp>
        <p:nvSpPr>
          <p:cNvPr id="10" name="Oval 9"/>
          <p:cNvSpPr/>
          <p:nvPr/>
        </p:nvSpPr>
        <p:spPr>
          <a:xfrm>
            <a:off x="4096512" y="2060257"/>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11" name="Oval 10"/>
          <p:cNvSpPr/>
          <p:nvPr/>
        </p:nvSpPr>
        <p:spPr>
          <a:xfrm>
            <a:off x="4096512" y="3635025"/>
            <a:ext cx="265176" cy="265176"/>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2" name="TextBox 11"/>
          <p:cNvSpPr txBox="1"/>
          <p:nvPr/>
        </p:nvSpPr>
        <p:spPr>
          <a:xfrm>
            <a:off x="8366760" y="1143000"/>
            <a:ext cx="3383280" cy="228600"/>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366760" y="1472184"/>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1</a:t>
            </a:r>
          </a:p>
        </p:txBody>
      </p:sp>
      <p:sp>
        <p:nvSpPr>
          <p:cNvPr id="14" name="TextBox 13"/>
          <p:cNvSpPr txBox="1"/>
          <p:nvPr/>
        </p:nvSpPr>
        <p:spPr>
          <a:xfrm>
            <a:off x="8677656" y="1453896"/>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No scope limit — every ticket is visible</a:t>
            </a:r>
          </a:p>
        </p:txBody>
      </p:sp>
      <p:sp>
        <p:nvSpPr>
          <p:cNvPr id="15" name="Oval 14"/>
          <p:cNvSpPr/>
          <p:nvPr/>
        </p:nvSpPr>
        <p:spPr>
          <a:xfrm>
            <a:off x="8366760" y="1801368"/>
            <a:ext cx="219456" cy="219456"/>
          </a:xfrm>
          <a:prstGeom prst="ellipse">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2</a:t>
            </a:r>
          </a:p>
        </p:txBody>
      </p:sp>
      <p:sp>
        <p:nvSpPr>
          <p:cNvPr id="16" name="TextBox 15"/>
          <p:cNvSpPr txBox="1"/>
          <p:nvPr/>
        </p:nvSpPr>
        <p:spPr>
          <a:xfrm>
            <a:off x="8677656" y="1783080"/>
            <a:ext cx="3072384" cy="457200"/>
          </a:xfrm>
          <a:prstGeom prst="rect">
            <a:avLst/>
          </a:prstGeom>
          <a:noFill/>
        </p:spPr>
        <p:txBody>
          <a:bodyPr wrap="square" anchor="t" lIns="0" rIns="0" tIns="0" bIns="0">
            <a:spAutoFit/>
          </a:bodyPr>
          <a:lstStyle/>
          <a:p>
            <a:pPr algn="l">
              <a:lnSpc>
                <a:spcPct val="110000"/>
              </a:lnSpc>
            </a:pPr>
            <a:r>
              <a:rPr sz="1050" b="0">
                <a:solidFill>
                  <a:srgbClr val="1B2A33"/>
                </a:solidFill>
                <a:latin typeface="Calibri"/>
              </a:rPr>
              <a:t>Open any of them, read the full history</a:t>
            </a:r>
          </a:p>
        </p:txBody>
      </p:sp>
      <p:sp>
        <p:nvSpPr>
          <p:cNvPr id="17" name="Rectangle 16"/>
          <p:cNvSpPr/>
          <p:nvPr/>
        </p:nvSpPr>
        <p:spPr>
          <a:xfrm>
            <a:off x="8366760" y="2221992"/>
            <a:ext cx="45720" cy="566928"/>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13064" y="2221992"/>
            <a:ext cx="3236976" cy="182880"/>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513064" y="2404872"/>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Open any ticket and read its comments, attachments and timeline.</a:t>
            </a:r>
          </a:p>
        </p:txBody>
      </p:sp>
      <p:sp>
        <p:nvSpPr>
          <p:cNvPr id="20" name="Rectangle 19"/>
          <p:cNvSpPr/>
          <p:nvPr/>
        </p:nvSpPr>
        <p:spPr>
          <a:xfrm>
            <a:off x="8366760" y="3008376"/>
            <a:ext cx="45720" cy="56692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13064" y="3008376"/>
            <a:ext cx="3236976" cy="182880"/>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513064" y="3191256"/>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Internal notes are visible to an auditor. Write controls are not offered, and would be refused if called directly.</a:t>
            </a:r>
          </a:p>
        </p:txBody>
      </p:sp>
      <p:sp>
        <p:nvSpPr>
          <p:cNvPr id="23" name="Rectangle 22"/>
          <p:cNvSpPr/>
          <p:nvPr/>
        </p:nvSpPr>
        <p:spPr>
          <a:xfrm>
            <a:off x="8366760" y="3794760"/>
            <a:ext cx="45720" cy="566928"/>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13064" y="3794760"/>
            <a:ext cx="3236976" cy="182880"/>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513064" y="3977640"/>
            <a:ext cx="3236976" cy="502920"/>
          </a:xfrm>
          <a:prstGeom prst="rect">
            <a:avLst/>
          </a:prstGeom>
          <a:noFill/>
        </p:spPr>
        <p:txBody>
          <a:bodyPr wrap="square" anchor="t" lIns="0" rIns="0" tIns="0" bIns="0">
            <a:spAutoFit/>
          </a:bodyPr>
          <a:lstStyle/>
          <a:p>
            <a:pPr algn="l">
              <a:lnSpc>
                <a:spcPct val="115000"/>
              </a:lnSpc>
            </a:pPr>
            <a:r>
              <a:rPr sz="1100" b="0">
                <a:solidFill>
                  <a:srgbClr val="1B2A33"/>
                </a:solidFill>
                <a:latin typeface="Calibri"/>
              </a:rPr>
              <a:t>This is the end of the auditor's workflow — there is nothing to submit.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6" name="Rectangle 5"/>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9" name="TextBox 8"/>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10" name="TextBox 9"/>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1" name="Rectangle 1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3" name="TextBox 1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6" name="Rectangle 5"/>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8" name="TextBox 7"/>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9" name="TextBox 8"/>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0" name="TextBox 9"/>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1" name="Rectangle 10"/>
          <p:cNvSpPr/>
          <p:nvPr/>
        </p:nvSpPr>
        <p:spPr>
          <a:xfrm>
            <a:off x="548640" y="2450592"/>
            <a:ext cx="11064240" cy="98755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3" name="TextBox 12"/>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4" name="TextBox 13"/>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5" name="TextBox 14"/>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6" name="Rectangle 15"/>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8" name="TextBox 17"/>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9" name="TextBox 18"/>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20" name="TextBox 19"/>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1" name="TextBox 20"/>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6" name="Rectangle 5"/>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9" name="TextBox 8"/>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10" name="Rectangle 9"/>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3" name="TextBox 12"/>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4" name="TextBox 13"/>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5" name="Rectangle 14"/>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6" name="Rectangle 5"/>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9" name="TextBox 8"/>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10" name="Rectangle 9"/>
          <p:cNvSpPr/>
          <p:nvPr/>
        </p:nvSpPr>
        <p:spPr>
          <a:xfrm>
            <a:off x="548640" y="2697480"/>
            <a:ext cx="11064240" cy="1207008"/>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3" name="TextBox 12"/>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4" name="Rectangle 13"/>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7" name="TextBox 16"/>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8" name="TextBox 17"/>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10" name="Rectangle 9"/>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Numbers it, stamps SLA deadlines, assigns the agent with the lightest queue</a:t>
            </a:r>
          </a:p>
        </p:txBody>
      </p:sp>
      <p:sp>
        <p:nvSpPr>
          <p:cNvPr id="14" name="Rectangle 13"/>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6" name="Rectangle 5"/>
          <p:cNvSpPr/>
          <p:nvPr/>
        </p:nvSpPr>
        <p:spPr>
          <a:xfrm>
            <a:off x="548640" y="1234440"/>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10" name="Rectangle 9"/>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4" name="Rectangle 13"/>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8" name="Rectangle 17"/>
          <p:cNvSpPr/>
          <p:nvPr/>
        </p:nvSpPr>
        <p:spPr>
          <a:xfrm>
            <a:off x="548640" y="403250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Supervisor</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10" name="Rectangle 9"/>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4" name="Rectangle 13"/>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with a public explanation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10" name="Rectangle 9"/>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4" name="Rectangle 13"/>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6" name="Table 5"/>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System or agent</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6" name="Table 5"/>
          <p:cNvGraphicFramePr>
            <a:graphicFrameLocks noGrp="1"/>
          </p:cNvGraphicFramePr>
          <p:nvPr/>
        </p:nvGraphicFramePr>
        <p:xfrm>
          <a:off x="457200" y="1143000"/>
          <a:ext cx="11247120" cy="402336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See what escalated</a:t>
                      </a:r>
                    </a:p>
                  </a:txBody>
                  <a:tcPr>
                    <a:solidFill>
                      <a:srgbClr val="F3ECE0"/>
                    </a:solidFill>
                  </a:tcPr>
                </a:tc>
                <a:tc>
                  <a:txBody>
                    <a:bodyPr/>
                    <a:lstStyle/>
                    <a:p>
                      <a:r>
                        <a:rPr sz="1050">
                          <a:solidFill>
                            <a:srgbClr val="1B2A33"/>
                          </a:solidFill>
                        </a:rPr>
                        <a:t>Escalations</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Check deadlines</a:t>
                      </a:r>
                    </a:p>
                  </a:txBody>
                  <a:tcPr>
                    <a:solidFill>
                      <a:srgbClr val="FFFFFF"/>
                    </a:solidFill>
                  </a:tcPr>
                </a:tc>
                <a:tc>
                  <a:txBody>
                    <a:bodyPr/>
                    <a:lstStyle/>
                    <a:p>
                      <a:r>
                        <a:rPr sz="1050">
                          <a:solidFill>
                            <a:srgbClr val="1B2A33"/>
                          </a:solidFill>
                        </a:rPr>
                        <a:t>SLA Monitor</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Add or change a user</a:t>
                      </a:r>
                    </a:p>
                  </a:txBody>
                  <a:tcPr>
                    <a:solidFill>
                      <a:srgbClr val="F3ECE0"/>
                    </a:solidFill>
                  </a:tcPr>
                </a:tc>
                <a:tc>
                  <a:txBody>
                    <a:bodyPr/>
                    <a:lstStyle/>
                    <a:p>
                      <a:r>
                        <a:rPr sz="1050">
                          <a:solidFill>
                            <a:srgbClr val="1B2A33"/>
                          </a:solidFill>
                        </a:rPr>
                        <a:t>Users</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Change the org tree</a:t>
                      </a:r>
                    </a:p>
                  </a:txBody>
                  <a:tcPr>
                    <a:solidFill>
                      <a:srgbClr val="FFFFFF"/>
                    </a:solidFill>
                  </a:tcPr>
                </a:tc>
                <a:tc>
                  <a:txBody>
                    <a:bodyPr/>
                    <a:lstStyle/>
                    <a:p>
                      <a:r>
                        <a:rPr sz="1050">
                          <a:solidFill>
                            <a:srgbClr val="1B2A33"/>
                          </a:solidFill>
                        </a:rPr>
                        <a:t>Org Management</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Export figures</a:t>
                      </a:r>
                    </a:p>
                  </a:txBody>
                  <a:tcPr>
                    <a:solidFill>
                      <a:srgbClr val="F3ECE0"/>
                    </a:solidFill>
                  </a:tcPr>
                </a:tc>
                <a:tc>
                  <a:txBody>
                    <a:bodyPr/>
                    <a:lstStyle/>
                    <a:p>
                      <a:r>
                        <a:rPr sz="1050">
                          <a:solidFill>
                            <a:srgbClr val="1B2A33"/>
                          </a:solidFill>
                        </a:rPr>
                        <a:t>Reports → CSV / PDF / Excel</a:t>
                      </a:r>
                    </a:p>
                  </a:txBody>
                  <a:tcPr>
                    <a:solidFill>
                      <a:srgbClr val="F3ECE0"/>
                    </a:solidFill>
                  </a:tcPr>
                </a:tc>
                <a:tc>
                  <a:txBody>
                    <a:bodyPr/>
                    <a:lstStyle/>
                    <a:p>
                      <a:r>
                        <a:rPr sz="1050">
                          <a:solidFill>
                            <a:srgbClr val="1B2A33"/>
                          </a:solidFill>
                        </a:rPr>
                        <a:t>Supervisor, admin, auditor</a:t>
                      </a:r>
                    </a:p>
                  </a:txBody>
                  <a:tcPr>
                    <a:solidFill>
                      <a:srgbClr val="F3ECE0"/>
                    </a:solidFill>
                  </a:tcPr>
                </a:tc>
              </a:tr>
              <a:tr h="365760">
                <a:tc>
                  <a:txBody>
                    <a:bodyPr/>
                    <a:lstStyle/>
                    <a:p>
                      <a:r>
                        <a:rPr sz="1050">
                          <a:solidFill>
                            <a:srgbClr val="1B2A33"/>
                          </a:solidFill>
                        </a:rPr>
                        <a:t>Review who changed what</a:t>
                      </a:r>
                    </a:p>
                  </a:txBody>
                  <a:tcPr>
                    <a:solidFill>
                      <a:srgbClr val="FFFFFF"/>
                    </a:solidFill>
                  </a:tcPr>
                </a:tc>
                <a:tc>
                  <a:txBody>
                    <a:bodyPr/>
                    <a:lstStyle/>
                    <a:p>
                      <a:r>
                        <a:rPr sz="1050">
                          <a:solidFill>
                            <a:srgbClr val="1B2A33"/>
                          </a:solidFill>
                        </a:rPr>
                        <a:t>Audit</a:t>
                      </a:r>
                    </a:p>
                  </a:txBody>
                  <a:tcPr>
                    <a:solidFill>
                      <a:srgbClr val="FFFFFF"/>
                    </a:solidFill>
                  </a:tcPr>
                </a:tc>
                <a:tc>
                  <a:txBody>
                    <a:bodyPr/>
                    <a:lstStyle/>
                    <a:p>
                      <a:r>
                        <a:rPr sz="1050">
                          <a:solidFill>
                            <a:srgbClr val="1B2A33"/>
                          </a:solidFill>
                        </a:rPr>
                        <a:t>Admin, auditor</a:t>
                      </a:r>
                    </a:p>
                  </a:txBody>
                  <a:tcPr>
                    <a:solidFill>
                      <a:srgbClr val="FFFFFF"/>
                    </a:solidFill>
                  </a:tcPr>
                </a:tc>
              </a:tr>
              <a:tr h="365760">
                <a:tc>
                  <a:txBody>
                    <a:bodyPr/>
                    <a:lstStyle/>
                    <a:p>
                      <a:r>
                        <a:rPr sz="1050">
                          <a:solidFill>
                            <a:srgbClr val="1B2A33"/>
                          </a:solidFill>
                        </a:rPr>
                        <a:t>Turn on my second factor</a:t>
                      </a:r>
                    </a:p>
                  </a:txBody>
                  <a:tcPr>
                    <a:solidFill>
                      <a:srgbClr val="F3ECE0"/>
                    </a:solidFill>
                  </a:tcPr>
                </a:tc>
                <a:tc>
                  <a:txBody>
                    <a:bodyPr/>
                    <a:lstStyle/>
                    <a:p>
                      <a:r>
                        <a:rPr sz="1050">
                          <a:solidFill>
                            <a:srgbClr val="1B2A33"/>
                          </a:solidFill>
                        </a:rPr>
                        <a:t>Security</a:t>
                      </a:r>
                    </a:p>
                  </a:txBody>
                  <a:tcPr>
                    <a:solidFill>
                      <a:srgbClr val="F3ECE0"/>
                    </a:solidFill>
                  </a:tcPr>
                </a:tc>
                <a:tc>
                  <a:txBody>
                    <a:bodyPr/>
                    <a:lstStyle/>
                    <a:p>
                      <a:r>
                        <a:rPr sz="1050">
                          <a:solidFill>
                            <a:srgbClr val="1B2A33"/>
                          </a:solidFill>
                        </a:rPr>
                        <a:t>Everyone</a:t>
                      </a:r>
                    </a:p>
                  </a:txBody>
                  <a:tcPr>
                    <a:solidFill>
                      <a:srgbClr val="F3ECE0"/>
                    </a:solidFill>
                  </a:tcPr>
                </a:tc>
              </a:tr>
            </a:tbl>
          </a:graphicData>
        </a:graphic>
      </p:graphicFrame>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6" name="Rectangle 5"/>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8" name="TextBox 7"/>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9" name="Rectangle 8"/>
          <p:cNvSpPr/>
          <p:nvPr/>
        </p:nvSpPr>
        <p:spPr>
          <a:xfrm>
            <a:off x="548640" y="2148840"/>
            <a:ext cx="11064240" cy="768096"/>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1" name="TextBox 10"/>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2" name="Rectangle 11"/>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4" name="TextBox 13"/>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5" name="Rectangle 14"/>
          <p:cNvSpPr/>
          <p:nvPr/>
        </p:nvSpPr>
        <p:spPr>
          <a:xfrm>
            <a:off x="548640" y="3977640"/>
            <a:ext cx="11064240" cy="768096"/>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7" name="TextBox 16"/>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8" name="Rectangle 17"/>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20" name="TextBox 19"/>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1" name="TextBox 20"/>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058400" cy="640080"/>
          </a:xfrm>
          <a:prstGeom prst="rect">
            <a:avLst/>
          </a:prstGeom>
          <a:noFill/>
        </p:spPr>
        <p:txBody>
          <a:bodyPr wrap="square" anchor="t" lIns="0" rIns="0" tIns="0" bIns="0">
            <a:spAutoFit/>
          </a:bodyPr>
          <a:lstStyle/>
          <a:p>
            <a:pPr algn="l">
              <a:lnSpc>
                <a:spcPct val="115000"/>
              </a:lnSpc>
            </a:pPr>
            <a:r>
              <a:rPr sz="2600" b="1">
                <a:solidFill>
                  <a:srgbClr val="FFFFFF"/>
                </a:solidFill>
                <a:latin typeface="Calibri"/>
              </a:rPr>
              <a:t>Questions, or something here that does not match what you see?</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c554e3c.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