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99232"/>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5" name="TextBox 4"/>
          <p:cNvSpPr txBox="1"/>
          <p:nvPr/>
        </p:nvSpPr>
        <p:spPr>
          <a:xfrm>
            <a:off x="914400" y="1554480"/>
            <a:ext cx="10607040" cy="1325880"/>
          </a:xfrm>
          <a:prstGeom prst="rect">
            <a:avLst/>
          </a:prstGeom>
          <a:noFill/>
        </p:spPr>
        <p:txBody>
          <a:bodyPr wrap="square" anchor="t" lIns="0" rIns="0" tIns="0" bIns="0">
            <a:spAutoFit/>
          </a:bodyPr>
          <a:lstStyle/>
          <a:p>
            <a:pPr algn="l">
              <a:lnSpc>
                <a:spcPct val="112000"/>
              </a:lnSpc>
            </a:pPr>
            <a:r>
              <a:rPr sz="3800" b="1">
                <a:solidFill>
                  <a:srgbClr val="FFFFFF"/>
                </a:solidFill>
                <a:latin typeface="Calibri"/>
              </a:rPr>
              <a:t>SUCCESS Bank</a:t>
            </a:r>
          </a:p>
          <a:p>
            <a:pPr algn="l">
              <a:lnSpc>
                <a:spcPct val="112000"/>
              </a:lnSpc>
            </a:pPr>
            <a:r>
              <a:rPr sz="3800" b="1">
                <a:solidFill>
                  <a:srgbClr val="FFFFFF"/>
                </a:solidFill>
                <a:latin typeface="Calibri"/>
              </a:rPr>
              <a:t>Internal Ticketing</a:t>
            </a:r>
          </a:p>
        </p:txBody>
      </p:sp>
      <p:sp>
        <p:nvSpPr>
          <p:cNvPr id="6" name="TextBox 5"/>
          <p:cNvSpPr txBox="1"/>
          <p:nvPr/>
        </p:nvSpPr>
        <p:spPr>
          <a:xfrm>
            <a:off x="914400" y="3246120"/>
            <a:ext cx="9144000" cy="100584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7" name="Rectangle 6"/>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9" name="TextBox 8"/>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10" name="Rectangle 9"/>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2" name="TextBox 11"/>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3" name="Rectangle 12"/>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5" name="TextBox 14"/>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6" name="Rectangle 15"/>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8" name="TextBox 17"/>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9" name="Rectangle 18"/>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1" name="TextBox 20"/>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2" name="TextBox 21"/>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567e6b6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6" name="TextBox 5"/>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7" name="TextBox 6"/>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8" name="TextBox 7"/>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9" name="TextBox 8"/>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10" name="Rectangle 9"/>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2" name="Rectangle 11"/>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4" name="TextBox 13"/>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5" name="TextBox 14"/>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6" name="Rectangle 15"/>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8" name="TextBox 17"/>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9" name="TextBox 18"/>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20" name="Rectangle 19"/>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2" name="TextBox 21"/>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3" name="TextBox 22"/>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4" name="Rectangle 23"/>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6" name="TextBox 25"/>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7" name="TextBox 26"/>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8" name="Rectangle 27"/>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30" name="TextBox 29"/>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1" name="TextBox 30"/>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6" name="Rectangle 5"/>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9" name="TextBox 8"/>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10" name="Rectangle 9"/>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3" name="TextBox 12"/>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4" name="TextBox 13"/>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5" name="Rectangle 14"/>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7" name="TextBox 16"/>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8" name="Rectangle 17"/>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20" name="TextBox 19"/>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1" name="TextBox 20"/>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6" name="Table 5"/>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737360"/>
                <a:gridCol w="3657600"/>
                <a:gridCol w="2194560"/>
                <a:gridCol w="1554480"/>
                <a:gridCol w="210312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 log</a:t>
                      </a:r>
                    </a:p>
                  </a:txBody>
                  <a:tcPr>
                    <a:solidFill>
                      <a:srgbClr val="0E4F4A"/>
                    </a:solidFill>
                  </a:tcPr>
                </a:tc>
                <a:tc>
                  <a:txBody>
                    <a:bodyPr/>
                    <a:lstStyle/>
                    <a:p>
                      <a:r>
                        <a:rPr sz="1050" b="1">
                          <a:solidFill>
                            <a:srgbClr val="FFFFFF"/>
                          </a:solidFill>
                        </a:rPr>
                        <a:t>Escalation queue</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assign, progress, resolve</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7" name="Rectangle 6"/>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10" name="TextBox 9"/>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1" name="Rectangle 1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3" name="TextBox 1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 — these are the only legal moves</a:t>
            </a:r>
          </a:p>
        </p:txBody>
      </p:sp>
      <p:sp>
        <p:nvSpPr>
          <p:cNvPr id="6" name="Rounded Rectangle 5"/>
          <p:cNvSpPr/>
          <p:nvPr/>
        </p:nvSpPr>
        <p:spPr>
          <a:xfrm>
            <a:off x="566928"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new</a:t>
            </a:r>
          </a:p>
        </p:txBody>
      </p:sp>
      <p:sp>
        <p:nvSpPr>
          <p:cNvPr id="7" name="Right Arrow 6"/>
          <p:cNvSpPr/>
          <p:nvPr/>
        </p:nvSpPr>
        <p:spPr>
          <a:xfrm>
            <a:off x="2167128"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32304"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acknowledged</a:t>
            </a:r>
          </a:p>
        </p:txBody>
      </p:sp>
      <p:sp>
        <p:nvSpPr>
          <p:cNvPr id="9" name="Right Arrow 8"/>
          <p:cNvSpPr/>
          <p:nvPr/>
        </p:nvSpPr>
        <p:spPr>
          <a:xfrm>
            <a:off x="4032504"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80"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assigned</a:t>
            </a:r>
          </a:p>
        </p:txBody>
      </p:sp>
      <p:sp>
        <p:nvSpPr>
          <p:cNvPr id="11" name="Right Arrow 10"/>
          <p:cNvSpPr/>
          <p:nvPr/>
        </p:nvSpPr>
        <p:spPr>
          <a:xfrm>
            <a:off x="5897880"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63056"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in_progress</a:t>
            </a:r>
          </a:p>
        </p:txBody>
      </p:sp>
      <p:sp>
        <p:nvSpPr>
          <p:cNvPr id="13" name="Right Arrow 12"/>
          <p:cNvSpPr/>
          <p:nvPr/>
        </p:nvSpPr>
        <p:spPr>
          <a:xfrm>
            <a:off x="7763256"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28432" y="1371600"/>
            <a:ext cx="1572768" cy="548640"/>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resolved</a:t>
            </a:r>
          </a:p>
        </p:txBody>
      </p:sp>
      <p:sp>
        <p:nvSpPr>
          <p:cNvPr id="15" name="Right Arrow 14"/>
          <p:cNvSpPr/>
          <p:nvPr/>
        </p:nvSpPr>
        <p:spPr>
          <a:xfrm>
            <a:off x="9628632"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93808" y="1371600"/>
            <a:ext cx="1572768" cy="54864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closed</a:t>
            </a:r>
          </a:p>
        </p:txBody>
      </p:sp>
      <p:sp>
        <p:nvSpPr>
          <p:cNvPr id="17" name="Rectangle 16"/>
          <p:cNvSpPr/>
          <p:nvPr/>
        </p:nvSpPr>
        <p:spPr>
          <a:xfrm>
            <a:off x="6931152" y="1920240"/>
            <a:ext cx="36576" cy="20116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16752" y="2084832"/>
            <a:ext cx="1865376"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98464"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30368" y="239572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on_hold</a:t>
            </a:r>
          </a:p>
        </p:txBody>
      </p:sp>
      <p:sp>
        <p:nvSpPr>
          <p:cNvPr id="21" name="Rectangle 20"/>
          <p:cNvSpPr/>
          <p:nvPr/>
        </p:nvSpPr>
        <p:spPr>
          <a:xfrm>
            <a:off x="7863840"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095744" y="2395728"/>
            <a:ext cx="1572768" cy="47548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escalated</a:t>
            </a:r>
          </a:p>
        </p:txBody>
      </p:sp>
      <p:sp>
        <p:nvSpPr>
          <p:cNvPr id="23" name="TextBox 22"/>
          <p:cNvSpPr txBox="1"/>
          <p:nvPr/>
        </p:nvSpPr>
        <p:spPr>
          <a:xfrm>
            <a:off x="566928" y="2468880"/>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Both pause the ticket and</a:t>
            </a:r>
          </a:p>
          <a:p>
            <a:pPr algn="l">
              <a:lnSpc>
                <a:spcPct val="115000"/>
              </a:lnSpc>
            </a:pPr>
            <a:r>
              <a:rPr sz="950" b="0">
                <a:solidFill>
                  <a:srgbClr val="5B6B75"/>
                </a:solidFill>
                <a:latin typeface="Calibri"/>
              </a:rPr>
              <a:t>both return to in_progress.</a:t>
            </a:r>
          </a:p>
        </p:txBody>
      </p:sp>
      <p:sp>
        <p:nvSpPr>
          <p:cNvPr id="24" name="Rounded Rectangle 23"/>
          <p:cNvSpPr/>
          <p:nvPr/>
        </p:nvSpPr>
        <p:spPr>
          <a:xfrm>
            <a:off x="4297680" y="340156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reopened</a:t>
            </a:r>
          </a:p>
        </p:txBody>
      </p:sp>
      <p:sp>
        <p:nvSpPr>
          <p:cNvPr id="25" name="Rectangle 24"/>
          <p:cNvSpPr/>
          <p:nvPr/>
        </p:nvSpPr>
        <p:spPr>
          <a:xfrm>
            <a:off x="10661904" y="1920240"/>
            <a:ext cx="36576" cy="171907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44768" y="3621024"/>
            <a:ext cx="4553712"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eft Arrow 26"/>
          <p:cNvSpPr/>
          <p:nvPr/>
        </p:nvSpPr>
        <p:spPr>
          <a:xfrm>
            <a:off x="5907024" y="3566160"/>
            <a:ext cx="237744" cy="146304"/>
          </a:xfrm>
          <a:prstGeom prst="lef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65776" y="2121408"/>
            <a:ext cx="36576" cy="128016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5001768" y="1920240"/>
            <a:ext cx="164592" cy="219456"/>
          </a:xfrm>
          <a:prstGeom prst="up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456432"/>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closed can be reopened; it</a:t>
            </a:r>
          </a:p>
          <a:p>
            <a:pPr algn="l">
              <a:lnSpc>
                <a:spcPct val="115000"/>
              </a:lnSpc>
            </a:pPr>
            <a:r>
              <a:rPr sz="950" b="0">
                <a:solidFill>
                  <a:srgbClr val="5B6B75"/>
                </a:solidFill>
                <a:latin typeface="Calibri"/>
              </a:rPr>
              <a:t>returns to assigned.</a:t>
            </a:r>
          </a:p>
        </p:txBody>
      </p:sp>
      <p:sp>
        <p:nvSpPr>
          <p:cNvPr id="31" name="TextBox 30"/>
          <p:cNvSpPr txBox="1"/>
          <p:nvPr/>
        </p:nvSpPr>
        <p:spPr>
          <a:xfrm>
            <a:off x="566928" y="4206240"/>
            <a:ext cx="11064240" cy="237744"/>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PEOPLE GET WRONG</a:t>
            </a:r>
          </a:p>
        </p:txBody>
      </p:sp>
      <p:sp>
        <p:nvSpPr>
          <p:cNvPr id="32" name="Rectangle 31"/>
          <p:cNvSpPr/>
          <p:nvPr/>
        </p:nvSpPr>
        <p:spPr>
          <a:xfrm>
            <a:off x="566928" y="4526280"/>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608576"/>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closed is reachable from any open state</a:t>
            </a:r>
          </a:p>
        </p:txBody>
      </p:sp>
      <p:sp>
        <p:nvSpPr>
          <p:cNvPr id="34" name="TextBox 33"/>
          <p:cNvSpPr txBox="1"/>
          <p:nvPr/>
        </p:nvSpPr>
        <p:spPr>
          <a:xfrm>
            <a:off x="822960" y="4846320"/>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Closing early is a withdrawal — the problem went away, or it was raised in error.</a:t>
            </a:r>
          </a:p>
        </p:txBody>
      </p:sp>
      <p:sp>
        <p:nvSpPr>
          <p:cNvPr id="35" name="Rectangle 34"/>
          <p:cNvSpPr/>
          <p:nvPr/>
        </p:nvSpPr>
        <p:spPr>
          <a:xfrm>
            <a:off x="566928" y="5239512"/>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321808"/>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resolved is NOT reachable from assigned</a:t>
            </a:r>
          </a:p>
        </p:txBody>
      </p:sp>
      <p:sp>
        <p:nvSpPr>
          <p:cNvPr id="37" name="TextBox 36"/>
          <p:cNvSpPr txBox="1"/>
          <p:nvPr/>
        </p:nvSpPr>
        <p:spPr>
          <a:xfrm>
            <a:off x="822960" y="5559552"/>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The ticket must have been worked first, so 'resolved' means something.</a:t>
            </a:r>
          </a:p>
        </p:txBody>
      </p:sp>
      <p:sp>
        <p:nvSpPr>
          <p:cNvPr id="38" name="Rectangle 3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40" name="TextBox 3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6" name="Rectangle 5"/>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8" name="Rectangle 7"/>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1" name="Rectangle 10"/>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4" name="Rectangle 13"/>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7" name="Rectangle 16"/>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28416" y="1714500"/>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19856" y="1728216"/>
            <a:ext cx="27432" cy="3072384"/>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33572" y="4786884"/>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3410712"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07992" y="4786884"/>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99432"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613148"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4590288"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87568"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79008" y="2752344"/>
            <a:ext cx="27432" cy="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92724"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5769864"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67144"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58584"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72300" y="4786884"/>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6949440"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46720" y="4786884"/>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51876" y="3762756"/>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ight Arrow 36"/>
          <p:cNvSpPr/>
          <p:nvPr/>
        </p:nvSpPr>
        <p:spPr>
          <a:xfrm>
            <a:off x="8129016"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226296" y="3762756"/>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17736"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331452"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Arrow 40"/>
          <p:cNvSpPr/>
          <p:nvPr/>
        </p:nvSpPr>
        <p:spPr>
          <a:xfrm>
            <a:off x="9308592"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405872"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497312" y="1728216"/>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511028" y="1714500"/>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ight Arrow 44"/>
          <p:cNvSpPr/>
          <p:nvPr/>
        </p:nvSpPr>
        <p:spPr>
          <a:xfrm>
            <a:off x="10488168" y="1673352"/>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2359152" y="1380744"/>
            <a:ext cx="969264"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Raise ticket</a:t>
            </a:r>
          </a:p>
          <a:p>
            <a:pPr algn="ctr">
              <a:lnSpc>
                <a:spcPct val="110000"/>
              </a:lnSpc>
            </a:pPr>
            <a:r>
              <a:rPr sz="800" b="1">
                <a:solidFill>
                  <a:srgbClr val="FFFFFF"/>
                </a:solidFill>
              </a:rPr>
              <a:t>+ attach evidence</a:t>
            </a:r>
          </a:p>
        </p:txBody>
      </p:sp>
      <p:sp>
        <p:nvSpPr>
          <p:cNvPr id="47" name="Rounded Rectangle 46"/>
          <p:cNvSpPr/>
          <p:nvPr/>
        </p:nvSpPr>
        <p:spPr>
          <a:xfrm>
            <a:off x="3538728" y="4453128"/>
            <a:ext cx="969264"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Auto-assign</a:t>
            </a:r>
          </a:p>
          <a:p>
            <a:pPr algn="ctr">
              <a:lnSpc>
                <a:spcPct val="110000"/>
              </a:lnSpc>
            </a:pPr>
            <a:r>
              <a:rPr sz="800" b="1">
                <a:solidFill>
                  <a:srgbClr val="FFFFFF"/>
                </a:solidFill>
              </a:rPr>
              <a:t>+ stamp SLA</a:t>
            </a:r>
          </a:p>
        </p:txBody>
      </p:sp>
      <p:sp>
        <p:nvSpPr>
          <p:cNvPr id="48" name="Rounded Rectangle 47"/>
          <p:cNvSpPr/>
          <p:nvPr/>
        </p:nvSpPr>
        <p:spPr>
          <a:xfrm>
            <a:off x="4718304"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Take it,</a:t>
            </a:r>
          </a:p>
          <a:p>
            <a:pPr algn="ctr">
              <a:lnSpc>
                <a:spcPct val="110000"/>
              </a:lnSpc>
            </a:pPr>
            <a:r>
              <a:rPr sz="800" b="1">
                <a:solidFill>
                  <a:srgbClr val="FFFFFF"/>
                </a:solidFill>
              </a:rPr>
              <a:t>investigate</a:t>
            </a:r>
          </a:p>
        </p:txBody>
      </p:sp>
      <p:sp>
        <p:nvSpPr>
          <p:cNvPr id="49" name="Rounded Rectangle 48"/>
          <p:cNvSpPr/>
          <p:nvPr/>
        </p:nvSpPr>
        <p:spPr>
          <a:xfrm>
            <a:off x="5897880"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Reply</a:t>
            </a:r>
          </a:p>
          <a:p>
            <a:pPr algn="ctr">
              <a:lnSpc>
                <a:spcPct val="110000"/>
              </a:lnSpc>
            </a:pPr>
            <a:r>
              <a:rPr sz="800" b="1">
                <a:solidFill>
                  <a:srgbClr val="FFFFFF"/>
                </a:solidFill>
              </a:rPr>
              <a:t>+ attach fix</a:t>
            </a:r>
          </a:p>
        </p:txBody>
      </p:sp>
      <p:sp>
        <p:nvSpPr>
          <p:cNvPr id="50" name="Rounded Rectangle 49"/>
          <p:cNvSpPr/>
          <p:nvPr/>
        </p:nvSpPr>
        <p:spPr>
          <a:xfrm>
            <a:off x="7077456" y="4453128"/>
            <a:ext cx="969264"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SLA breach?</a:t>
            </a:r>
          </a:p>
          <a:p>
            <a:pPr algn="ctr">
              <a:lnSpc>
                <a:spcPct val="110000"/>
              </a:lnSpc>
            </a:pPr>
            <a:r>
              <a:rPr sz="800" b="1">
                <a:solidFill>
                  <a:srgbClr val="FFFFFF"/>
                </a:solidFill>
              </a:rPr>
              <a:t>escalate</a:t>
            </a:r>
          </a:p>
        </p:txBody>
      </p:sp>
      <p:sp>
        <p:nvSpPr>
          <p:cNvPr id="51" name="Rounded Rectangle 50"/>
          <p:cNvSpPr/>
          <p:nvPr/>
        </p:nvSpPr>
        <p:spPr>
          <a:xfrm>
            <a:off x="8257032" y="3429000"/>
            <a:ext cx="969264"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Review,</a:t>
            </a:r>
          </a:p>
          <a:p>
            <a:pPr algn="ctr">
              <a:lnSpc>
                <a:spcPct val="110000"/>
              </a:lnSpc>
            </a:pPr>
            <a:r>
              <a:rPr sz="800" b="1">
                <a:solidFill>
                  <a:srgbClr val="FFFFFF"/>
                </a:solidFill>
              </a:rPr>
              <a:t>reassign</a:t>
            </a:r>
          </a:p>
        </p:txBody>
      </p:sp>
      <p:sp>
        <p:nvSpPr>
          <p:cNvPr id="52" name="Rounded Rectangle 51"/>
          <p:cNvSpPr/>
          <p:nvPr/>
        </p:nvSpPr>
        <p:spPr>
          <a:xfrm>
            <a:off x="9436608"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Resolve</a:t>
            </a:r>
          </a:p>
        </p:txBody>
      </p:sp>
      <p:sp>
        <p:nvSpPr>
          <p:cNvPr id="53" name="Rounded Rectangle 52"/>
          <p:cNvSpPr/>
          <p:nvPr/>
        </p:nvSpPr>
        <p:spPr>
          <a:xfrm>
            <a:off x="10616184" y="1380744"/>
            <a:ext cx="969264"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See resolution,</a:t>
            </a:r>
          </a:p>
          <a:p>
            <a:pPr algn="ctr">
              <a:lnSpc>
                <a:spcPct val="110000"/>
              </a:lnSpc>
            </a:pPr>
            <a:r>
              <a:rPr sz="800" b="1">
                <a:solidFill>
                  <a:srgbClr val="FFFFFF"/>
                </a:solidFill>
              </a:rPr>
              <a:t>close or reopen</a:t>
            </a:r>
          </a:p>
        </p:txBody>
      </p:sp>
      <p:sp>
        <p:nvSpPr>
          <p:cNvPr id="54" name="TextBox 53"/>
          <p:cNvSpPr txBox="1"/>
          <p:nvPr/>
        </p:nvSpPr>
        <p:spPr>
          <a:xfrm>
            <a:off x="457200" y="5486400"/>
            <a:ext cx="11247120" cy="82296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The connectors are the handoffs. Only two of them are a person deciding to pass the ticket on — the agent escalating, and the branch user reopening. The rest happen because the system moved it, or because the next role was already watching.</a:t>
            </a:r>
          </a:p>
        </p:txBody>
      </p:sp>
      <p:sp>
        <p:nvSpPr>
          <p:cNvPr id="55" name="Rectangle 5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57" name="TextBox 5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0-login.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4804759" y="326475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4804759" y="368543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4804759" y="397689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bank email address</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password</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Sign in</a:t>
            </a:r>
          </a:p>
        </p:txBody>
      </p:sp>
      <p:sp>
        <p:nvSpPr>
          <p:cNvPr id="20" name="Rectangle 19"/>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your bank email and password, then select Sign in.</a:t>
            </a:r>
          </a:p>
        </p:txBody>
      </p:sp>
      <p:sp>
        <p:nvSpPr>
          <p:cNvPr id="23" name="Rectangle 22"/>
          <p:cNvSpPr/>
          <p:nvPr/>
        </p:nvSpPr>
        <p:spPr>
          <a:xfrm>
            <a:off x="8458200" y="309524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622792" y="328726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land on your dashboard. If your account has a second factor enabled, you are asked for a 6-digit code first.</a:t>
            </a:r>
          </a:p>
        </p:txBody>
      </p:sp>
      <p:sp>
        <p:nvSpPr>
          <p:cNvPr id="26" name="Rectangle 25"/>
          <p:cNvSpPr/>
          <p:nvPr/>
        </p:nvSpPr>
        <p:spPr>
          <a:xfrm>
            <a:off x="8458200" y="395935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95935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622792" y="415137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02 — read your dashboard.</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0-branch-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Dashboard, Tickets and Security — the whole menu for this role</a:t>
            </a:r>
          </a:p>
        </p:txBody>
      </p:sp>
      <p:sp>
        <p:nvSpPr>
          <p:cNvPr id="15" name="Oval 14"/>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ticket counts</a:t>
            </a:r>
          </a:p>
        </p:txBody>
      </p:sp>
      <p:sp>
        <p:nvSpPr>
          <p:cNvPr id="17" name="Rectangle 16"/>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the tiles for anything of yours that is breaching or still open.</a:t>
            </a:r>
          </a:p>
        </p:txBody>
      </p:sp>
      <p:sp>
        <p:nvSpPr>
          <p:cNvPr id="20" name="Rectangle 19"/>
          <p:cNvSpPr/>
          <p:nvPr/>
        </p:nvSpPr>
        <p:spPr>
          <a:xfrm>
            <a:off x="8458200" y="300380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19582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tile opens the exact list it counts — a tile reading 3 opens three tickets.</a:t>
            </a:r>
          </a:p>
        </p:txBody>
      </p:sp>
      <p:sp>
        <p:nvSpPr>
          <p:cNvPr id="23" name="Rectangle 22"/>
          <p:cNvSpPr/>
          <p:nvPr/>
        </p:nvSpPr>
        <p:spPr>
          <a:xfrm>
            <a:off x="8458200" y="370789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7078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991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03 — open the ticket list.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1-branch-ticke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5692368"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6927402"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Search and filters</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New Ticket</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Scan the list, or filter to what you are looking for.</a:t>
            </a:r>
          </a:p>
        </p:txBody>
      </p:sp>
      <p:sp>
        <p:nvSpPr>
          <p:cNvPr id="20" name="Rectangle 19"/>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see only tickets you raised. This is enforced by the server, not hidden by the page.</a:t>
            </a:r>
          </a:p>
        </p:txBody>
      </p:sp>
      <p:sp>
        <p:nvSpPr>
          <p:cNvPr id="23" name="Rectangle 22"/>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04 — raise a new ticket.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2-branch-create-empty.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Title — one line naming the problem</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Description — what happened, and for whom</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a:t>
            </a:r>
          </a:p>
        </p:txBody>
      </p:sp>
      <p:sp>
        <p:nvSpPr>
          <p:cNvPr id="20" name="Rectangle 19"/>
          <p:cNvSpPr/>
          <p:nvPr/>
        </p:nvSpPr>
        <p:spPr>
          <a:xfrm>
            <a:off x="8458200" y="25603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5603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622792" y="27523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New Ticket from the ticket list.</a:t>
            </a:r>
          </a:p>
        </p:txBody>
      </p:sp>
      <p:sp>
        <p:nvSpPr>
          <p:cNvPr id="23" name="Rectangle 22"/>
          <p:cNvSpPr/>
          <p:nvPr/>
        </p:nvSpPr>
        <p:spPr>
          <a:xfrm>
            <a:off x="8458200" y="3104388"/>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1043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622792" y="329641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 empty form opens. Nothing is submitted until you choose Create Ticket.</a:t>
            </a:r>
          </a:p>
        </p:txBody>
      </p:sp>
      <p:sp>
        <p:nvSpPr>
          <p:cNvPr id="26" name="Rectangle 25"/>
          <p:cNvSpPr/>
          <p:nvPr/>
        </p:nvSpPr>
        <p:spPr>
          <a:xfrm>
            <a:off x="8458200" y="380847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80847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622792" y="400050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05 — fill it in and attach evidence.</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3-branch-create-fille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Oval 12"/>
          <p:cNvSpPr/>
          <p:nvPr/>
        </p:nvSpPr>
        <p:spPr>
          <a:xfrm>
            <a:off x="1545015" y="514810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4" name="TextBox 13"/>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6" name="TextBox 15"/>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Be specific: account, amount, date</a:t>
            </a:r>
          </a:p>
        </p:txBody>
      </p:sp>
      <p:sp>
        <p:nvSpPr>
          <p:cNvPr id="17" name="Oval 16"/>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8" name="TextBox 17"/>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What happened, and what the customer expects</a:t>
            </a:r>
          </a:p>
        </p:txBody>
      </p:sp>
      <p:sp>
        <p:nvSpPr>
          <p:cNvPr id="19" name="Oval 18"/>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20" name="TextBox 19"/>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 and category</a:t>
            </a:r>
          </a:p>
        </p:txBody>
      </p:sp>
      <p:sp>
        <p:nvSpPr>
          <p:cNvPr id="21" name="Oval 20"/>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2" name="TextBox 21"/>
          <p:cNvSpPr txBox="1"/>
          <p:nvPr/>
        </p:nvSpPr>
        <p:spPr>
          <a:xfrm>
            <a:off x="8787384" y="2432304"/>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evidence — drag files here, or choose them</a:t>
            </a:r>
          </a:p>
        </p:txBody>
      </p:sp>
      <p:sp>
        <p:nvSpPr>
          <p:cNvPr id="23" name="Rectangle 22"/>
          <p:cNvSpPr/>
          <p:nvPr/>
        </p:nvSpPr>
        <p:spPr>
          <a:xfrm>
            <a:off x="8458200" y="2990088"/>
            <a:ext cx="45720" cy="8229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299008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622792" y="31821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Complete the form and attach a screenshot, statement or spreadsheet. Up to 15 MB per file; images, PDF, Word, Excel, text and CSV.</a:t>
            </a:r>
          </a:p>
        </p:txBody>
      </p:sp>
      <p:sp>
        <p:nvSpPr>
          <p:cNvPr id="26" name="Rectangle 25"/>
          <p:cNvSpPr/>
          <p:nvPr/>
        </p:nvSpPr>
        <p:spPr>
          <a:xfrm>
            <a:off x="8458200" y="40142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40142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622792" y="42062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are held in the browser and uploaded the moment the ticket is created — so evidence arrives with the report, not after it.</a:t>
            </a:r>
          </a:p>
        </p:txBody>
      </p:sp>
      <p:sp>
        <p:nvSpPr>
          <p:cNvPr id="29" name="Rectangle 28"/>
          <p:cNvSpPr/>
          <p:nvPr/>
        </p:nvSpPr>
        <p:spPr>
          <a:xfrm>
            <a:off x="8458200" y="50383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22792" y="50383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622792" y="52303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06 — submit and follow it.</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5-branch-ticket-detail.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2787822" y="17102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5769314" y="410659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523252" y="422124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Oval 12"/>
          <p:cNvSpPr/>
          <p:nvPr/>
        </p:nvSpPr>
        <p:spPr>
          <a:xfrm>
            <a:off x="5769314" y="56975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4" name="TextBox 13"/>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6" name="TextBox 15"/>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Number, status and SLA countdown</a:t>
            </a:r>
          </a:p>
        </p:txBody>
      </p:sp>
      <p:sp>
        <p:nvSpPr>
          <p:cNvPr id="17" name="Oval 16"/>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8" name="TextBox 17"/>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attachments</a:t>
            </a:r>
          </a:p>
        </p:txBody>
      </p:sp>
      <p:sp>
        <p:nvSpPr>
          <p:cNvPr id="19" name="Oval 18"/>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20" name="TextBox 19"/>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more detail for the agent</a:t>
            </a:r>
          </a:p>
        </p:txBody>
      </p:sp>
      <p:sp>
        <p:nvSpPr>
          <p:cNvPr id="21" name="Oval 20"/>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2" name="TextBox 21"/>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owns it now</a:t>
            </a:r>
          </a:p>
        </p:txBody>
      </p:sp>
      <p:sp>
        <p:nvSpPr>
          <p:cNvPr id="23" name="Rectangle 22"/>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the ticket from your list to see where it stands.</a:t>
            </a:r>
          </a:p>
        </p:txBody>
      </p:sp>
      <p:sp>
        <p:nvSpPr>
          <p:cNvPr id="26" name="Rectangle 25"/>
          <p:cNvSpPr/>
          <p:nvPr/>
        </p:nvSpPr>
        <p:spPr>
          <a:xfrm>
            <a:off x="8458200" y="335584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622792" y="354787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ticket was numbered, given SLA deadlines and assigned automatically — no one had to triage it by hand.</a:t>
            </a:r>
          </a:p>
        </p:txBody>
      </p:sp>
      <p:sp>
        <p:nvSpPr>
          <p:cNvPr id="29" name="Rectangle 28"/>
          <p:cNvSpPr/>
          <p:nvPr/>
        </p:nvSpPr>
        <p:spPr>
          <a:xfrm>
            <a:off x="8458200" y="4219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22792" y="4219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622792" y="4411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07 — answer questions and read the resolution.</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6-branch-ticket-commen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3252" y="159805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3015553" y="254240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Replies appear here</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a file to your reply</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Answer any question the agent asks, attaching more evidence if needed.</a:t>
            </a:r>
          </a:p>
        </p:txBody>
      </p:sp>
      <p:sp>
        <p:nvSpPr>
          <p:cNvPr id="20" name="Rectangle 19"/>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When the agent resolves it, their explanation and any file they attached appear here together.</a:t>
            </a:r>
          </a:p>
        </p:txBody>
      </p:sp>
      <p:sp>
        <p:nvSpPr>
          <p:cNvPr id="23" name="Rectangle 22"/>
          <p:cNvSpPr/>
          <p:nvPr/>
        </p:nvSpPr>
        <p:spPr>
          <a:xfrm>
            <a:off x="8458200" y="3698748"/>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07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If it is fixed, the ticket is closed. If not, it can be reopened.</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Two rules worth knowing before you ask where something went</a:t>
            </a:r>
          </a:p>
        </p:txBody>
      </p:sp>
      <p:sp>
        <p:nvSpPr>
          <p:cNvPr id="6" name="Rectangle 5"/>
          <p:cNvSpPr/>
          <p:nvPr/>
        </p:nvSpPr>
        <p:spPr>
          <a:xfrm>
            <a:off x="548640" y="1325880"/>
            <a:ext cx="11064240" cy="13716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25880"/>
            <a:ext cx="54864" cy="13716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27048"/>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9" name="TextBox 8"/>
          <p:cNvSpPr txBox="1"/>
          <p:nvPr/>
        </p:nvSpPr>
        <p:spPr>
          <a:xfrm>
            <a:off x="868680" y="190195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10" name="Rectangle 9"/>
          <p:cNvSpPr/>
          <p:nvPr/>
        </p:nvSpPr>
        <p:spPr>
          <a:xfrm>
            <a:off x="548640" y="2926080"/>
            <a:ext cx="11064240" cy="13716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926080"/>
            <a:ext cx="54864" cy="13716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2724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3" name="TextBox 12"/>
          <p:cNvSpPr txBox="1"/>
          <p:nvPr/>
        </p:nvSpPr>
        <p:spPr>
          <a:xfrm>
            <a:off x="868680" y="350215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4" name="TextBox 13"/>
          <p:cNvSpPr txBox="1"/>
          <p:nvPr/>
        </p:nvSpPr>
        <p:spPr>
          <a:xfrm>
            <a:off x="548640" y="46634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5" name="Rectangle 1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7" name="TextBox 1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agent-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3903938"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5941862" y="27410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Breached — deal with these first</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Critical open</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panel</a:t>
            </a:r>
          </a:p>
        </p:txBody>
      </p:sp>
      <p:sp>
        <p:nvSpPr>
          <p:cNvPr id="20" name="Rectangle 19"/>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2" name="TextBox 21"/>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KPI strip before opening anything.</a:t>
            </a:r>
          </a:p>
        </p:txBody>
      </p:sp>
      <p:sp>
        <p:nvSpPr>
          <p:cNvPr id="23" name="Rectangle 22"/>
          <p:cNvSpPr/>
          <p:nvPr/>
        </p:nvSpPr>
        <p:spPr>
          <a:xfrm>
            <a:off x="8458200" y="309524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5" name="TextBox 24"/>
          <p:cNvSpPr txBox="1"/>
          <p:nvPr/>
        </p:nvSpPr>
        <p:spPr>
          <a:xfrm>
            <a:off x="8622792" y="32872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tile is a live count and opens the exact list behind it.</a:t>
            </a:r>
          </a:p>
        </p:txBody>
      </p:sp>
      <p:sp>
        <p:nvSpPr>
          <p:cNvPr id="26" name="Rectangle 25"/>
          <p:cNvSpPr/>
          <p:nvPr/>
        </p:nvSpPr>
        <p:spPr>
          <a:xfrm>
            <a:off x="8458200" y="379933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79933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8" name="TextBox 27"/>
          <p:cNvSpPr txBox="1"/>
          <p:nvPr/>
        </p:nvSpPr>
        <p:spPr>
          <a:xfrm>
            <a:off x="8622792" y="399135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09 — open the queue.</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1-agent-ticke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8693" y="237918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by status, priority or owner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 ticket in your scope</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unassigned or to your own, and choose what to work on.</a:t>
            </a:r>
          </a:p>
        </p:txBody>
      </p:sp>
      <p:sp>
        <p:nvSpPr>
          <p:cNvPr id="20" name="Rectangle 19"/>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Agents see every ticket in their org scope, not just their own.</a:t>
            </a:r>
          </a:p>
        </p:txBody>
      </p:sp>
      <p:sp>
        <p:nvSpPr>
          <p:cNvPr id="23" name="Rectangle 22"/>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10 — start with what is breaching.</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2-agent-breache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5739002"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filter the tile applied</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the SLA Breached tile on the dashboard.</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list is filtered to exactly the tickets the tile counted — the number on the card and the length of this list always agree.</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11 — open one and investigate.</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3-agent-ticket-detail.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3252" y="21673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5769314" y="215815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Oval 11"/>
          <p:cNvSpPr/>
          <p:nvPr/>
        </p:nvSpPr>
        <p:spPr>
          <a:xfrm>
            <a:off x="1761088" y="30704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Oval 12"/>
          <p:cNvSpPr/>
          <p:nvPr/>
        </p:nvSpPr>
        <p:spPr>
          <a:xfrm>
            <a:off x="5769314" y="51320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4" name="TextBox 13"/>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5" name="Oval 14"/>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6" name="TextBox 15"/>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problem as reported</a:t>
            </a:r>
          </a:p>
        </p:txBody>
      </p:sp>
      <p:sp>
        <p:nvSpPr>
          <p:cNvPr id="17" name="Oval 16"/>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8" name="TextBox 17"/>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Status, SLA countdown, AI category and risk</a:t>
            </a:r>
          </a:p>
        </p:txBody>
      </p:sp>
      <p:sp>
        <p:nvSpPr>
          <p:cNvPr id="19" name="Oval 18"/>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20" name="TextBox 19"/>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Insights — summarise or suggest</a:t>
            </a:r>
          </a:p>
        </p:txBody>
      </p:sp>
      <p:sp>
        <p:nvSpPr>
          <p:cNvPr id="21" name="Oval 20"/>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2" name="TextBox 21"/>
          <p:cNvSpPr txBox="1"/>
          <p:nvPr/>
        </p:nvSpPr>
        <p:spPr>
          <a:xfrm>
            <a:off x="8787384" y="2432304"/>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Evidence the requester attached</a:t>
            </a:r>
          </a:p>
        </p:txBody>
      </p:sp>
      <p:sp>
        <p:nvSpPr>
          <p:cNvPr id="23" name="Rectangle 22"/>
          <p:cNvSpPr/>
          <p:nvPr/>
        </p:nvSpPr>
        <p:spPr>
          <a:xfrm>
            <a:off x="8458200" y="2820924"/>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282092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5" name="TextBox 24"/>
          <p:cNvSpPr txBox="1"/>
          <p:nvPr/>
        </p:nvSpPr>
        <p:spPr>
          <a:xfrm>
            <a:off x="8622792" y="301294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description and the attached evidence, then move the ticket to In Progress.</a:t>
            </a:r>
          </a:p>
        </p:txBody>
      </p:sp>
      <p:sp>
        <p:nvSpPr>
          <p:cNvPr id="26" name="Rectangle 25"/>
          <p:cNvSpPr/>
          <p:nvPr/>
        </p:nvSpPr>
        <p:spPr>
          <a:xfrm>
            <a:off x="8458200" y="3685032"/>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22792" y="368503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8" name="TextBox 27"/>
          <p:cNvSpPr txBox="1"/>
          <p:nvPr/>
        </p:nvSpPr>
        <p:spPr>
          <a:xfrm>
            <a:off x="8622792" y="3877056"/>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status change is recorded in the audit trail with your name, and the first-response clock stops.</a:t>
            </a:r>
          </a:p>
        </p:txBody>
      </p:sp>
      <p:sp>
        <p:nvSpPr>
          <p:cNvPr id="29" name="Rectangle 28"/>
          <p:cNvSpPr/>
          <p:nvPr/>
        </p:nvSpPr>
        <p:spPr>
          <a:xfrm>
            <a:off x="8458200" y="454914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22792" y="454914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1" name="TextBox 30"/>
          <p:cNvSpPr txBox="1"/>
          <p:nvPr/>
        </p:nvSpPr>
        <p:spPr>
          <a:xfrm>
            <a:off x="8622792" y="474116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12 — reply, and attach the fix.</a:t>
            </a:r>
          </a:p>
        </p:txBody>
      </p:sp>
      <p:sp>
        <p:nvSpPr>
          <p:cNvPr id="32" name="Rectangle 3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4" name="TextBox 3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4-agent-ticket-commen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523252" y="325114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3015553" y="362325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reply</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files to this reply</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Write what you found and attach the corrected statement or screenshot.</a:t>
            </a:r>
          </a:p>
        </p:txBody>
      </p:sp>
      <p:sp>
        <p:nvSpPr>
          <p:cNvPr id="20" name="Rectangle 19"/>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attached here belong to this reply, so the requester sees your fix beside the answer that explains it.</a:t>
            </a:r>
          </a:p>
        </p:txBody>
      </p:sp>
      <p:sp>
        <p:nvSpPr>
          <p:cNvPr id="23" name="Rectangle 22"/>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13 — resolve, or escalate.</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6" name="Rectangle 5"/>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9" name="TextBox 8"/>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10" name="Rectangle 9"/>
          <p:cNvSpPr/>
          <p:nvPr/>
        </p:nvSpPr>
        <p:spPr>
          <a:xfrm>
            <a:off x="548640" y="2697480"/>
            <a:ext cx="11064240" cy="1207008"/>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3" name="TextBox 12"/>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4" name="Rectangle 13"/>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7" name="TextBox 16"/>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8" name="TextBox 17"/>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9" name="Rectangle 1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1" name="TextBox 2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0-supervisor-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Breached — the number that matters most</a:t>
            </a:r>
          </a:p>
        </p:txBody>
      </p:sp>
      <p:sp>
        <p:nvSpPr>
          <p:cNvPr id="15" name="Oval 14"/>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Monitor and Escalations in the menu</a:t>
            </a:r>
          </a:p>
        </p:txBody>
      </p:sp>
      <p:sp>
        <p:nvSpPr>
          <p:cNvPr id="17" name="Rectangle 16"/>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strip; anything breaching needs an owner today.</a:t>
            </a:r>
          </a:p>
        </p:txBody>
      </p:sp>
      <p:sp>
        <p:nvSpPr>
          <p:cNvPr id="20" name="Rectangle 19"/>
          <p:cNvSpPr/>
          <p:nvPr/>
        </p:nvSpPr>
        <p:spPr>
          <a:xfrm>
            <a:off x="8458200" y="300380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19582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Supervisors see the same tiles as agents, plus the SLA monitor and escalation queue in the menu.</a:t>
            </a:r>
          </a:p>
        </p:txBody>
      </p:sp>
      <p:sp>
        <p:nvSpPr>
          <p:cNvPr id="23" name="Rectangle 22"/>
          <p:cNvSpPr/>
          <p:nvPr/>
        </p:nvSpPr>
        <p:spPr>
          <a:xfrm>
            <a:off x="8458200" y="386791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8679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405993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15 — open the SLA monitor.</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1-supervisor-sla.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On time, at risk, breached</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Work down from the tickets nearest their deadline.</a:t>
            </a:r>
          </a:p>
        </p:txBody>
      </p:sp>
      <p:sp>
        <p:nvSpPr>
          <p:cNvPr id="17" name="Rectangle 16"/>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At risk means due within the hour. Breached means the deadline has already passed and, if a rule matched, escalation has already fired.</a:t>
            </a:r>
          </a:p>
        </p:txBody>
      </p:sp>
      <p:sp>
        <p:nvSpPr>
          <p:cNvPr id="20" name="Rectangle 19"/>
          <p:cNvSpPr/>
          <p:nvPr/>
        </p:nvSpPr>
        <p:spPr>
          <a:xfrm>
            <a:off x="8458200" y="359816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79018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16 — review escalations.</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2-supervisor-escalation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Escalation events, newest first</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what escalated and whether the target is acting on it.</a:t>
            </a:r>
          </a:p>
        </p:txBody>
      </p:sp>
      <p:sp>
        <p:nvSpPr>
          <p:cNvPr id="17" name="Rectangle 16"/>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20" name="Rectangle 19"/>
          <p:cNvSpPr/>
          <p:nvPr/>
        </p:nvSpPr>
        <p:spPr>
          <a:xfrm>
            <a:off x="8458200" y="359816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79018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Reassign if the target is wrong; otherwise the agent resolves it.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6" name="Rectangle 5"/>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8" name="Rectangle 7"/>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10" name="TextBox 9"/>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1" name="Rectangle 10"/>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3" name="TextBox 12"/>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4" name="Rectangle 13"/>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6" name="TextBox 15"/>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7" name="Rectangle 16"/>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9" name="TextBox 18"/>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20" name="TextBox 19"/>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1-admin-user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7094508"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Oval 10"/>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a user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Everyone with an account</a:t>
            </a:r>
          </a:p>
        </p:txBody>
      </p:sp>
      <p:sp>
        <p:nvSpPr>
          <p:cNvPr id="17" name="Rectangle 16"/>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9" name="TextBox 18"/>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Create a user, set their role, and place them in an org unit.</a:t>
            </a:r>
          </a:p>
        </p:txBody>
      </p:sp>
      <p:sp>
        <p:nvSpPr>
          <p:cNvPr id="20" name="Rectangle 19"/>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2" name="TextBox 21"/>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role decides what they may do. There are no per-user permission overrides.</a:t>
            </a:r>
          </a:p>
        </p:txBody>
      </p:sp>
      <p:sp>
        <p:nvSpPr>
          <p:cNvPr id="23" name="Rectangle 22"/>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5" name="TextBox 24"/>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18 — shape the organisation.</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2-admin-org.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Hierarchy levels and org units</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Define hierarchy levels, then units within them.</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org tree drives ticket visibility: a user sees their unit's subtree, plus anything assigned to them personally.</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19 — maintain the branch network.</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3-admin-branche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Branches, with live ticket load</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Add branches, set managers and capacity, and mark degraded ones.</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Ticket counts are computed per request, never stored — a counter that drifts is wrong forever with nothing to reveal it.</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20 — pull reports.</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4-admin-repor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the period and scope</a:t>
            </a:r>
          </a:p>
        </p:txBody>
      </p:sp>
      <p:sp>
        <p:nvSpPr>
          <p:cNvPr id="14" name="Rectangle 13"/>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period, then export.</a:t>
            </a:r>
          </a:p>
        </p:txBody>
      </p:sp>
      <p:sp>
        <p:nvSpPr>
          <p:cNvPr id="17" name="Rectangle 16"/>
          <p:cNvSpPr/>
          <p:nvPr/>
        </p:nvSpPr>
        <p:spPr>
          <a:xfrm>
            <a:off x="8458200" y="24140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6060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21 — protect your own account.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5-admin-security.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Enrol a second factor</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Security, scan the QR code, and enter one code to confirm.</a:t>
            </a:r>
          </a:p>
        </p:txBody>
      </p:sp>
      <p:sp>
        <p:nvSpPr>
          <p:cNvPr id="17" name="Rectangle 16"/>
          <p:cNvSpPr/>
          <p:nvPr/>
        </p:nvSpPr>
        <p:spPr>
          <a:xfrm>
            <a:off x="8458200" y="2574036"/>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20" name="Rectangle 19"/>
          <p:cNvSpPr/>
          <p:nvPr/>
        </p:nvSpPr>
        <p:spPr>
          <a:xfrm>
            <a:off x="8458200" y="375818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75818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9502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Save the recovery codes somewhere safe before leaving this screen.</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6" name="Rectangle 5"/>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9" name="Rectangle 8"/>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1" name="TextBox 10"/>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2" name="Rectangle 11"/>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4" name="TextBox 13"/>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5" name="Rectangle 14"/>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7" name="TextBox 16"/>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0-auditor-dashboard.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same tiles everyone else sees</a:t>
            </a:r>
          </a:p>
        </p:txBody>
      </p:sp>
      <p:sp>
        <p:nvSpPr>
          <p:cNvPr id="14" name="Rectangle 13"/>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dashboard.</a:t>
            </a:r>
          </a:p>
        </p:txBody>
      </p:sp>
      <p:sp>
        <p:nvSpPr>
          <p:cNvPr id="17" name="Rectangle 16"/>
          <p:cNvSpPr/>
          <p:nvPr/>
        </p:nvSpPr>
        <p:spPr>
          <a:xfrm>
            <a:off x="8458200" y="241401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6060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Auditors have full visibility. What they do not have is any way to change what they are looking at.</a:t>
            </a:r>
          </a:p>
        </p:txBody>
      </p:sp>
      <p:sp>
        <p:nvSpPr>
          <p:cNvPr id="20" name="Rectangle 19"/>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23 — open the audit trail.</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1-auditor-audit-log.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changed what, when, from where</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the entity or person you are reviewing.</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state change writes a row: actor, role, IP, request id, and the values before and after.</a:t>
            </a:r>
          </a:p>
        </p:txBody>
      </p:sp>
      <p:sp>
        <p:nvSpPr>
          <p:cNvPr id="20" name="Rectangle 19"/>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24 — inspect any ticket.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6" name="TextBox 5"/>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7" name="TextBox 6"/>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8" name="Rectangle 7"/>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2-auditor-tickets.png"/>
          <p:cNvPicPr>
            <a:picLocks noChangeAspect="1"/>
          </p:cNvPicPr>
          <p:nvPr/>
        </p:nvPicPr>
        <p:blipFill>
          <a:blip r:embed="rId2"/>
          <a:stretch>
            <a:fillRect/>
          </a:stretch>
        </p:blipFill>
        <p:spPr>
          <a:xfrm>
            <a:off x="411480" y="1188720"/>
            <a:ext cx="7772400" cy="4857750"/>
          </a:xfrm>
          <a:prstGeom prst="rect">
            <a:avLst/>
          </a:prstGeom>
        </p:spPr>
      </p:pic>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scope limit — every ticket</a:t>
            </a:r>
          </a:p>
        </p:txBody>
      </p:sp>
      <p:sp>
        <p:nvSpPr>
          <p:cNvPr id="14" name="Rectangle 13"/>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6" name="TextBox 15"/>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any ticket and read its comments, attachments and timeline.</a:t>
            </a:r>
          </a:p>
        </p:txBody>
      </p:sp>
      <p:sp>
        <p:nvSpPr>
          <p:cNvPr id="17" name="Rectangle 16"/>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9" name="TextBox 18"/>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Internal notes are visible to an auditor. Write controls are not offered, and would be refused if called directly.</a:t>
            </a:r>
          </a:p>
        </p:txBody>
      </p:sp>
      <p:sp>
        <p:nvSpPr>
          <p:cNvPr id="20" name="Rectangle 19"/>
          <p:cNvSpPr/>
          <p:nvPr/>
        </p:nvSpPr>
        <p:spPr>
          <a:xfrm>
            <a:off x="8458200" y="343814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2" name="TextBox 21"/>
          <p:cNvSpPr txBox="1"/>
          <p:nvPr/>
        </p:nvSpPr>
        <p:spPr>
          <a:xfrm>
            <a:off x="8622792" y="36301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This is the end of the auditor's workflow — there is nothing to submit.</a:t>
            </a:r>
          </a:p>
        </p:txBody>
      </p:sp>
      <p:sp>
        <p:nvSpPr>
          <p:cNvPr id="23" name="Rectangle 2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5" name="TextBox 2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6" name="Rectangle 5"/>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9" name="TextBox 8"/>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10" name="TextBox 9"/>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1" name="Rectangle 1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3" name="TextBox 1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6" name="Rectangle 5"/>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8" name="TextBox 7"/>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9" name="TextBox 8"/>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0" name="TextBox 9"/>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1" name="Rectangle 10"/>
          <p:cNvSpPr/>
          <p:nvPr/>
        </p:nvSpPr>
        <p:spPr>
          <a:xfrm>
            <a:off x="548640" y="2450592"/>
            <a:ext cx="11064240" cy="98755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3" name="TextBox 12"/>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4" name="TextBox 13"/>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5" name="TextBox 14"/>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6" name="Rectangle 15"/>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8" name="TextBox 17"/>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9" name="TextBox 18"/>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20" name="TextBox 19"/>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1" name="TextBox 20"/>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6" name="Rectangle 5"/>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9" name="TextBox 8"/>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10" name="Rectangle 9"/>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3" name="TextBox 12"/>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4" name="TextBox 13"/>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5" name="Rectangle 14"/>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6" name="Rectangle 5"/>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9" name="TextBox 8"/>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10" name="Rectangle 9"/>
          <p:cNvSpPr/>
          <p:nvPr/>
        </p:nvSpPr>
        <p:spPr>
          <a:xfrm>
            <a:off x="548640" y="2697480"/>
            <a:ext cx="11064240" cy="1207008"/>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3" name="TextBox 12"/>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4" name="Rectangle 13"/>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7" name="TextBox 16"/>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8" name="TextBox 17"/>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9" name="Rectangle 1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1" name="TextBox 2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10" name="Rectangle 9"/>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Numbers it, stamps SLA deadlines, assigns the agent with the lightest queue</a:t>
            </a:r>
          </a:p>
        </p:txBody>
      </p:sp>
      <p:sp>
        <p:nvSpPr>
          <p:cNvPr id="14" name="Rectangle 13"/>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6" name="Rectangle 5"/>
          <p:cNvSpPr/>
          <p:nvPr/>
        </p:nvSpPr>
        <p:spPr>
          <a:xfrm>
            <a:off x="548640" y="1234440"/>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10" name="Rectangle 9"/>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4" name="Rectangle 13"/>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8" name="Rectangle 17"/>
          <p:cNvSpPr/>
          <p:nvPr/>
        </p:nvSpPr>
        <p:spPr>
          <a:xfrm>
            <a:off x="548640" y="403250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Supervisor</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10" name="Rectangle 9"/>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4" name="Rectangle 13"/>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with a public explanation</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6" name="Rectangle 5"/>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8" name="Rectangle 7"/>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10" name="Rectangle 9"/>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2" name="Rectangle 11"/>
          <p:cNvSpPr/>
          <p:nvPr/>
        </p:nvSpPr>
        <p:spPr>
          <a:xfrm>
            <a:off x="2697480" y="2167128"/>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4" name="Rectangle 13"/>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6" name="Rectangle 15"/>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8" name="Rectangle 17"/>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0" name="Rectangle 19"/>
          <p:cNvSpPr/>
          <p:nvPr/>
        </p:nvSpPr>
        <p:spPr>
          <a:xfrm>
            <a:off x="2697480" y="4032504"/>
            <a:ext cx="8942832" cy="78638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2" name="Rectangle 21"/>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4" name="Rectangle 23"/>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6" name="Rectangle 2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8" name="TextBox 2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5" name="TextBox 4"/>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6" name="TextBox 5"/>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6" name="Table 5"/>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System or agent</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6" name="Table 5"/>
          <p:cNvGraphicFramePr>
            <a:graphicFrameLocks noGrp="1"/>
          </p:cNvGraphicFramePr>
          <p:nvPr/>
        </p:nvGraphicFramePr>
        <p:xfrm>
          <a:off x="457200" y="1143000"/>
          <a:ext cx="11247120" cy="402336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See what escalated</a:t>
                      </a:r>
                    </a:p>
                  </a:txBody>
                  <a:tcPr>
                    <a:solidFill>
                      <a:srgbClr val="F3ECE0"/>
                    </a:solidFill>
                  </a:tcPr>
                </a:tc>
                <a:tc>
                  <a:txBody>
                    <a:bodyPr/>
                    <a:lstStyle/>
                    <a:p>
                      <a:r>
                        <a:rPr sz="1050">
                          <a:solidFill>
                            <a:srgbClr val="1B2A33"/>
                          </a:solidFill>
                        </a:rPr>
                        <a:t>Escalations</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Check deadlines</a:t>
                      </a:r>
                    </a:p>
                  </a:txBody>
                  <a:tcPr>
                    <a:solidFill>
                      <a:srgbClr val="FFFFFF"/>
                    </a:solidFill>
                  </a:tcPr>
                </a:tc>
                <a:tc>
                  <a:txBody>
                    <a:bodyPr/>
                    <a:lstStyle/>
                    <a:p>
                      <a:r>
                        <a:rPr sz="1050">
                          <a:solidFill>
                            <a:srgbClr val="1B2A33"/>
                          </a:solidFill>
                        </a:rPr>
                        <a:t>SLA Monitor</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Add or change a user</a:t>
                      </a:r>
                    </a:p>
                  </a:txBody>
                  <a:tcPr>
                    <a:solidFill>
                      <a:srgbClr val="F3ECE0"/>
                    </a:solidFill>
                  </a:tcPr>
                </a:tc>
                <a:tc>
                  <a:txBody>
                    <a:bodyPr/>
                    <a:lstStyle/>
                    <a:p>
                      <a:r>
                        <a:rPr sz="1050">
                          <a:solidFill>
                            <a:srgbClr val="1B2A33"/>
                          </a:solidFill>
                        </a:rPr>
                        <a:t>Users</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Change the org tree</a:t>
                      </a:r>
                    </a:p>
                  </a:txBody>
                  <a:tcPr>
                    <a:solidFill>
                      <a:srgbClr val="FFFFFF"/>
                    </a:solidFill>
                  </a:tcPr>
                </a:tc>
                <a:tc>
                  <a:txBody>
                    <a:bodyPr/>
                    <a:lstStyle/>
                    <a:p>
                      <a:r>
                        <a:rPr sz="1050">
                          <a:solidFill>
                            <a:srgbClr val="1B2A33"/>
                          </a:solidFill>
                        </a:rPr>
                        <a:t>Org Management</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Export figures</a:t>
                      </a:r>
                    </a:p>
                  </a:txBody>
                  <a:tcPr>
                    <a:solidFill>
                      <a:srgbClr val="F3ECE0"/>
                    </a:solidFill>
                  </a:tcPr>
                </a:tc>
                <a:tc>
                  <a:txBody>
                    <a:bodyPr/>
                    <a:lstStyle/>
                    <a:p>
                      <a:r>
                        <a:rPr sz="1050">
                          <a:solidFill>
                            <a:srgbClr val="1B2A33"/>
                          </a:solidFill>
                        </a:rPr>
                        <a:t>Reports → CSV / PDF / Excel</a:t>
                      </a:r>
                    </a:p>
                  </a:txBody>
                  <a:tcPr>
                    <a:solidFill>
                      <a:srgbClr val="F3ECE0"/>
                    </a:solidFill>
                  </a:tcPr>
                </a:tc>
                <a:tc>
                  <a:txBody>
                    <a:bodyPr/>
                    <a:lstStyle/>
                    <a:p>
                      <a:r>
                        <a:rPr sz="1050">
                          <a:solidFill>
                            <a:srgbClr val="1B2A33"/>
                          </a:solidFill>
                        </a:rPr>
                        <a:t>Supervisor, admin, auditor</a:t>
                      </a:r>
                    </a:p>
                  </a:txBody>
                  <a:tcPr>
                    <a:solidFill>
                      <a:srgbClr val="F3ECE0"/>
                    </a:solidFill>
                  </a:tcPr>
                </a:tc>
              </a:tr>
              <a:tr h="365760">
                <a:tc>
                  <a:txBody>
                    <a:bodyPr/>
                    <a:lstStyle/>
                    <a:p>
                      <a:r>
                        <a:rPr sz="1050">
                          <a:solidFill>
                            <a:srgbClr val="1B2A33"/>
                          </a:solidFill>
                        </a:rPr>
                        <a:t>Review who changed what</a:t>
                      </a:r>
                    </a:p>
                  </a:txBody>
                  <a:tcPr>
                    <a:solidFill>
                      <a:srgbClr val="FFFFFF"/>
                    </a:solidFill>
                  </a:tcPr>
                </a:tc>
                <a:tc>
                  <a:txBody>
                    <a:bodyPr/>
                    <a:lstStyle/>
                    <a:p>
                      <a:r>
                        <a:rPr sz="1050">
                          <a:solidFill>
                            <a:srgbClr val="1B2A33"/>
                          </a:solidFill>
                        </a:rPr>
                        <a:t>Audit</a:t>
                      </a:r>
                    </a:p>
                  </a:txBody>
                  <a:tcPr>
                    <a:solidFill>
                      <a:srgbClr val="FFFFFF"/>
                    </a:solidFill>
                  </a:tcPr>
                </a:tc>
                <a:tc>
                  <a:txBody>
                    <a:bodyPr/>
                    <a:lstStyle/>
                    <a:p>
                      <a:r>
                        <a:rPr sz="1050">
                          <a:solidFill>
                            <a:srgbClr val="1B2A33"/>
                          </a:solidFill>
                        </a:rPr>
                        <a:t>Admin, auditor</a:t>
                      </a:r>
                    </a:p>
                  </a:txBody>
                  <a:tcPr>
                    <a:solidFill>
                      <a:srgbClr val="FFFFFF"/>
                    </a:solidFill>
                  </a:tcPr>
                </a:tc>
              </a:tr>
              <a:tr h="365760">
                <a:tc>
                  <a:txBody>
                    <a:bodyPr/>
                    <a:lstStyle/>
                    <a:p>
                      <a:r>
                        <a:rPr sz="1050">
                          <a:solidFill>
                            <a:srgbClr val="1B2A33"/>
                          </a:solidFill>
                        </a:rPr>
                        <a:t>Turn on my second factor</a:t>
                      </a:r>
                    </a:p>
                  </a:txBody>
                  <a:tcPr>
                    <a:solidFill>
                      <a:srgbClr val="F3ECE0"/>
                    </a:solidFill>
                  </a:tcPr>
                </a:tc>
                <a:tc>
                  <a:txBody>
                    <a:bodyPr/>
                    <a:lstStyle/>
                    <a:p>
                      <a:r>
                        <a:rPr sz="1050">
                          <a:solidFill>
                            <a:srgbClr val="1B2A33"/>
                          </a:solidFill>
                        </a:rPr>
                        <a:t>Security</a:t>
                      </a:r>
                    </a:p>
                  </a:txBody>
                  <a:tcPr>
                    <a:solidFill>
                      <a:srgbClr val="F3ECE0"/>
                    </a:solidFill>
                  </a:tcPr>
                </a:tc>
                <a:tc>
                  <a:txBody>
                    <a:bodyPr/>
                    <a:lstStyle/>
                    <a:p>
                      <a:r>
                        <a:rPr sz="1050">
                          <a:solidFill>
                            <a:srgbClr val="1B2A33"/>
                          </a:solidFill>
                        </a:rPr>
                        <a:t>Everyone</a:t>
                      </a:r>
                    </a:p>
                  </a:txBody>
                  <a:tcPr>
                    <a:solidFill>
                      <a:srgbClr val="F3ECE0"/>
                    </a:solidFill>
                  </a:tcPr>
                </a:tc>
              </a:tr>
            </a:tbl>
          </a:graphicData>
        </a:graphic>
      </p:graphicFrame>
      <p:sp>
        <p:nvSpPr>
          <p:cNvPr id="7" name="Rectangle 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9" name="TextBox 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5" name="TextBox 4"/>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6" name="Rectangle 5"/>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8" name="TextBox 7"/>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9" name="Rectangle 8"/>
          <p:cNvSpPr/>
          <p:nvPr/>
        </p:nvSpPr>
        <p:spPr>
          <a:xfrm>
            <a:off x="548640" y="2148840"/>
            <a:ext cx="11064240" cy="768096"/>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1" name="TextBox 10"/>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2" name="Rectangle 11"/>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4" name="TextBox 13"/>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5" name="Rectangle 14"/>
          <p:cNvSpPr/>
          <p:nvPr/>
        </p:nvSpPr>
        <p:spPr>
          <a:xfrm>
            <a:off x="548640" y="3977640"/>
            <a:ext cx="11064240" cy="768096"/>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7" name="TextBox 16"/>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8" name="Rectangle 17"/>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20" name="TextBox 19"/>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1" name="TextBox 20"/>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377440"/>
            <a:ext cx="10607040" cy="960120"/>
          </a:xfrm>
          <a:prstGeom prst="rect">
            <a:avLst/>
          </a:prstGeom>
          <a:noFill/>
        </p:spPr>
        <p:txBody>
          <a:bodyPr wrap="square" anchor="t" lIns="0" rIns="0" tIns="0" bIns="0">
            <a:spAutoFit/>
          </a:bodyPr>
          <a:lstStyle/>
          <a:p>
            <a:pPr algn="l">
              <a:lnSpc>
                <a:spcPct val="120000"/>
              </a:lnSpc>
            </a:pPr>
            <a:r>
              <a:rPr sz="2600" b="1">
                <a:solidFill>
                  <a:srgbClr val="FFFFFF"/>
                </a:solidFill>
                <a:latin typeface="Calibri"/>
              </a:rPr>
              <a:t>Questions, or something here that does not</a:t>
            </a:r>
          </a:p>
          <a:p>
            <a:pPr algn="l">
              <a:lnSpc>
                <a:spcPct val="120000"/>
              </a:lnSpc>
            </a:pPr>
            <a:r>
              <a:rPr sz="2600" b="1">
                <a:solidFill>
                  <a:srgbClr val="FFFFFF"/>
                </a:solidFill>
                <a:latin typeface="Calibri"/>
              </a:rPr>
              <a:t>match what you see?</a:t>
            </a:r>
          </a:p>
        </p:txBody>
      </p:sp>
      <p:sp>
        <p:nvSpPr>
          <p:cNvPr id="4" name="TextBox 3"/>
          <p:cNvSpPr txBox="1"/>
          <p:nvPr/>
        </p:nvSpPr>
        <p:spPr>
          <a:xfrm>
            <a:off x="914400" y="35204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567e6b6.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