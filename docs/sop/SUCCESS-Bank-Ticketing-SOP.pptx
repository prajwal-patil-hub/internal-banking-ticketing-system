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Rectangle 1"/>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4" name="TextBox 3"/>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5" name="TextBox 4"/>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6" name="Rectangle 5"/>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8" name="TextBox 7"/>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9" name="Rectangle 8"/>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1" name="TextBox 10"/>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2" name="Rectangle 11"/>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4" name="TextBox 13"/>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5" name="Rectangle 14"/>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7" name="TextBox 16"/>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8" name="Rectangle 17"/>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0" name="TextBox 19"/>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1" name="TextBox 20"/>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05e5f8f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5" name="TextBox 4"/>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6" name="TextBox 5"/>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7" name="TextBox 6"/>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8" name="TextBox 7"/>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9" name="Rectangle 8"/>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1" name="Rectangle 10"/>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3" name="TextBox 12"/>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4" name="TextBox 13"/>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5" name="Rectangle 14"/>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7" name="TextBox 16"/>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8" name="TextBox 17"/>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19" name="Rectangle 18"/>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1" name="TextBox 20"/>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2" name="TextBox 21"/>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3" name="Rectangle 22"/>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5" name="TextBox 24"/>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6" name="TextBox 25"/>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7" name="Rectangle 26"/>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29" name="TextBox 28"/>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0" name="TextBox 29"/>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5" name="Rectangle 4"/>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8" name="TextBox 7"/>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9" name="Rectangle 8"/>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2" name="TextBox 11"/>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3" name="TextBox 12"/>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4" name="Rectangle 13"/>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6" name="TextBox 15"/>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7" name="Rectangle 16"/>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19" name="TextBox 18"/>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0" name="TextBox 19"/>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5" name="Table 4"/>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600200"/>
                <a:gridCol w="3063240"/>
                <a:gridCol w="2606040"/>
                <a:gridCol w="1783080"/>
                <a:gridCol w="960120"/>
                <a:gridCol w="123444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Assignment</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a:t>
                      </a:r>
                    </a:p>
                  </a:txBody>
                  <a:tcPr>
                    <a:solidFill>
                      <a:srgbClr val="0E4F4A"/>
                    </a:solidFill>
                  </a:tcPr>
                </a:tc>
                <a:tc>
                  <a:txBody>
                    <a:bodyPr/>
                    <a:lstStyle/>
                    <a:p>
                      <a:r>
                        <a:rPr sz="1050" b="1">
                          <a:solidFill>
                            <a:srgbClr val="FFFFFF"/>
                          </a:solidFill>
                        </a:rPr>
                        <a:t>Escalations</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progress, resolve</a:t>
                      </a:r>
                    </a:p>
                  </a:txBody>
                  <a:tcPr>
                    <a:solidFill>
                      <a:srgbClr val="F3ECE0"/>
                    </a:solidFill>
                  </a:tcPr>
                </a:tc>
                <a:tc>
                  <a:txBody>
                    <a:bodyPr/>
                    <a:lstStyle/>
                    <a:p>
                      <a:r>
                        <a:rPr sz="1000">
                          <a:solidFill>
                            <a:srgbClr val="1B2A33"/>
                          </a:solidFill>
                        </a:rPr>
                        <a:t>Assign to a person</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Also auto-assign, rules, leave</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As supervisor, plus the delay</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6" name="Rectangle 5"/>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9" name="TextBox 8"/>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5" name="Rounded Rectangle 4"/>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6" name="Right Arrow 5"/>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8" name="Right Arrow 7"/>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0" name="Right Arrow 9"/>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2" name="Right Arrow 11"/>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4" name="Right Arrow 13"/>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6" name="Rectangle 15"/>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0" name="Rectangle 19"/>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2" name="TextBox 21"/>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3" name="Rounded Rectangle 22"/>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4" name="Rectangle 23"/>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0" name="TextBox 29"/>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1" name="Rectangle 30"/>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3" name="TextBox 32"/>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4" name="Rectangle 33"/>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6" name="TextBox 35"/>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7" name="Rectangle 3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9" name="TextBox 3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5" name="Rectangle 4"/>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7" name="Rectangle 6"/>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0" name="Rectangle 9"/>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3" name="Rectangle 12"/>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6" name="Rectangle 15"/>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714500"/>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122"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75838"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322326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47388"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911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22826"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270248"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94376"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6098"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9814"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317236"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41364"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3086"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6802"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36422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88352"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45007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63790"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74112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35340"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97062"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10778"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8458200"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82328"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4050"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57766"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95051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529316"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91038"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04754" y="1714500"/>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552176"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304288"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50" name="Rounded Rectangle 49"/>
          <p:cNvSpPr/>
          <p:nvPr/>
        </p:nvSpPr>
        <p:spPr>
          <a:xfrm>
            <a:off x="3351276"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Number it,</a:t>
            </a:r>
          </a:p>
          <a:p>
            <a:pPr algn="ctr">
              <a:lnSpc>
                <a:spcPct val="110000"/>
              </a:lnSpc>
            </a:pPr>
            <a:r>
              <a:rPr sz="800" b="1">
                <a:solidFill>
                  <a:srgbClr val="FFFFFF"/>
                </a:solidFill>
              </a:rPr>
              <a:t>stamp SLA</a:t>
            </a:r>
          </a:p>
        </p:txBody>
      </p:sp>
      <p:sp>
        <p:nvSpPr>
          <p:cNvPr id="51" name="Rounded Rectangle 50"/>
          <p:cNvSpPr/>
          <p:nvPr/>
        </p:nvSpPr>
        <p:spPr>
          <a:xfrm>
            <a:off x="4398264"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Assign, or</a:t>
            </a:r>
          </a:p>
          <a:p>
            <a:pPr algn="ctr">
              <a:lnSpc>
                <a:spcPct val="110000"/>
              </a:lnSpc>
            </a:pPr>
            <a:r>
              <a:rPr sz="800" b="1">
                <a:solidFill>
                  <a:srgbClr val="FFFFFF"/>
                </a:solidFill>
              </a:rPr>
              <a:t>auto-assign</a:t>
            </a:r>
          </a:p>
        </p:txBody>
      </p:sp>
      <p:sp>
        <p:nvSpPr>
          <p:cNvPr id="52" name="Rounded Rectangle 51"/>
          <p:cNvSpPr/>
          <p:nvPr/>
        </p:nvSpPr>
        <p:spPr>
          <a:xfrm>
            <a:off x="5445252"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53" name="Rounded Rectangle 52"/>
          <p:cNvSpPr/>
          <p:nvPr/>
        </p:nvSpPr>
        <p:spPr>
          <a:xfrm>
            <a:off x="6492240"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4" name="Rounded Rectangle 53"/>
          <p:cNvSpPr/>
          <p:nvPr/>
        </p:nvSpPr>
        <p:spPr>
          <a:xfrm>
            <a:off x="7539228"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5" name="Rounded Rectangle 54"/>
          <p:cNvSpPr/>
          <p:nvPr/>
        </p:nvSpPr>
        <p:spPr>
          <a:xfrm>
            <a:off x="8586216"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6" name="Rounded Rectangle 55"/>
          <p:cNvSpPr/>
          <p:nvPr/>
        </p:nvSpPr>
        <p:spPr>
          <a:xfrm>
            <a:off x="9633204"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7" name="Rounded Rectangle 56"/>
          <p:cNvSpPr/>
          <p:nvPr/>
        </p:nvSpPr>
        <p:spPr>
          <a:xfrm>
            <a:off x="10680192"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8" name="TextBox 57"/>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Two of them are a person deciding: the supervisor choosing an owner, and the branch user closing or reopening. The rest happen because the system moved the ticket, or because the next role was already watching. Note what the system does not do — it numbers the ticket and starts the clock, but it does not choose who works it.</a:t>
            </a:r>
          </a:p>
        </p:txBody>
      </p:sp>
      <p:sp>
        <p:nvSpPr>
          <p:cNvPr id="59" name="Rectangle 5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61" name="TextBox 6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804759" y="32647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4804759" y="36854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4804759" y="39768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2" name="Rectangle 21"/>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5" name="Rectangle 24"/>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ticket counts</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19" name="Rectangle 18"/>
          <p:cNvSpPr/>
          <p:nvPr/>
        </p:nvSpPr>
        <p:spPr>
          <a:xfrm>
            <a:off x="8458200" y="300380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22" name="Rectangle 21"/>
          <p:cNvSpPr/>
          <p:nvPr/>
        </p:nvSpPr>
        <p:spPr>
          <a:xfrm>
            <a:off x="8458200" y="370789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7078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991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692368"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6927402"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19" name="Rectangle 18"/>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2" name="Rectangle 21"/>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5" name="Rectangle 24"/>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45015" y="218244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545015" y="284601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45015" y="417120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1545015" y="514810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2" name="Rectangle 21"/>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5" name="Rectangle 24"/>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8" name="Rectangle 27"/>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703880" y="17102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290041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523252" y="422124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449133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5" name="Rectangle 24"/>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8" name="Rectangle 27"/>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199202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29368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2" name="Rectangle 21"/>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5" name="Rectangle 4"/>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8" name="TextBox 7"/>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9" name="Rectangle 8"/>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2" name="TextBox 11"/>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3" name="Rectangle 12"/>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6" name="TextBox 15"/>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7" name="TextBox 16"/>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903938"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5941862" y="27410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2" name="Rectangle 21"/>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5" name="Rectangle 24"/>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8693" y="237918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 ticket in your scope</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739002" y="12026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216738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5769314" y="21581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1761088" y="30704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Oval 11"/>
          <p:cNvSpPr/>
          <p:nvPr/>
        </p:nvSpPr>
        <p:spPr>
          <a:xfrm>
            <a:off x="5769314" y="432762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4</a:t>
            </a:r>
          </a:p>
        </p:txBody>
      </p:sp>
      <p:sp>
        <p:nvSpPr>
          <p:cNvPr id="21" name="TextBox 20"/>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2" name="Rectangle 21"/>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5" name="Rectangle 24"/>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8" name="Rectangle 27"/>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523252" y="32511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015553" y="362325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8" name="TextBox 7"/>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2" name="TextBox 11"/>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6" name="TextBox 15"/>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7" name="TextBox 16"/>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316814" y="200173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444398" y="127015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19" name="Rectangle 18"/>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2" name="Rectangle 21"/>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14 — open the SLA monitor.</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On time, at risk, breached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19" name="Rectangle 18"/>
          <p:cNvSpPr/>
          <p:nvPr/>
        </p:nvSpPr>
        <p:spPr>
          <a:xfrm>
            <a:off x="8458200" y="359816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review escalations.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Escalation events, newest first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6" name="Rectangle 15"/>
          <p:cNvSpPr/>
          <p:nvPr/>
        </p:nvSpPr>
        <p:spPr>
          <a:xfrm>
            <a:off x="8458200" y="257403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19" name="Rectangle 18"/>
          <p:cNvSpPr/>
          <p:nvPr/>
        </p:nvSpPr>
        <p:spPr>
          <a:xfrm>
            <a:off x="8458200" y="359816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59816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79018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Decide who works it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7001240" y="463026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420949" y="463026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owner yet — raising a ticket does not choose one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Open the assign list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 ticket with no owner and select Assign.</a:t>
            </a:r>
          </a:p>
        </p:txBody>
      </p:sp>
      <p:sp>
        <p:nvSpPr>
          <p:cNvPr id="19" name="Rectangle 18"/>
          <p:cNvSpPr/>
          <p:nvPr/>
        </p:nvSpPr>
        <p:spPr>
          <a:xfrm>
            <a:off x="8458200" y="300380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Raising a ticket stamps its SLA deadlines but does not choose an owner. That is deliberate: who carries the work is a shift decision, and a machine making it at 2am is how tickets end up with whoever happens to be idlest rather than whoever should have them.</a:t>
            </a:r>
          </a:p>
        </p:txBody>
      </p:sp>
      <p:sp>
        <p:nvSpPr>
          <p:cNvPr id="22" name="Rectangle 21"/>
          <p:cNvSpPr/>
          <p:nvPr/>
        </p:nvSpPr>
        <p:spPr>
          <a:xfrm>
            <a:off x="8458200" y="450799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5079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70001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17 — pick a person, or let the router pick.</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Pick a person, or let the router pick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6300169" y="435483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269387" y="45491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6343695" y="53050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Hand the choice to the router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Each candidate's open queue — what the router ranks on</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Anyone on leave is marked, and sorted to the bottom</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name, or select Auto-assign to take the lightest queue.</a:t>
            </a:r>
          </a:p>
        </p:txBody>
      </p:sp>
      <p:sp>
        <p:nvSpPr>
          <p:cNvPr id="22" name="Rectangle 21"/>
          <p:cNvSpPr/>
          <p:nvPr/>
        </p:nvSpPr>
        <p:spPr>
          <a:xfrm>
            <a:off x="8458200" y="3433572"/>
            <a:ext cx="45720" cy="14630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2801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name shows the number of open tickets that person is already carrying — the same number the router ranks on, so you can see what you are overriding. Anyone on leave is labelled with their return date and sorted to the bottom. You can still assign to them knowingly; auto-assign will not.</a:t>
            </a:r>
          </a:p>
        </p:txBody>
      </p:sp>
      <p:sp>
        <p:nvSpPr>
          <p:cNvPr id="25" name="Rectangle 24"/>
          <p:cNvSpPr/>
          <p:nvPr/>
        </p:nvSpPr>
        <p:spPr>
          <a:xfrm>
            <a:off x="8458200" y="509778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509778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28980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agent picks it up from their queue.</a:t>
            </a:r>
          </a:p>
        </p:txBody>
      </p:sp>
      <p:sp>
        <p:nvSpPr>
          <p:cNvPr id="28" name="Rectangle 27"/>
          <p:cNvSpPr/>
          <p:nvPr/>
        </p:nvSpPr>
        <p:spPr>
          <a:xfrm>
            <a:off x="411480" y="6119622"/>
            <a:ext cx="7772400" cy="31775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83630"/>
            <a:ext cx="7443216" cy="20802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Auto-assign is supervisor and above; an agent may assign a specific ticket.</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the router actually does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steps, and it stops at the first that yields somebody</a:t>
            </a:r>
          </a:p>
        </p:txBody>
      </p:sp>
      <p:sp>
        <p:nvSpPr>
          <p:cNvPr id="5" name="TextBox 4"/>
          <p:cNvSpPr txBox="1"/>
          <p:nvPr/>
        </p:nvSpPr>
        <p:spPr>
          <a:xfrm>
            <a:off x="566928" y="1188720"/>
            <a:ext cx="11064240" cy="457200"/>
          </a:xfrm>
          <a:prstGeom prst="rect">
            <a:avLst/>
          </a:prstGeom>
          <a:noFill/>
        </p:spPr>
        <p:txBody>
          <a:bodyPr wrap="square" anchor="t" lIns="0" rIns="0" tIns="0" bIns="0">
            <a:spAutoFit/>
          </a:bodyPr>
          <a:lstStyle/>
          <a:p>
            <a:pPr algn="l">
              <a:lnSpc>
                <a:spcPct val="125000"/>
              </a:lnSpc>
            </a:pPr>
            <a:r>
              <a:rPr sz="1250" b="0">
                <a:solidFill>
                  <a:srgbClr val="1B2A33"/>
                </a:solidFill>
                <a:latin typeface="Calibri"/>
              </a:rPr>
              <a:t>Auto-assign is not a black box. It runs the same search every time, and each step falls through to the next rather than failing.</a:t>
            </a:r>
          </a:p>
        </p:txBody>
      </p:sp>
      <p:sp>
        <p:nvSpPr>
          <p:cNvPr id="6" name="Rectangle 5"/>
          <p:cNvSpPr/>
          <p:nvPr/>
        </p:nvSpPr>
        <p:spPr>
          <a:xfrm>
            <a:off x="566928" y="1828800"/>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38528"/>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A category rule</a:t>
            </a:r>
          </a:p>
        </p:txBody>
      </p:sp>
      <p:sp>
        <p:nvSpPr>
          <p:cNvPr id="8" name="TextBox 7"/>
          <p:cNvSpPr txBox="1"/>
          <p:nvPr/>
        </p:nvSpPr>
        <p:spPr>
          <a:xfrm>
            <a:off x="4206240" y="1938528"/>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If a rule names an owner for this category, they get it. Optional: most categories have none.</a:t>
            </a:r>
          </a:p>
        </p:txBody>
      </p:sp>
      <p:sp>
        <p:nvSpPr>
          <p:cNvPr id="9" name="Rectangle 8"/>
          <p:cNvSpPr/>
          <p:nvPr/>
        </p:nvSpPr>
        <p:spPr>
          <a:xfrm>
            <a:off x="566928" y="2670048"/>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79776"/>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Someone in the ticket's branch</a:t>
            </a:r>
          </a:p>
        </p:txBody>
      </p:sp>
      <p:sp>
        <p:nvSpPr>
          <p:cNvPr id="11" name="TextBox 10"/>
          <p:cNvSpPr txBox="1"/>
          <p:nvPr/>
        </p:nvSpPr>
        <p:spPr>
          <a:xfrm>
            <a:off x="4206240" y="2779776"/>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Of the people left, whoever in that branch is carrying the fewest open tickets.</a:t>
            </a:r>
          </a:p>
        </p:txBody>
      </p:sp>
      <p:sp>
        <p:nvSpPr>
          <p:cNvPr id="12" name="Rectangle 11"/>
          <p:cNvSpPr/>
          <p:nvPr/>
        </p:nvSpPr>
        <p:spPr>
          <a:xfrm>
            <a:off x="566928" y="3511296"/>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621024"/>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Anyone assignable</a:t>
            </a:r>
          </a:p>
        </p:txBody>
      </p:sp>
      <p:sp>
        <p:nvSpPr>
          <p:cNvPr id="14" name="TextBox 13"/>
          <p:cNvSpPr txBox="1"/>
          <p:nvPr/>
        </p:nvSpPr>
        <p:spPr>
          <a:xfrm>
            <a:off x="4206240" y="3621024"/>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Failing both, the lightest open queue anywhere.</a:t>
            </a:r>
          </a:p>
        </p:txBody>
      </p:sp>
      <p:sp>
        <p:nvSpPr>
          <p:cNvPr id="15" name="TextBox 14"/>
          <p:cNvSpPr txBox="1"/>
          <p:nvPr/>
        </p:nvSpPr>
        <p:spPr>
          <a:xfrm>
            <a:off x="566928" y="4480560"/>
            <a:ext cx="11064240" cy="256032"/>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THAT HOLD AT EVERY STEP</a:t>
            </a:r>
          </a:p>
        </p:txBody>
      </p:sp>
      <p:sp>
        <p:nvSpPr>
          <p:cNvPr id="16" name="Rectangle 15"/>
          <p:cNvSpPr/>
          <p:nvPr/>
        </p:nvSpPr>
        <p:spPr>
          <a:xfrm>
            <a:off x="566928" y="4773168"/>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46320"/>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Agents before supervisors</a:t>
            </a:r>
          </a:p>
        </p:txBody>
      </p:sp>
      <p:sp>
        <p:nvSpPr>
          <p:cNvPr id="18" name="TextBox 17"/>
          <p:cNvSpPr txBox="1"/>
          <p:nvPr/>
        </p:nvSpPr>
        <p:spPr>
          <a:xfrm>
            <a:off x="822960" y="5084064"/>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Ranking on workload alone sends everything to whoever is idlest, which is reliably a supervisor — they carry no queue of their own — and frontline work would skip the agents entirely.</a:t>
            </a:r>
          </a:p>
        </p:txBody>
      </p:sp>
      <p:sp>
        <p:nvSpPr>
          <p:cNvPr id="19" name="Rectangle 18"/>
          <p:cNvSpPr/>
          <p:nvPr/>
        </p:nvSpPr>
        <p:spPr>
          <a:xfrm>
            <a:off x="566928" y="5559552"/>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632704"/>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Nobody on leave, ever</a:t>
            </a:r>
          </a:p>
        </p:txBody>
      </p:sp>
      <p:sp>
        <p:nvSpPr>
          <p:cNvPr id="21" name="TextBox 20"/>
          <p:cNvSpPr txBox="1"/>
          <p:nvPr/>
        </p:nvSpPr>
        <p:spPr>
          <a:xfrm>
            <a:off x="822960" y="5870448"/>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A category rule naming someone who is away is skipped rather than obeyed. Parking tickets on an absent person is worse than having no rule.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ticket nobody picked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moving assignment to a person does not risk the SLA</a:t>
            </a:r>
          </a:p>
        </p:txBody>
      </p:sp>
      <p:sp>
        <p:nvSpPr>
          <p:cNvPr id="5" name="Rectangle 4"/>
          <p:cNvSpPr/>
          <p:nvPr/>
        </p:nvSpPr>
        <p:spPr>
          <a:xfrm>
            <a:off x="548640" y="1234440"/>
            <a:ext cx="11064240" cy="11887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8872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82296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SLA deadlines are stamped when the ticket is raised, and the clock runs from that moment. If assignment waited for a person and nobody was on shift, a ticket raised overnight could breach — and then escalate — without ever having had an owner.</a:t>
            </a:r>
          </a:p>
        </p:txBody>
      </p:sp>
      <p:sp>
        <p:nvSpPr>
          <p:cNvPr id="8" name="Rectangle 7"/>
          <p:cNvSpPr/>
          <p:nvPr/>
        </p:nvSpPr>
        <p:spPr>
          <a:xfrm>
            <a:off x="548640" y="2743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52928"/>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The safety net</a:t>
            </a:r>
          </a:p>
        </p:txBody>
      </p:sp>
      <p:sp>
        <p:nvSpPr>
          <p:cNvPr id="10" name="TextBox 9"/>
          <p:cNvSpPr txBox="1"/>
          <p:nvPr/>
        </p:nvSpPr>
        <p:spPr>
          <a:xfrm>
            <a:off x="3566160" y="2852928"/>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 background worker assigns anything still unassigned after a set delay, using the same router.</a:t>
            </a:r>
          </a:p>
        </p:txBody>
      </p:sp>
      <p:sp>
        <p:nvSpPr>
          <p:cNvPr id="11" name="Rectangle 10"/>
          <p:cNvSpPr/>
          <p:nvPr/>
        </p:nvSpPr>
        <p:spPr>
          <a:xfrm>
            <a:off x="548640" y="3584448"/>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694176"/>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You set the delay</a:t>
            </a:r>
          </a:p>
        </p:txBody>
      </p:sp>
      <p:sp>
        <p:nvSpPr>
          <p:cNvPr id="13" name="TextBox 12"/>
          <p:cNvSpPr txBox="1"/>
          <p:nvPr/>
        </p:nvSpPr>
        <p:spPr>
          <a:xfrm>
            <a:off x="3566160" y="3694176"/>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 sets it while the system is running — two hours by default, anywhere from fifteen minutes to a week.</a:t>
            </a:r>
          </a:p>
        </p:txBody>
      </p:sp>
      <p:sp>
        <p:nvSpPr>
          <p:cNvPr id="14" name="Rectangle 13"/>
          <p:cNvSpPr/>
          <p:nvPr/>
        </p:nvSpPr>
        <p:spPr>
          <a:xfrm>
            <a:off x="548640" y="4425696"/>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35424"/>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It never overrides you</a:t>
            </a:r>
          </a:p>
        </p:txBody>
      </p:sp>
      <p:sp>
        <p:nvSpPr>
          <p:cNvPr id="16" name="TextBox 15"/>
          <p:cNvSpPr txBox="1"/>
          <p:nvPr/>
        </p:nvSpPr>
        <p:spPr>
          <a:xfrm>
            <a:off x="3566160" y="4535424"/>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It only touches tickets with no owner. It never reassigns one somebody has already given out.</a:t>
            </a:r>
          </a:p>
        </p:txBody>
      </p:sp>
      <p:sp>
        <p:nvSpPr>
          <p:cNvPr id="17" name="TextBox 16"/>
          <p:cNvSpPr txBox="1"/>
          <p:nvPr/>
        </p:nvSpPr>
        <p:spPr>
          <a:xfrm>
            <a:off x="548640" y="544068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So the window is yours to triage in, not a gap. Shorten it if tickets sit too long; lengthen it if the system is assigning work your supervisors wanted to place themselves.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5" name="Rectangle 4"/>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7" name="Rectangle 6"/>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9" name="TextBox 8"/>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0" name="Rectangle 9"/>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2" name="TextBox 11"/>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3" name="Rectangle 12"/>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5" name="TextBox 14"/>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6" name="Rectangle 15"/>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8" name="TextBox 17"/>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19" name="TextBox 18"/>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0" name="Rectangle 1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2" name="TextBox 2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7094508" y="16072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Everyone with an account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19" name="Rectangle 18"/>
          <p:cNvSpPr/>
          <p:nvPr/>
        </p:nvSpPr>
        <p:spPr>
          <a:xfrm>
            <a:off x="8458200" y="283464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22" name="Rectangle 21"/>
          <p:cNvSpPr/>
          <p:nvPr/>
        </p:nvSpPr>
        <p:spPr>
          <a:xfrm>
            <a:off x="8458200" y="353872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53872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73075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shape the organisation.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who is available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5809731" y="222859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7058755" y="247439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Availability is separate from Active — one gates login, the other routing</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Record a leave window</a:t>
            </a:r>
          </a:p>
        </p:txBody>
      </p:sp>
      <p:sp>
        <p:nvSpPr>
          <p:cNvPr id="16" name="Rectangle 15"/>
          <p:cNvSpPr/>
          <p:nvPr/>
        </p:nvSpPr>
        <p:spPr>
          <a:xfrm>
            <a:off x="8458200" y="2299716"/>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Availability column before wondering why work is not reaching someone.</a:t>
            </a:r>
          </a:p>
        </p:txBody>
      </p:sp>
      <p:sp>
        <p:nvSpPr>
          <p:cNvPr id="19" name="Rectangle 18"/>
          <p:cNvSpPr/>
          <p:nvPr/>
        </p:nvSpPr>
        <p:spPr>
          <a:xfrm>
            <a:off x="8458200" y="316382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16382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35584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Availability and Active are different columns because they mean different things. Active is whether the account works at all; availability is whether the router sends new tickets there. Someone on leave can still sign in and finish what they already hold.</a:t>
            </a:r>
          </a:p>
        </p:txBody>
      </p:sp>
      <p:sp>
        <p:nvSpPr>
          <p:cNvPr id="22" name="Rectangle 21"/>
          <p:cNvSpPr/>
          <p:nvPr/>
        </p:nvSpPr>
        <p:spPr>
          <a:xfrm>
            <a:off x="8458200" y="466801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6680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8600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Record a leave window with the Leave button.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Record a leave window</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2840674" y="329535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Oval 9"/>
          <p:cNvSpPr/>
          <p:nvPr/>
        </p:nvSpPr>
        <p:spPr>
          <a:xfrm>
            <a:off x="3995653" y="329535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1" name="Oval 10"/>
          <p:cNvSpPr/>
          <p:nvPr/>
        </p:nvSpPr>
        <p:spPr>
          <a:xfrm>
            <a:off x="2840674" y="412408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First and last day, both inclusive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Leave the end date empty for indefinite leave</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Clears the window and makes them available again</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the first and last day away, then save.</a:t>
            </a:r>
          </a:p>
        </p:txBody>
      </p:sp>
      <p:sp>
        <p:nvSpPr>
          <p:cNvPr id="22" name="Rectangle 21"/>
          <p:cNvSpPr/>
          <p:nvPr/>
        </p:nvSpPr>
        <p:spPr>
          <a:xfrm>
            <a:off x="8458200" y="3433572"/>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Auto-assign skips them for that window and starts including them again the day after it ends — nobody has to remember to switch them back on. A supervisor can still assign to them deliberately, which is why they stay in the list rather than disappearing from it.</a:t>
            </a:r>
          </a:p>
        </p:txBody>
      </p:sp>
      <p:sp>
        <p:nvSpPr>
          <p:cNvPr id="25" name="Rectangle 24"/>
          <p:cNvSpPr/>
          <p:nvPr/>
        </p:nvSpPr>
        <p:spPr>
          <a:xfrm>
            <a:off x="8458200" y="493776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93776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12978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shape the organisation.</a:t>
            </a:r>
          </a:p>
        </p:txBody>
      </p:sp>
      <p:sp>
        <p:nvSpPr>
          <p:cNvPr id="28" name="Rectangle 27"/>
          <p:cNvSpPr/>
          <p:nvPr/>
        </p:nvSpPr>
        <p:spPr>
          <a:xfrm>
            <a:off x="411480" y="6119622"/>
            <a:ext cx="7772400" cy="31775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83630"/>
            <a:ext cx="7443216" cy="20802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Supervisors can set leave too — rota changes should not wait for an admin.</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Hierarchy levels and org units</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22 — maintain the branch network.</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Branches, with live ticket load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pull reports.</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the period and scope</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6" name="Rectangle 15"/>
          <p:cNvSpPr/>
          <p:nvPr/>
        </p:nvSpPr>
        <p:spPr>
          <a:xfrm>
            <a:off x="8458200" y="24140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protect your own account.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Enrol a second factor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6" name="Rectangle 15"/>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19" name="Rectangle 18"/>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5" name="Rectangle 4"/>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8" name="Rectangle 7"/>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0" name="TextBox 9"/>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1" name="Rectangle 10"/>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3" name="TextBox 12"/>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4" name="Rectangle 13"/>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6" name="TextBox 15"/>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same tiles everyone else sees</a:t>
            </a:r>
          </a:p>
        </p:txBody>
      </p:sp>
      <p:sp>
        <p:nvSpPr>
          <p:cNvPr id="13" name="Rectangle 12"/>
          <p:cNvSpPr/>
          <p:nvPr/>
        </p:nvSpPr>
        <p:spPr>
          <a:xfrm>
            <a:off x="8458200" y="1869948"/>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6" name="Rectangle 15"/>
          <p:cNvSpPr/>
          <p:nvPr/>
        </p:nvSpPr>
        <p:spPr>
          <a:xfrm>
            <a:off x="8458200" y="241401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4140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6060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26 — open the audit trail.</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changed what, when, from where</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27 — inspect any ticket.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818120" cy="490347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772400" cy="4855464"/>
          </a:xfrm>
          <a:prstGeom prst="rect">
            <a:avLst/>
          </a:prstGeom>
        </p:spPr>
      </p:pic>
      <p:sp>
        <p:nvSpPr>
          <p:cNvPr id="9" name="Oval 8"/>
          <p:cNvSpPr/>
          <p:nvPr/>
        </p:nvSpPr>
        <p:spPr>
          <a:xfrm>
            <a:off x="1307179" y="157231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scope limit — every ticket</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Internal notes are visible to an auditor. Write controls are not offered, and would be refused if called directly.</a:t>
            </a:r>
          </a:p>
        </p:txBody>
      </p:sp>
      <p:sp>
        <p:nvSpPr>
          <p:cNvPr id="19" name="Rectangle 18"/>
          <p:cNvSpPr/>
          <p:nvPr/>
        </p:nvSpPr>
        <p:spPr>
          <a:xfrm>
            <a:off x="8458200" y="343814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5" name="Rectangle 4"/>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8" name="TextBox 7"/>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9" name="TextBox 8"/>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5" name="Rectangle 4"/>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7" name="TextBox 6"/>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8" name="TextBox 7"/>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9" name="TextBox 8"/>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0" name="Rectangle 9"/>
          <p:cNvSpPr/>
          <p:nvPr/>
        </p:nvSpPr>
        <p:spPr>
          <a:xfrm>
            <a:off x="548640" y="2450592"/>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2" name="TextBox 11"/>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3" name="TextBox 12"/>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4" name="TextBox 13"/>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5" name="Rectangle 14"/>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7" name="TextBox 16"/>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8" name="TextBox 17"/>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9" name="TextBox 18"/>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0" name="TextBox 19"/>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5" name="Rectangle 4"/>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8" name="TextBox 7"/>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9" name="Rectangle 8"/>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2" name="TextBox 11"/>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3" name="TextBox 12"/>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4" name="Rectangle 13"/>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6" name="Rectangle 1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8" name="TextBox 1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9" name="Rectangle 8"/>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Numbers it and stamps both SLA deadlines. It does not pick an owner</a:t>
            </a:r>
          </a:p>
        </p:txBody>
      </p:sp>
      <p:sp>
        <p:nvSpPr>
          <p:cNvPr id="13" name="Rectangle 12"/>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Assigns it — by hand, or with Auto-assign to take the lightest queue</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5" name="Rectangle 24"/>
          <p:cNvSpPr/>
          <p:nvPr/>
        </p:nvSpPr>
        <p:spPr>
          <a:xfrm>
            <a:off x="548640" y="589788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615391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27" name="Rectangle 26"/>
          <p:cNvSpPr/>
          <p:nvPr/>
        </p:nvSpPr>
        <p:spPr>
          <a:xfrm>
            <a:off x="2697480" y="589788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71800" y="608076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5" name="Rectangle 4"/>
          <p:cNvSpPr/>
          <p:nvPr/>
        </p:nvSpPr>
        <p:spPr>
          <a:xfrm>
            <a:off x="548640" y="1234440"/>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9" name="Rectangle 8"/>
          <p:cNvSpPr/>
          <p:nvPr/>
        </p:nvSpPr>
        <p:spPr>
          <a:xfrm>
            <a:off x="548640" y="216712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3" name="Rectangle 12"/>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7" name="Rectangle 16"/>
          <p:cNvSpPr/>
          <p:nvPr/>
        </p:nvSpPr>
        <p:spPr>
          <a:xfrm>
            <a:off x="548640" y="403250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Supervisor</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9" name="Rectangle 8"/>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3" name="Rectangle 12"/>
          <p:cNvSpPr/>
          <p:nvPr/>
        </p:nvSpPr>
        <p:spPr>
          <a:xfrm>
            <a:off x="548640" y="309981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with a public explanation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5" name="Rectangle 4"/>
          <p:cNvSpPr/>
          <p:nvPr/>
        </p:nvSpPr>
        <p:spPr>
          <a:xfrm>
            <a:off x="548640" y="123444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490472"/>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3444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417320"/>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9" name="Rectangle 8"/>
          <p:cNvSpPr/>
          <p:nvPr/>
        </p:nvSpPr>
        <p:spPr>
          <a:xfrm>
            <a:off x="548640" y="216712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423160"/>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6712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350008"/>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3" name="Rectangle 12"/>
          <p:cNvSpPr/>
          <p:nvPr/>
        </p:nvSpPr>
        <p:spPr>
          <a:xfrm>
            <a:off x="548640" y="309981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355848"/>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9981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282696"/>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7" name="Rectangle 16"/>
          <p:cNvSpPr/>
          <p:nvPr/>
        </p:nvSpPr>
        <p:spPr>
          <a:xfrm>
            <a:off x="548640" y="403250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288536"/>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3250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215384"/>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1" name="Rectangle 20"/>
          <p:cNvSpPr/>
          <p:nvPr/>
        </p:nvSpPr>
        <p:spPr>
          <a:xfrm>
            <a:off x="548640" y="496519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5221224"/>
            <a:ext cx="1828800" cy="274320"/>
          </a:xfrm>
          <a:prstGeom prst="rect">
            <a:avLst/>
          </a:prstGeom>
          <a:noFill/>
        </p:spPr>
        <p:txBody>
          <a:bodyPr wrap="square" anchor="t"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6519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5148072"/>
            <a:ext cx="8412480" cy="548640"/>
          </a:xfrm>
          <a:prstGeom prst="rect">
            <a:avLst/>
          </a:prstGeom>
          <a:noFill/>
        </p:spPr>
        <p:txBody>
          <a:bodyPr wrap="square" anchor="t"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5" name="Table 4"/>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Supervisor, or agent; system after the delay</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5" name="Table 4"/>
          <p:cNvGraphicFramePr>
            <a:graphicFrameLocks noGrp="1"/>
          </p:cNvGraphicFramePr>
          <p:nvPr/>
        </p:nvGraphicFramePr>
        <p:xfrm>
          <a:off x="457200" y="1143000"/>
          <a:ext cx="11247120" cy="512064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Give a ticket an owner</a:t>
                      </a:r>
                    </a:p>
                  </a:txBody>
                  <a:tcPr>
                    <a:solidFill>
                      <a:srgbClr val="F3ECE0"/>
                    </a:solidFill>
                  </a:tcPr>
                </a:tc>
                <a:tc>
                  <a:txBody>
                    <a:bodyPr/>
                    <a:lstStyle/>
                    <a:p>
                      <a:r>
                        <a:rPr sz="1050">
                          <a:solidFill>
                            <a:srgbClr val="1B2A33"/>
                          </a:solidFill>
                        </a:rPr>
                        <a:t>Ticket → Assignee → Assign</a:t>
                      </a:r>
                    </a:p>
                  </a:txBody>
                  <a:tcPr>
                    <a:solidFill>
                      <a:srgbClr val="F3ECE0"/>
                    </a:solidFill>
                  </a:tcPr>
                </a:tc>
                <a:tc>
                  <a:txBody>
                    <a:bodyPr/>
                    <a:lstStyle/>
                    <a:p>
                      <a:r>
                        <a:rPr sz="1050">
                          <a:solidFill>
                            <a:srgbClr val="1B2A33"/>
                          </a:solidFill>
                        </a:rPr>
                        <a:t>Agent and above</a:t>
                      </a:r>
                    </a:p>
                  </a:txBody>
                  <a:tcPr>
                    <a:solidFill>
                      <a:srgbClr val="F3ECE0"/>
                    </a:solidFill>
                  </a:tcPr>
                </a:tc>
              </a:tr>
              <a:tr h="365760">
                <a:tc>
                  <a:txBody>
                    <a:bodyPr/>
                    <a:lstStyle/>
                    <a:p>
                      <a:r>
                        <a:rPr sz="1050">
                          <a:solidFill>
                            <a:srgbClr val="1B2A33"/>
                          </a:solidFill>
                        </a:rPr>
                        <a:t>Let the router choose</a:t>
                      </a:r>
                    </a:p>
                  </a:txBody>
                  <a:tcPr>
                    <a:solidFill>
                      <a:srgbClr val="FFFFFF"/>
                    </a:solidFill>
                  </a:tcPr>
                </a:tc>
                <a:tc>
                  <a:txBody>
                    <a:bodyPr/>
                    <a:lstStyle/>
                    <a:p>
                      <a:r>
                        <a:rPr sz="1050">
                          <a:solidFill>
                            <a:srgbClr val="1B2A33"/>
                          </a:solidFill>
                        </a:rPr>
                        <a:t>Ticket → Assignee → Auto-assign</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Say someone is away</a:t>
                      </a:r>
                    </a:p>
                  </a:txBody>
                  <a:tcPr>
                    <a:solidFill>
                      <a:srgbClr val="F3ECE0"/>
                    </a:solidFill>
                  </a:tcPr>
                </a:tc>
                <a:tc>
                  <a:txBody>
                    <a:bodyPr/>
                    <a:lstStyle/>
                    <a:p>
                      <a:r>
                        <a:rPr sz="1050">
                          <a:solidFill>
                            <a:srgbClr val="1B2A33"/>
                          </a:solidFill>
                        </a:rPr>
                        <a:t>Users → Leave</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See what escalated</a:t>
                      </a:r>
                    </a:p>
                  </a:txBody>
                  <a:tcPr>
                    <a:solidFill>
                      <a:srgbClr val="FFFFFF"/>
                    </a:solidFill>
                  </a:tcPr>
                </a:tc>
                <a:tc>
                  <a:txBody>
                    <a:bodyPr/>
                    <a:lstStyle/>
                    <a:p>
                      <a:r>
                        <a:rPr sz="1050">
                          <a:solidFill>
                            <a:srgbClr val="1B2A33"/>
                          </a:solidFill>
                        </a:rPr>
                        <a:t>Escalations</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Check deadlines</a:t>
                      </a:r>
                    </a:p>
                  </a:txBody>
                  <a:tcPr>
                    <a:solidFill>
                      <a:srgbClr val="F3ECE0"/>
                    </a:solidFill>
                  </a:tcPr>
                </a:tc>
                <a:tc>
                  <a:txBody>
                    <a:bodyPr/>
                    <a:lstStyle/>
                    <a:p>
                      <a:r>
                        <a:rPr sz="1050">
                          <a:solidFill>
                            <a:srgbClr val="1B2A33"/>
                          </a:solidFill>
                        </a:rPr>
                        <a:t>SLA Monitor</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Add or change a user</a:t>
                      </a:r>
                    </a:p>
                  </a:txBody>
                  <a:tcPr>
                    <a:solidFill>
                      <a:srgbClr val="FFFFFF"/>
                    </a:solidFill>
                  </a:tcPr>
                </a:tc>
                <a:tc>
                  <a:txBody>
                    <a:bodyPr/>
                    <a:lstStyle/>
                    <a:p>
                      <a:r>
                        <a:rPr sz="1050">
                          <a:solidFill>
                            <a:srgbClr val="1B2A33"/>
                          </a:solidFill>
                        </a:rPr>
                        <a:t>Users</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Change the org tree</a:t>
                      </a:r>
                    </a:p>
                  </a:txBody>
                  <a:tcPr>
                    <a:solidFill>
                      <a:srgbClr val="F3ECE0"/>
                    </a:solidFill>
                  </a:tcPr>
                </a:tc>
                <a:tc>
                  <a:txBody>
                    <a:bodyPr/>
                    <a:lstStyle/>
                    <a:p>
                      <a:r>
                        <a:rPr sz="1050">
                          <a:solidFill>
                            <a:srgbClr val="1B2A33"/>
                          </a:solidFill>
                        </a:rPr>
                        <a:t>Org Management</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Export figures</a:t>
                      </a:r>
                    </a:p>
                  </a:txBody>
                  <a:tcPr>
                    <a:solidFill>
                      <a:srgbClr val="FFFFFF"/>
                    </a:solidFill>
                  </a:tcPr>
                </a:tc>
                <a:tc>
                  <a:txBody>
                    <a:bodyPr/>
                    <a:lstStyle/>
                    <a:p>
                      <a:r>
                        <a:rPr sz="1050">
                          <a:solidFill>
                            <a:srgbClr val="1B2A33"/>
                          </a:solidFill>
                        </a:rPr>
                        <a:t>Reports → CSV / PDF / Excel</a:t>
                      </a:r>
                    </a:p>
                  </a:txBody>
                  <a:tcPr>
                    <a:solidFill>
                      <a:srgbClr val="FFFFFF"/>
                    </a:solidFill>
                  </a:tcPr>
                </a:tc>
                <a:tc>
                  <a:txBody>
                    <a:bodyPr/>
                    <a:lstStyle/>
                    <a:p>
                      <a:r>
                        <a:rPr sz="1050">
                          <a:solidFill>
                            <a:srgbClr val="1B2A33"/>
                          </a:solidFill>
                        </a:rPr>
                        <a:t>Supervisor, admin, auditor</a:t>
                      </a:r>
                    </a:p>
                  </a:txBody>
                  <a:tcPr>
                    <a:solidFill>
                      <a:srgbClr val="FFFFFF"/>
                    </a:solidFill>
                  </a:tcPr>
                </a:tc>
              </a:tr>
              <a:tr h="365760">
                <a:tc>
                  <a:txBody>
                    <a:bodyPr/>
                    <a:lstStyle/>
                    <a:p>
                      <a:r>
                        <a:rPr sz="1050">
                          <a:solidFill>
                            <a:srgbClr val="1B2A33"/>
                          </a:solidFill>
                        </a:rPr>
                        <a:t>Review who changed what</a:t>
                      </a:r>
                    </a:p>
                  </a:txBody>
                  <a:tcPr>
                    <a:solidFill>
                      <a:srgbClr val="F3ECE0"/>
                    </a:solidFill>
                  </a:tcPr>
                </a:tc>
                <a:tc>
                  <a:txBody>
                    <a:bodyPr/>
                    <a:lstStyle/>
                    <a:p>
                      <a:r>
                        <a:rPr sz="1050">
                          <a:solidFill>
                            <a:srgbClr val="1B2A33"/>
                          </a:solidFill>
                        </a:rPr>
                        <a:t>Audit</a:t>
                      </a:r>
                    </a:p>
                  </a:txBody>
                  <a:tcPr>
                    <a:solidFill>
                      <a:srgbClr val="F3ECE0"/>
                    </a:solidFill>
                  </a:tcPr>
                </a:tc>
                <a:tc>
                  <a:txBody>
                    <a:bodyPr/>
                    <a:lstStyle/>
                    <a:p>
                      <a:r>
                        <a:rPr sz="1050">
                          <a:solidFill>
                            <a:srgbClr val="1B2A33"/>
                          </a:solidFill>
                        </a:rPr>
                        <a:t>Admin, auditor</a:t>
                      </a:r>
                    </a:p>
                  </a:txBody>
                  <a:tcPr>
                    <a:solidFill>
                      <a:srgbClr val="F3ECE0"/>
                    </a:solidFill>
                  </a:tcPr>
                </a:tc>
              </a:tr>
              <a:tr h="365760">
                <a:tc>
                  <a:txBody>
                    <a:bodyPr/>
                    <a:lstStyle/>
                    <a:p>
                      <a:r>
                        <a:rPr sz="1050">
                          <a:solidFill>
                            <a:srgbClr val="1B2A33"/>
                          </a:solidFill>
                        </a:rPr>
                        <a:t>Turn on my second factor</a:t>
                      </a:r>
                    </a:p>
                  </a:txBody>
                  <a:tcPr>
                    <a:solidFill>
                      <a:srgbClr val="FFFFFF"/>
                    </a:solidFill>
                  </a:tcPr>
                </a:tc>
                <a:tc>
                  <a:txBody>
                    <a:bodyPr/>
                    <a:lstStyle/>
                    <a:p>
                      <a:r>
                        <a:rPr sz="1050">
                          <a:solidFill>
                            <a:srgbClr val="1B2A33"/>
                          </a:solidFill>
                        </a:rPr>
                        <a:t>Security</a:t>
                      </a:r>
                    </a:p>
                  </a:txBody>
                  <a:tcPr>
                    <a:solidFill>
                      <a:srgbClr val="FFFFFF"/>
                    </a:solidFill>
                  </a:tcPr>
                </a:tc>
                <a:tc>
                  <a:txBody>
                    <a:bodyPr/>
                    <a:lstStyle/>
                    <a:p>
                      <a:r>
                        <a:rPr sz="1050">
                          <a:solidFill>
                            <a:srgbClr val="1B2A33"/>
                          </a:solidFill>
                        </a:rPr>
                        <a:t>Everyone</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5" name="Rectangle 4"/>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7" name="TextBox 6"/>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8" name="Rectangle 7"/>
          <p:cNvSpPr/>
          <p:nvPr/>
        </p:nvSpPr>
        <p:spPr>
          <a:xfrm>
            <a:off x="548640" y="21488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0" name="TextBox 9"/>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1" name="Rectangle 10"/>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3" name="TextBox 12"/>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4" name="Rectangle 13"/>
          <p:cNvSpPr/>
          <p:nvPr/>
        </p:nvSpPr>
        <p:spPr>
          <a:xfrm>
            <a:off x="548640" y="39776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6" name="TextBox 15"/>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7" name="Rectangle 16"/>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19" name="TextBox 18"/>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TextBox 1"/>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3" name="TextBox 2"/>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05e5f8f.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