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Rectangle 1"/>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4" name="TextBox 3"/>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5" name="TextBox 4"/>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6" name="Rectangle 5"/>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8" name="TextBox 7"/>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9" name="Rectangle 8"/>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1" name="TextBox 10"/>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2" name="Rectangle 11"/>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4" name="TextBox 13"/>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5" name="Rectangle 14"/>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7" name="TextBox 16"/>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8" name="Rectangle 17"/>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0" name="TextBox 19"/>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1" name="TextBox 20"/>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78f2d50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5" name="TextBox 4"/>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6" name="TextBox 5"/>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7" name="TextBox 6"/>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8" name="TextBox 7"/>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9" name="Rectangle 8"/>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1" name="Rectangle 10"/>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3" name="TextBox 12"/>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4" name="TextBox 13"/>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5" name="Rectangle 14"/>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7" name="TextBox 16"/>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8" name="TextBox 17"/>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19" name="Rectangle 18"/>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1" name="TextBox 20"/>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2" name="TextBox 21"/>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3" name="Rectangle 22"/>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5" name="TextBox 24"/>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6" name="TextBox 25"/>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7" name="Rectangle 26"/>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29" name="TextBox 28"/>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0" name="TextBox 29"/>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5" name="Rectangle 4"/>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8" name="TextBox 7"/>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9" name="Rectangle 8"/>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2" name="TextBox 11"/>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3" name="TextBox 12"/>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4" name="Rectangle 13"/>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6" name="TextBox 15"/>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7" name="Rectangle 16"/>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19" name="TextBox 18"/>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0" name="TextBox 19"/>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5" name="Table 4"/>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737360"/>
                <a:gridCol w="3657600"/>
                <a:gridCol w="2194560"/>
                <a:gridCol w="1554480"/>
                <a:gridCol w="210312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 log</a:t>
                      </a:r>
                    </a:p>
                  </a:txBody>
                  <a:tcPr>
                    <a:solidFill>
                      <a:srgbClr val="0E4F4A"/>
                    </a:solidFill>
                  </a:tcPr>
                </a:tc>
                <a:tc>
                  <a:txBody>
                    <a:bodyPr/>
                    <a:lstStyle/>
                    <a:p>
                      <a:r>
                        <a:rPr sz="1050" b="1">
                          <a:solidFill>
                            <a:srgbClr val="FFFFFF"/>
                          </a:solidFill>
                        </a:rPr>
                        <a:t>Escalation queue</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assign, progress, resolve</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6" name="Rectangle 5"/>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9" name="TextBox 8"/>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5" name="Rounded Rectangle 4"/>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6" name="Right Arrow 5"/>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8" name="Right Arrow 7"/>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0" name="Right Arrow 9"/>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2" name="Right Arrow 11"/>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4" name="Right Arrow 13"/>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6" name="Rectangle 15"/>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0" name="Rectangle 19"/>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2" name="TextBox 21"/>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3" name="Rounded Rectangle 22"/>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4" name="Rectangle 23"/>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0" name="TextBox 29"/>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1" name="Rectangle 30"/>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3" name="TextBox 32"/>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4" name="Rectangle 33"/>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6" name="TextBox 35"/>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7" name="Rectangle 3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9" name="TextBox 3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5" name="Rectangle 4"/>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7" name="Rectangle 6"/>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0" name="Rectangle 9"/>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3" name="Rectangle 12"/>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6" name="Rectangle 15"/>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28416" y="1714500"/>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19856"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33572" y="4786884"/>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34107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07992" y="4786884"/>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99432"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613148"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5902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87568"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779008"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92724"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576986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67144"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5858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72300" y="4786884"/>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94944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6720" y="4786884"/>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3816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51876" y="3762756"/>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8129016"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226296" y="3762756"/>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317736"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31452" y="2738628"/>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Arrow 39"/>
          <p:cNvSpPr/>
          <p:nvPr/>
        </p:nvSpPr>
        <p:spPr>
          <a:xfrm>
            <a:off x="9308592"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405872" y="2738628"/>
            <a:ext cx="105156"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97312"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511028" y="1714500"/>
            <a:ext cx="-4572"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10488168"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359152" y="1380744"/>
            <a:ext cx="969264"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46" name="Rounded Rectangle 45"/>
          <p:cNvSpPr/>
          <p:nvPr/>
        </p:nvSpPr>
        <p:spPr>
          <a:xfrm>
            <a:off x="3538728" y="4453128"/>
            <a:ext cx="969264"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Auto-assign</a:t>
            </a:r>
          </a:p>
          <a:p>
            <a:pPr algn="ctr">
              <a:lnSpc>
                <a:spcPct val="110000"/>
              </a:lnSpc>
            </a:pPr>
            <a:r>
              <a:rPr sz="800" b="1">
                <a:solidFill>
                  <a:srgbClr val="FFFFFF"/>
                </a:solidFill>
              </a:rPr>
              <a:t>+ stamp SLA</a:t>
            </a:r>
          </a:p>
        </p:txBody>
      </p:sp>
      <p:sp>
        <p:nvSpPr>
          <p:cNvPr id="47" name="Rounded Rectangle 46"/>
          <p:cNvSpPr/>
          <p:nvPr/>
        </p:nvSpPr>
        <p:spPr>
          <a:xfrm>
            <a:off x="4718304"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48" name="Rounded Rectangle 47"/>
          <p:cNvSpPr/>
          <p:nvPr/>
        </p:nvSpPr>
        <p:spPr>
          <a:xfrm>
            <a:off x="5897880"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49" name="Rounded Rectangle 48"/>
          <p:cNvSpPr/>
          <p:nvPr/>
        </p:nvSpPr>
        <p:spPr>
          <a:xfrm>
            <a:off x="7077456" y="4453128"/>
            <a:ext cx="969264"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0" name="Rounded Rectangle 49"/>
          <p:cNvSpPr/>
          <p:nvPr/>
        </p:nvSpPr>
        <p:spPr>
          <a:xfrm>
            <a:off x="8257032" y="3429000"/>
            <a:ext cx="969264"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1" name="Rounded Rectangle 50"/>
          <p:cNvSpPr/>
          <p:nvPr/>
        </p:nvSpPr>
        <p:spPr>
          <a:xfrm>
            <a:off x="9436608" y="2404872"/>
            <a:ext cx="969264"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2" name="Rounded Rectangle 51"/>
          <p:cNvSpPr/>
          <p:nvPr/>
        </p:nvSpPr>
        <p:spPr>
          <a:xfrm>
            <a:off x="10616184" y="1380744"/>
            <a:ext cx="969264"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3" name="TextBox 52"/>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Only two of them are a person deciding to pass the ticket on — the agent escalating, and the branch user reopening. The rest happen because the system moved it, or because the next role was already watching.</a:t>
            </a:r>
          </a:p>
        </p:txBody>
      </p:sp>
      <p:sp>
        <p:nvSpPr>
          <p:cNvPr id="54" name="Rectangle 53"/>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56" name="TextBox 55"/>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804759" y="326475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4804759" y="368543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4804759" y="39768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2" name="Rectangle 21"/>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5" name="Rectangle 24"/>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ticket counts</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19" name="Rectangle 18"/>
          <p:cNvSpPr/>
          <p:nvPr/>
        </p:nvSpPr>
        <p:spPr>
          <a:xfrm>
            <a:off x="8458200" y="300380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22" name="Rectangle 21"/>
          <p:cNvSpPr/>
          <p:nvPr/>
        </p:nvSpPr>
        <p:spPr>
          <a:xfrm>
            <a:off x="8458200" y="370789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7078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991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692368"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6927402"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19" name="Rectangle 18"/>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2" name="Rectangle 21"/>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5" name="Rectangle 24"/>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1545015" y="514810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2" name="Rectangle 21"/>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5" name="Rectangle 24"/>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8" name="Rectangle 27"/>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787822" y="17102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5769314" y="410659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23252" y="422124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5769314" y="56975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5" name="Rectangle 24"/>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8" name="Rectangle 27"/>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159805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015553" y="254240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2" name="Rectangle 21"/>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rules worth knowing before you ask where something went</a:t>
            </a:r>
          </a:p>
        </p:txBody>
      </p:sp>
      <p:sp>
        <p:nvSpPr>
          <p:cNvPr id="5" name="Rectangle 4"/>
          <p:cNvSpPr/>
          <p:nvPr/>
        </p:nvSpPr>
        <p:spPr>
          <a:xfrm>
            <a:off x="548640" y="1234440"/>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3385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99032"/>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8" name="TextBox 7"/>
          <p:cNvSpPr txBox="1"/>
          <p:nvPr/>
        </p:nvSpPr>
        <p:spPr>
          <a:xfrm>
            <a:off x="868680" y="176479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9" name="Rectangle 8"/>
          <p:cNvSpPr/>
          <p:nvPr/>
        </p:nvSpPr>
        <p:spPr>
          <a:xfrm>
            <a:off x="548640" y="2532888"/>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32888"/>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97480"/>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2" name="TextBox 11"/>
          <p:cNvSpPr txBox="1"/>
          <p:nvPr/>
        </p:nvSpPr>
        <p:spPr>
          <a:xfrm>
            <a:off x="868680" y="3063240"/>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3" name="Rectangle 12"/>
          <p:cNvSpPr/>
          <p:nvPr/>
        </p:nvSpPr>
        <p:spPr>
          <a:xfrm>
            <a:off x="548640" y="3831336"/>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31336"/>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99592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Team-wide numbers</a:t>
            </a:r>
          </a:p>
        </p:txBody>
      </p:sp>
      <p:sp>
        <p:nvSpPr>
          <p:cNvPr id="16" name="TextBox 15"/>
          <p:cNvSpPr txBox="1"/>
          <p:nvPr/>
        </p:nvSpPr>
        <p:spPr>
          <a:xfrm>
            <a:off x="868680" y="4361688"/>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SLA health, category and department breakdowns and AI metrics are for agents and above. Your dashboard shows your own three counts instead.</a:t>
            </a:r>
          </a:p>
        </p:txBody>
      </p:sp>
      <p:sp>
        <p:nvSpPr>
          <p:cNvPr id="17" name="TextBox 16"/>
          <p:cNvSpPr txBox="1"/>
          <p:nvPr/>
        </p:nvSpPr>
        <p:spPr>
          <a:xfrm>
            <a:off x="548640" y="53492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903938"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5941862" y="27410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2" name="Rectangle 21"/>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5" name="Rectangle 24"/>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8693" y="237918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 ticket in your scope</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19" name="Rectangle 18"/>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22" name="Rectangle 21"/>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739002"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21673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5769314" y="21581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761088" y="30704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5769314" y="51320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2" name="Rectangle 21"/>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5" name="Rectangle 24"/>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8" name="Rectangle 27"/>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32511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015553" y="362325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8" name="TextBox 7"/>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2" name="TextBox 11"/>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6" name="TextBox 15"/>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7" name="TextBox 16"/>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19" name="Rectangle 18"/>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2" name="Rectangle 21"/>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open the SLA monitor.</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On time, at risk, breached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6" name="Rectangle 15"/>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19" name="Rectangle 18"/>
          <p:cNvSpPr/>
          <p:nvPr/>
        </p:nvSpPr>
        <p:spPr>
          <a:xfrm>
            <a:off x="8458200" y="359816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79018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16 — review escalations.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Escalation events, newest first</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6" name="Rectangle 15"/>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19" name="Rectangle 18"/>
          <p:cNvSpPr/>
          <p:nvPr/>
        </p:nvSpPr>
        <p:spPr>
          <a:xfrm>
            <a:off x="8458200" y="359816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79018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5" name="Rectangle 4"/>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7" name="Rectangle 6"/>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9" name="TextBox 8"/>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0" name="Rectangle 9"/>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2" name="TextBox 11"/>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3" name="Rectangle 12"/>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5" name="TextBox 14"/>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6" name="Rectangle 15"/>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8" name="TextBox 17"/>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19" name="TextBox 18"/>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0" name="Rectangle 1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2" name="TextBox 2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7094508"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Everyone with an account</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19" name="Rectangle 18"/>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22" name="Rectangle 21"/>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18 — shape the organisation.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Hierarchy levels and org units</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maintain the branch network.</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Branches, with live ticket load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20 — pull reports.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the period and scope</a:t>
            </a:r>
          </a:p>
        </p:txBody>
      </p:sp>
      <p:sp>
        <p:nvSpPr>
          <p:cNvPr id="13" name="Rectangle 12"/>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6" name="Rectangle 15"/>
          <p:cNvSpPr/>
          <p:nvPr/>
        </p:nvSpPr>
        <p:spPr>
          <a:xfrm>
            <a:off x="8458200" y="24140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6060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protect your own account.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Enrol a second factor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6" name="Rectangle 15"/>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19" name="Rectangle 18"/>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5" name="Rectangle 4"/>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8" name="Rectangle 7"/>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0" name="TextBox 9"/>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1" name="Rectangle 10"/>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3" name="TextBox 12"/>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4" name="Rectangle 13"/>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6" name="TextBox 15"/>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same tiles everyone else sees</a:t>
            </a:r>
          </a:p>
        </p:txBody>
      </p:sp>
      <p:sp>
        <p:nvSpPr>
          <p:cNvPr id="13" name="Rectangle 12"/>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6" name="Rectangle 15"/>
          <p:cNvSpPr/>
          <p:nvPr/>
        </p:nvSpPr>
        <p:spPr>
          <a:xfrm>
            <a:off x="8458200" y="241401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6060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open the audit trail.</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changed what, when, from where</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inspect any ticket.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scope limit — every ticket</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Internal notes are visible to an auditor. Write controls are not offered, and would be refused if called directly.</a:t>
            </a:r>
          </a:p>
        </p:txBody>
      </p:sp>
      <p:sp>
        <p:nvSpPr>
          <p:cNvPr id="19" name="Rectangle 18"/>
          <p:cNvSpPr/>
          <p:nvPr/>
        </p:nvSpPr>
        <p:spPr>
          <a:xfrm>
            <a:off x="8458200" y="343814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5" name="Rectangle 4"/>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8" name="TextBox 7"/>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9" name="TextBox 8"/>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5" name="Rectangle 4"/>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7" name="TextBox 6"/>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8" name="TextBox 7"/>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9" name="TextBox 8"/>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0" name="Rectangle 9"/>
          <p:cNvSpPr/>
          <p:nvPr/>
        </p:nvSpPr>
        <p:spPr>
          <a:xfrm>
            <a:off x="548640" y="2450592"/>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2" name="TextBox 11"/>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3" name="TextBox 12"/>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4" name="TextBox 13"/>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5" name="Rectangle 14"/>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7" name="TextBox 16"/>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8" name="TextBox 17"/>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9" name="TextBox 18"/>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0" name="TextBox 19"/>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5" name="Rectangle 4"/>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8" name="TextBox 7"/>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9" name="Rectangle 8"/>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2" name="TextBox 11"/>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3" name="TextBox 12"/>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4" name="Rectangle 13"/>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6" name="Rectangle 1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8" name="TextBox 1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5" name="Rectangle 4"/>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9" name="Rectangle 8"/>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Numbers it, stamps SLA deadlines, assigns the agent with the lightest queue</a:t>
            </a:r>
          </a:p>
        </p:txBody>
      </p:sp>
      <p:sp>
        <p:nvSpPr>
          <p:cNvPr id="13" name="Rectangle 12"/>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17" name="Rectangle 16"/>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5" name="Rectangle 4"/>
          <p:cNvSpPr/>
          <p:nvPr/>
        </p:nvSpPr>
        <p:spPr>
          <a:xfrm>
            <a:off x="548640" y="1234440"/>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9" name="Rectangle 8"/>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3" name="Rectangle 12"/>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7" name="Rectangle 16"/>
          <p:cNvSpPr/>
          <p:nvPr/>
        </p:nvSpPr>
        <p:spPr>
          <a:xfrm>
            <a:off x="548640" y="403250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Supervisor</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5" name="Rectangle 4"/>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9" name="Rectangle 8"/>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3" name="Rectangle 12"/>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7" name="Rectangle 16"/>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with a public explanation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5" name="Rectangle 4"/>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9" name="Rectangle 8"/>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3" name="Rectangle 12"/>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7" name="Rectangle 16"/>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5" name="Table 4"/>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System or agent</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5" name="Table 4"/>
          <p:cNvGraphicFramePr>
            <a:graphicFrameLocks noGrp="1"/>
          </p:cNvGraphicFramePr>
          <p:nvPr/>
        </p:nvGraphicFramePr>
        <p:xfrm>
          <a:off x="457200" y="1143000"/>
          <a:ext cx="11247120" cy="402336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See what escalated</a:t>
                      </a:r>
                    </a:p>
                  </a:txBody>
                  <a:tcPr>
                    <a:solidFill>
                      <a:srgbClr val="F3ECE0"/>
                    </a:solidFill>
                  </a:tcPr>
                </a:tc>
                <a:tc>
                  <a:txBody>
                    <a:bodyPr/>
                    <a:lstStyle/>
                    <a:p>
                      <a:r>
                        <a:rPr sz="1050">
                          <a:solidFill>
                            <a:srgbClr val="1B2A33"/>
                          </a:solidFill>
                        </a:rPr>
                        <a:t>Escalations</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Check deadlines</a:t>
                      </a:r>
                    </a:p>
                  </a:txBody>
                  <a:tcPr>
                    <a:solidFill>
                      <a:srgbClr val="FFFFFF"/>
                    </a:solidFill>
                  </a:tcPr>
                </a:tc>
                <a:tc>
                  <a:txBody>
                    <a:bodyPr/>
                    <a:lstStyle/>
                    <a:p>
                      <a:r>
                        <a:rPr sz="1050">
                          <a:solidFill>
                            <a:srgbClr val="1B2A33"/>
                          </a:solidFill>
                        </a:rPr>
                        <a:t>SLA Monitor</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Add or change a user</a:t>
                      </a:r>
                    </a:p>
                  </a:txBody>
                  <a:tcPr>
                    <a:solidFill>
                      <a:srgbClr val="F3ECE0"/>
                    </a:solidFill>
                  </a:tcPr>
                </a:tc>
                <a:tc>
                  <a:txBody>
                    <a:bodyPr/>
                    <a:lstStyle/>
                    <a:p>
                      <a:r>
                        <a:rPr sz="1050">
                          <a:solidFill>
                            <a:srgbClr val="1B2A33"/>
                          </a:solidFill>
                        </a:rPr>
                        <a:t>Users</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Change the org tree</a:t>
                      </a:r>
                    </a:p>
                  </a:txBody>
                  <a:tcPr>
                    <a:solidFill>
                      <a:srgbClr val="FFFFFF"/>
                    </a:solidFill>
                  </a:tcPr>
                </a:tc>
                <a:tc>
                  <a:txBody>
                    <a:bodyPr/>
                    <a:lstStyle/>
                    <a:p>
                      <a:r>
                        <a:rPr sz="1050">
                          <a:solidFill>
                            <a:srgbClr val="1B2A33"/>
                          </a:solidFill>
                        </a:rPr>
                        <a:t>Org Management</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Export figures</a:t>
                      </a:r>
                    </a:p>
                  </a:txBody>
                  <a:tcPr>
                    <a:solidFill>
                      <a:srgbClr val="F3ECE0"/>
                    </a:solidFill>
                  </a:tcPr>
                </a:tc>
                <a:tc>
                  <a:txBody>
                    <a:bodyPr/>
                    <a:lstStyle/>
                    <a:p>
                      <a:r>
                        <a:rPr sz="1050">
                          <a:solidFill>
                            <a:srgbClr val="1B2A33"/>
                          </a:solidFill>
                        </a:rPr>
                        <a:t>Reports → CSV / PDF / Excel</a:t>
                      </a:r>
                    </a:p>
                  </a:txBody>
                  <a:tcPr>
                    <a:solidFill>
                      <a:srgbClr val="F3ECE0"/>
                    </a:solidFill>
                  </a:tcPr>
                </a:tc>
                <a:tc>
                  <a:txBody>
                    <a:bodyPr/>
                    <a:lstStyle/>
                    <a:p>
                      <a:r>
                        <a:rPr sz="1050">
                          <a:solidFill>
                            <a:srgbClr val="1B2A33"/>
                          </a:solidFill>
                        </a:rPr>
                        <a:t>Supervisor, admin, auditor</a:t>
                      </a:r>
                    </a:p>
                  </a:txBody>
                  <a:tcPr>
                    <a:solidFill>
                      <a:srgbClr val="F3ECE0"/>
                    </a:solidFill>
                  </a:tcPr>
                </a:tc>
              </a:tr>
              <a:tr h="365760">
                <a:tc>
                  <a:txBody>
                    <a:bodyPr/>
                    <a:lstStyle/>
                    <a:p>
                      <a:r>
                        <a:rPr sz="1050">
                          <a:solidFill>
                            <a:srgbClr val="1B2A33"/>
                          </a:solidFill>
                        </a:rPr>
                        <a:t>Review who changed what</a:t>
                      </a:r>
                    </a:p>
                  </a:txBody>
                  <a:tcPr>
                    <a:solidFill>
                      <a:srgbClr val="FFFFFF"/>
                    </a:solidFill>
                  </a:tcPr>
                </a:tc>
                <a:tc>
                  <a:txBody>
                    <a:bodyPr/>
                    <a:lstStyle/>
                    <a:p>
                      <a:r>
                        <a:rPr sz="1050">
                          <a:solidFill>
                            <a:srgbClr val="1B2A33"/>
                          </a:solidFill>
                        </a:rPr>
                        <a:t>Audit</a:t>
                      </a:r>
                    </a:p>
                  </a:txBody>
                  <a:tcPr>
                    <a:solidFill>
                      <a:srgbClr val="FFFFFF"/>
                    </a:solidFill>
                  </a:tcPr>
                </a:tc>
                <a:tc>
                  <a:txBody>
                    <a:bodyPr/>
                    <a:lstStyle/>
                    <a:p>
                      <a:r>
                        <a:rPr sz="1050">
                          <a:solidFill>
                            <a:srgbClr val="1B2A33"/>
                          </a:solidFill>
                        </a:rPr>
                        <a:t>Admin, auditor</a:t>
                      </a:r>
                    </a:p>
                  </a:txBody>
                  <a:tcPr>
                    <a:solidFill>
                      <a:srgbClr val="FFFFFF"/>
                    </a:solidFill>
                  </a:tcPr>
                </a:tc>
              </a:tr>
              <a:tr h="365760">
                <a:tc>
                  <a:txBody>
                    <a:bodyPr/>
                    <a:lstStyle/>
                    <a:p>
                      <a:r>
                        <a:rPr sz="1050">
                          <a:solidFill>
                            <a:srgbClr val="1B2A33"/>
                          </a:solidFill>
                        </a:rPr>
                        <a:t>Turn on my second factor</a:t>
                      </a:r>
                    </a:p>
                  </a:txBody>
                  <a:tcPr>
                    <a:solidFill>
                      <a:srgbClr val="F3ECE0"/>
                    </a:solidFill>
                  </a:tcPr>
                </a:tc>
                <a:tc>
                  <a:txBody>
                    <a:bodyPr/>
                    <a:lstStyle/>
                    <a:p>
                      <a:r>
                        <a:rPr sz="1050">
                          <a:solidFill>
                            <a:srgbClr val="1B2A33"/>
                          </a:solidFill>
                        </a:rPr>
                        <a:t>Security</a:t>
                      </a:r>
                    </a:p>
                  </a:txBody>
                  <a:tcPr>
                    <a:solidFill>
                      <a:srgbClr val="F3ECE0"/>
                    </a:solidFill>
                  </a:tcPr>
                </a:tc>
                <a:tc>
                  <a:txBody>
                    <a:bodyPr/>
                    <a:lstStyle/>
                    <a:p>
                      <a:r>
                        <a:rPr sz="1050">
                          <a:solidFill>
                            <a:srgbClr val="1B2A33"/>
                          </a:solidFill>
                        </a:rPr>
                        <a:t>Everyone</a:t>
                      </a:r>
                    </a:p>
                  </a:txBody>
                  <a:tcPr>
                    <a:solidFill>
                      <a:srgbClr val="F3ECE0"/>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5" name="Rectangle 4"/>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7" name="TextBox 6"/>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8" name="Rectangle 7"/>
          <p:cNvSpPr/>
          <p:nvPr/>
        </p:nvSpPr>
        <p:spPr>
          <a:xfrm>
            <a:off x="548640" y="21488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0" name="TextBox 9"/>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1" name="Rectangle 10"/>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3" name="TextBox 12"/>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4" name="Rectangle 13"/>
          <p:cNvSpPr/>
          <p:nvPr/>
        </p:nvSpPr>
        <p:spPr>
          <a:xfrm>
            <a:off x="548640" y="39776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6" name="TextBox 15"/>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7" name="Rectangle 16"/>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19" name="TextBox 18"/>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0" name="TextBox 19"/>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TextBox 1"/>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3" name="TextBox 2"/>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78f2d50.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